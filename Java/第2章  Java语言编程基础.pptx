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5"/>
  </p:notesMasterIdLst>
  <p:handoutMasterIdLst>
    <p:handoutMasterId r:id="rId89"/>
  </p:handoutMasterIdLst>
  <p:sldIdLst>
    <p:sldId id="755" r:id="rId3"/>
    <p:sldId id="1130" r:id="rId4"/>
    <p:sldId id="1131" r:id="rId5"/>
    <p:sldId id="1132" r:id="rId6"/>
    <p:sldId id="1133" r:id="rId7"/>
    <p:sldId id="1134" r:id="rId8"/>
    <p:sldId id="1135" r:id="rId9"/>
    <p:sldId id="1137" r:id="rId10"/>
    <p:sldId id="1159" r:id="rId11"/>
    <p:sldId id="1138" r:id="rId12"/>
    <p:sldId id="1139" r:id="rId13"/>
    <p:sldId id="1141" r:id="rId14"/>
    <p:sldId id="1142" r:id="rId15"/>
    <p:sldId id="1144" r:id="rId16"/>
    <p:sldId id="1145" r:id="rId17"/>
    <p:sldId id="1146" r:id="rId18"/>
    <p:sldId id="1227" r:id="rId19"/>
    <p:sldId id="1147" r:id="rId20"/>
    <p:sldId id="1148" r:id="rId21"/>
    <p:sldId id="1151" r:id="rId22"/>
    <p:sldId id="1153" r:id="rId23"/>
    <p:sldId id="1154" r:id="rId24"/>
    <p:sldId id="1155" r:id="rId25"/>
    <p:sldId id="1157" r:id="rId26"/>
    <p:sldId id="1158" r:id="rId27"/>
    <p:sldId id="1216" r:id="rId28"/>
    <p:sldId id="1228" r:id="rId29"/>
    <p:sldId id="1161" r:id="rId30"/>
    <p:sldId id="1162" r:id="rId31"/>
    <p:sldId id="1163" r:id="rId32"/>
    <p:sldId id="1164" r:id="rId33"/>
    <p:sldId id="1165" r:id="rId34"/>
    <p:sldId id="1166" r:id="rId35"/>
    <p:sldId id="1167" r:id="rId36"/>
    <p:sldId id="1229" r:id="rId37"/>
    <p:sldId id="1169" r:id="rId38"/>
    <p:sldId id="1171" r:id="rId39"/>
    <p:sldId id="1172" r:id="rId40"/>
    <p:sldId id="1233" r:id="rId41"/>
    <p:sldId id="1174" r:id="rId42"/>
    <p:sldId id="1175" r:id="rId43"/>
    <p:sldId id="1291" r:id="rId44"/>
    <p:sldId id="1292" r:id="rId46"/>
    <p:sldId id="1293" r:id="rId47"/>
    <p:sldId id="1217" r:id="rId48"/>
    <p:sldId id="1218" r:id="rId49"/>
    <p:sldId id="1178" r:id="rId50"/>
    <p:sldId id="1179" r:id="rId51"/>
    <p:sldId id="1180" r:id="rId52"/>
    <p:sldId id="1294" r:id="rId53"/>
    <p:sldId id="1295" r:id="rId54"/>
    <p:sldId id="1230" r:id="rId55"/>
    <p:sldId id="1181" r:id="rId56"/>
    <p:sldId id="1182" r:id="rId57"/>
    <p:sldId id="1183" r:id="rId58"/>
    <p:sldId id="1185" r:id="rId59"/>
    <p:sldId id="1234" r:id="rId60"/>
    <p:sldId id="1186" r:id="rId61"/>
    <p:sldId id="1187" r:id="rId62"/>
    <p:sldId id="1188" r:id="rId63"/>
    <p:sldId id="1223" r:id="rId64"/>
    <p:sldId id="1224" r:id="rId65"/>
    <p:sldId id="1226" r:id="rId66"/>
    <p:sldId id="1189" r:id="rId67"/>
    <p:sldId id="1190" r:id="rId68"/>
    <p:sldId id="1191" r:id="rId69"/>
    <p:sldId id="1219" r:id="rId70"/>
    <p:sldId id="1220" r:id="rId71"/>
    <p:sldId id="1192" r:id="rId72"/>
    <p:sldId id="1193" r:id="rId73"/>
    <p:sldId id="1195" r:id="rId74"/>
    <p:sldId id="1225" r:id="rId75"/>
    <p:sldId id="1222" r:id="rId76"/>
    <p:sldId id="1207" r:id="rId77"/>
    <p:sldId id="1231" r:id="rId78"/>
    <p:sldId id="1198" r:id="rId79"/>
    <p:sldId id="1199" r:id="rId80"/>
    <p:sldId id="1200" r:id="rId81"/>
    <p:sldId id="1201" r:id="rId82"/>
    <p:sldId id="1202" r:id="rId83"/>
    <p:sldId id="1203" r:id="rId84"/>
    <p:sldId id="1204" r:id="rId85"/>
    <p:sldId id="1214" r:id="rId86"/>
    <p:sldId id="1215" r:id="rId87"/>
    <p:sldId id="1232" r:id="rId88"/>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1D5"/>
    <a:srgbClr val="2D2D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BC89EF96-8CEA-46FF-86C4-4CE0E7609802}"/>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850" autoAdjust="0"/>
  </p:normalViewPr>
  <p:slideViewPr>
    <p:cSldViewPr snapToGrid="0">
      <p:cViewPr varScale="1">
        <p:scale>
          <a:sx n="67" d="100"/>
          <a:sy n="67" d="100"/>
        </p:scale>
        <p:origin x="644" y="80"/>
      </p:cViewPr>
      <p:guideLst>
        <p:guide pos="3801"/>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9" d="100"/>
          <a:sy n="99"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7.xml"/><Relationship Id="rId89" Type="http://schemas.openxmlformats.org/officeDocument/2006/relationships/handoutMaster" Target="handoutMasters/handoutMaster1.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notesMaster" Target="notesMasters/notesMaster1.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0176C01-2996-41EA-87C6-D94E8BA12DB2}" type="datetime2">
              <a:rPr lang="zh-CN" altLang="en-US" smtClean="0">
                <a:latin typeface="微软雅黑" panose="020B0503020204020204" pitchFamily="34" charset="-122"/>
                <a:ea typeface="微软雅黑" panose="020B0503020204020204" pitchFamily="34" charset="-122"/>
              </a:rPr>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604A0D4-B89B-4ADD-AF9E-38636B40EE4E}" type="slidenum">
              <a:rPr lang="en-US" altLang="zh-CN" smtClean="0">
                <a:latin typeface="微软雅黑" panose="020B0503020204020204" pitchFamily="34" charset="-122"/>
                <a:ea typeface="微软雅黑" panose="020B0503020204020204" pitchFamily="34" charset="-122"/>
              </a:rPr>
            </a:fld>
            <a:endParaRPr lang="zh-CN" altLang="en-US" dirty="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EA50F75F-AD11-4973-BAED-59A0098129E9}" type="datetime2">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dirty="0"/>
          </a:p>
        </p:txBody>
      </p:sp>
      <p:sp>
        <p:nvSpPr>
          <p:cNvPr id="5" name="备注占位符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82869989-EB00-4EE7-BCB5-25BDC5BB29F8}" type="slidenum">
              <a:rPr lang="en-US" altLang="zh-CN"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39938" name="Rectangle 7"/>
          <p:cNvSpPr txBox="1">
            <a:spLocks noGrp="1"/>
          </p:cNvSpPr>
          <p:nvPr/>
        </p:nvSpPr>
        <p:spPr>
          <a:xfrm>
            <a:off x="3884613" y="8685213"/>
            <a:ext cx="2971800" cy="457200"/>
          </a:xfrm>
          <a:prstGeom prst="rect">
            <a:avLst/>
          </a:prstGeom>
          <a:noFill/>
          <a:ln w="9525">
            <a:noFill/>
          </a:ln>
        </p:spPr>
        <p:txBody>
          <a:bodyPr/>
          <a:p>
            <a:pPr lvl="0" eaLnBrk="1" hangingPunct="1">
              <a:spcBef>
                <a:spcPct val="0"/>
              </a:spcBef>
            </a:pPr>
            <a:fld id="{9A0DB2DC-4C9A-4742-B13C-FB6460FD3503}" type="slidenum">
              <a:rPr lang="en-US" altLang="zh-CN" sz="2800" dirty="0"/>
            </a:fld>
            <a:endParaRPr lang="en-US" altLang="zh-CN" sz="2800" dirty="0"/>
          </a:p>
        </p:txBody>
      </p:sp>
      <p:sp>
        <p:nvSpPr>
          <p:cNvPr id="39939" name="Rectangle 2"/>
          <p:cNvSpPr>
            <a:spLocks noGrp="1" noRot="1" noChangeAspect="1" noTextEdit="1"/>
          </p:cNvSpPr>
          <p:nvPr>
            <p:ph type="sldImg"/>
          </p:nvPr>
        </p:nvSpPr>
        <p:spPr>
          <a:xfrm>
            <a:off x="-14212887" y="-11784012"/>
            <a:ext cx="16638587" cy="12477750"/>
          </a:xfrm>
        </p:spPr>
      </p:sp>
      <p:sp>
        <p:nvSpPr>
          <p:cNvPr id="39940" name="Rectangle 3"/>
          <p:cNvSpPr>
            <a:spLocks noGrp="1"/>
          </p:cNvSpPr>
          <p:nvPr>
            <p:ph type="body" idx="1"/>
          </p:nvPr>
        </p:nvSpPr>
        <p:spPr/>
        <p:txBody>
          <a:bodyPr wrap="square" lIns="91440" tIns="45720" rIns="91440" bIns="45720" anchor="t"/>
          <a:p>
            <a:pPr lvl="0" eaLnBrk="1" hangingPunct="1"/>
            <a:r>
              <a:rPr lang="zh-CN" altLang="en-US" dirty="0"/>
              <a:t>演示时在某些</a:t>
            </a:r>
            <a:r>
              <a:rPr lang="en-US" altLang="zh-CN" dirty="0"/>
              <a:t>case</a:t>
            </a:r>
            <a:r>
              <a:rPr lang="zh-CN" altLang="en-US" dirty="0"/>
              <a:t>中添加</a:t>
            </a:r>
            <a:r>
              <a:rPr lang="en-US" altLang="zh-CN" dirty="0"/>
              <a:t>break</a:t>
            </a:r>
            <a:r>
              <a:rPr lang="zh-CN" altLang="en-US" dirty="0"/>
              <a:t>看一看效果</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5" name="组 4"/>
          <p:cNvGrpSpPr/>
          <p:nvPr userDrawn="1"/>
        </p:nvGrpSpPr>
        <p:grpSpPr bwMode="hidden">
          <a:xfrm>
            <a:off x="-1" y="0"/>
            <a:ext cx="12192002" cy="6858000"/>
            <a:chOff x="-1" y="0"/>
            <a:chExt cx="12192002" cy="6858000"/>
          </a:xfrm>
        </p:grpSpPr>
        <p:cxnSp>
          <p:nvCxnSpPr>
            <p:cNvPr id="6" name="直接连接符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组 22"/>
            <p:cNvGrpSpPr/>
            <p:nvPr userDrawn="1"/>
          </p:nvGrpSpPr>
          <p:grpSpPr bwMode="hidden">
            <a:xfrm>
              <a:off x="-1" y="0"/>
              <a:ext cx="12192001" cy="6858000"/>
              <a:chOff x="-1" y="0"/>
              <a:chExt cx="12192001" cy="6858000"/>
            </a:xfrm>
          </p:grpSpPr>
          <p:cxnSp>
            <p:nvCxnSpPr>
              <p:cNvPr id="41" name="直接连接符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组 45"/>
              <p:cNvGrpSpPr/>
              <p:nvPr/>
            </p:nvGrpSpPr>
            <p:grpSpPr bwMode="hidden">
              <a:xfrm>
                <a:off x="6327885" y="0"/>
                <a:ext cx="5864115" cy="5898673"/>
                <a:chOff x="6327885" y="0"/>
                <a:chExt cx="5864115" cy="5898673"/>
              </a:xfrm>
            </p:grpSpPr>
            <p:cxnSp>
              <p:nvCxnSpPr>
                <p:cNvPr id="52" name="直接连接符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S)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 23"/>
            <p:cNvGrpSpPr/>
            <p:nvPr userDrawn="1"/>
          </p:nvGrpSpPr>
          <p:grpSpPr bwMode="hidden">
            <a:xfrm flipH="1">
              <a:off x="0" y="0"/>
              <a:ext cx="12192001" cy="6858000"/>
              <a:chOff x="-1" y="0"/>
              <a:chExt cx="12192001" cy="6858000"/>
            </a:xfrm>
          </p:grpSpPr>
          <p:cxnSp>
            <p:nvCxnSpPr>
              <p:cNvPr id="25" name="直接连接符​​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组 29"/>
              <p:cNvGrpSpPr/>
              <p:nvPr/>
            </p:nvGrpSpPr>
            <p:grpSpPr bwMode="hidden">
              <a:xfrm>
                <a:off x="6327885" y="0"/>
                <a:ext cx="5864115" cy="5898673"/>
                <a:chOff x="6327885" y="0"/>
                <a:chExt cx="5864115" cy="5898673"/>
              </a:xfrm>
            </p:grpSpPr>
            <p:cxnSp>
              <p:nvCxnSpPr>
                <p:cNvPr id="36" name="直接连接符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S)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ctrTitle"/>
          </p:nvPr>
        </p:nvSpPr>
        <p:spPr>
          <a:xfrm>
            <a:off x="1293845" y="1909346"/>
            <a:ext cx="9604310" cy="3383280"/>
          </a:xfrm>
        </p:spPr>
        <p:txBody>
          <a:bodyPr rtlCol="0" anchor="b">
            <a:normAutofit/>
          </a:bodyPr>
          <a:lstStyle>
            <a:lvl1pPr algn="l">
              <a:lnSpc>
                <a:spcPct val="100000"/>
              </a:lnSpc>
              <a:defRPr sz="8000" cap="none" baseline="0">
                <a:solidFill>
                  <a:schemeClr val="tx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293845" y="5432564"/>
            <a:ext cx="9604310" cy="457200"/>
          </a:xfrm>
        </p:spPr>
        <p:txBody>
          <a:bodyPr rtlCol="0">
            <a:normAutofit/>
          </a:bodyPr>
          <a:lstStyle>
            <a:lvl1pPr marL="0" indent="0" algn="l">
              <a:spcBef>
                <a:spcPts val="0"/>
              </a:spcBef>
              <a:buNone/>
              <a:defRPr sz="2000" b="0">
                <a:solidFill>
                  <a:schemeClr val="accent1">
                    <a:lumMod val="75000"/>
                  </a:schemeClr>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单击此处编辑母版副标题样式</a:t>
            </a:r>
            <a:endParaRPr lang="zh-CN" altLang="en-US" noProof="0" dirty="0"/>
          </a:p>
        </p:txBody>
      </p:sp>
      <p:cxnSp>
        <p:nvCxnSpPr>
          <p:cNvPr id="58" name="直接连接符​​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a:t>单击此处编辑母版标题样式</a:t>
            </a:r>
            <a:endParaRPr lang="zh-CN" altLang="en-US" dirty="0"/>
          </a:p>
        </p:txBody>
      </p:sp>
      <p:sp>
        <p:nvSpPr>
          <p:cNvPr id="3" name="内容占位符 2"/>
          <p:cNvSpPr>
            <a:spLocks noGrp="1"/>
          </p:cNvSpPr>
          <p:nvPr>
            <p:ph idx="1"/>
          </p:nvPr>
        </p:nvSpPr>
        <p:spPr/>
        <p:txBody>
          <a:bodyPr rtlCol="0"/>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zh-CN" altLang="en-US" dirty="0"/>
          </a:p>
        </p:txBody>
      </p:sp>
      <p:sp>
        <p:nvSpPr>
          <p:cNvPr id="5" name="页脚占位符 4"/>
          <p:cNvSpPr>
            <a:spLocks noGrp="1"/>
          </p:cNvSpPr>
          <p:nvPr>
            <p:ph type="ftr" sz="quarter" idx="11"/>
          </p:nvPr>
        </p:nvSpPr>
        <p:spPr/>
        <p:txBody>
          <a:bodyPr rtlCol="0"/>
          <a:lstStyle/>
          <a:p>
            <a:pPr rtl="0"/>
            <a:r>
              <a:rPr lang="zh-CN" altLang="en-US" dirty="0"/>
              <a:t>添加页脚</a:t>
            </a:r>
            <a:endParaRPr lang="zh-CN" altLang="en-US" dirty="0"/>
          </a:p>
        </p:txBody>
      </p:sp>
      <p:sp>
        <p:nvSpPr>
          <p:cNvPr id="4" name="日期占位符 3"/>
          <p:cNvSpPr>
            <a:spLocks noGrp="1"/>
          </p:cNvSpPr>
          <p:nvPr>
            <p:ph type="dt" sz="half" idx="10"/>
          </p:nvPr>
        </p:nvSpPr>
        <p:spPr/>
        <p:txBody>
          <a:bodyPr rtlCol="0"/>
          <a:lstStyle>
            <a:lvl1pPr>
              <a:defRPr/>
            </a:lvl1pPr>
          </a:lstStyle>
          <a:p>
            <a:fld id="{5B21F106-0919-44CF-AC0D-F9106B3B2262}" type="datetime2">
              <a:rPr lang="zh-CN" altLang="en-US" smtClean="0"/>
            </a:fld>
            <a:endParaRPr lang="zh-CN" altLang="en-US" dirty="0"/>
          </a:p>
        </p:txBody>
      </p:sp>
      <p:sp>
        <p:nvSpPr>
          <p:cNvPr id="6" name="灯片编号占位符 5"/>
          <p:cNvSpPr>
            <a:spLocks noGrp="1"/>
          </p:cNvSpPr>
          <p:nvPr>
            <p:ph type="sldNum" sz="quarter" idx="12"/>
          </p:nvPr>
        </p:nvSpPr>
        <p:spPr/>
        <p:txBody>
          <a:bodyPr rtlCol="0"/>
          <a:lstStyle/>
          <a:p>
            <a:pPr rtl="0"/>
            <a:fld id="{E31375A4-56A4-47D6-9801-1991572033F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组 6"/>
          <p:cNvGrpSpPr/>
          <p:nvPr userDrawn="1"/>
        </p:nvGrpSpPr>
        <p:grpSpPr bwMode="hidden">
          <a:xfrm>
            <a:off x="-1" y="0"/>
            <a:ext cx="12192002" cy="6858000"/>
            <a:chOff x="-1" y="0"/>
            <a:chExt cx="12192002" cy="6858000"/>
          </a:xfrm>
        </p:grpSpPr>
        <p:cxnSp>
          <p:nvCxnSpPr>
            <p:cNvPr id="8" name="直接连接符​​(S)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组 23"/>
            <p:cNvGrpSpPr/>
            <p:nvPr userDrawn="1"/>
          </p:nvGrpSpPr>
          <p:grpSpPr bwMode="hidden">
            <a:xfrm>
              <a:off x="-1" y="0"/>
              <a:ext cx="12192001" cy="6858000"/>
              <a:chOff x="-1" y="0"/>
              <a:chExt cx="12192001" cy="6858000"/>
            </a:xfrm>
          </p:grpSpPr>
          <p:cxnSp>
            <p:nvCxnSpPr>
              <p:cNvPr id="42" name="直接连接符​​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S)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组 46"/>
              <p:cNvGrpSpPr/>
              <p:nvPr/>
            </p:nvGrpSpPr>
            <p:grpSpPr bwMode="hidden">
              <a:xfrm>
                <a:off x="6327885" y="0"/>
                <a:ext cx="5864115" cy="5898673"/>
                <a:chOff x="6327885" y="0"/>
                <a:chExt cx="5864115" cy="5898673"/>
              </a:xfrm>
            </p:grpSpPr>
            <p:cxnSp>
              <p:nvCxnSpPr>
                <p:cNvPr id="53" name="直接连接符​​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S)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 24"/>
            <p:cNvGrpSpPr/>
            <p:nvPr userDrawn="1"/>
          </p:nvGrpSpPr>
          <p:grpSpPr bwMode="hidden">
            <a:xfrm flipH="1">
              <a:off x="0" y="0"/>
              <a:ext cx="12192001" cy="6858000"/>
              <a:chOff x="-1" y="0"/>
              <a:chExt cx="12192001" cy="6858000"/>
            </a:xfrm>
          </p:grpSpPr>
          <p:cxnSp>
            <p:nvCxnSpPr>
              <p:cNvPr id="26" name="直接连接符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S)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组 30"/>
              <p:cNvGrpSpPr/>
              <p:nvPr/>
            </p:nvGrpSpPr>
            <p:grpSpPr bwMode="hidden">
              <a:xfrm>
                <a:off x="6327885" y="0"/>
                <a:ext cx="5864115" cy="5898673"/>
                <a:chOff x="6327885" y="0"/>
                <a:chExt cx="5864115" cy="5898673"/>
              </a:xfrm>
            </p:grpSpPr>
            <p:cxnSp>
              <p:nvCxnSpPr>
                <p:cNvPr id="37" name="直接连接符​​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S)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直接连接符​​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295400" y="2541573"/>
            <a:ext cx="9601200" cy="2743200"/>
          </a:xfrm>
        </p:spPr>
        <p:txBody>
          <a:bodyPr rtlCol="0" anchor="b">
            <a:normAutofit/>
          </a:bodyPr>
          <a:lstStyle>
            <a:lvl1pPr>
              <a:lnSpc>
                <a:spcPct val="85000"/>
              </a:lnSpc>
              <a:defRPr sz="6000" cap="none" baseline="0">
                <a:solidFill>
                  <a:schemeClr val="tx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295400" y="5431536"/>
            <a:ext cx="9601200" cy="457200"/>
          </a:xfrm>
        </p:spPr>
        <p:txBody>
          <a:bodyPr rtlCol="0">
            <a:normAutofit/>
          </a:bodyPr>
          <a:lstStyle>
            <a:lvl1pPr marL="0" indent="0">
              <a:spcBef>
                <a:spcPts val="0"/>
              </a:spcBef>
              <a:buNone/>
              <a:defRPr sz="2000" b="0">
                <a:solidFill>
                  <a:schemeClr val="tx1"/>
                </a:solidFill>
                <a:latin typeface="微软雅黑" panose="020B0503020204020204" pitchFamily="34" charset="-122"/>
                <a:ea typeface="微软雅黑" panose="020B0503020204020204" pitchFamily="34" charset="-122"/>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rtl="0"/>
            <a:r>
              <a:rPr lang="zh-CN" altLang="en-US" noProof="0"/>
              <a:t>单击此处编辑母版文本样式</a:t>
            </a:r>
            <a:endParaRPr lang="zh-CN" altLang="en-US" noProof="0"/>
          </a:p>
        </p:txBody>
      </p:sp>
      <p:cxnSp>
        <p:nvCxnSpPr>
          <p:cNvPr id="58" name="直接连接符​​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a:t>单击此处编辑母版标题样式</a:t>
            </a:r>
            <a:endParaRPr lang="zh-CN" altLang="en-US" dirty="0"/>
          </a:p>
        </p:txBody>
      </p:sp>
      <p:sp>
        <p:nvSpPr>
          <p:cNvPr id="3" name="内容占位符 2"/>
          <p:cNvSpPr>
            <a:spLocks noGrp="1"/>
          </p:cNvSpPr>
          <p:nvPr>
            <p:ph sz="half" idx="1"/>
          </p:nvPr>
        </p:nvSpPr>
        <p:spPr>
          <a:xfrm>
            <a:off x="1295400" y="1981199"/>
            <a:ext cx="4572000" cy="3810001"/>
          </a:xfrm>
        </p:spPr>
        <p:txBody>
          <a:bodyPr rtlCol="0">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zh-CN" altLang="en-US" dirty="0"/>
          </a:p>
        </p:txBody>
      </p:sp>
      <p:sp>
        <p:nvSpPr>
          <p:cNvPr id="4" name="内容占位符 3"/>
          <p:cNvSpPr>
            <a:spLocks noGrp="1"/>
          </p:cNvSpPr>
          <p:nvPr>
            <p:ph sz="half" idx="2"/>
          </p:nvPr>
        </p:nvSpPr>
        <p:spPr>
          <a:xfrm>
            <a:off x="6324600" y="1981199"/>
            <a:ext cx="4572000" cy="3810001"/>
          </a:xfrm>
        </p:spPr>
        <p:txBody>
          <a:bodyPr rtlCol="0">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zh-CN" altLang="en-US" dirty="0"/>
          </a:p>
        </p:txBody>
      </p:sp>
      <p:sp>
        <p:nvSpPr>
          <p:cNvPr id="6" name="页脚占位符 5"/>
          <p:cNvSpPr>
            <a:spLocks noGrp="1"/>
          </p:cNvSpPr>
          <p:nvPr>
            <p:ph type="ftr" sz="quarter" idx="11"/>
          </p:nvPr>
        </p:nvSpPr>
        <p:spPr/>
        <p:txBody>
          <a:bodyPr rtlCol="0"/>
          <a:lstStyle/>
          <a:p>
            <a:pPr rtl="0"/>
            <a:r>
              <a:rPr lang="zh-CN" altLang="en-US" dirty="0"/>
              <a:t>添加页脚</a:t>
            </a:r>
            <a:endParaRPr lang="zh-CN" altLang="en-US" dirty="0"/>
          </a:p>
        </p:txBody>
      </p:sp>
      <p:sp>
        <p:nvSpPr>
          <p:cNvPr id="5" name="日期占位符 4"/>
          <p:cNvSpPr>
            <a:spLocks noGrp="1"/>
          </p:cNvSpPr>
          <p:nvPr>
            <p:ph type="dt" sz="half" idx="10"/>
          </p:nvPr>
        </p:nvSpPr>
        <p:spPr/>
        <p:txBody>
          <a:bodyPr rtlCol="0"/>
          <a:lstStyle>
            <a:lvl1pPr>
              <a:defRPr/>
            </a:lvl1pPr>
          </a:lstStyle>
          <a:p>
            <a:fld id="{C45AD5DA-9C90-409A-AEC4-BF5AF7FBB0A8}" type="datetime2">
              <a:rPr lang="zh-CN" altLang="en-US" smtClean="0"/>
            </a:fld>
            <a:endParaRPr lang="zh-CN" altLang="en-US" dirty="0"/>
          </a:p>
        </p:txBody>
      </p:sp>
      <p:sp>
        <p:nvSpPr>
          <p:cNvPr id="7" name="灯片编号占位符 6"/>
          <p:cNvSpPr>
            <a:spLocks noGrp="1"/>
          </p:cNvSpPr>
          <p:nvPr>
            <p:ph type="sldNum" sz="quarter" idx="12"/>
          </p:nvPr>
        </p:nvSpPr>
        <p:spPr/>
        <p:txBody>
          <a:bodyPr rtlCol="0"/>
          <a:lstStyle/>
          <a:p>
            <a:pPr rtl="0"/>
            <a:fld id="{E31375A4-56A4-47D6-9801-1991572033F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a:t>单击此处编辑母版标题样式</a:t>
            </a:r>
            <a:endParaRPr lang="zh-CN" altLang="en-US" dirty="0"/>
          </a:p>
        </p:txBody>
      </p:sp>
      <p:sp>
        <p:nvSpPr>
          <p:cNvPr id="3" name="文本占位符 2"/>
          <p:cNvSpPr>
            <a:spLocks noGrp="1"/>
          </p:cNvSpPr>
          <p:nvPr>
            <p:ph type="body" idx="1"/>
          </p:nvPr>
        </p:nvSpPr>
        <p:spPr>
          <a:xfrm>
            <a:off x="1295400" y="1818322"/>
            <a:ext cx="4572000" cy="641350"/>
          </a:xfrm>
        </p:spPr>
        <p:txBody>
          <a:bodyPr rtlCol="0" anchor="ctr">
            <a:normAutofit/>
          </a:bodyPr>
          <a:lstStyle>
            <a:lvl1pPr marL="0" indent="0">
              <a:spcBef>
                <a:spcPts val="0"/>
              </a:spcBef>
              <a:buNone/>
              <a:defRPr sz="2000" b="0">
                <a:solidFill>
                  <a:schemeClr val="accent1"/>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endParaRPr lang="zh-CN" altLang="en-US"/>
          </a:p>
        </p:txBody>
      </p:sp>
      <p:sp>
        <p:nvSpPr>
          <p:cNvPr id="4" name="内容占位符 3"/>
          <p:cNvSpPr>
            <a:spLocks noGrp="1"/>
          </p:cNvSpPr>
          <p:nvPr>
            <p:ph sz="half" idx="2"/>
          </p:nvPr>
        </p:nvSpPr>
        <p:spPr>
          <a:xfrm>
            <a:off x="1295400" y="2503713"/>
            <a:ext cx="4572000" cy="3287487"/>
          </a:xfrm>
        </p:spPr>
        <p:txBody>
          <a:bodyPr rtlCol="0">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zh-CN" altLang="en-US" dirty="0"/>
          </a:p>
        </p:txBody>
      </p:sp>
      <p:sp>
        <p:nvSpPr>
          <p:cNvPr id="5" name="文本占位符 4"/>
          <p:cNvSpPr>
            <a:spLocks noGrp="1"/>
          </p:cNvSpPr>
          <p:nvPr>
            <p:ph type="body" sz="quarter" idx="3"/>
          </p:nvPr>
        </p:nvSpPr>
        <p:spPr>
          <a:xfrm>
            <a:off x="6324600" y="1818322"/>
            <a:ext cx="4572000" cy="641350"/>
          </a:xfrm>
        </p:spPr>
        <p:txBody>
          <a:bodyPr rtlCol="0" anchor="ctr">
            <a:normAutofit/>
          </a:bodyPr>
          <a:lstStyle>
            <a:lvl1pPr marL="0" indent="0">
              <a:spcBef>
                <a:spcPts val="0"/>
              </a:spcBef>
              <a:buNone/>
              <a:defRPr sz="2000" b="0">
                <a:solidFill>
                  <a:schemeClr val="accent1"/>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endParaRPr lang="zh-CN" altLang="en-US"/>
          </a:p>
        </p:txBody>
      </p:sp>
      <p:sp>
        <p:nvSpPr>
          <p:cNvPr id="6" name="内容占位符 5"/>
          <p:cNvSpPr>
            <a:spLocks noGrp="1"/>
          </p:cNvSpPr>
          <p:nvPr>
            <p:ph sz="quarter" idx="4"/>
          </p:nvPr>
        </p:nvSpPr>
        <p:spPr>
          <a:xfrm>
            <a:off x="6324600" y="2503713"/>
            <a:ext cx="4572000" cy="3287487"/>
          </a:xfrm>
        </p:spPr>
        <p:txBody>
          <a:bodyPr rtlCol="0">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vl6pPr>
              <a:defRPr sz="1600"/>
            </a:lvl6pPr>
            <a:lvl7pPr>
              <a:defRPr sz="1600"/>
            </a:lvl7pPr>
            <a:lvl8pPr>
              <a:defRPr sz="1600"/>
            </a:lvl8pPr>
            <a:lvl9pPr>
              <a:defRPr sz="1600"/>
            </a:lvl9pPr>
          </a:lstStyle>
          <a:p>
            <a:pPr lvl="0" rtl="0"/>
            <a:r>
              <a:rPr lang="zh-CN" altLang="en-US"/>
              <a:t>单击此处编辑母版文本样式</a:t>
            </a:r>
            <a:endParaRPr lang="zh-CN" altLang="en-US"/>
          </a:p>
          <a:p>
            <a:pPr lvl="1" rtl="0"/>
            <a:r>
              <a:rPr lang="zh-CN" altLang="en-US"/>
              <a:t>二级</a:t>
            </a:r>
            <a:endParaRPr lang="zh-CN" altLang="en-US"/>
          </a:p>
          <a:p>
            <a:pPr lvl="2" rtl="0"/>
            <a:r>
              <a:rPr lang="zh-CN" altLang="en-US"/>
              <a:t>三级</a:t>
            </a:r>
            <a:endParaRPr lang="zh-CN" altLang="en-US"/>
          </a:p>
          <a:p>
            <a:pPr lvl="3" rtl="0"/>
            <a:r>
              <a:rPr lang="zh-CN" altLang="en-US"/>
              <a:t>四级</a:t>
            </a:r>
            <a:endParaRPr lang="zh-CN" altLang="en-US"/>
          </a:p>
          <a:p>
            <a:pPr lvl="4" rtl="0"/>
            <a:r>
              <a:rPr lang="zh-CN" altLang="en-US"/>
              <a:t>五级</a:t>
            </a:r>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a:t>添加页脚</a:t>
            </a:r>
            <a:endParaRPr lang="zh-CN" altLang="en-US"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0C804EAB-EB04-4910-A5F0-0C86B02F191A}" type="datetime2">
              <a:rPr lang="zh-CN" altLang="en-US" smtClean="0"/>
            </a:fld>
            <a:endParaRPr lang="zh-CN" altLang="en-US" dirty="0"/>
          </a:p>
        </p:txBody>
      </p:sp>
      <p:sp>
        <p:nvSpPr>
          <p:cNvPr id="9" name="灯片编号占位符 8"/>
          <p:cNvSpPr>
            <a:spLocks noGrp="1"/>
          </p:cNvSpPr>
          <p:nvPr>
            <p:ph type="sldNum" sz="quarter" idx="12"/>
          </p:nvPr>
        </p:nvSpPr>
        <p:spPr/>
        <p:txBody>
          <a:bodyPr rtlCol="0"/>
          <a:lstStyle>
            <a:lvl1pPr>
              <a:defRPr>
                <a:latin typeface="微软雅黑" panose="020B0503020204020204" pitchFamily="34" charset="-122"/>
                <a:ea typeface="微软雅黑" panose="020B0503020204020204" pitchFamily="34" charset="-122"/>
              </a:defRPr>
            </a:lvl1pPr>
          </a:lstStyle>
          <a:p>
            <a:fld id="{E31375A4-56A4-47D6-9801-1991572033F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4" name="页脚占位符 3"/>
          <p:cNvSpPr>
            <a:spLocks noGrp="1"/>
          </p:cNvSpPr>
          <p:nvPr>
            <p:ph type="ftr" sz="quarter" idx="11"/>
          </p:nvPr>
        </p:nvSpPr>
        <p:spPr/>
        <p:txBody>
          <a:bodyPr rtlCol="0"/>
          <a:lstStyle/>
          <a:p>
            <a:pPr rtl="0"/>
            <a:r>
              <a:rPr lang="zh-CN" altLang="en-US" noProof="0" dirty="0"/>
              <a:t>添加页脚</a:t>
            </a:r>
            <a:endParaRPr lang="zh-CN" altLang="en-US" noProof="0" dirty="0"/>
          </a:p>
        </p:txBody>
      </p:sp>
      <p:sp>
        <p:nvSpPr>
          <p:cNvPr id="3" name="日期占位符 2"/>
          <p:cNvSpPr>
            <a:spLocks noGrp="1"/>
          </p:cNvSpPr>
          <p:nvPr>
            <p:ph type="dt" sz="half" idx="10"/>
          </p:nvPr>
        </p:nvSpPr>
        <p:spPr/>
        <p:txBody>
          <a:bodyPr rtlCol="0"/>
          <a:lstStyle>
            <a:lvl1pPr>
              <a:defRPr/>
            </a:lvl1pPr>
          </a:lstStyle>
          <a:p>
            <a:fld id="{F188EC63-E32B-433A-83B8-71B34F175A78}" type="datetime2">
              <a:rPr lang="zh-CN" altLang="en-US" smtClean="0"/>
            </a:fld>
            <a:endParaRPr lang="zh-CN" altLang="en-US" dirty="0"/>
          </a:p>
        </p:txBody>
      </p:sp>
      <p:sp>
        <p:nvSpPr>
          <p:cNvPr id="5" name="灯片编号占位符 4"/>
          <p:cNvSpPr>
            <a:spLocks noGrp="1"/>
          </p:cNvSpPr>
          <p:nvPr>
            <p:ph type="sldNum" sz="quarter" idx="12"/>
          </p:nvPr>
        </p:nvSpPr>
        <p:spPr/>
        <p:txBody>
          <a:bodyPr rtlCol="0"/>
          <a:lstStyle/>
          <a:p>
            <a:pPr rtl="0"/>
            <a:fld id="{E31375A4-56A4-47D6-9801-1991572033F7}"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grpSp>
        <p:nvGrpSpPr>
          <p:cNvPr id="161" name="组 160"/>
          <p:cNvGrpSpPr/>
          <p:nvPr userDrawn="1"/>
        </p:nvGrpSpPr>
        <p:grpSpPr bwMode="hidden">
          <a:xfrm>
            <a:off x="-1" y="0"/>
            <a:ext cx="12192002" cy="6858000"/>
            <a:chOff x="-1" y="0"/>
            <a:chExt cx="12192002" cy="6858000"/>
          </a:xfrm>
        </p:grpSpPr>
        <p:cxnSp>
          <p:nvCxnSpPr>
            <p:cNvPr id="162" name="直接连接符​​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组 177"/>
            <p:cNvGrpSpPr/>
            <p:nvPr userDrawn="1"/>
          </p:nvGrpSpPr>
          <p:grpSpPr bwMode="hidden">
            <a:xfrm>
              <a:off x="-1" y="0"/>
              <a:ext cx="12192001" cy="6858000"/>
              <a:chOff x="-1" y="0"/>
              <a:chExt cx="12192001" cy="6858000"/>
            </a:xfrm>
          </p:grpSpPr>
          <p:cxnSp>
            <p:nvCxnSpPr>
              <p:cNvPr id="196" name="直接连接符​​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组 200"/>
              <p:cNvGrpSpPr/>
              <p:nvPr/>
            </p:nvGrpSpPr>
            <p:grpSpPr bwMode="hidden">
              <a:xfrm>
                <a:off x="6327885" y="0"/>
                <a:ext cx="5864115" cy="5898673"/>
                <a:chOff x="6327885" y="0"/>
                <a:chExt cx="5864115" cy="5898673"/>
              </a:xfrm>
            </p:grpSpPr>
            <p:cxnSp>
              <p:nvCxnSpPr>
                <p:cNvPr id="207" name="直接连接符​​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直接连接符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组 178"/>
            <p:cNvGrpSpPr/>
            <p:nvPr userDrawn="1"/>
          </p:nvGrpSpPr>
          <p:grpSpPr bwMode="hidden">
            <a:xfrm flipH="1">
              <a:off x="0" y="0"/>
              <a:ext cx="12192001" cy="6858000"/>
              <a:chOff x="-1" y="0"/>
              <a:chExt cx="12192001" cy="6858000"/>
            </a:xfrm>
          </p:grpSpPr>
          <p:cxnSp>
            <p:nvCxnSpPr>
              <p:cNvPr id="180" name="直接连接符​​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组 184"/>
              <p:cNvGrpSpPr/>
              <p:nvPr/>
            </p:nvGrpSpPr>
            <p:grpSpPr bwMode="hidden">
              <a:xfrm>
                <a:off x="6327885" y="0"/>
                <a:ext cx="5864115" cy="5898673"/>
                <a:chOff x="6327885" y="0"/>
                <a:chExt cx="5864115" cy="5898673"/>
              </a:xfrm>
            </p:grpSpPr>
            <p:cxnSp>
              <p:nvCxnSpPr>
                <p:cNvPr id="191" name="直接连接符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直接连接符​​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直接连接符​​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页脚占位符 212"/>
          <p:cNvSpPr>
            <a:spLocks noGrp="1"/>
          </p:cNvSpPr>
          <p:nvPr>
            <p:ph type="ftr" sz="quarter" idx="11"/>
          </p:nvPr>
        </p:nvSpPr>
        <p:spPr/>
        <p:txBody>
          <a:bodyPr rtlCol="0"/>
          <a:lstStyle/>
          <a:p>
            <a:pPr rtl="0"/>
            <a:r>
              <a:rPr lang="zh-CN" altLang="en-US" dirty="0"/>
              <a:t>添加页脚</a:t>
            </a:r>
            <a:endParaRPr lang="zh-CN" altLang="en-US" dirty="0"/>
          </a:p>
        </p:txBody>
      </p:sp>
      <p:sp>
        <p:nvSpPr>
          <p:cNvPr id="212" name="日期占位符 211"/>
          <p:cNvSpPr>
            <a:spLocks noGrp="1"/>
          </p:cNvSpPr>
          <p:nvPr>
            <p:ph type="dt" sz="half" idx="10"/>
          </p:nvPr>
        </p:nvSpPr>
        <p:spPr/>
        <p:txBody>
          <a:bodyPr rtlCol="0"/>
          <a:lstStyle>
            <a:lvl1pPr>
              <a:defRPr/>
            </a:lvl1pPr>
          </a:lstStyle>
          <a:p>
            <a:fld id="{4AC140E9-DB3B-4723-837F-C99C9DC2784C}" type="datetime2">
              <a:rPr lang="zh-CN" altLang="en-US" smtClean="0"/>
            </a:fld>
            <a:endParaRPr lang="zh-CN" altLang="en-US" dirty="0"/>
          </a:p>
        </p:txBody>
      </p:sp>
      <p:sp>
        <p:nvSpPr>
          <p:cNvPr id="214" name="幻灯片编号占位符 213"/>
          <p:cNvSpPr>
            <a:spLocks noGrp="1"/>
          </p:cNvSpPr>
          <p:nvPr>
            <p:ph type="sldNum" sz="quarter" idx="12"/>
          </p:nvPr>
        </p:nvSpPr>
        <p:spPr/>
        <p:txBody>
          <a:bodyPr rtlCol="0"/>
          <a:lstStyle/>
          <a:p>
            <a:pPr rtl="0"/>
            <a:fld id="{E31375A4-56A4-47D6-9801-1991572033F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带标题的内容">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1" y="0"/>
            <a:ext cx="12192002" cy="6858000"/>
            <a:chOff x="-1" y="0"/>
            <a:chExt cx="12192002" cy="6858000"/>
          </a:xfrm>
        </p:grpSpPr>
        <p:cxnSp>
          <p:nvCxnSpPr>
            <p:cNvPr id="10" name="直接连接符​​(S)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接连接符​​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S)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S)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S)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接连接符​​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S)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S)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接连接符​​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S)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接连接符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S)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S)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S)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接连接符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S)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S)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S)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7913152" y="571500"/>
            <a:ext cx="3657600" cy="2197100"/>
          </a:xfrm>
        </p:spPr>
        <p:txBody>
          <a:bodyPr rtlCol="0" anchor="b">
            <a:normAutofit/>
          </a:bodyPr>
          <a:lstStyle>
            <a:lvl1pPr>
              <a:defRPr sz="260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43197" y="571500"/>
            <a:ext cx="6217920" cy="5715000"/>
          </a:xfrm>
        </p:spPr>
        <p:txBody>
          <a:bodyPr rtlCol="0">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vl6pPr>
              <a:defRPr sz="2000"/>
            </a:lvl6pPr>
            <a:lvl7pPr>
              <a:defRPr sz="2000"/>
            </a:lvl7pPr>
            <a:lvl8pPr>
              <a:defRPr sz="2000"/>
            </a:lvl8pPr>
            <a:lvl9pPr>
              <a:defRPr sz="2000"/>
            </a:lvl9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dirty="0"/>
          </a:p>
        </p:txBody>
      </p:sp>
      <p:sp>
        <p:nvSpPr>
          <p:cNvPr id="4" name="文本占位符 3"/>
          <p:cNvSpPr>
            <a:spLocks noGrp="1"/>
          </p:cNvSpPr>
          <p:nvPr>
            <p:ph type="body" sz="half" idx="2"/>
          </p:nvPr>
        </p:nvSpPr>
        <p:spPr>
          <a:xfrm>
            <a:off x="7913152" y="2995012"/>
            <a:ext cx="3657600" cy="2285950"/>
          </a:xfrm>
        </p:spPr>
        <p:txBody>
          <a:bodyPr rtlCol="0">
            <a:normAutofit/>
          </a:bodyPr>
          <a:lstStyle>
            <a:lvl1pPr marL="0" indent="0">
              <a:spcBef>
                <a:spcPts val="1200"/>
              </a:spcBef>
              <a:buNone/>
              <a:defRPr sz="1600">
                <a:solidFill>
                  <a:schemeClr val="bg1"/>
                </a:solidFill>
                <a:latin typeface="微软雅黑" panose="020B0503020204020204" pitchFamily="34" charset="-122"/>
                <a:ea typeface="微软雅黑" panose="020B0503020204020204" pitchFamily="34"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zh-CN" altLang="en-US" noProof="0"/>
              <a:t>单击此处编辑母版文本样式</a:t>
            </a:r>
            <a:endParaRPr lang="zh-CN" altLang="en-US" noProof="0"/>
          </a:p>
        </p:txBody>
      </p:sp>
      <p:cxnSp>
        <p:nvCxnSpPr>
          <p:cNvPr id="60" name="直接连接符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noProof="0" dirty="0"/>
              <a:t>添加页脚</a:t>
            </a:r>
            <a:endParaRPr lang="zh-CN" altLang="en-US" noProof="0" dirty="0"/>
          </a:p>
        </p:txBody>
      </p:sp>
      <p:sp>
        <p:nvSpPr>
          <p:cNvPr id="5" name="日期占位符 4"/>
          <p:cNvSpPr>
            <a:spLocks noGrp="1"/>
          </p:cNvSpPr>
          <p:nvPr>
            <p:ph type="dt" sz="half" idx="10"/>
          </p:nvPr>
        </p:nvSpPr>
        <p:spPr/>
        <p:txBody>
          <a:bodyPr rtlCol="0"/>
          <a:lstStyle>
            <a:lvl1pPr>
              <a:defRPr>
                <a:solidFill>
                  <a:schemeClr val="bg1"/>
                </a:solidFill>
                <a:latin typeface="微软雅黑" panose="020B0503020204020204" pitchFamily="34" charset="-122"/>
                <a:ea typeface="微软雅黑" panose="020B0503020204020204" pitchFamily="34" charset="-122"/>
              </a:defRPr>
            </a:lvl1pPr>
          </a:lstStyle>
          <a:p>
            <a:fld id="{B432DCC3-517C-49BA-ABA2-B2F6E7404DD7}" type="datetime2">
              <a:rPr lang="zh-CN" altLang="en-US" smtClean="0"/>
            </a:fld>
            <a:endParaRPr lang="zh-CN" altLang="en-US" dirty="0"/>
          </a:p>
        </p:txBody>
      </p:sp>
      <p:sp>
        <p:nvSpPr>
          <p:cNvPr id="8" name="幻灯片编号占位符 7"/>
          <p:cNvSpPr>
            <a:spLocks noGrp="1"/>
          </p:cNvSpPr>
          <p:nvPr>
            <p:ph type="sldNum" sz="quarter" idx="12"/>
          </p:nvPr>
        </p:nvSpPr>
        <p:spPr/>
        <p:txBody>
          <a:bodyPr rtlCol="0"/>
          <a:lstStyle>
            <a:lvl1pPr>
              <a:defRPr>
                <a:solidFill>
                  <a:schemeClr val="bg1"/>
                </a:solidFill>
                <a:latin typeface="微软雅黑" panose="020B0503020204020204" pitchFamily="34" charset="-122"/>
                <a:ea typeface="微软雅黑" panose="020B0503020204020204" pitchFamily="34" charset="-122"/>
              </a:defRPr>
            </a:lvl1pPr>
          </a:lstStyle>
          <a:p>
            <a:fld id="{E31375A4-56A4-47D6-9801-1991572033F7}"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带题注的图片">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组 7"/>
          <p:cNvGrpSpPr/>
          <p:nvPr/>
        </p:nvGrpSpPr>
        <p:grpSpPr bwMode="hidden">
          <a:xfrm>
            <a:off x="-1" y="0"/>
            <a:ext cx="12192002" cy="6858000"/>
            <a:chOff x="-1" y="0"/>
            <a:chExt cx="12192002" cy="6858000"/>
          </a:xfrm>
        </p:grpSpPr>
        <p:cxnSp>
          <p:nvCxnSpPr>
            <p:cNvPr id="9" name="直接连接符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组 24"/>
            <p:cNvGrpSpPr/>
            <p:nvPr/>
          </p:nvGrpSpPr>
          <p:grpSpPr bwMode="hidden">
            <a:xfrm>
              <a:off x="-1" y="0"/>
              <a:ext cx="12192001" cy="6858000"/>
              <a:chOff x="-1" y="0"/>
              <a:chExt cx="12192001" cy="6858000"/>
            </a:xfrm>
          </p:grpSpPr>
          <p:cxnSp>
            <p:nvCxnSpPr>
              <p:cNvPr id="43" name="直接连接符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S)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S)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组 47"/>
              <p:cNvGrpSpPr/>
              <p:nvPr/>
            </p:nvGrpSpPr>
            <p:grpSpPr bwMode="hidden">
              <a:xfrm>
                <a:off x="6327885" y="0"/>
                <a:ext cx="5864115" cy="5898673"/>
                <a:chOff x="6327885" y="0"/>
                <a:chExt cx="5864115" cy="5898673"/>
              </a:xfrm>
            </p:grpSpPr>
            <p:cxnSp>
              <p:nvCxnSpPr>
                <p:cNvPr id="54" name="直接连接符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S)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S)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直接连接符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S)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 25"/>
            <p:cNvGrpSpPr/>
            <p:nvPr/>
          </p:nvGrpSpPr>
          <p:grpSpPr bwMode="hidden">
            <a:xfrm flipH="1">
              <a:off x="0" y="0"/>
              <a:ext cx="12192001" cy="6858000"/>
              <a:chOff x="-1" y="0"/>
              <a:chExt cx="12192001" cy="6858000"/>
            </a:xfrm>
          </p:grpSpPr>
          <p:cxnSp>
            <p:nvCxnSpPr>
              <p:cNvPr id="27" name="直接连接符​​(S)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S)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S)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组 31"/>
              <p:cNvGrpSpPr/>
              <p:nvPr/>
            </p:nvGrpSpPr>
            <p:grpSpPr bwMode="hidden">
              <a:xfrm>
                <a:off x="6327885" y="0"/>
                <a:ext cx="5864115" cy="5898673"/>
                <a:chOff x="6327885" y="0"/>
                <a:chExt cx="5864115" cy="5898673"/>
              </a:xfrm>
            </p:grpSpPr>
            <p:cxnSp>
              <p:nvCxnSpPr>
                <p:cNvPr id="38" name="直接连接符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S)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S)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直接连接符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S)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矩形​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cxnSp>
        <p:nvCxnSpPr>
          <p:cNvPr id="59" name="直接连接符​​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7909560" y="576072"/>
            <a:ext cx="3657600" cy="2194560"/>
          </a:xfrm>
        </p:spPr>
        <p:txBody>
          <a:bodyPr rtlCol="0" anchor="b">
            <a:normAutofit/>
          </a:bodyPr>
          <a:lstStyle>
            <a:lvl1pPr>
              <a:defRPr sz="260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descr="为添加图像预留的空占位符。单击占位符，选择要添加的图像。"/>
          <p:cNvSpPr>
            <a:spLocks noGrp="1"/>
          </p:cNvSpPr>
          <p:nvPr>
            <p:ph type="pic" idx="1"/>
          </p:nvPr>
        </p:nvSpPr>
        <p:spPr>
          <a:xfrm>
            <a:off x="4412" y="-159"/>
            <a:ext cx="7315200" cy="6858000"/>
          </a:xfrm>
        </p:spPr>
        <p:txBody>
          <a:bodyPr tIns="457200" rtlCol="0">
            <a:normAutofit/>
          </a:bodyPr>
          <a:lstStyle>
            <a:lvl1pPr marL="0" indent="0" algn="ctr">
              <a:buNone/>
              <a:defRPr sz="2000">
                <a:latin typeface="微软雅黑" panose="020B0503020204020204" pitchFamily="34" charset="-122"/>
                <a:ea typeface="微软雅黑" panose="020B0503020204020204" pitchFamily="34"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7909560" y="2999232"/>
            <a:ext cx="3657600" cy="2286000"/>
          </a:xfrm>
        </p:spPr>
        <p:txBody>
          <a:bodyPr rtlCol="0"/>
          <a:lstStyle>
            <a:lvl1pPr marL="0" indent="0">
              <a:spcBef>
                <a:spcPts val="1200"/>
              </a:spcBef>
              <a:buNone/>
              <a:defRPr sz="1600">
                <a:solidFill>
                  <a:schemeClr val="bg1"/>
                </a:solidFill>
                <a:latin typeface="微软雅黑" panose="020B0503020204020204" pitchFamily="34" charset="-122"/>
                <a:ea typeface="微软雅黑" panose="020B0503020204020204" pitchFamily="34"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zh-CN" altLang="en-US" noProof="0"/>
              <a:t>单击此处编辑母版文本样式</a:t>
            </a:r>
            <a:endParaRPr lang="zh-CN" altLang="en-US" noProof="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垂直文本占位符 2"/>
          <p:cNvSpPr>
            <a:spLocks noGrp="1"/>
          </p:cNvSpPr>
          <p:nvPr>
            <p:ph type="body" orient="vert" idx="1"/>
          </p:nvPr>
        </p:nvSpPr>
        <p:spPr/>
        <p:txBody>
          <a:bodyPr vert="eaVert" rtlCol="0"/>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dirty="0"/>
          </a:p>
        </p:txBody>
      </p:sp>
      <p:sp>
        <p:nvSpPr>
          <p:cNvPr id="5" name="页脚占位符 4"/>
          <p:cNvSpPr>
            <a:spLocks noGrp="1"/>
          </p:cNvSpPr>
          <p:nvPr>
            <p:ph type="ftr" sz="quarter" idx="11"/>
          </p:nvPr>
        </p:nvSpPr>
        <p:spPr/>
        <p:txBody>
          <a:bodyPr rtlCol="0"/>
          <a:lstStyle/>
          <a:p>
            <a:pPr rtl="0"/>
            <a:r>
              <a:rPr lang="zh-CN" altLang="en-US" noProof="0" dirty="0"/>
              <a:t>添加页脚</a:t>
            </a:r>
            <a:endParaRPr lang="zh-CN" altLang="en-US" noProof="0" dirty="0"/>
          </a:p>
        </p:txBody>
      </p:sp>
      <p:sp>
        <p:nvSpPr>
          <p:cNvPr id="4" name="日期占位符 3"/>
          <p:cNvSpPr>
            <a:spLocks noGrp="1"/>
          </p:cNvSpPr>
          <p:nvPr>
            <p:ph type="dt" sz="half" idx="10"/>
          </p:nvPr>
        </p:nvSpPr>
        <p:spPr/>
        <p:txBody>
          <a:bodyPr rtlCol="0"/>
          <a:lstStyle>
            <a:lvl1pPr>
              <a:defRPr/>
            </a:lvl1pPr>
          </a:lstStyle>
          <a:p>
            <a:fld id="{5449DBDA-CE7C-4E9D-B055-39B80B798BAE}" type="datetime2">
              <a:rPr lang="zh-CN" altLang="en-US" smtClean="0"/>
            </a:fld>
            <a:endParaRPr lang="zh-CN" altLang="en-US" dirty="0"/>
          </a:p>
        </p:txBody>
      </p:sp>
      <p:sp>
        <p:nvSpPr>
          <p:cNvPr id="6" name="灯片编号占位符 5"/>
          <p:cNvSpPr>
            <a:spLocks noGrp="1"/>
          </p:cNvSpPr>
          <p:nvPr>
            <p:ph type="sldNum" sz="quarter" idx="12"/>
          </p:nvPr>
        </p:nvSpPr>
        <p:spPr/>
        <p:txBody>
          <a:bodyPr rtlCol="0"/>
          <a:lstStyle/>
          <a:p>
            <a:pPr rtl="0"/>
            <a:fld id="{E31375A4-56A4-47D6-9801-1991572033F7}"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209314" y="489856"/>
            <a:ext cx="1687286" cy="5301343"/>
          </a:xfrm>
        </p:spPr>
        <p:txBody>
          <a:bodyPr vert="eaVert" rtlCol="0"/>
          <a:lstStyle/>
          <a:p>
            <a:pPr rtl="0"/>
            <a:r>
              <a:rPr lang="zh-CN" altLang="en-US" noProof="0"/>
              <a:t>单击此处编辑母版标题样式</a:t>
            </a:r>
            <a:endParaRPr lang="zh-CN" altLang="en-US" noProof="0" dirty="0"/>
          </a:p>
        </p:txBody>
      </p:sp>
      <p:sp>
        <p:nvSpPr>
          <p:cNvPr id="3" name="垂直文本占位符 2"/>
          <p:cNvSpPr>
            <a:spLocks noGrp="1"/>
          </p:cNvSpPr>
          <p:nvPr>
            <p:ph type="body" orient="vert" idx="1"/>
          </p:nvPr>
        </p:nvSpPr>
        <p:spPr>
          <a:xfrm>
            <a:off x="1295399" y="489856"/>
            <a:ext cx="7587344" cy="5301343"/>
          </a:xfrm>
        </p:spPr>
        <p:txBody>
          <a:bodyPr vert="eaVert" rtlCol="0"/>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dirty="0"/>
          </a:p>
        </p:txBody>
      </p:sp>
      <p:sp>
        <p:nvSpPr>
          <p:cNvPr id="5" name="页脚占位符 4"/>
          <p:cNvSpPr>
            <a:spLocks noGrp="1"/>
          </p:cNvSpPr>
          <p:nvPr>
            <p:ph type="ftr" sz="quarter" idx="11"/>
          </p:nvPr>
        </p:nvSpPr>
        <p:spPr/>
        <p:txBody>
          <a:bodyPr rtlCol="0"/>
          <a:lstStyle/>
          <a:p>
            <a:pPr rtl="0"/>
            <a:r>
              <a:rPr lang="zh-CN" altLang="en-US" noProof="0" dirty="0"/>
              <a:t>添加页脚</a:t>
            </a:r>
            <a:endParaRPr lang="zh-CN" altLang="en-US" noProof="0" dirty="0"/>
          </a:p>
        </p:txBody>
      </p:sp>
      <p:sp>
        <p:nvSpPr>
          <p:cNvPr id="4" name="日期占位符 3"/>
          <p:cNvSpPr>
            <a:spLocks noGrp="1"/>
          </p:cNvSpPr>
          <p:nvPr>
            <p:ph type="dt" sz="half" idx="10"/>
          </p:nvPr>
        </p:nvSpPr>
        <p:spPr/>
        <p:txBody>
          <a:bodyPr rtlCol="0"/>
          <a:lstStyle>
            <a:lvl1pPr>
              <a:defRPr/>
            </a:lvl1pPr>
          </a:lstStyle>
          <a:p>
            <a:fld id="{EF210B5A-AA01-419B-805F-32B7A7B038C7}" type="datetime2">
              <a:rPr lang="zh-CN" altLang="en-US" smtClean="0"/>
            </a:fld>
            <a:endParaRPr lang="zh-CN" altLang="en-US" dirty="0"/>
          </a:p>
        </p:txBody>
      </p:sp>
      <p:sp>
        <p:nvSpPr>
          <p:cNvPr id="6" name="灯片编号占位符 5"/>
          <p:cNvSpPr>
            <a:spLocks noGrp="1"/>
          </p:cNvSpPr>
          <p:nvPr>
            <p:ph type="sldNum" sz="quarter" idx="12"/>
          </p:nvPr>
        </p:nvSpPr>
        <p:spPr/>
        <p:txBody>
          <a:bodyPr rtlCol="0"/>
          <a:lstStyle/>
          <a:p>
            <a:pPr rtl="0"/>
            <a:fld id="{E31375A4-56A4-47D6-9801-1991572033F7}"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组 95"/>
          <p:cNvGrpSpPr/>
          <p:nvPr userDrawn="1"/>
        </p:nvGrpSpPr>
        <p:grpSpPr bwMode="hidden">
          <a:xfrm>
            <a:off x="-1" y="-195943"/>
            <a:ext cx="12192002" cy="6858000"/>
            <a:chOff x="-1" y="0"/>
            <a:chExt cx="12192002" cy="6858000"/>
          </a:xfrm>
        </p:grpSpPr>
        <p:cxnSp>
          <p:nvCxnSpPr>
            <p:cNvPr id="97" name="直接连接符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组 112"/>
            <p:cNvGrpSpPr/>
            <p:nvPr userDrawn="1"/>
          </p:nvGrpSpPr>
          <p:grpSpPr bwMode="hidden">
            <a:xfrm>
              <a:off x="-1" y="0"/>
              <a:ext cx="12192001" cy="6858000"/>
              <a:chOff x="-1" y="0"/>
              <a:chExt cx="12192001" cy="6858000"/>
            </a:xfrm>
          </p:grpSpPr>
          <p:cxnSp>
            <p:nvCxnSpPr>
              <p:cNvPr id="131" name="直接连接符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组 135"/>
              <p:cNvGrpSpPr/>
              <p:nvPr/>
            </p:nvGrpSpPr>
            <p:grpSpPr bwMode="hidden">
              <a:xfrm>
                <a:off x="6327885" y="0"/>
                <a:ext cx="5864115" cy="5898673"/>
                <a:chOff x="6327885" y="0"/>
                <a:chExt cx="5864115" cy="5898673"/>
              </a:xfrm>
            </p:grpSpPr>
            <p:cxnSp>
              <p:nvCxnSpPr>
                <p:cNvPr id="142" name="直接连接符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直接连接符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组 113"/>
            <p:cNvGrpSpPr/>
            <p:nvPr userDrawn="1"/>
          </p:nvGrpSpPr>
          <p:grpSpPr bwMode="hidden">
            <a:xfrm flipH="1">
              <a:off x="0" y="0"/>
              <a:ext cx="12192001" cy="6858000"/>
              <a:chOff x="-1" y="0"/>
              <a:chExt cx="12192001" cy="6858000"/>
            </a:xfrm>
          </p:grpSpPr>
          <p:cxnSp>
            <p:nvCxnSpPr>
              <p:cNvPr id="115" name="直接连接符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组 119"/>
              <p:cNvGrpSpPr/>
              <p:nvPr/>
            </p:nvGrpSpPr>
            <p:grpSpPr bwMode="hidden">
              <a:xfrm>
                <a:off x="6327885" y="0"/>
                <a:ext cx="5864115" cy="5898673"/>
                <a:chOff x="6327885" y="0"/>
                <a:chExt cx="5864115" cy="5898673"/>
              </a:xfrm>
            </p:grpSpPr>
            <p:cxnSp>
              <p:nvCxnSpPr>
                <p:cNvPr id="126" name="直接连接符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直接连接符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占位符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pPr rtl="0"/>
            <a:r>
              <a:rPr lang="zh-CN" altLang="en-US" noProof="0" dirty="0"/>
              <a:t>单击此处编辑母版标题样式</a:t>
            </a:r>
            <a:endParaRPr lang="zh-CN" altLang="en-US" noProof="0" dirty="0"/>
          </a:p>
        </p:txBody>
      </p:sp>
      <p:sp>
        <p:nvSpPr>
          <p:cNvPr id="3" name="文本占位符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cxnSp>
        <p:nvCxnSpPr>
          <p:cNvPr id="148" name="直接连接符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页脚占位符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latin typeface="微软雅黑" panose="020B0503020204020204" pitchFamily="34" charset="-122"/>
                <a:ea typeface="微软雅黑" panose="020B0503020204020204" pitchFamily="34" charset="-122"/>
              </a:defRPr>
            </a:lvl1pPr>
          </a:lstStyle>
          <a:p>
            <a:r>
              <a:rPr lang="zh-CN" altLang="en-US" noProof="0" dirty="0"/>
              <a:t>添加页脚</a:t>
            </a:r>
            <a:endParaRPr lang="zh-CN" altLang="en-US" noProof="0" dirty="0"/>
          </a:p>
        </p:txBody>
      </p:sp>
      <p:sp>
        <p:nvSpPr>
          <p:cNvPr id="4" name="日期占位符 3"/>
          <p:cNvSpPr>
            <a:spLocks noGrp="1"/>
          </p:cNvSpPr>
          <p:nvPr>
            <p:ph type="dt" sz="half" idx="2"/>
          </p:nvPr>
        </p:nvSpPr>
        <p:spPr>
          <a:xfrm>
            <a:off x="8992717" y="6289679"/>
            <a:ext cx="1267271" cy="222436"/>
          </a:xfrm>
          <a:prstGeom prst="rect">
            <a:avLst/>
          </a:prstGeom>
        </p:spPr>
        <p:txBody>
          <a:bodyPr vert="horz" lIns="91440" tIns="45720" rIns="91440" bIns="45720" rtlCol="0" anchor="ctr"/>
          <a:lstStyle>
            <a:lvl1pPr algn="r">
              <a:defRPr sz="1100">
                <a:solidFill>
                  <a:schemeClr val="tx1">
                    <a:lumMod val="90000"/>
                    <a:lumOff val="10000"/>
                  </a:schemeClr>
                </a:solidFill>
                <a:latin typeface="微软雅黑" panose="020B0503020204020204" pitchFamily="34" charset="-122"/>
                <a:ea typeface="微软雅黑" panose="020B0503020204020204" pitchFamily="34" charset="-122"/>
              </a:defRPr>
            </a:lvl1pPr>
          </a:lstStyle>
          <a:p>
            <a:fld id="{842AB2F4-CB8F-4035-AA58-04A5ACD03934}" type="datetime2">
              <a:rPr lang="zh-CN" altLang="en-US" smtClean="0"/>
            </a:fld>
            <a:endParaRPr lang="zh-CN" altLang="en-US" dirty="0"/>
          </a:p>
        </p:txBody>
      </p:sp>
      <p:sp>
        <p:nvSpPr>
          <p:cNvPr id="6" name="灯片编号占位符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latin typeface="微软雅黑" panose="020B0503020204020204" pitchFamily="34" charset="-122"/>
                <a:ea typeface="微软雅黑" panose="020B0503020204020204" pitchFamily="34" charset="-122"/>
              </a:defRPr>
            </a:lvl1pPr>
          </a:lstStyle>
          <a:p>
            <a:fld id="{E31375A4-56A4-47D6-9801-1991572033F7}" type="slidenum">
              <a:rPr lang="en-US" altLang="zh-CN" noProof="0" smtClean="0"/>
            </a:fld>
            <a:endParaRPr lang="zh-CN" altLang="en-US" noProof="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685800" indent="-179705"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11430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6pPr>
      <a:lvl7pPr marL="16002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8pPr>
      <a:lvl9pPr marL="1877695" indent="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6"/>
          <p:cNvSpPr txBox="1">
            <a:spLocks noGrp="1" noChangeArrowheads="1"/>
          </p:cNvSpPr>
          <p:nvPr/>
        </p:nvSpPr>
        <p:spPr bwMode="auto">
          <a:xfrm>
            <a:off x="8225355" y="6229695"/>
            <a:ext cx="1917623" cy="514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r" eaLnBrk="1" hangingPunct="1">
              <a:lnSpc>
                <a:spcPct val="100000"/>
              </a:lnSpc>
              <a:spcBef>
                <a:spcPct val="50000"/>
              </a:spcBef>
            </a:pPr>
            <a:fld id="{5DDC3B20-F74A-4D19-832A-F008DFD96A12}" type="slidenum">
              <a:rPr lang="en-US" altLang="zh-CN" sz="1410">
                <a:solidFill>
                  <a:srgbClr val="5E574E"/>
                </a:solidFill>
                <a:latin typeface="Arial" panose="020B0604020202020204" pitchFamily="34" charset="0"/>
              </a:rPr>
            </a:fld>
            <a:endParaRPr lang="en-US" altLang="zh-CN" sz="1410">
              <a:solidFill>
                <a:srgbClr val="5E574E"/>
              </a:solidFill>
              <a:latin typeface="Arial" panose="020B0604020202020204" pitchFamily="34" charset="0"/>
            </a:endParaRPr>
          </a:p>
        </p:txBody>
      </p:sp>
      <p:sp>
        <p:nvSpPr>
          <p:cNvPr id="3075" name="Text Box 1033"/>
          <p:cNvSpPr txBox="1">
            <a:spLocks noChangeArrowheads="1"/>
          </p:cNvSpPr>
          <p:nvPr/>
        </p:nvSpPr>
        <p:spPr bwMode="auto">
          <a:xfrm>
            <a:off x="2129928" y="661012"/>
            <a:ext cx="8345277" cy="509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lnSpc>
                <a:spcPct val="100000"/>
              </a:lnSpc>
              <a:spcBef>
                <a:spcPct val="50000"/>
              </a:spcBef>
            </a:pPr>
            <a:endParaRPr lang="zh-CN" altLang="en-US" sz="2710"/>
          </a:p>
        </p:txBody>
      </p:sp>
      <p:sp>
        <p:nvSpPr>
          <p:cNvPr id="3076" name="Text Box 1037"/>
          <p:cNvSpPr txBox="1">
            <a:spLocks noChangeArrowheads="1"/>
          </p:cNvSpPr>
          <p:nvPr/>
        </p:nvSpPr>
        <p:spPr bwMode="auto">
          <a:xfrm>
            <a:off x="1795979" y="2647491"/>
            <a:ext cx="8987354" cy="2094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lnSpc>
                <a:spcPct val="100000"/>
              </a:lnSpc>
              <a:spcBef>
                <a:spcPct val="50000"/>
              </a:spcBef>
            </a:pPr>
            <a:r>
              <a:rPr lang="zh-CN" altLang="en-US" sz="5855" dirty="0"/>
              <a:t>第二章</a:t>
            </a:r>
            <a:r>
              <a:rPr lang="en-US" altLang="zh-CN" sz="5855" dirty="0"/>
              <a:t>  </a:t>
            </a:r>
            <a:r>
              <a:rPr lang="en-US" altLang="zh-CN" sz="5855" dirty="0">
                <a:latin typeface="楷体_GB2312" pitchFamily="1" charset="-122"/>
                <a:ea typeface="楷体_GB2312" pitchFamily="1" charset="-122"/>
              </a:rPr>
              <a:t>Java</a:t>
            </a:r>
            <a:r>
              <a:rPr lang="zh-CN" altLang="en-US" sz="5855" dirty="0">
                <a:latin typeface="楷体_GB2312" pitchFamily="1" charset="-122"/>
                <a:ea typeface="楷体_GB2312" pitchFamily="1" charset="-122"/>
              </a:rPr>
              <a:t>语言编程基础</a:t>
            </a:r>
            <a:br>
              <a:rPr lang="zh-CN" altLang="en-US" sz="7155" dirty="0">
                <a:latin typeface="楷体_GB2312" pitchFamily="1" charset="-122"/>
                <a:ea typeface="楷体_GB2312" pitchFamily="1" charset="-122"/>
              </a:rPr>
            </a:br>
            <a:endParaRPr lang="zh-CN" altLang="en-US" sz="7155" dirty="0">
              <a:latin typeface="楷体_GB2312" pitchFamily="1" charset="-122"/>
              <a:ea typeface="楷体_GB2312" pitchFamily="1"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内容占位符 1"/>
          <p:cNvSpPr>
            <a:spLocks noGrp="1"/>
          </p:cNvSpPr>
          <p:nvPr>
            <p:ph idx="4294967295"/>
          </p:nvPr>
        </p:nvSpPr>
        <p:spPr>
          <a:xfrm>
            <a:off x="481300" y="258093"/>
            <a:ext cx="8625862" cy="6247481"/>
          </a:xfrm>
        </p:spPr>
        <p:txBody>
          <a:bodyPr>
            <a:noAutofit/>
          </a:bodyPr>
          <a:lstStyle/>
          <a:p>
            <a:pPr>
              <a:buFont typeface="Wingdings" panose="05000000000000000000" pitchFamily="2" charset="2"/>
              <a:buChar char="u"/>
            </a:pPr>
            <a:r>
              <a:rPr lang="en-US" altLang="zh-CN" sz="3200" b="1" dirty="0">
                <a:latin typeface="宋体" panose="02010600030101010101" pitchFamily="2" charset="-122"/>
                <a:ea typeface="宋体" panose="02010600030101010101" pitchFamily="2" charset="-122"/>
              </a:rPr>
              <a:t>2.1 Java</a:t>
            </a:r>
            <a:r>
              <a:rPr lang="zh-CN" altLang="en-US" sz="3200" b="1" dirty="0">
                <a:latin typeface="宋体" panose="02010600030101010101" pitchFamily="2" charset="-122"/>
                <a:ea typeface="宋体" panose="02010600030101010101" pitchFamily="2" charset="-122"/>
              </a:rPr>
              <a:t>语言数据类型</a:t>
            </a:r>
            <a:endParaRPr lang="zh-CN" altLang="en-US" sz="32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en-US" altLang="zh-CN" sz="3200" b="1" dirty="0">
                <a:latin typeface="宋体" panose="02010600030101010101" pitchFamily="2" charset="-122"/>
                <a:ea typeface="宋体" panose="02010600030101010101" pitchFamily="2" charset="-122"/>
              </a:rPr>
              <a:t>2.2 Java</a:t>
            </a:r>
            <a:r>
              <a:rPr lang="zh-CN" altLang="en-US" sz="3200" b="1" dirty="0">
                <a:latin typeface="宋体" panose="02010600030101010101" pitchFamily="2" charset="-122"/>
                <a:ea typeface="宋体" panose="02010600030101010101" pitchFamily="2" charset="-122"/>
              </a:rPr>
              <a:t>的标识符与关键字</a:t>
            </a:r>
            <a:endParaRPr lang="en-US" altLang="zh-CN" sz="32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en-US" altLang="zh-CN" sz="3200" b="1" dirty="0">
                <a:latin typeface="宋体" panose="02010600030101010101" pitchFamily="2" charset="-122"/>
                <a:ea typeface="宋体" panose="02010600030101010101" pitchFamily="2" charset="-122"/>
              </a:rPr>
              <a:t>2.3 </a:t>
            </a:r>
            <a:r>
              <a:rPr lang="zh-CN" altLang="en-US" sz="3200" b="1" dirty="0">
                <a:latin typeface="宋体" panose="02010600030101010101" pitchFamily="2" charset="-122"/>
                <a:ea typeface="宋体" panose="02010600030101010101" pitchFamily="2" charset="-122"/>
              </a:rPr>
              <a:t>变量和常量</a:t>
            </a:r>
            <a:endParaRPr lang="zh-CN" altLang="en-US" sz="32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en-US" altLang="zh-CN" sz="3200" b="1" dirty="0">
                <a:latin typeface="宋体" panose="02010600030101010101" pitchFamily="2" charset="-122"/>
                <a:ea typeface="宋体" panose="02010600030101010101" pitchFamily="2" charset="-122"/>
              </a:rPr>
              <a:t>2.4 Java</a:t>
            </a:r>
            <a:r>
              <a:rPr lang="zh-CN" altLang="en-US" sz="3200" b="1" dirty="0">
                <a:latin typeface="宋体" panose="02010600030101010101" pitchFamily="2" charset="-122"/>
                <a:ea typeface="宋体" panose="02010600030101010101" pitchFamily="2" charset="-122"/>
              </a:rPr>
              <a:t>的输入输出</a:t>
            </a:r>
            <a:endParaRPr lang="zh-CN" altLang="en-US" sz="32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en-US" altLang="zh-CN" sz="3200" b="1" dirty="0">
                <a:latin typeface="宋体" panose="02010600030101010101" pitchFamily="2" charset="-122"/>
                <a:ea typeface="宋体" panose="02010600030101010101" pitchFamily="2" charset="-122"/>
              </a:rPr>
              <a:t>2.5 </a:t>
            </a:r>
            <a:r>
              <a:rPr lang="zh-CN" altLang="en-US" sz="3200" b="1" dirty="0">
                <a:latin typeface="宋体" panose="02010600030101010101" pitchFamily="2" charset="-122"/>
                <a:ea typeface="宋体" panose="02010600030101010101" pitchFamily="2" charset="-122"/>
              </a:rPr>
              <a:t>数据类型转换</a:t>
            </a:r>
            <a:endParaRPr lang="zh-CN" altLang="en-US" sz="32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en-US" altLang="zh-CN" sz="3200" b="1" dirty="0">
                <a:latin typeface="宋体" panose="02010600030101010101" pitchFamily="2" charset="-122"/>
                <a:ea typeface="宋体" panose="02010600030101010101" pitchFamily="2" charset="-122"/>
              </a:rPr>
              <a:t>2.6 </a:t>
            </a:r>
            <a:r>
              <a:rPr lang="zh-CN" altLang="en-US" sz="3200" b="1" dirty="0">
                <a:latin typeface="宋体" panose="02010600030101010101" pitchFamily="2" charset="-122"/>
                <a:ea typeface="宋体" panose="02010600030101010101" pitchFamily="2" charset="-122"/>
              </a:rPr>
              <a:t>运算符与表达式</a:t>
            </a:r>
            <a:endParaRPr lang="zh-CN" altLang="en-US" sz="32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en-US" altLang="zh-CN" sz="3200" b="1" dirty="0">
                <a:latin typeface="宋体" panose="02010600030101010101" pitchFamily="2" charset="-122"/>
                <a:ea typeface="宋体" panose="02010600030101010101" pitchFamily="2" charset="-122"/>
              </a:rPr>
              <a:t>2.7 </a:t>
            </a:r>
            <a:r>
              <a:rPr lang="zh-CN" altLang="en-US" sz="3200" b="1" dirty="0">
                <a:latin typeface="宋体" panose="02010600030101010101" pitchFamily="2" charset="-122"/>
                <a:ea typeface="宋体" panose="02010600030101010101" pitchFamily="2" charset="-122"/>
              </a:rPr>
              <a:t>熟悉</a:t>
            </a:r>
            <a:r>
              <a:rPr lang="en-US" altLang="zh-CN" sz="3200" b="1" dirty="0">
                <a:latin typeface="宋体" panose="02010600030101010101" pitchFamily="2" charset="-122"/>
                <a:ea typeface="宋体" panose="02010600030101010101" pitchFamily="2" charset="-122"/>
              </a:rPr>
              <a:t>Java</a:t>
            </a:r>
            <a:r>
              <a:rPr lang="zh-CN" altLang="en-US" sz="3200" b="1" dirty="0">
                <a:latin typeface="宋体" panose="02010600030101010101" pitchFamily="2" charset="-122"/>
                <a:ea typeface="宋体" panose="02010600030101010101" pitchFamily="2" charset="-122"/>
              </a:rPr>
              <a:t>程序的流程控制语句</a:t>
            </a:r>
            <a:endParaRPr lang="zh-CN" altLang="en-US" sz="32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en-US" altLang="zh-CN" sz="3200" b="1" dirty="0">
                <a:latin typeface="宋体" panose="02010600030101010101" pitchFamily="2" charset="-122"/>
                <a:ea typeface="宋体" panose="02010600030101010101" pitchFamily="2" charset="-122"/>
              </a:rPr>
              <a:t>2.8 </a:t>
            </a:r>
            <a:r>
              <a:rPr lang="zh-CN" altLang="en-US" sz="3200" b="1" dirty="0">
                <a:latin typeface="宋体" panose="02010600030101010101" pitchFamily="2" charset="-122"/>
                <a:ea typeface="宋体" panose="02010600030101010101" pitchFamily="2" charset="-122"/>
              </a:rPr>
              <a:t>数组</a:t>
            </a:r>
            <a:endParaRPr lang="en-US" altLang="zh-CN" sz="3200" b="1" dirty="0">
              <a:latin typeface="宋体" panose="02010600030101010101" pitchFamily="2" charset="-122"/>
              <a:ea typeface="宋体" panose="02010600030101010101" pitchFamily="2" charset="-122"/>
            </a:endParaRPr>
          </a:p>
          <a:p>
            <a:pPr>
              <a:buFont typeface="Wingdings" panose="05000000000000000000" pitchFamily="2" charset="2"/>
              <a:buChar char="u"/>
            </a:pPr>
            <a:r>
              <a:rPr lang="en-US" altLang="zh-CN" sz="3200" b="1" dirty="0">
                <a:latin typeface="宋体" panose="02010600030101010101" pitchFamily="2" charset="-122"/>
                <a:ea typeface="宋体" panose="02010600030101010101" pitchFamily="2" charset="-122"/>
              </a:rPr>
              <a:t>2.9 </a:t>
            </a:r>
            <a:r>
              <a:rPr lang="zh-CN" altLang="en-US" sz="3200" b="1" dirty="0">
                <a:latin typeface="宋体" panose="02010600030101010101" pitchFamily="2" charset="-122"/>
                <a:ea typeface="宋体" panose="02010600030101010101" pitchFamily="2" charset="-122"/>
              </a:rPr>
              <a:t>字符串的创建与使用</a:t>
            </a:r>
            <a:endParaRPr lang="zh-CN" altLang="en-US" sz="3200" b="1" dirty="0">
              <a:latin typeface="宋体" panose="02010600030101010101" pitchFamily="2" charset="-122"/>
              <a:ea typeface="宋体" panose="02010600030101010101" pitchFamily="2" charset="-122"/>
            </a:endParaRPr>
          </a:p>
          <a:p>
            <a:pPr>
              <a:buFont typeface="Wingdings" panose="05000000000000000000" pitchFamily="2" charset="2"/>
              <a:buChar char="u"/>
            </a:pPr>
            <a:endParaRPr lang="zh-CN" altLang="en-US" sz="3200" b="1" dirty="0">
              <a:latin typeface="宋体" panose="02010600030101010101" pitchFamily="2" charset="-122"/>
              <a:ea typeface="宋体" panose="02010600030101010101" pitchFamily="2" charset="-122"/>
            </a:endParaRPr>
          </a:p>
          <a:p>
            <a:pPr>
              <a:buFont typeface="Wingdings" panose="05000000000000000000" pitchFamily="2" charset="2"/>
              <a:buChar char="u"/>
            </a:pPr>
            <a:endParaRPr lang="zh-CN" altLang="en-US" sz="32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2"/>
          <p:cNvSpPr>
            <a:spLocks noGrp="1"/>
          </p:cNvSpPr>
          <p:nvPr>
            <p:ph type="title" idx="4294967295"/>
          </p:nvPr>
        </p:nvSpPr>
        <p:spPr>
          <a:xfrm>
            <a:off x="3618238" y="239271"/>
            <a:ext cx="5459087" cy="914055"/>
          </a:xfrm>
        </p:spPr>
        <p:txBody>
          <a:bodyPr/>
          <a:lstStyle/>
          <a:p>
            <a:r>
              <a:rPr lang="en-US" altLang="zh-CN" dirty="0"/>
              <a:t>2.1 Java</a:t>
            </a:r>
            <a:r>
              <a:rPr lang="zh-CN" altLang="en-US" dirty="0"/>
              <a:t>语言数据类型</a:t>
            </a:r>
            <a:endParaRPr lang="zh-CN" altLang="en-US" dirty="0"/>
          </a:p>
        </p:txBody>
      </p:sp>
      <p:pic>
        <p:nvPicPr>
          <p:cNvPr id="5123" name="图片 3"/>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57789" y="1242841"/>
            <a:ext cx="8042313" cy="537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2"/>
          <p:cNvSpPr>
            <a:spLocks noGrp="1"/>
          </p:cNvSpPr>
          <p:nvPr>
            <p:ph type="title" idx="4294967295"/>
          </p:nvPr>
        </p:nvSpPr>
        <p:spPr>
          <a:xfrm>
            <a:off x="417838" y="752590"/>
            <a:ext cx="8147318" cy="914056"/>
          </a:xfrm>
        </p:spPr>
        <p:txBody>
          <a:bodyPr/>
          <a:lstStyle/>
          <a:p>
            <a:r>
              <a:rPr lang="en-US" altLang="zh-CN" dirty="0"/>
              <a:t>1</a:t>
            </a:r>
            <a:r>
              <a:rPr lang="zh-CN" altLang="en-US" dirty="0"/>
              <a:t>、整数类型</a:t>
            </a:r>
            <a:endParaRPr lang="zh-CN" altLang="en-US" dirty="0"/>
          </a:p>
        </p:txBody>
      </p:sp>
      <p:graphicFrame>
        <p:nvGraphicFramePr>
          <p:cNvPr id="7171" name="Group 3"/>
          <p:cNvGraphicFramePr>
            <a:graphicFrameLocks noGrp="1"/>
          </p:cNvGraphicFramePr>
          <p:nvPr/>
        </p:nvGraphicFramePr>
        <p:xfrm>
          <a:off x="2191898" y="1945166"/>
          <a:ext cx="7260803" cy="2733562"/>
        </p:xfrm>
        <a:graphic>
          <a:graphicData uri="http://schemas.openxmlformats.org/drawingml/2006/table">
            <a:tbl>
              <a:tblPr/>
              <a:tblGrid>
                <a:gridCol w="1816062"/>
                <a:gridCol w="1814340"/>
                <a:gridCol w="1816061"/>
                <a:gridCol w="1814340"/>
              </a:tblGrid>
              <a:tr h="543958">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名称</a:t>
                      </a:r>
                      <a:endParaRPr kumimoji="0" 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长度</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范围</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默认值</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r>
              <a:tr h="547401">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byte</a:t>
                      </a:r>
                      <a:endParaRPr kumimoji="0" lang="zh-CN" altLang="en-US" sz="2200" b="1" i="0" u="none" strike="noStrike" cap="none" normalizeH="0" baseline="0" dirty="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sz="22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sz="2200" b="1" i="0" u="none" strike="noStrike" kern="1200"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zh-CN" altLang="en-US" sz="26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7401">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short</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sz="2200" b="1" i="0" u="none" strike="noStrike" kern="1200"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sz="2200" b="1" i="0" u="none" strike="noStrike" kern="1200"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zh-CN" altLang="en-US" sz="26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7401">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int</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sz="2200" b="1" i="0" u="none" strike="noStrike" kern="1200"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sz="2200" b="1" i="0" u="none" strike="noStrike" kern="1200"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31</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zh-CN" altLang="en-US" sz="2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7401">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long</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64</a:t>
                      </a:r>
                      <a:endParaRPr kumimoji="0" lang="zh-CN" altLang="en-US"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sz="2200" b="1" i="0" u="none" strike="noStrike" kern="1200"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63</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sz="2200" b="1" i="0" u="none" strike="noStrike" kern="1200"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63</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0L</a:t>
                      </a:r>
                      <a:endParaRPr kumimoji="0" lang="zh-CN" altLang="en-US" sz="2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2"/>
          <p:cNvSpPr>
            <a:spLocks noGrp="1"/>
          </p:cNvSpPr>
          <p:nvPr>
            <p:ph type="title" idx="4294967295"/>
          </p:nvPr>
        </p:nvSpPr>
        <p:spPr>
          <a:xfrm>
            <a:off x="455938" y="562894"/>
            <a:ext cx="8147318" cy="914055"/>
          </a:xfrm>
        </p:spPr>
        <p:txBody>
          <a:bodyPr/>
          <a:lstStyle/>
          <a:p>
            <a:r>
              <a:rPr lang="en-US" altLang="zh-CN" dirty="0"/>
              <a:t>2</a:t>
            </a:r>
            <a:r>
              <a:rPr lang="zh-CN" altLang="en-US" dirty="0"/>
              <a:t>、浮点数据类型</a:t>
            </a:r>
            <a:endParaRPr lang="zh-CN" altLang="en-US" dirty="0"/>
          </a:p>
        </p:txBody>
      </p:sp>
      <p:graphicFrame>
        <p:nvGraphicFramePr>
          <p:cNvPr id="8195" name="Group 3"/>
          <p:cNvGraphicFramePr>
            <a:graphicFrameLocks noGrp="1"/>
          </p:cNvGraphicFramePr>
          <p:nvPr/>
        </p:nvGraphicFramePr>
        <p:xfrm>
          <a:off x="2164585" y="2029399"/>
          <a:ext cx="7028416" cy="2108697"/>
        </p:xfrm>
        <a:graphic>
          <a:graphicData uri="http://schemas.openxmlformats.org/drawingml/2006/table">
            <a:tbl>
              <a:tblPr/>
              <a:tblGrid>
                <a:gridCol w="1757534"/>
                <a:gridCol w="1757535"/>
                <a:gridCol w="1755813"/>
                <a:gridCol w="1757534"/>
              </a:tblGrid>
              <a:tr h="702325">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名称</a:t>
                      </a:r>
                      <a:endParaRPr kumimoji="0" lang="zh-CN"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长度</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范围</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默认值</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r>
              <a:tr h="702325">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float</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sz="2200" b="1" i="0" u="none" strike="noStrike" kern="1200"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sz="2200" b="1" i="0" u="none" strike="noStrike" kern="1200"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0.0f</a:t>
                      </a:r>
                      <a:endParaRPr kumimoji="0" lang="zh-CN" altLang="en-US" sz="26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4047">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double</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64</a:t>
                      </a: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sz="2200" b="1" i="0" u="none" strike="noStrike" kern="1200"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sz="2200" b="1" i="0" u="none" strike="noStrike" kern="1200"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zh-CN" altLang="en-US" sz="2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2" marR="49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1"/>
          <p:cNvSpPr>
            <a:spLocks noGrp="1"/>
          </p:cNvSpPr>
          <p:nvPr>
            <p:ph idx="4294967295"/>
          </p:nvPr>
        </p:nvSpPr>
        <p:spPr>
          <a:xfrm>
            <a:off x="1141738" y="1303950"/>
            <a:ext cx="10478762" cy="1805733"/>
          </a:xfrm>
        </p:spPr>
        <p:txBody>
          <a:bodyPr/>
          <a:lstStyle/>
          <a:p>
            <a:pPr marL="0" indent="353060">
              <a:buNone/>
            </a:pPr>
            <a:r>
              <a:rPr lang="en-US" altLang="zh-CN" sz="3035" b="1" dirty="0">
                <a:latin typeface="宋体" panose="02010600030101010101" pitchFamily="2" charset="-122"/>
                <a:ea typeface="宋体" panose="02010600030101010101" pitchFamily="2" charset="-122"/>
              </a:rPr>
              <a:t>char</a:t>
            </a:r>
            <a:r>
              <a:rPr lang="zh-CN" altLang="en-US" sz="3035" b="1" dirty="0">
                <a:latin typeface="宋体" panose="02010600030101010101" pitchFamily="2" charset="-122"/>
                <a:ea typeface="宋体" panose="02010600030101010101" pitchFamily="2" charset="-122"/>
              </a:rPr>
              <a:t>类型用来表示单个字符。一个</a:t>
            </a:r>
            <a:r>
              <a:rPr lang="en-US" altLang="zh-CN" sz="3035" b="1" dirty="0">
                <a:latin typeface="宋体" panose="02010600030101010101" pitchFamily="2" charset="-122"/>
                <a:ea typeface="宋体" panose="02010600030101010101" pitchFamily="2" charset="-122"/>
              </a:rPr>
              <a:t>char</a:t>
            </a:r>
            <a:r>
              <a:rPr lang="zh-CN" altLang="en-US" sz="3035" b="1" dirty="0">
                <a:latin typeface="宋体" panose="02010600030101010101" pitchFamily="2" charset="-122"/>
                <a:ea typeface="宋体" panose="02010600030101010101" pitchFamily="2" charset="-122"/>
              </a:rPr>
              <a:t>代表一个</a:t>
            </a:r>
            <a:r>
              <a:rPr lang="en-US" altLang="zh-CN" sz="3035" b="1" dirty="0">
                <a:solidFill>
                  <a:srgbClr val="FF0000"/>
                </a:solidFill>
                <a:latin typeface="宋体" panose="02010600030101010101" pitchFamily="2" charset="-122"/>
                <a:ea typeface="宋体" panose="02010600030101010101" pitchFamily="2" charset="-122"/>
              </a:rPr>
              <a:t>16-bit</a:t>
            </a:r>
            <a:r>
              <a:rPr lang="zh-CN" altLang="en-US" sz="3035" b="1" dirty="0">
                <a:latin typeface="宋体" panose="02010600030101010101" pitchFamily="2" charset="-122"/>
                <a:ea typeface="宋体" panose="02010600030101010101" pitchFamily="2" charset="-122"/>
              </a:rPr>
              <a:t>无符号的（不分正负的）</a:t>
            </a:r>
            <a:r>
              <a:rPr lang="en-US" altLang="zh-CN" sz="3035" b="1" dirty="0">
                <a:solidFill>
                  <a:srgbClr val="FF0000"/>
                </a:solidFill>
                <a:latin typeface="宋体" panose="02010600030101010101" pitchFamily="2" charset="-122"/>
                <a:ea typeface="宋体" panose="02010600030101010101" pitchFamily="2" charset="-122"/>
              </a:rPr>
              <a:t>Unicode</a:t>
            </a:r>
            <a:r>
              <a:rPr lang="zh-CN" altLang="en-US" sz="3035" b="1" dirty="0">
                <a:latin typeface="宋体" panose="02010600030101010101" pitchFamily="2" charset="-122"/>
                <a:ea typeface="宋体" panose="02010600030101010101" pitchFamily="2" charset="-122"/>
              </a:rPr>
              <a:t>字符，一个</a:t>
            </a:r>
            <a:r>
              <a:rPr lang="en-US" altLang="zh-CN" sz="3035" b="1" dirty="0">
                <a:latin typeface="宋体" panose="02010600030101010101" pitchFamily="2" charset="-122"/>
                <a:ea typeface="宋体" panose="02010600030101010101" pitchFamily="2" charset="-122"/>
              </a:rPr>
              <a:t>char</a:t>
            </a:r>
            <a:r>
              <a:rPr lang="zh-CN" altLang="en-US" sz="3035" b="1" dirty="0">
                <a:latin typeface="宋体" panose="02010600030101010101" pitchFamily="2" charset="-122"/>
                <a:ea typeface="宋体" panose="02010600030101010101" pitchFamily="2" charset="-122"/>
              </a:rPr>
              <a:t>字符必须包含在</a:t>
            </a:r>
            <a:r>
              <a:rPr lang="zh-CN" altLang="en-US" sz="3035" b="1" dirty="0">
                <a:solidFill>
                  <a:srgbClr val="FF0000"/>
                </a:solidFill>
                <a:latin typeface="宋体" panose="02010600030101010101" pitchFamily="2" charset="-122"/>
                <a:ea typeface="宋体" panose="02010600030101010101" pitchFamily="2" charset="-122"/>
              </a:rPr>
              <a:t>单引号</a:t>
            </a:r>
            <a:r>
              <a:rPr lang="zh-CN" altLang="en-US" sz="3035" b="1" dirty="0">
                <a:latin typeface="宋体" panose="02010600030101010101" pitchFamily="2" charset="-122"/>
                <a:ea typeface="宋体" panose="02010600030101010101" pitchFamily="2" charset="-122"/>
              </a:rPr>
              <a:t>内。</a:t>
            </a:r>
            <a:endParaRPr lang="zh-CN" altLang="en-US" sz="3035" b="1" dirty="0">
              <a:latin typeface="宋体" panose="02010600030101010101" pitchFamily="2" charset="-122"/>
              <a:ea typeface="宋体" panose="02010600030101010101" pitchFamily="2" charset="-122"/>
            </a:endParaRPr>
          </a:p>
        </p:txBody>
      </p:sp>
      <p:sp>
        <p:nvSpPr>
          <p:cNvPr id="8195" name="标题 2"/>
          <p:cNvSpPr>
            <a:spLocks noGrp="1"/>
          </p:cNvSpPr>
          <p:nvPr>
            <p:ph type="title" idx="4294967295"/>
          </p:nvPr>
        </p:nvSpPr>
        <p:spPr>
          <a:xfrm>
            <a:off x="494038" y="389895"/>
            <a:ext cx="8147318" cy="914055"/>
          </a:xfrm>
        </p:spPr>
        <p:txBody>
          <a:bodyPr/>
          <a:lstStyle/>
          <a:p>
            <a:r>
              <a:rPr lang="en-US" altLang="zh-CN" dirty="0"/>
              <a:t>3</a:t>
            </a:r>
            <a:r>
              <a:rPr lang="zh-CN" altLang="en-US" dirty="0"/>
              <a:t>、字符数据类型</a:t>
            </a:r>
            <a:endParaRPr lang="zh-CN" altLang="en-US" dirty="0"/>
          </a:p>
        </p:txBody>
      </p:sp>
      <p:graphicFrame>
        <p:nvGraphicFramePr>
          <p:cNvPr id="9220" name="Group 4"/>
          <p:cNvGraphicFramePr>
            <a:graphicFrameLocks noGrp="1"/>
          </p:cNvGraphicFramePr>
          <p:nvPr/>
        </p:nvGraphicFramePr>
        <p:xfrm>
          <a:off x="2973407" y="3194892"/>
          <a:ext cx="6090263" cy="2029514"/>
        </p:xfrm>
        <a:graphic>
          <a:graphicData uri="http://schemas.openxmlformats.org/drawingml/2006/table">
            <a:tbl>
              <a:tblPr/>
              <a:tblGrid>
                <a:gridCol w="1521705"/>
                <a:gridCol w="1523427"/>
                <a:gridCol w="1521705"/>
                <a:gridCol w="1523426"/>
              </a:tblGrid>
              <a:tr h="1010454">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名称</a:t>
                      </a:r>
                      <a:endParaRPr kumimoji="0" lang="zh-CN" sz="22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1" marR="499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长度</a:t>
                      </a:r>
                      <a:endParaRPr kumimoji="0" lang="zh-CN" sz="22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1" marR="499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范围</a:t>
                      </a:r>
                      <a:endParaRPr kumimoji="0" lang="zh-CN" sz="22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1" marR="499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默认值</a:t>
                      </a:r>
                      <a:endParaRPr kumimoji="0" lang="zh-CN" sz="22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1" marR="499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r>
              <a:tr h="1019060">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char</a:t>
                      </a:r>
                      <a:endParaRPr kumimoji="0" lang="zh-CN" altLang="en-US" sz="22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1" marR="499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r>
                        <a:rPr kumimoji="0" lang="zh-CN" altLang="en-US" sz="2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a:t>
                      </a:r>
                      <a:endParaRPr kumimoji="0" lang="zh-CN" altLang="en-US" sz="22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1" marR="499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a:t>
                      </a:r>
                      <a:r>
                        <a:rPr kumimoji="0" lang="en-US" sz="2200" b="1" i="0" u="none" strike="noStrike" kern="1200"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r>
                        <a:rPr kumimoji="0" lang="en-US" sz="2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2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1" marR="499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'\u0000'</a:t>
                      </a:r>
                      <a:endParaRPr kumimoji="0" lang="zh-CN" altLang="en-US" sz="22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4991" marR="499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内容占位符 1"/>
          <p:cNvSpPr>
            <a:spLocks noGrp="1"/>
          </p:cNvSpPr>
          <p:nvPr>
            <p:ph idx="4294967295"/>
          </p:nvPr>
        </p:nvSpPr>
        <p:spPr>
          <a:xfrm>
            <a:off x="1303663" y="1182592"/>
            <a:ext cx="9584675" cy="4170917"/>
          </a:xfrm>
        </p:spPr>
        <p:txBody>
          <a:bodyPr/>
          <a:lstStyle/>
          <a:p>
            <a:pPr marL="0" indent="353060">
              <a:buNone/>
            </a:pPr>
            <a:r>
              <a:rPr lang="en-US" altLang="zh-CN" sz="3035" b="1" dirty="0" err="1">
                <a:latin typeface="宋体" panose="02010600030101010101" pitchFamily="2" charset="-122"/>
                <a:ea typeface="宋体" panose="02010600030101010101" pitchFamily="2" charset="-122"/>
              </a:rPr>
              <a:t>boolean</a:t>
            </a:r>
            <a:r>
              <a:rPr lang="en-US" altLang="zh-CN" sz="3035" b="1" dirty="0">
                <a:latin typeface="宋体" panose="02010600030101010101" pitchFamily="2" charset="-122"/>
                <a:ea typeface="宋体" panose="02010600030101010101" pitchFamily="2" charset="-122"/>
              </a:rPr>
              <a:t> </a:t>
            </a:r>
            <a:r>
              <a:rPr lang="zh-CN" altLang="en-US" sz="3035" b="1" dirty="0">
                <a:latin typeface="宋体" panose="02010600030101010101" pitchFamily="2" charset="-122"/>
                <a:ea typeface="宋体" panose="02010600030101010101" pitchFamily="2" charset="-122"/>
              </a:rPr>
              <a:t>只有两个值，即</a:t>
            </a:r>
            <a:r>
              <a:rPr lang="en-US" altLang="zh-CN" sz="3035" b="1" dirty="0">
                <a:latin typeface="宋体" panose="02010600030101010101" pitchFamily="2" charset="-122"/>
                <a:ea typeface="宋体" panose="02010600030101010101" pitchFamily="2" charset="-122"/>
              </a:rPr>
              <a:t> </a:t>
            </a:r>
            <a:r>
              <a:rPr lang="en-US" altLang="zh-CN" sz="3035" b="1" dirty="0">
                <a:solidFill>
                  <a:srgbClr val="FF0000"/>
                </a:solidFill>
                <a:latin typeface="宋体" panose="02010600030101010101" pitchFamily="2" charset="-122"/>
                <a:ea typeface="宋体" panose="02010600030101010101" pitchFamily="2" charset="-122"/>
              </a:rPr>
              <a:t>true </a:t>
            </a:r>
            <a:r>
              <a:rPr lang="zh-CN" altLang="en-US" sz="3035" b="1" dirty="0">
                <a:solidFill>
                  <a:srgbClr val="FF0000"/>
                </a:solidFill>
                <a:latin typeface="宋体" panose="02010600030101010101" pitchFamily="2" charset="-122"/>
                <a:ea typeface="宋体" panose="02010600030101010101" pitchFamily="2" charset="-122"/>
              </a:rPr>
              <a:t>和</a:t>
            </a:r>
            <a:r>
              <a:rPr lang="en-US" altLang="zh-CN" sz="3035" b="1" dirty="0">
                <a:solidFill>
                  <a:srgbClr val="FF0000"/>
                </a:solidFill>
                <a:latin typeface="宋体" panose="02010600030101010101" pitchFamily="2" charset="-122"/>
                <a:ea typeface="宋体" panose="02010600030101010101" pitchFamily="2" charset="-122"/>
              </a:rPr>
              <a:t> false</a:t>
            </a:r>
            <a:r>
              <a:rPr lang="zh-CN" altLang="en-US" sz="3035" b="1" dirty="0">
                <a:latin typeface="宋体" panose="02010600030101010101" pitchFamily="2" charset="-122"/>
                <a:ea typeface="宋体" panose="02010600030101010101" pitchFamily="2" charset="-122"/>
              </a:rPr>
              <a:t>。 以下是一个有关</a:t>
            </a:r>
            <a:r>
              <a:rPr lang="en-US" altLang="zh-CN" sz="3035" b="1" dirty="0">
                <a:latin typeface="宋体" panose="02010600030101010101" pitchFamily="2" charset="-122"/>
                <a:ea typeface="宋体" panose="02010600030101010101" pitchFamily="2" charset="-122"/>
              </a:rPr>
              <a:t> </a:t>
            </a:r>
            <a:r>
              <a:rPr lang="en-US" altLang="zh-CN" sz="3035" b="1" dirty="0" err="1">
                <a:latin typeface="宋体" panose="02010600030101010101" pitchFamily="2" charset="-122"/>
                <a:ea typeface="宋体" panose="02010600030101010101" pitchFamily="2" charset="-122"/>
              </a:rPr>
              <a:t>boolean</a:t>
            </a:r>
            <a:r>
              <a:rPr lang="en-US" altLang="zh-CN" sz="3035" b="1" dirty="0">
                <a:latin typeface="宋体" panose="02010600030101010101" pitchFamily="2" charset="-122"/>
                <a:ea typeface="宋体" panose="02010600030101010101" pitchFamily="2" charset="-122"/>
              </a:rPr>
              <a:t> </a:t>
            </a:r>
            <a:r>
              <a:rPr lang="zh-CN" altLang="en-US" sz="3035" b="1" dirty="0">
                <a:latin typeface="宋体" panose="02010600030101010101" pitchFamily="2" charset="-122"/>
                <a:ea typeface="宋体" panose="02010600030101010101" pitchFamily="2" charset="-122"/>
              </a:rPr>
              <a:t>类型变量的声明和初始化：</a:t>
            </a:r>
            <a:endParaRPr lang="zh-CN" altLang="en-US" sz="3035" b="1" dirty="0">
              <a:latin typeface="宋体" panose="02010600030101010101" pitchFamily="2" charset="-122"/>
              <a:ea typeface="宋体" panose="02010600030101010101" pitchFamily="2" charset="-122"/>
            </a:endParaRPr>
          </a:p>
          <a:p>
            <a:pPr marL="0" indent="353060">
              <a:buNone/>
            </a:pPr>
            <a:r>
              <a:rPr lang="en-US" altLang="zh-CN" sz="3035" b="1" dirty="0" err="1">
                <a:solidFill>
                  <a:srgbClr val="FF0000"/>
                </a:solidFill>
                <a:latin typeface="宋体" panose="02010600030101010101" pitchFamily="2" charset="-122"/>
                <a:ea typeface="宋体" panose="02010600030101010101" pitchFamily="2" charset="-122"/>
              </a:rPr>
              <a:t>boolean</a:t>
            </a:r>
            <a:r>
              <a:rPr lang="en-US" altLang="zh-CN" sz="3035" b="1" dirty="0">
                <a:solidFill>
                  <a:srgbClr val="FF0000"/>
                </a:solidFill>
                <a:latin typeface="宋体" panose="02010600030101010101" pitchFamily="2" charset="-122"/>
                <a:ea typeface="宋体" panose="02010600030101010101" pitchFamily="2" charset="-122"/>
              </a:rPr>
              <a:t> truth = true</a:t>
            </a:r>
            <a:r>
              <a:rPr lang="zh-CN" altLang="en-US" sz="3035" b="1" dirty="0">
                <a:solidFill>
                  <a:srgbClr val="FF0000"/>
                </a:solidFill>
                <a:latin typeface="宋体" panose="02010600030101010101" pitchFamily="2" charset="-122"/>
                <a:ea typeface="宋体" panose="02010600030101010101" pitchFamily="2" charset="-122"/>
              </a:rPr>
              <a:t>；</a:t>
            </a:r>
            <a:r>
              <a:rPr lang="en-US" altLang="zh-CN" sz="3035" b="1" dirty="0">
                <a:solidFill>
                  <a:srgbClr val="FF0000"/>
                </a:solidFill>
                <a:latin typeface="宋体" panose="02010600030101010101" pitchFamily="2" charset="-122"/>
                <a:ea typeface="宋体" panose="02010600030101010101" pitchFamily="2" charset="-122"/>
              </a:rPr>
              <a:t> //</a:t>
            </a:r>
            <a:r>
              <a:rPr lang="zh-CN" altLang="en-US" sz="3035" b="1" dirty="0">
                <a:solidFill>
                  <a:srgbClr val="FF0000"/>
                </a:solidFill>
                <a:latin typeface="宋体" panose="02010600030101010101" pitchFamily="2" charset="-122"/>
                <a:ea typeface="宋体" panose="02010600030101010101" pitchFamily="2" charset="-122"/>
              </a:rPr>
              <a:t>声明变量</a:t>
            </a:r>
            <a:r>
              <a:rPr lang="en-US" altLang="zh-CN" sz="3035" b="1" dirty="0">
                <a:solidFill>
                  <a:srgbClr val="FF0000"/>
                </a:solidFill>
                <a:latin typeface="宋体" panose="02010600030101010101" pitchFamily="2" charset="-122"/>
                <a:ea typeface="宋体" panose="02010600030101010101" pitchFamily="2" charset="-122"/>
              </a:rPr>
              <a:t> truth</a:t>
            </a:r>
            <a:endParaRPr lang="en-US" altLang="zh-CN" sz="3035" b="1" dirty="0">
              <a:solidFill>
                <a:srgbClr val="FF0000"/>
              </a:solidFill>
              <a:latin typeface="宋体" panose="02010600030101010101" pitchFamily="2" charset="-122"/>
              <a:ea typeface="宋体" panose="02010600030101010101" pitchFamily="2" charset="-122"/>
            </a:endParaRPr>
          </a:p>
          <a:p>
            <a:pPr marL="0" indent="353060">
              <a:buNone/>
            </a:pPr>
            <a:r>
              <a:rPr lang="en-US" altLang="zh-CN" sz="3035" b="1" dirty="0">
                <a:solidFill>
                  <a:srgbClr val="FF0000"/>
                </a:solidFill>
                <a:latin typeface="宋体" panose="02010600030101010101" pitchFamily="2" charset="-122"/>
                <a:ea typeface="宋体" panose="02010600030101010101" pitchFamily="2" charset="-122"/>
              </a:rPr>
              <a:t> </a:t>
            </a:r>
            <a:endParaRPr lang="zh-CN" altLang="en-US" sz="3035" b="1" dirty="0">
              <a:latin typeface="宋体" panose="02010600030101010101" pitchFamily="2" charset="-122"/>
              <a:ea typeface="宋体" panose="02010600030101010101" pitchFamily="2" charset="-122"/>
            </a:endParaRPr>
          </a:p>
        </p:txBody>
      </p:sp>
      <p:sp>
        <p:nvSpPr>
          <p:cNvPr id="9219" name="标题 2"/>
          <p:cNvSpPr>
            <a:spLocks noGrp="1"/>
          </p:cNvSpPr>
          <p:nvPr>
            <p:ph type="title" idx="4294967295"/>
          </p:nvPr>
        </p:nvSpPr>
        <p:spPr>
          <a:xfrm>
            <a:off x="398788" y="361836"/>
            <a:ext cx="8147318" cy="914055"/>
          </a:xfrm>
        </p:spPr>
        <p:txBody>
          <a:bodyPr/>
          <a:lstStyle/>
          <a:p>
            <a:r>
              <a:rPr lang="en-US" altLang="zh-CN" dirty="0"/>
              <a:t>4</a:t>
            </a:r>
            <a:r>
              <a:rPr lang="zh-CN" altLang="en-US" dirty="0"/>
              <a:t>、布尔数据类型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内容占位符 1"/>
          <p:cNvSpPr>
            <a:spLocks noGrp="1"/>
          </p:cNvSpPr>
          <p:nvPr>
            <p:ph idx="4294967295"/>
          </p:nvPr>
        </p:nvSpPr>
        <p:spPr>
          <a:xfrm>
            <a:off x="781050" y="1602954"/>
            <a:ext cx="9519837" cy="4979969"/>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(1) </a:t>
            </a:r>
            <a:r>
              <a:rPr lang="zh-CN" altLang="en-US" sz="2800" b="1" dirty="0">
                <a:latin typeface="宋体" panose="02010600030101010101" pitchFamily="2" charset="-122"/>
                <a:ea typeface="宋体" panose="02010600030101010101" pitchFamily="2" charset="-122"/>
              </a:rPr>
              <a:t>可以由</a:t>
            </a:r>
            <a:r>
              <a:rPr lang="zh-CN" altLang="en-US" sz="2800" b="1" dirty="0">
                <a:solidFill>
                  <a:srgbClr val="FF0000"/>
                </a:solidFill>
                <a:latin typeface="宋体" panose="02010600030101010101" pitchFamily="2" charset="-122"/>
                <a:ea typeface="宋体" panose="02010600030101010101" pitchFamily="2" charset="-122"/>
              </a:rPr>
              <a:t>字母</a:t>
            </a:r>
            <a:r>
              <a:rPr lang="zh-CN" altLang="en-US" sz="2800" b="1" dirty="0">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数字</a:t>
            </a:r>
            <a:r>
              <a:rPr lang="zh-CN" altLang="en-US" sz="2800" b="1" dirty="0">
                <a:latin typeface="宋体" panose="02010600030101010101" pitchFamily="2" charset="-122"/>
                <a:ea typeface="宋体" panose="02010600030101010101" pitchFamily="2" charset="-122"/>
              </a:rPr>
              <a:t>和</a:t>
            </a:r>
            <a:r>
              <a:rPr lang="zh-CN" altLang="en-US" sz="2800" b="1" dirty="0">
                <a:solidFill>
                  <a:srgbClr val="FF0000"/>
                </a:solidFill>
                <a:latin typeface="宋体" panose="02010600030101010101" pitchFamily="2" charset="-122"/>
                <a:ea typeface="宋体" panose="02010600030101010101" pitchFamily="2" charset="-122"/>
              </a:rPr>
              <a:t>下划线</a:t>
            </a:r>
            <a:r>
              <a:rPr lang="en-US" altLang="zh-CN" sz="2800" b="1" dirty="0">
                <a:solidFill>
                  <a:srgbClr val="FF0000"/>
                </a:solidFill>
                <a:latin typeface="宋体" panose="02010600030101010101" pitchFamily="2" charset="-122"/>
                <a:ea typeface="宋体" panose="02010600030101010101" pitchFamily="2" charset="-122"/>
              </a:rPr>
              <a:t>(_)</a:t>
            </a:r>
            <a:r>
              <a:rPr lang="zh-CN" altLang="en-US" sz="2800" b="1" dirty="0">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美元符号</a:t>
            </a:r>
            <a:r>
              <a:rPr lang="en-US" altLang="zh-CN" sz="2800" b="1" dirty="0">
                <a:solidFill>
                  <a:srgbClr val="FF0000"/>
                </a:solidFill>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组合而成；</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(2) </a:t>
            </a:r>
            <a:r>
              <a:rPr lang="zh-CN" altLang="en-US" sz="2800" b="1" dirty="0">
                <a:latin typeface="宋体" panose="02010600030101010101" pitchFamily="2" charset="-122"/>
                <a:ea typeface="宋体" panose="02010600030101010101" pitchFamily="2" charset="-122"/>
              </a:rPr>
              <a:t>必须以</a:t>
            </a:r>
            <a:r>
              <a:rPr lang="zh-CN" altLang="en-US" sz="2800" b="1" dirty="0">
                <a:solidFill>
                  <a:srgbClr val="FF0000"/>
                </a:solidFill>
                <a:latin typeface="宋体" panose="02010600030101010101" pitchFamily="2" charset="-122"/>
                <a:ea typeface="宋体" panose="02010600030101010101" pitchFamily="2" charset="-122"/>
              </a:rPr>
              <a:t>字母</a:t>
            </a:r>
            <a:r>
              <a:rPr lang="zh-CN" altLang="en-US" sz="2800" b="1" dirty="0">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下划线或美元符号开头</a:t>
            </a:r>
            <a:r>
              <a:rPr lang="zh-CN" altLang="en-US" sz="2800" b="1" dirty="0">
                <a:latin typeface="宋体" panose="02010600030101010101" pitchFamily="2" charset="-122"/>
                <a:ea typeface="宋体" panose="02010600030101010101" pitchFamily="2" charset="-122"/>
              </a:rPr>
              <a:t>，不能以数字开头。</a:t>
            </a:r>
            <a:endParaRPr lang="en-US" altLang="zh-CN"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）标识符</a:t>
            </a:r>
            <a:r>
              <a:rPr lang="zh-CN" altLang="en-US" sz="2800" b="1" dirty="0">
                <a:solidFill>
                  <a:srgbClr val="FF0000"/>
                </a:solidFill>
                <a:latin typeface="宋体" panose="02010600030101010101" pitchFamily="2" charset="-122"/>
                <a:ea typeface="宋体" panose="02010600030101010101" pitchFamily="2" charset="-122"/>
              </a:rPr>
              <a:t>不能是关键字</a:t>
            </a:r>
            <a:r>
              <a:rPr lang="zh-CN" altLang="en-US" sz="2800" b="1" dirty="0">
                <a:latin typeface="宋体" panose="02010600030101010101" pitchFamily="2" charset="-122"/>
                <a:ea typeface="宋体" panose="02010600030101010101" pitchFamily="2" charset="-122"/>
              </a:rPr>
              <a:t>，且</a:t>
            </a:r>
            <a:r>
              <a:rPr lang="zh-CN" altLang="en-US" sz="2800" b="1" dirty="0">
                <a:solidFill>
                  <a:srgbClr val="FF0000"/>
                </a:solidFill>
                <a:latin typeface="宋体" panose="02010600030101010101" pitchFamily="2" charset="-122"/>
                <a:ea typeface="宋体" panose="02010600030101010101" pitchFamily="2" charset="-122"/>
              </a:rPr>
              <a:t>标识符中间不能使用空格</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4</a:t>
            </a:r>
            <a:r>
              <a:rPr lang="zh-CN" altLang="en-US" sz="2800" b="1" dirty="0">
                <a:latin typeface="宋体" panose="02010600030101010101" pitchFamily="2" charset="-122"/>
                <a:ea typeface="宋体" panose="02010600030101010101" pitchFamily="2" charset="-122"/>
              </a:rPr>
              <a:t>）标识符严格</a:t>
            </a:r>
            <a:r>
              <a:rPr lang="zh-CN" altLang="en-US" sz="2800" b="1" dirty="0">
                <a:solidFill>
                  <a:srgbClr val="FF0000"/>
                </a:solidFill>
                <a:latin typeface="宋体" panose="02010600030101010101" pitchFamily="2" charset="-122"/>
                <a:ea typeface="宋体" panose="02010600030101010101" pitchFamily="2" charset="-122"/>
              </a:rPr>
              <a:t>区分大小写</a:t>
            </a:r>
            <a:r>
              <a:rPr lang="zh-CN" altLang="en-US" sz="2800" b="1" dirty="0">
                <a:latin typeface="宋体" panose="02010600030101010101" pitchFamily="2" charset="-122"/>
                <a:ea typeface="宋体" panose="02010600030101010101" pitchFamily="2" charset="-122"/>
              </a:rPr>
              <a:t>，即：</a:t>
            </a:r>
            <a:r>
              <a:rPr lang="en-US" altLang="zh-CN" sz="2800" b="1" dirty="0" err="1">
                <a:latin typeface="宋体" panose="02010600030101010101" pitchFamily="2" charset="-122"/>
                <a:ea typeface="宋体" panose="02010600030101010101" pitchFamily="2" charset="-122"/>
              </a:rPr>
              <a:t>myvar</a:t>
            </a:r>
            <a:r>
              <a:rPr lang="zh-CN" altLang="en-US" sz="2800" b="1" dirty="0">
                <a:latin typeface="宋体" panose="02010600030101010101" pitchFamily="2" charset="-122"/>
                <a:ea typeface="宋体" panose="02010600030101010101" pitchFamily="2" charset="-122"/>
              </a:rPr>
              <a:t>和</a:t>
            </a:r>
            <a:r>
              <a:rPr lang="en-US" altLang="zh-CN" sz="2800" b="1" dirty="0" err="1">
                <a:latin typeface="宋体" panose="02010600030101010101" pitchFamily="2" charset="-122"/>
                <a:ea typeface="宋体" panose="02010600030101010101" pitchFamily="2" charset="-122"/>
              </a:rPr>
              <a:t>Myvar</a:t>
            </a:r>
            <a:r>
              <a:rPr lang="zh-CN" altLang="en-US" sz="2800" b="1" dirty="0">
                <a:latin typeface="宋体" panose="02010600030101010101" pitchFamily="2" charset="-122"/>
                <a:ea typeface="宋体" panose="02010600030101010101" pitchFamily="2" charset="-122"/>
              </a:rPr>
              <a:t>将被认为是两个不同的标识符。</a:t>
            </a:r>
            <a:endParaRPr lang="zh-CN" altLang="en-US" sz="2800" b="1" dirty="0">
              <a:latin typeface="宋体" panose="02010600030101010101" pitchFamily="2" charset="-122"/>
              <a:ea typeface="宋体" panose="02010600030101010101" pitchFamily="2" charset="-122"/>
            </a:endParaRPr>
          </a:p>
        </p:txBody>
      </p:sp>
      <p:sp>
        <p:nvSpPr>
          <p:cNvPr id="10243" name="标题 2"/>
          <p:cNvSpPr>
            <a:spLocks noGrp="1"/>
          </p:cNvSpPr>
          <p:nvPr>
            <p:ph type="title" idx="4294967295"/>
          </p:nvPr>
        </p:nvSpPr>
        <p:spPr>
          <a:xfrm>
            <a:off x="122563" y="604207"/>
            <a:ext cx="6040342" cy="914056"/>
          </a:xfrm>
        </p:spPr>
        <p:txBody>
          <a:bodyPr/>
          <a:lstStyle/>
          <a:p>
            <a:pPr>
              <a:buClr>
                <a:schemeClr val="tx1"/>
              </a:buClr>
              <a:buSzPct val="65000"/>
            </a:pPr>
            <a:r>
              <a:rPr lang="en-US" altLang="zh-CN" dirty="0"/>
              <a:t>2.2.1 Java</a:t>
            </a:r>
            <a:r>
              <a:rPr lang="zh-CN" altLang="en-US" dirty="0"/>
              <a:t>标识符的命名规则</a:t>
            </a:r>
            <a:endParaRPr lang="zh-CN" altLang="en-US" dirty="0"/>
          </a:p>
        </p:txBody>
      </p:sp>
      <p:sp>
        <p:nvSpPr>
          <p:cNvPr id="10244" name="标题 2"/>
          <p:cNvSpPr txBox="1">
            <a:spLocks noChangeArrowheads="1"/>
          </p:cNvSpPr>
          <p:nvPr/>
        </p:nvSpPr>
        <p:spPr bwMode="auto">
          <a:xfrm>
            <a:off x="2014596" y="1722"/>
            <a:ext cx="8147317" cy="914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buFont typeface="Monotype Sorts" pitchFamily="2" charset="2"/>
              <a:buNone/>
            </a:pPr>
            <a:r>
              <a:rPr lang="en-US" altLang="zh-CN" sz="4120">
                <a:solidFill>
                  <a:srgbClr val="993300"/>
                </a:solidFill>
                <a:latin typeface="Arial" panose="020B0604020202020204" pitchFamily="34" charset="0"/>
                <a:ea typeface="华文行楷" panose="02010800040101010101" pitchFamily="2" charset="-122"/>
              </a:rPr>
              <a:t>2.2 Java</a:t>
            </a:r>
            <a:r>
              <a:rPr lang="zh-CN" altLang="en-US" sz="4120">
                <a:solidFill>
                  <a:srgbClr val="993300"/>
                </a:solidFill>
                <a:latin typeface="Arial" panose="020B0604020202020204" pitchFamily="34" charset="0"/>
                <a:ea typeface="华文行楷" panose="02010800040101010101" pitchFamily="2" charset="-122"/>
              </a:rPr>
              <a:t>的标识符与关键字</a:t>
            </a:r>
            <a:endParaRPr lang="zh-CN" altLang="en-US" sz="4120">
              <a:solidFill>
                <a:srgbClr val="993300"/>
              </a:solidFill>
              <a:latin typeface="Arial" panose="020B0604020202020204" pitchFamily="34" charset="0"/>
              <a:ea typeface="华文行楷"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1"/>
          <p:cNvSpPr>
            <a:spLocks noGrp="1" noChangeArrowheads="1"/>
          </p:cNvSpPr>
          <p:nvPr>
            <p:ph idx="4294967295"/>
          </p:nvPr>
        </p:nvSpPr>
        <p:spPr>
          <a:xfrm>
            <a:off x="617863" y="1766706"/>
            <a:ext cx="10726412" cy="3560648"/>
          </a:xfrm>
        </p:spPr>
        <p:txBody>
          <a:bodyPr vert="horz" wrap="square" lIns="78925" tIns="39462" rIns="78925" bIns="39462" rtlCol="0" anchor="ctr">
            <a:spAutoFit/>
          </a:bodyPr>
          <a:lstStyle/>
          <a:p>
            <a:pPr marL="0" indent="229235" defTabSz="788670">
              <a:buNone/>
            </a:pPr>
            <a:r>
              <a:rPr lang="zh-CN" altLang="en-US" sz="2800" b="1" dirty="0">
                <a:latin typeface="宋体" panose="02010600030101010101" pitchFamily="2" charset="-122"/>
                <a:cs typeface="Times New Roman" panose="02020603050405020304" pitchFamily="18" charset="0"/>
              </a:rPr>
              <a:t>合法的标识符：</a:t>
            </a:r>
            <a:endParaRPr lang="en-US" altLang="zh-CN" sz="2800" b="1" dirty="0">
              <a:latin typeface="宋体" panose="02010600030101010101" pitchFamily="2" charset="-122"/>
              <a:cs typeface="Times New Roman" panose="02020603050405020304" pitchFamily="18" charset="0"/>
            </a:endParaRPr>
          </a:p>
          <a:p>
            <a:pPr marL="0" indent="229235" defTabSz="788670">
              <a:buNone/>
            </a:pPr>
            <a:r>
              <a:rPr lang="en-US" altLang="zh-CN" sz="2800" b="1" dirty="0" err="1">
                <a:latin typeface="宋体" panose="02010600030101010101" pitchFamily="2" charset="-122"/>
                <a:cs typeface="Times New Roman" panose="02020603050405020304" pitchFamily="18" charset="0"/>
              </a:rPr>
              <a:t>yourname</a:t>
            </a:r>
            <a:r>
              <a:rPr lang="en-US" altLang="zh-CN" sz="2800" b="1" dirty="0">
                <a:latin typeface="宋体" panose="02010600030101010101" pitchFamily="2" charset="-122"/>
                <a:cs typeface="Times New Roman" panose="02020603050405020304" pitchFamily="18" charset="0"/>
              </a:rPr>
              <a:t>     </a:t>
            </a:r>
            <a:r>
              <a:rPr lang="en-US" altLang="zh-CN" sz="2800" b="1" dirty="0" err="1">
                <a:latin typeface="宋体" panose="02010600030101010101" pitchFamily="2" charset="-122"/>
                <a:cs typeface="Times New Roman" panose="02020603050405020304" pitchFamily="18" charset="0"/>
              </a:rPr>
              <a:t>your_name</a:t>
            </a:r>
            <a:r>
              <a:rPr lang="en-US" altLang="zh-CN" sz="2800" b="1" dirty="0">
                <a:latin typeface="宋体" panose="02010600030101010101" pitchFamily="2" charset="-122"/>
                <a:cs typeface="Times New Roman" panose="02020603050405020304" pitchFamily="18" charset="0"/>
              </a:rPr>
              <a:t>  </a:t>
            </a:r>
            <a:endParaRPr lang="en-US" altLang="zh-CN" sz="2800" b="1" dirty="0">
              <a:latin typeface="宋体" panose="02010600030101010101" pitchFamily="2" charset="-122"/>
              <a:cs typeface="Times New Roman" panose="02020603050405020304" pitchFamily="18" charset="0"/>
            </a:endParaRPr>
          </a:p>
          <a:p>
            <a:pPr marL="0" indent="229235" defTabSz="788670">
              <a:buNone/>
            </a:pPr>
            <a:r>
              <a:rPr lang="en-US" altLang="zh-CN" sz="2800" b="1" dirty="0">
                <a:latin typeface="宋体" panose="02010600030101010101" pitchFamily="2" charset="-122"/>
                <a:cs typeface="Times New Roman" panose="02020603050405020304" pitchFamily="18" charset="0"/>
              </a:rPr>
              <a:t>_</a:t>
            </a:r>
            <a:r>
              <a:rPr lang="en-US" altLang="zh-CN" sz="2800" b="1" dirty="0" err="1">
                <a:latin typeface="宋体" panose="02010600030101010101" pitchFamily="2" charset="-122"/>
                <a:cs typeface="Times New Roman" panose="02020603050405020304" pitchFamily="18" charset="0"/>
              </a:rPr>
              <a:t>yourname</a:t>
            </a:r>
            <a:r>
              <a:rPr lang="en-US" altLang="zh-CN" sz="2800" b="1" dirty="0">
                <a:latin typeface="宋体" panose="02010600030101010101" pitchFamily="2" charset="-122"/>
                <a:cs typeface="Times New Roman" panose="02020603050405020304" pitchFamily="18" charset="0"/>
              </a:rPr>
              <a:t>    $</a:t>
            </a:r>
            <a:r>
              <a:rPr lang="en-US" altLang="zh-CN" sz="2800" b="1" dirty="0" err="1">
                <a:latin typeface="宋体" panose="02010600030101010101" pitchFamily="2" charset="-122"/>
                <a:cs typeface="Times New Roman" panose="02020603050405020304" pitchFamily="18" charset="0"/>
              </a:rPr>
              <a:t>yourname</a:t>
            </a:r>
            <a:endParaRPr lang="en-US" altLang="zh-CN" sz="2800" b="1" dirty="0">
              <a:latin typeface="宋体" panose="02010600030101010101" pitchFamily="2" charset="-122"/>
            </a:endParaRPr>
          </a:p>
          <a:p>
            <a:pPr marL="0" indent="229235" defTabSz="788670">
              <a:buNone/>
            </a:pPr>
            <a:r>
              <a:rPr lang="zh-CN" altLang="en-US" sz="2800" b="1" dirty="0">
                <a:latin typeface="宋体" panose="02010600030101010101" pitchFamily="2" charset="-122"/>
                <a:cs typeface="Times New Roman" panose="02020603050405020304" pitchFamily="18" charset="0"/>
              </a:rPr>
              <a:t>非法的标识符： </a:t>
            </a:r>
            <a:r>
              <a:rPr lang="en-US" altLang="zh-CN" sz="2800" b="1" dirty="0">
                <a:latin typeface="宋体" panose="02010600030101010101" pitchFamily="2" charset="-122"/>
                <a:cs typeface="Times New Roman" panose="02020603050405020304" pitchFamily="18" charset="0"/>
              </a:rPr>
              <a:t>class  //</a:t>
            </a:r>
            <a:r>
              <a:rPr lang="zh-CN" altLang="en-US" sz="2800" b="1" dirty="0">
                <a:latin typeface="宋体" panose="02010600030101010101" pitchFamily="2" charset="-122"/>
                <a:cs typeface="Times New Roman" panose="02020603050405020304" pitchFamily="18" charset="0"/>
              </a:rPr>
              <a:t>标识符不能是关键字</a:t>
            </a:r>
            <a:endParaRPr lang="zh-CN" altLang="en-US" sz="2800" b="1" dirty="0">
              <a:latin typeface="宋体" panose="02010600030101010101" pitchFamily="2" charset="-122"/>
            </a:endParaRPr>
          </a:p>
          <a:p>
            <a:pPr marL="0" indent="229235" defTabSz="788670">
              <a:buNone/>
            </a:pPr>
            <a:r>
              <a:rPr lang="en-US" altLang="zh-CN" sz="2800" b="1" dirty="0">
                <a:latin typeface="宋体" panose="02010600030101010101" pitchFamily="2" charset="-122"/>
                <a:cs typeface="Times New Roman" panose="02020603050405020304" pitchFamily="18" charset="0"/>
              </a:rPr>
              <a:t>               67.9  //</a:t>
            </a:r>
            <a:r>
              <a:rPr lang="zh-CN" altLang="en-US" sz="2800" b="1" dirty="0">
                <a:latin typeface="宋体" panose="02010600030101010101" pitchFamily="2" charset="-122"/>
                <a:cs typeface="Times New Roman" panose="02020603050405020304" pitchFamily="18" charset="0"/>
              </a:rPr>
              <a:t>首字母不能为数字</a:t>
            </a:r>
            <a:endParaRPr lang="zh-CN" altLang="en-US" sz="2800" b="1" dirty="0">
              <a:latin typeface="宋体" panose="02010600030101010101" pitchFamily="2" charset="-122"/>
            </a:endParaRPr>
          </a:p>
          <a:p>
            <a:pPr marL="0" indent="229235" defTabSz="788670">
              <a:buNone/>
            </a:pPr>
            <a:r>
              <a:rPr lang="en-US" altLang="zh-CN" sz="2800" b="1" dirty="0">
                <a:latin typeface="宋体" panose="02010600030101010101" pitchFamily="2" charset="-122"/>
                <a:cs typeface="Times New Roman" panose="02020603050405020304" pitchFamily="18" charset="0"/>
              </a:rPr>
              <a:t>               Hello Careers  //</a:t>
            </a:r>
            <a:r>
              <a:rPr lang="zh-CN" altLang="en-US" sz="2800" b="1" dirty="0">
                <a:latin typeface="宋体" panose="02010600030101010101" pitchFamily="2" charset="-122"/>
                <a:cs typeface="Times New Roman" panose="02020603050405020304" pitchFamily="18" charset="0"/>
              </a:rPr>
              <a:t>标识符中间不能使用空格</a:t>
            </a:r>
            <a:endParaRPr lang="zh-CN" altLang="en-US" sz="2800" b="1" dirty="0">
              <a:latin typeface="宋体" panose="02010600030101010101" pitchFamily="2" charset="-122"/>
            </a:endParaRPr>
          </a:p>
        </p:txBody>
      </p:sp>
      <p:sp>
        <p:nvSpPr>
          <p:cNvPr id="11267"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r" eaLnBrk="1" hangingPunct="1">
              <a:lnSpc>
                <a:spcPct val="100000"/>
              </a:lnSpc>
              <a:spcBef>
                <a:spcPct val="50000"/>
              </a:spcBef>
            </a:pPr>
            <a:fld id="{D4B6EC3D-2A56-406B-9E4E-545DC1E364B1}"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4" name="标题 2"/>
          <p:cNvSpPr txBox="1"/>
          <p:nvPr/>
        </p:nvSpPr>
        <p:spPr>
          <a:xfrm>
            <a:off x="122563" y="604207"/>
            <a:ext cx="6040342"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buClr>
                <a:schemeClr val="tx1"/>
              </a:buClr>
              <a:buSzPct val="65000"/>
            </a:pPr>
            <a:r>
              <a:rPr lang="en-US" altLang="zh-CN" dirty="0"/>
              <a:t>2.2.1 Java</a:t>
            </a:r>
            <a:r>
              <a:rPr lang="zh-CN" altLang="en-US" dirty="0"/>
              <a:t>标识符的命名规则</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内容占位符 1"/>
          <p:cNvSpPr>
            <a:spLocks noGrp="1"/>
          </p:cNvSpPr>
          <p:nvPr>
            <p:ph idx="4294967295"/>
          </p:nvPr>
        </p:nvSpPr>
        <p:spPr>
          <a:xfrm>
            <a:off x="1115056" y="1345665"/>
            <a:ext cx="10116812" cy="1213577"/>
          </a:xfrm>
        </p:spPr>
        <p:txBody>
          <a:bodyPr>
            <a:noAutofit/>
          </a:bodyPr>
          <a:lstStyle/>
          <a:p>
            <a:pPr marL="0" indent="353060">
              <a:buNone/>
            </a:pPr>
            <a:r>
              <a:rPr lang="zh-CN" altLang="en-US" sz="2800" b="1" dirty="0">
                <a:latin typeface="宋体" panose="02010600030101010101" pitchFamily="2" charset="-122"/>
                <a:ea typeface="宋体" panose="02010600030101010101" pitchFamily="2" charset="-122"/>
              </a:rPr>
              <a:t>关键字（或称为保留字）就是</a:t>
            </a:r>
            <a:r>
              <a:rPr lang="en-US" altLang="zh-CN" sz="2800" b="1" dirty="0">
                <a:latin typeface="宋体" panose="02010600030101010101" pitchFamily="2" charset="-122"/>
                <a:ea typeface="宋体" panose="02010600030101010101" pitchFamily="2" charset="-122"/>
              </a:rPr>
              <a:t>Java</a:t>
            </a:r>
            <a:r>
              <a:rPr lang="zh-CN" altLang="en-US" sz="2800" b="1" dirty="0">
                <a:latin typeface="宋体" panose="02010600030101010101" pitchFamily="2" charset="-122"/>
                <a:ea typeface="宋体" panose="02010600030101010101" pitchFamily="2" charset="-122"/>
              </a:rPr>
              <a:t>语言中已经被赋予特定意义的一些专用单词（例如</a:t>
            </a:r>
            <a:r>
              <a:rPr lang="en-US" altLang="zh-CN" sz="2800" b="1" dirty="0">
                <a:latin typeface="宋体" panose="02010600030101010101" pitchFamily="2" charset="-122"/>
                <a:ea typeface="宋体" panose="02010600030101010101" pitchFamily="2" charset="-122"/>
              </a:rPr>
              <a:t>int</a:t>
            </a:r>
            <a:r>
              <a:rPr lang="zh-CN" altLang="en-US" sz="2800" b="1" dirty="0">
                <a:latin typeface="宋体" panose="02010600030101010101" pitchFamily="2" charset="-122"/>
                <a:ea typeface="宋体" panose="02010600030101010101" pitchFamily="2" charset="-122"/>
              </a:rPr>
              <a:t>代表整数类型），不能再用做普通标识符。</a:t>
            </a:r>
            <a:endParaRPr lang="en-US" altLang="zh-CN" sz="2800" b="1" dirty="0">
              <a:latin typeface="宋体" panose="02010600030101010101" pitchFamily="2" charset="-122"/>
              <a:ea typeface="宋体" panose="02010600030101010101" pitchFamily="2" charset="-122"/>
            </a:endParaRPr>
          </a:p>
        </p:txBody>
      </p:sp>
      <p:sp>
        <p:nvSpPr>
          <p:cNvPr id="12291" name="标题 2"/>
          <p:cNvSpPr>
            <a:spLocks noGrp="1"/>
          </p:cNvSpPr>
          <p:nvPr>
            <p:ph type="title" idx="4294967295"/>
          </p:nvPr>
        </p:nvSpPr>
        <p:spPr>
          <a:xfrm>
            <a:off x="379738" y="222060"/>
            <a:ext cx="8147318" cy="914055"/>
          </a:xfrm>
        </p:spPr>
        <p:txBody>
          <a:bodyPr/>
          <a:lstStyle/>
          <a:p>
            <a:r>
              <a:rPr lang="en-US" altLang="zh-CN" dirty="0"/>
              <a:t>2.2.2 Java</a:t>
            </a:r>
            <a:r>
              <a:rPr lang="zh-CN" altLang="en-US" dirty="0"/>
              <a:t>关键字</a:t>
            </a:r>
            <a:endParaRPr lang="zh-CN" altLang="en-US" dirty="0"/>
          </a:p>
        </p:txBody>
      </p:sp>
      <p:graphicFrame>
        <p:nvGraphicFramePr>
          <p:cNvPr id="13316" name="Group 4"/>
          <p:cNvGraphicFramePr>
            <a:graphicFrameLocks noGrp="1"/>
          </p:cNvGraphicFramePr>
          <p:nvPr>
            <p:custDataLst>
              <p:tags r:id="rId1"/>
            </p:custDataLst>
          </p:nvPr>
        </p:nvGraphicFramePr>
        <p:xfrm>
          <a:off x="1685696" y="2768792"/>
          <a:ext cx="8953729" cy="3679631"/>
        </p:xfrm>
        <a:graphic>
          <a:graphicData uri="http://schemas.openxmlformats.org/drawingml/2006/table">
            <a:tbl>
              <a:tblPr/>
              <a:tblGrid>
                <a:gridCol w="1606513"/>
                <a:gridCol w="1378063"/>
                <a:gridCol w="1492288"/>
                <a:gridCol w="1492288"/>
                <a:gridCol w="1744688"/>
                <a:gridCol w="1239889"/>
              </a:tblGrid>
              <a:tr h="447842">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abstract</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238125"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assert</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boolean</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break</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0975"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byte</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case</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419853">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catch</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238125"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char</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class</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continue</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2844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default</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do</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422006">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double</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236855"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else</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enum</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extends</a:t>
                      </a:r>
                      <a:endParaRPr kumimoji="0" lang="zh-CN" altLang="en-US"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while</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final</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419853">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finally</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238125"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float</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for</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if</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implements</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import</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564109">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instanceof</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238125"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int</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interface</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long</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307975"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native</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0975"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new</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564109">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null</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238125"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package</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private</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protected</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30353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0975"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return</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422275">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short</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236855"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static</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super</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switch</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synchronized</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this</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419735">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throw</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238125"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throws</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transient</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volatile</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try</a:t>
                      </a:r>
                      <a:endParaRPr kumimoji="0" lang="zh-CN" altLang="en-US" sz="20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182880" marR="0" lvl="0" indent="0" algn="ctr" defTabSz="914400" rtl="0" eaLnBrk="1" fontAlgn="base" latinLnBrk="0" hangingPunct="1">
                        <a:lnSpc>
                          <a:spcPct val="100000"/>
                        </a:lnSpc>
                        <a:spcBef>
                          <a:spcPts val="425"/>
                        </a:spcBef>
                        <a:spcAft>
                          <a:spcPct val="0"/>
                        </a:spcAft>
                        <a:buClrTx/>
                        <a:buSzTx/>
                        <a:buFont typeface="Monotype Sorts" pitchFamily="2" charset="2"/>
                        <a:buNone/>
                      </a:pPr>
                      <a:r>
                        <a:rPr kumimoji="0" 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void</a:t>
                      </a:r>
                      <a:endParaRPr kumimoji="0" lang="zh-CN" altLang="en-US"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1"/>
          <p:cNvSpPr>
            <a:spLocks noGrp="1"/>
          </p:cNvSpPr>
          <p:nvPr>
            <p:ph idx="4294967295"/>
          </p:nvPr>
        </p:nvSpPr>
        <p:spPr>
          <a:xfrm>
            <a:off x="809625" y="1889739"/>
            <a:ext cx="11382375" cy="4986853"/>
          </a:xfrm>
        </p:spPr>
        <p:txBody>
          <a:bodyPr>
            <a:normAutofit/>
          </a:bodyPr>
          <a:lstStyle/>
          <a:p>
            <a:pPr marL="0" indent="353060">
              <a:buNone/>
            </a:pP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、变量的声明</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变量的创建通过声明完成，执行变量声明语句时，</a:t>
            </a:r>
            <a:r>
              <a:rPr lang="zh-CN" altLang="en-US" sz="2800" b="1" dirty="0">
                <a:solidFill>
                  <a:srgbClr val="FF0000"/>
                </a:solidFill>
                <a:latin typeface="宋体" panose="02010600030101010101" pitchFamily="2" charset="-122"/>
                <a:ea typeface="宋体" panose="02010600030101010101" pitchFamily="2" charset="-122"/>
              </a:rPr>
              <a:t>系统根据变量的数据类型在内存中开辟相应的存储空间</a:t>
            </a:r>
            <a:r>
              <a:rPr lang="zh-CN" altLang="en-US"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int num</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	// </a:t>
            </a:r>
            <a:r>
              <a:rPr lang="zh-CN" altLang="en-US" sz="2800" b="1" dirty="0">
                <a:latin typeface="宋体" panose="02010600030101010101" pitchFamily="2" charset="-122"/>
                <a:ea typeface="宋体" panose="02010600030101010101" pitchFamily="2" charset="-122"/>
              </a:rPr>
              <a:t>声明</a:t>
            </a:r>
            <a:r>
              <a:rPr lang="en-US" altLang="zh-CN" sz="2800" b="1" dirty="0">
                <a:latin typeface="宋体" panose="02010600030101010101" pitchFamily="2" charset="-122"/>
                <a:ea typeface="宋体" panose="02010600030101010101" pitchFamily="2" charset="-122"/>
              </a:rPr>
              <a:t> num </a:t>
            </a:r>
            <a:r>
              <a:rPr lang="zh-CN" altLang="en-US" sz="2800" b="1" dirty="0">
                <a:latin typeface="宋体" panose="02010600030101010101" pitchFamily="2" charset="-122"/>
                <a:ea typeface="宋体" panose="02010600030101010101" pitchFamily="2" charset="-122"/>
              </a:rPr>
              <a:t>为整数变量</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int num1,num2,num3 </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  // </a:t>
            </a:r>
            <a:r>
              <a:rPr lang="zh-CN" altLang="en-US" sz="2800" b="1" dirty="0">
                <a:latin typeface="宋体" panose="02010600030101010101" pitchFamily="2" charset="-122"/>
                <a:ea typeface="宋体" panose="02010600030101010101" pitchFamily="2" charset="-122"/>
              </a:rPr>
              <a:t>同时声明</a:t>
            </a:r>
            <a:r>
              <a:rPr lang="en-US" altLang="zh-CN" sz="2800" b="1" dirty="0">
                <a:latin typeface="宋体" panose="02010600030101010101" pitchFamily="2" charset="-122"/>
                <a:ea typeface="宋体" panose="02010600030101010101" pitchFamily="2" charset="-122"/>
              </a:rPr>
              <a:t> num1,num2,num3 </a:t>
            </a:r>
            <a:r>
              <a:rPr lang="zh-CN" altLang="en-US" sz="2800" b="1" dirty="0">
                <a:latin typeface="宋体" panose="02010600030101010101" pitchFamily="2" charset="-122"/>
                <a:ea typeface="宋体" panose="02010600030101010101" pitchFamily="2" charset="-122"/>
              </a:rPr>
              <a:t>为整数变量</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13315" name="标题 2"/>
          <p:cNvSpPr>
            <a:spLocks noGrp="1"/>
          </p:cNvSpPr>
          <p:nvPr>
            <p:ph type="title" idx="4294967295"/>
          </p:nvPr>
        </p:nvSpPr>
        <p:spPr>
          <a:xfrm>
            <a:off x="1313188" y="154581"/>
            <a:ext cx="8147318" cy="914056"/>
          </a:xfrm>
        </p:spPr>
        <p:txBody>
          <a:bodyPr>
            <a:normAutofit/>
          </a:bodyPr>
          <a:lstStyle/>
          <a:p>
            <a:pPr algn="ctr"/>
            <a:r>
              <a:rPr lang="en-US" altLang="zh-CN" sz="3685" dirty="0"/>
              <a:t>2.3</a:t>
            </a:r>
            <a:r>
              <a:rPr lang="zh-CN" altLang="en-US" sz="3685" dirty="0"/>
              <a:t>变量和常量</a:t>
            </a:r>
            <a:endParaRPr lang="zh-CN" altLang="en-US" sz="3685" dirty="0"/>
          </a:p>
        </p:txBody>
      </p:sp>
      <p:sp>
        <p:nvSpPr>
          <p:cNvPr id="2" name="文本框 1"/>
          <p:cNvSpPr txBox="1"/>
          <p:nvPr/>
        </p:nvSpPr>
        <p:spPr>
          <a:xfrm>
            <a:off x="251150" y="1146435"/>
            <a:ext cx="2124075" cy="535531"/>
          </a:xfrm>
          <a:prstGeom prst="rect">
            <a:avLst/>
          </a:prstGeom>
        </p:spPr>
        <p:txBody>
          <a:bodyPr vert="horz" lIns="91440" tIns="45720" rIns="91440" bIns="45720" rtlCol="0" anchor="b">
            <a:normAutofit/>
          </a:bodyPr>
          <a:lstStyle>
            <a:lvl1pPr>
              <a:lnSpc>
                <a:spcPct val="90000"/>
              </a:lnSpc>
              <a:spcBef>
                <a:spcPct val="0"/>
              </a:spcBef>
              <a:buNone/>
              <a:defRPr sz="3200" b="1">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t>2.3.1</a:t>
            </a:r>
            <a:r>
              <a:rPr lang="zh-CN" altLang="en-US" dirty="0"/>
              <a:t>变量</a:t>
            </a:r>
            <a:endParaRPr lang="zh-CN" altLang="en-US" dirty="0"/>
          </a:p>
        </p:txBody>
      </p:sp>
      <p:sp>
        <p:nvSpPr>
          <p:cNvPr id="5" name="内容占位符 1"/>
          <p:cNvSpPr txBox="1"/>
          <p:nvPr/>
        </p:nvSpPr>
        <p:spPr>
          <a:xfrm>
            <a:off x="737556" y="4742130"/>
            <a:ext cx="11135987" cy="19266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685800" indent="-179705"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11430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6pPr>
            <a:lvl7pPr marL="16002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8pPr>
            <a:lvl9pPr marL="1877695" indent="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None/>
              <a:defRPr sz="1400" kern="1200">
                <a:solidFill>
                  <a:schemeClr val="tx1"/>
                </a:solidFill>
                <a:latin typeface="+mn-lt"/>
                <a:ea typeface="+mn-ea"/>
                <a:cs typeface="+mn-cs"/>
              </a:defRPr>
            </a:lvl9pPr>
          </a:lstStyle>
          <a:p>
            <a:pPr marL="0" indent="353060">
              <a:buFont typeface="Arial" panose="020B0604020202020204" pitchFamily="34" charset="0"/>
              <a:buNone/>
            </a:pPr>
            <a:r>
              <a:rPr lang="en-US" altLang="zh-CN" sz="2800" b="1">
                <a:latin typeface="宋体" panose="02010600030101010101" pitchFamily="2" charset="-122"/>
                <a:ea typeface="宋体" panose="02010600030101010101" pitchFamily="2" charset="-122"/>
              </a:rPr>
              <a:t>2</a:t>
            </a:r>
            <a:r>
              <a:rPr lang="zh-CN" altLang="en-US" sz="2800" b="1">
                <a:latin typeface="宋体" panose="02010600030101010101" pitchFamily="2" charset="-122"/>
                <a:ea typeface="宋体" panose="02010600030101010101" pitchFamily="2" charset="-122"/>
              </a:rPr>
              <a:t>、变量的名称</a:t>
            </a:r>
            <a:endParaRPr lang="zh-CN" altLang="en-US" sz="2800" b="1">
              <a:latin typeface="宋体" panose="02010600030101010101" pitchFamily="2" charset="-122"/>
              <a:ea typeface="宋体" panose="02010600030101010101" pitchFamily="2" charset="-122"/>
            </a:endParaRPr>
          </a:p>
          <a:p>
            <a:pPr marL="0" indent="353060">
              <a:buFont typeface="Arial" panose="020B0604020202020204" pitchFamily="34" charset="0"/>
              <a:buNone/>
            </a:pPr>
            <a:r>
              <a:rPr lang="zh-CN" altLang="en-US" sz="2800" b="1">
                <a:latin typeface="宋体" panose="02010600030101010101" pitchFamily="2" charset="-122"/>
                <a:ea typeface="宋体" panose="02010600030101010101" pitchFamily="2" charset="-122"/>
              </a:rPr>
              <a:t>变量的名称</a:t>
            </a:r>
            <a:r>
              <a:rPr lang="zh-CN" altLang="en-US" sz="2800" b="1">
                <a:solidFill>
                  <a:srgbClr val="FF0000"/>
                </a:solidFill>
                <a:latin typeface="宋体" panose="02010600030101010101" pitchFamily="2" charset="-122"/>
                <a:ea typeface="宋体" panose="02010600030101010101" pitchFamily="2" charset="-122"/>
              </a:rPr>
              <a:t>不能使用到</a:t>
            </a:r>
            <a:r>
              <a:rPr lang="en-US" altLang="zh-CN" sz="2800" b="1">
                <a:solidFill>
                  <a:srgbClr val="FF0000"/>
                </a:solidFill>
                <a:latin typeface="宋体" panose="02010600030101010101" pitchFamily="2" charset="-122"/>
                <a:ea typeface="宋体" panose="02010600030101010101" pitchFamily="2" charset="-122"/>
              </a:rPr>
              <a:t>Java</a:t>
            </a:r>
            <a:r>
              <a:rPr lang="zh-CN" altLang="en-US" sz="2800" b="1">
                <a:solidFill>
                  <a:srgbClr val="FF0000"/>
                </a:solidFill>
                <a:latin typeface="宋体" panose="02010600030101010101" pitchFamily="2" charset="-122"/>
                <a:ea typeface="宋体" panose="02010600030101010101" pitchFamily="2" charset="-122"/>
              </a:rPr>
              <a:t>的关键字</a:t>
            </a:r>
            <a:r>
              <a:rPr lang="zh-CN" altLang="en-US" sz="2800" b="1">
                <a:latin typeface="宋体" panose="02010600030101010101" pitchFamily="2" charset="-122"/>
                <a:ea typeface="宋体" panose="02010600030101010101" pitchFamily="2" charset="-122"/>
              </a:rPr>
              <a:t>。通常会以变量所代表的意义来取名（如</a:t>
            </a:r>
            <a:r>
              <a:rPr lang="en-US" altLang="zh-CN" sz="2800" b="1">
                <a:latin typeface="宋体" panose="02010600030101010101" pitchFamily="2" charset="-122"/>
                <a:ea typeface="宋体" panose="02010600030101010101" pitchFamily="2" charset="-122"/>
              </a:rPr>
              <a:t> num </a:t>
            </a:r>
            <a:r>
              <a:rPr lang="zh-CN" altLang="en-US" sz="2800" b="1">
                <a:latin typeface="宋体" panose="02010600030101010101" pitchFamily="2" charset="-122"/>
                <a:ea typeface="宋体" panose="02010600030101010101" pitchFamily="2" charset="-122"/>
              </a:rPr>
              <a:t>代表数字）。当然也可以使用</a:t>
            </a:r>
            <a:r>
              <a:rPr lang="en-US" altLang="zh-CN" sz="2800" b="1">
                <a:latin typeface="宋体" panose="02010600030101010101" pitchFamily="2" charset="-122"/>
                <a:ea typeface="宋体" panose="02010600030101010101" pitchFamily="2" charset="-122"/>
              </a:rPr>
              <a:t> a</a:t>
            </a:r>
            <a:r>
              <a:rPr lang="zh-CN" altLang="en-US" sz="2800" b="1">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b</a:t>
            </a:r>
            <a:r>
              <a:rPr lang="zh-CN" altLang="en-US" sz="2800" b="1">
                <a:latin typeface="宋体" panose="02010600030101010101" pitchFamily="2" charset="-122"/>
                <a:ea typeface="宋体" panose="02010600030101010101" pitchFamily="2" charset="-122"/>
              </a:rPr>
              <a:t>、</a:t>
            </a:r>
            <a:r>
              <a:rPr lang="en-US" altLang="zh-CN" sz="2800" b="1">
                <a:latin typeface="宋体" panose="02010600030101010101" pitchFamily="2" charset="-122"/>
                <a:ea typeface="宋体" panose="02010600030101010101" pitchFamily="2" charset="-122"/>
              </a:rPr>
              <a:t>c</a:t>
            </a:r>
            <a:r>
              <a:rPr lang="zh-CN" altLang="en-US" sz="2800" b="1">
                <a:latin typeface="宋体" panose="02010600030101010101" pitchFamily="2" charset="-122"/>
                <a:ea typeface="宋体" panose="02010600030101010101" pitchFamily="2" charset="-122"/>
              </a:rPr>
              <a:t>等简单的英文字母代表变量。</a:t>
            </a:r>
            <a:endParaRPr lang="en-US" altLang="zh-CN" sz="2800" b="1">
              <a:latin typeface="宋体" panose="02010600030101010101" pitchFamily="2" charset="-122"/>
              <a:ea typeface="宋体" panose="02010600030101010101" pitchFamily="2" charset="-122"/>
            </a:endParaRPr>
          </a:p>
          <a:p>
            <a:pPr marL="0" indent="353060">
              <a:buFont typeface="Arial" panose="020B0604020202020204" pitchFamily="34" charset="0"/>
              <a:buNone/>
            </a:pPr>
            <a:endParaRPr lang="en-US" altLang="zh-CN" sz="2800" b="1">
              <a:latin typeface="宋体" panose="02010600030101010101" pitchFamily="2" charset="-122"/>
              <a:ea typeface="宋体" panose="02010600030101010101" pitchFamily="2" charset="-122"/>
            </a:endParaRPr>
          </a:p>
          <a:p>
            <a:pPr marL="0" indent="353060">
              <a:buFont typeface="Arial" panose="020B0604020202020204" pitchFamily="34" charset="0"/>
              <a:buNone/>
            </a:pPr>
            <a:endParaRPr lang="zh-CN" altLang="en-US" sz="28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内容占位符 1"/>
          <p:cNvSpPr>
            <a:spLocks noGrp="1"/>
          </p:cNvSpPr>
          <p:nvPr>
            <p:ph idx="4294967295"/>
          </p:nvPr>
        </p:nvSpPr>
        <p:spPr>
          <a:xfrm>
            <a:off x="380542" y="759131"/>
            <a:ext cx="11173283" cy="5654752"/>
          </a:xfrm>
        </p:spPr>
        <p:txBody>
          <a:bodyPr>
            <a:noAutofit/>
          </a:bodyPr>
          <a:lstStyle/>
          <a:p>
            <a:pPr marL="0" indent="353060">
              <a:buNone/>
            </a:pP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、变量的赋值</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）在声明的同时进行赋值</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int num = 2 </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	// </a:t>
            </a:r>
            <a:r>
              <a:rPr lang="zh-CN" altLang="en-US" sz="2800" b="1" dirty="0">
                <a:latin typeface="宋体" panose="02010600030101010101" pitchFamily="2" charset="-122"/>
                <a:ea typeface="宋体" panose="02010600030101010101" pitchFamily="2" charset="-122"/>
              </a:rPr>
              <a:t>声明变量，并直接赋初值</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）可以先声明再赋值</a:t>
            </a:r>
            <a:endParaRPr lang="en-US" altLang="zh-CN"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int num1,num2 </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 // </a:t>
            </a:r>
            <a:r>
              <a:rPr lang="zh-CN" altLang="en-US" sz="2800" b="1" dirty="0">
                <a:latin typeface="宋体" panose="02010600030101010101" pitchFamily="2" charset="-122"/>
                <a:ea typeface="宋体" panose="02010600030101010101" pitchFamily="2" charset="-122"/>
              </a:rPr>
              <a:t>声明变量</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char c </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num1 = 2 </a:t>
            </a:r>
            <a:r>
              <a:rPr lang="zh-CN" altLang="en-US" sz="2800" b="1" dirty="0">
                <a:latin typeface="宋体" panose="02010600030101010101" pitchFamily="2" charset="-122"/>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给变量赋初值</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num2 = 3 </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err="1">
                <a:latin typeface="宋体" panose="02010600030101010101" pitchFamily="2" charset="-122"/>
                <a:ea typeface="宋体" panose="02010600030101010101" pitchFamily="2" charset="-122"/>
              </a:rPr>
              <a:t>ch</a:t>
            </a:r>
            <a:r>
              <a:rPr lang="en-US" altLang="zh-CN" sz="2800" b="1" dirty="0">
                <a:latin typeface="宋体" panose="02010600030101010101" pitchFamily="2" charset="-122"/>
                <a:ea typeface="宋体" panose="02010600030101010101" pitchFamily="2" charset="-122"/>
              </a:rPr>
              <a:t> = 'z' </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3" name="文本框 2"/>
          <p:cNvSpPr txBox="1"/>
          <p:nvPr/>
        </p:nvSpPr>
        <p:spPr>
          <a:xfrm>
            <a:off x="0" y="101217"/>
            <a:ext cx="2124075" cy="584775"/>
          </a:xfrm>
          <a:prstGeom prst="rect">
            <a:avLst/>
          </a:prstGeom>
        </p:spPr>
        <p:txBody>
          <a:bodyPr vert="horz" lIns="91440" tIns="45720" rIns="91440" bIns="45720" rtlCol="0" anchor="b">
            <a:normAutofit/>
          </a:bodyPr>
          <a:lstStyle>
            <a:lvl1pPr>
              <a:lnSpc>
                <a:spcPct val="90000"/>
              </a:lnSpc>
              <a:spcBef>
                <a:spcPct val="0"/>
              </a:spcBef>
              <a:buNone/>
              <a:defRPr sz="3200" b="1">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t>2.3.1</a:t>
            </a:r>
            <a:r>
              <a:rPr lang="zh-CN" altLang="en-US" dirty="0"/>
              <a:t>变量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内容占位符 1"/>
          <p:cNvSpPr>
            <a:spLocks noGrp="1"/>
          </p:cNvSpPr>
          <p:nvPr>
            <p:ph idx="4294967295"/>
          </p:nvPr>
        </p:nvSpPr>
        <p:spPr>
          <a:xfrm>
            <a:off x="590550" y="1272105"/>
            <a:ext cx="10820399" cy="4570279"/>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在程序的整个运行过程中，其值保持不变的量称为常量。</a:t>
            </a:r>
            <a:r>
              <a:rPr lang="zh-CN" altLang="en-US" sz="2800" b="1" dirty="0">
                <a:solidFill>
                  <a:srgbClr val="FF0000"/>
                </a:solidFill>
                <a:latin typeface="宋体" panose="02010600030101010101" pitchFamily="2" charset="-122"/>
                <a:ea typeface="宋体" panose="02010600030101010101" pitchFamily="2" charset="-122"/>
              </a:rPr>
              <a:t>常量</a:t>
            </a:r>
            <a:r>
              <a:rPr lang="zh-CN" altLang="en-US" sz="2800" b="1" dirty="0">
                <a:latin typeface="宋体" panose="02010600030101010101" pitchFamily="2" charset="-122"/>
                <a:ea typeface="宋体" panose="02010600030101010101" pitchFamily="2" charset="-122"/>
              </a:rPr>
              <a:t>又可以分为</a:t>
            </a:r>
            <a:r>
              <a:rPr lang="zh-CN" altLang="en-US" sz="2800" b="1" dirty="0">
                <a:solidFill>
                  <a:srgbClr val="FF0000"/>
                </a:solidFill>
                <a:latin typeface="宋体" panose="02010600030101010101" pitchFamily="2" charset="-122"/>
                <a:ea typeface="宋体" panose="02010600030101010101" pitchFamily="2" charset="-122"/>
              </a:rPr>
              <a:t>直接常量（常数）和符号常量</a:t>
            </a:r>
            <a:r>
              <a:rPr lang="zh-CN" altLang="en-US"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a typeface="宋体" panose="02010600030101010101" pitchFamily="2" charset="-122"/>
            </a:endParaRPr>
          </a:p>
        </p:txBody>
      </p:sp>
      <p:sp>
        <p:nvSpPr>
          <p:cNvPr id="16387" name="标题 2"/>
          <p:cNvSpPr>
            <a:spLocks noGrp="1"/>
          </p:cNvSpPr>
          <p:nvPr>
            <p:ph type="title" idx="4294967295"/>
          </p:nvPr>
        </p:nvSpPr>
        <p:spPr>
          <a:xfrm>
            <a:off x="217813" y="218961"/>
            <a:ext cx="8147318" cy="914055"/>
          </a:xfrm>
        </p:spPr>
        <p:txBody>
          <a:bodyPr/>
          <a:lstStyle/>
          <a:p>
            <a:r>
              <a:rPr lang="en-US" altLang="zh-CN" dirty="0"/>
              <a:t>2.3.2 </a:t>
            </a:r>
            <a:r>
              <a:rPr lang="zh-CN" altLang="en-US" dirty="0"/>
              <a:t>常量</a:t>
            </a:r>
            <a:endParaRPr lang="zh-CN" altLang="en-US" dirty="0"/>
          </a:p>
        </p:txBody>
      </p:sp>
      <p:sp>
        <p:nvSpPr>
          <p:cNvPr id="4" name="标题 2"/>
          <p:cNvSpPr txBox="1"/>
          <p:nvPr/>
        </p:nvSpPr>
        <p:spPr>
          <a:xfrm>
            <a:off x="151138" y="2188112"/>
            <a:ext cx="8147318" cy="70404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、整型常量</a:t>
            </a:r>
            <a:endParaRPr lang="zh-CN" altLang="en-US" dirty="0">
              <a:latin typeface="宋体" panose="02010600030101010101" pitchFamily="2" charset="-122"/>
              <a:ea typeface="宋体" panose="02010600030101010101" pitchFamily="2" charset="-122"/>
            </a:endParaRPr>
          </a:p>
        </p:txBody>
      </p:sp>
      <p:sp>
        <p:nvSpPr>
          <p:cNvPr id="5" name="内容占位符 1"/>
          <p:cNvSpPr txBox="1"/>
          <p:nvPr/>
        </p:nvSpPr>
        <p:spPr>
          <a:xfrm>
            <a:off x="528637" y="2892158"/>
            <a:ext cx="10944224" cy="37284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685800" indent="-179705"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11430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6pPr>
            <a:lvl7pPr marL="16002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8pPr>
            <a:lvl9pPr marL="1877695" indent="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None/>
              <a:defRPr sz="1400" kern="1200">
                <a:solidFill>
                  <a:schemeClr val="tx1"/>
                </a:solidFill>
                <a:latin typeface="+mn-lt"/>
                <a:ea typeface="+mn-ea"/>
                <a:cs typeface="+mn-cs"/>
              </a:defRPr>
            </a:lvl9pPr>
          </a:lstStyle>
          <a:p>
            <a:pPr marL="0" indent="353060">
              <a:lnSpc>
                <a:spcPct val="120000"/>
              </a:lnSpc>
              <a:buFont typeface="Arial" panose="020B0604020202020204" pitchFamily="34" charset="0"/>
              <a:buNone/>
            </a:pPr>
            <a:r>
              <a:rPr lang="en-US" altLang="zh-CN" sz="2800" b="1" dirty="0">
                <a:latin typeface="宋体" panose="02010600030101010101" pitchFamily="2" charset="-122"/>
                <a:ea typeface="宋体" panose="02010600030101010101" pitchFamily="2" charset="-122"/>
              </a:rPr>
              <a:t>Java</a:t>
            </a:r>
            <a:r>
              <a:rPr lang="zh-CN" altLang="en-US" sz="2800" b="1" dirty="0">
                <a:latin typeface="宋体" panose="02010600030101010101" pitchFamily="2" charset="-122"/>
                <a:ea typeface="宋体" panose="02010600030101010101" pitchFamily="2" charset="-122"/>
              </a:rPr>
              <a:t>的整型常量有三种不同的表现形式：</a:t>
            </a:r>
            <a:br>
              <a:rPr lang="en-US" altLang="zh-CN" sz="2800" b="1" dirty="0">
                <a:latin typeface="宋体" panose="02010600030101010101" pitchFamily="2" charset="-122"/>
                <a:ea typeface="宋体" panose="02010600030101010101" pitchFamily="2" charset="-122"/>
              </a:rPr>
            </a:b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）十进制数形式，如</a:t>
            </a:r>
            <a:r>
              <a:rPr lang="en-US" altLang="zh-CN" sz="2800" b="1" dirty="0">
                <a:latin typeface="宋体" panose="02010600030101010101" pitchFamily="2" charset="-122"/>
                <a:ea typeface="宋体" panose="02010600030101010101" pitchFamily="2" charset="-122"/>
              </a:rPr>
              <a:t>54</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-67</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0</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120000"/>
              </a:lnSpc>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）八进制数形式，以</a:t>
            </a:r>
            <a:r>
              <a:rPr lang="en-US" altLang="zh-CN" sz="2800" b="1" dirty="0">
                <a:latin typeface="宋体" panose="02010600030101010101" pitchFamily="2" charset="-122"/>
                <a:ea typeface="宋体" panose="02010600030101010101" pitchFamily="2" charset="-122"/>
              </a:rPr>
              <a:t>0</a:t>
            </a:r>
            <a:r>
              <a:rPr lang="zh-CN" altLang="en-US" sz="2800" b="1" dirty="0">
                <a:latin typeface="宋体" panose="02010600030101010101" pitchFamily="2" charset="-122"/>
                <a:ea typeface="宋体" panose="02010600030101010101" pitchFamily="2" charset="-122"/>
              </a:rPr>
              <a:t>开头，如</a:t>
            </a:r>
            <a:r>
              <a:rPr lang="en-US" altLang="zh-CN" sz="2800" b="1" dirty="0">
                <a:latin typeface="宋体" panose="02010600030101010101" pitchFamily="2" charset="-122"/>
                <a:ea typeface="宋体" panose="02010600030101010101" pitchFamily="2" charset="-122"/>
              </a:rPr>
              <a:t>0125</a:t>
            </a:r>
            <a:r>
              <a:rPr lang="zh-CN" altLang="en-US" sz="2800" b="1" dirty="0">
                <a:latin typeface="宋体" panose="02010600030101010101" pitchFamily="2" charset="-122"/>
                <a:ea typeface="宋体" panose="02010600030101010101" pitchFamily="2" charset="-122"/>
              </a:rPr>
              <a:t>表示十进制数</a:t>
            </a:r>
            <a:r>
              <a:rPr lang="en-US" altLang="zh-CN" sz="2800" b="1" dirty="0">
                <a:latin typeface="宋体" panose="02010600030101010101" pitchFamily="2" charset="-122"/>
                <a:ea typeface="宋体" panose="02010600030101010101" pitchFamily="2" charset="-122"/>
              </a:rPr>
              <a:t>85</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120000"/>
              </a:lnSpc>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）十六进制数形式，以</a:t>
            </a:r>
            <a:r>
              <a:rPr lang="en-US" altLang="zh-CN" sz="2800" b="1" dirty="0">
                <a:latin typeface="宋体" panose="02010600030101010101" pitchFamily="2" charset="-122"/>
                <a:ea typeface="宋体" panose="02010600030101010101" pitchFamily="2" charset="-122"/>
              </a:rPr>
              <a:t>0x</a:t>
            </a:r>
            <a:r>
              <a:rPr lang="zh-CN" altLang="en-US" sz="2800" b="1" dirty="0">
                <a:latin typeface="宋体" panose="02010600030101010101" pitchFamily="2" charset="-122"/>
                <a:ea typeface="宋体" panose="02010600030101010101" pitchFamily="2" charset="-122"/>
              </a:rPr>
              <a:t>或</a:t>
            </a:r>
            <a:r>
              <a:rPr lang="en-US" altLang="zh-CN" sz="2800" b="1" dirty="0">
                <a:latin typeface="宋体" panose="02010600030101010101" pitchFamily="2" charset="-122"/>
                <a:ea typeface="宋体" panose="02010600030101010101" pitchFamily="2" charset="-122"/>
              </a:rPr>
              <a:t>0X</a:t>
            </a:r>
            <a:r>
              <a:rPr lang="zh-CN" altLang="en-US" sz="2800" b="1" dirty="0">
                <a:latin typeface="宋体" panose="02010600030101010101" pitchFamily="2" charset="-122"/>
                <a:ea typeface="宋体" panose="02010600030101010101" pitchFamily="2" charset="-122"/>
              </a:rPr>
              <a:t>开头，如</a:t>
            </a:r>
            <a:r>
              <a:rPr lang="en-US" altLang="zh-CN" sz="2800" b="1" dirty="0">
                <a:latin typeface="宋体" panose="02010600030101010101" pitchFamily="2" charset="-122"/>
                <a:ea typeface="宋体" panose="02010600030101010101" pitchFamily="2" charset="-122"/>
              </a:rPr>
              <a:t>0x100</a:t>
            </a:r>
            <a:r>
              <a:rPr lang="zh-CN" altLang="en-US" sz="2800" b="1" dirty="0">
                <a:latin typeface="宋体" panose="02010600030101010101" pitchFamily="2" charset="-122"/>
                <a:ea typeface="宋体" panose="02010600030101010101" pitchFamily="2" charset="-122"/>
              </a:rPr>
              <a:t>表示十进制数</a:t>
            </a:r>
            <a:r>
              <a:rPr lang="en-US" altLang="zh-CN" sz="2800" b="1" dirty="0">
                <a:latin typeface="宋体" panose="02010600030101010101" pitchFamily="2" charset="-122"/>
                <a:ea typeface="宋体" panose="02010600030101010101" pitchFamily="2" charset="-122"/>
              </a:rPr>
              <a:t>256</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120000"/>
              </a:lnSpc>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长整型类型则要在数字后面加</a:t>
            </a:r>
            <a:r>
              <a:rPr lang="en-US" altLang="zh-CN" sz="2800" b="1" dirty="0">
                <a:latin typeface="宋体" panose="02010600030101010101" pitchFamily="2" charset="-122"/>
                <a:ea typeface="宋体" panose="02010600030101010101" pitchFamily="2" charset="-122"/>
              </a:rPr>
              <a:t>L</a:t>
            </a:r>
            <a:r>
              <a:rPr lang="zh-CN" altLang="en-US" sz="2800" b="1" dirty="0">
                <a:latin typeface="宋体" panose="02010600030101010101" pitchFamily="2" charset="-122"/>
                <a:ea typeface="宋体" panose="02010600030101010101" pitchFamily="2" charset="-122"/>
              </a:rPr>
              <a:t>或</a:t>
            </a:r>
            <a:r>
              <a:rPr lang="en-US" altLang="zh-CN" sz="2800" b="1" dirty="0">
                <a:latin typeface="宋体" panose="02010600030101010101" pitchFamily="2" charset="-122"/>
                <a:ea typeface="宋体" panose="02010600030101010101" pitchFamily="2" charset="-122"/>
              </a:rPr>
              <a:t>l</a:t>
            </a:r>
            <a:r>
              <a:rPr lang="zh-CN" altLang="en-US" sz="2800" b="1" dirty="0">
                <a:latin typeface="宋体" panose="02010600030101010101" pitchFamily="2" charset="-122"/>
                <a:ea typeface="宋体" panose="02010600030101010101" pitchFamily="2" charset="-122"/>
              </a:rPr>
              <a:t>，如</a:t>
            </a:r>
            <a:r>
              <a:rPr lang="en-US" altLang="zh-CN" sz="2800" b="1" dirty="0">
                <a:latin typeface="宋体" panose="02010600030101010101" pitchFamily="2" charset="-122"/>
                <a:ea typeface="宋体" panose="02010600030101010101" pitchFamily="2" charset="-122"/>
              </a:rPr>
              <a:t>697L</a:t>
            </a:r>
            <a:r>
              <a:rPr lang="zh-CN" altLang="en-US" sz="2800" b="1" dirty="0">
                <a:latin typeface="宋体" panose="02010600030101010101" pitchFamily="2" charset="-122"/>
                <a:ea typeface="宋体" panose="02010600030101010101" pitchFamily="2" charset="-122"/>
              </a:rPr>
              <a:t>，表示一个长型整数，它在内存中占</a:t>
            </a:r>
            <a:r>
              <a:rPr lang="en-US" altLang="zh-CN" sz="2800" b="1" dirty="0">
                <a:latin typeface="宋体" panose="02010600030101010101" pitchFamily="2" charset="-122"/>
                <a:ea typeface="宋体" panose="02010600030101010101" pitchFamily="2" charset="-122"/>
              </a:rPr>
              <a:t>64</a:t>
            </a:r>
            <a:r>
              <a:rPr lang="zh-CN" altLang="en-US" sz="2800" b="1" dirty="0">
                <a:latin typeface="宋体" panose="02010600030101010101" pitchFamily="2" charset="-122"/>
                <a:ea typeface="宋体" panose="02010600030101010101" pitchFamily="2" charset="-122"/>
              </a:rPr>
              <a:t>位。</a:t>
            </a:r>
            <a:endParaRPr lang="zh-CN" altLang="en-US" sz="28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1"/>
          <p:cNvSpPr>
            <a:spLocks noGrp="1"/>
          </p:cNvSpPr>
          <p:nvPr>
            <p:ph idx="4294967295"/>
          </p:nvPr>
        </p:nvSpPr>
        <p:spPr>
          <a:xfrm>
            <a:off x="923467" y="1750879"/>
            <a:ext cx="10735133" cy="4170918"/>
          </a:xfrm>
        </p:spPr>
        <p:txBody>
          <a:bodyPr>
            <a:normAutofit/>
          </a:bodyPr>
          <a:lstStyle/>
          <a:p>
            <a:pPr marL="0" indent="353060">
              <a:buNone/>
            </a:pPr>
            <a:r>
              <a:rPr lang="en-US" altLang="zh-CN" sz="2800" b="1" dirty="0">
                <a:latin typeface="宋体" panose="02010600030101010101" pitchFamily="2" charset="-122"/>
                <a:ea typeface="宋体" panose="02010600030101010101" pitchFamily="2" charset="-122"/>
              </a:rPr>
              <a:t> Java </a:t>
            </a:r>
            <a:r>
              <a:rPr lang="zh-CN" altLang="en-US" sz="2800" b="1" dirty="0">
                <a:latin typeface="宋体" panose="02010600030101010101" pitchFamily="2" charset="-122"/>
                <a:ea typeface="宋体" panose="02010600030101010101" pitchFamily="2" charset="-122"/>
              </a:rPr>
              <a:t>实型常量默认在内存中占</a:t>
            </a:r>
            <a:r>
              <a:rPr lang="en-US" altLang="zh-CN" sz="2800" b="1" dirty="0">
                <a:latin typeface="宋体" panose="02010600030101010101" pitchFamily="2" charset="-122"/>
                <a:ea typeface="宋体" panose="02010600030101010101" pitchFamily="2" charset="-122"/>
              </a:rPr>
              <a:t>64</a:t>
            </a:r>
            <a:r>
              <a:rPr lang="zh-CN" altLang="en-US" sz="2800" b="1" dirty="0">
                <a:latin typeface="宋体" panose="02010600030101010101" pitchFamily="2" charset="-122"/>
                <a:ea typeface="宋体" panose="02010600030101010101" pitchFamily="2" charset="-122"/>
              </a:rPr>
              <a:t>位，是具有</a:t>
            </a:r>
            <a:r>
              <a:rPr lang="en-US" altLang="zh-CN" sz="2800" b="1" dirty="0">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双精度型</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double</a:t>
            </a:r>
            <a:r>
              <a:rPr lang="zh-CN" altLang="en-US" sz="2800" b="1" dirty="0">
                <a:latin typeface="宋体" panose="02010600030101010101" pitchFamily="2" charset="-122"/>
                <a:ea typeface="宋体" panose="02010600030101010101" pitchFamily="2" charset="-122"/>
              </a:rPr>
              <a:t>）类型的值。</a:t>
            </a:r>
            <a:endParaRPr lang="en-US" altLang="zh-CN" sz="2800" b="1" dirty="0">
              <a:latin typeface="宋体" panose="02010600030101010101" pitchFamily="2" charset="-122"/>
              <a:ea typeface="宋体" panose="02010600030101010101" pitchFamily="2" charset="-122"/>
            </a:endParaRPr>
          </a:p>
          <a:p>
            <a:pPr marL="0" indent="353060">
              <a:buNone/>
            </a:pPr>
            <a:r>
              <a:rPr lang="zh-CN" altLang="en-US" sz="2800" b="1" dirty="0">
                <a:solidFill>
                  <a:srgbClr val="FF0000"/>
                </a:solidFill>
                <a:latin typeface="宋体" panose="02010600030101010101" pitchFamily="2" charset="-122"/>
                <a:ea typeface="宋体" panose="02010600030101010101" pitchFamily="2" charset="-122"/>
              </a:rPr>
              <a:t>单精度型数值</a:t>
            </a:r>
            <a:r>
              <a:rPr lang="zh-CN" altLang="en-US" sz="2800" b="1" dirty="0">
                <a:latin typeface="宋体" panose="02010600030101010101" pitchFamily="2" charset="-122"/>
                <a:ea typeface="宋体" panose="02010600030101010101" pitchFamily="2" charset="-122"/>
              </a:rPr>
              <a:t>一般要在该常数后面加</a:t>
            </a:r>
            <a:r>
              <a:rPr lang="en-US" altLang="zh-CN" sz="2800" b="1" dirty="0">
                <a:solidFill>
                  <a:srgbClr val="FF0000"/>
                </a:solidFill>
                <a:latin typeface="宋体" panose="02010600030101010101" pitchFamily="2" charset="-122"/>
                <a:ea typeface="宋体" panose="02010600030101010101" pitchFamily="2" charset="-122"/>
              </a:rPr>
              <a:t>F</a:t>
            </a:r>
            <a:r>
              <a:rPr lang="zh-CN" altLang="en-US" sz="2800" b="1" dirty="0">
                <a:solidFill>
                  <a:srgbClr val="FF0000"/>
                </a:solidFill>
                <a:latin typeface="宋体" panose="02010600030101010101" pitchFamily="2" charset="-122"/>
                <a:ea typeface="宋体" panose="02010600030101010101" pitchFamily="2" charset="-122"/>
              </a:rPr>
              <a:t>或</a:t>
            </a:r>
            <a:r>
              <a:rPr lang="en-US" altLang="zh-CN" sz="2800" b="1" dirty="0">
                <a:solidFill>
                  <a:srgbClr val="FF0000"/>
                </a:solidFill>
                <a:latin typeface="宋体" panose="02010600030101010101" pitchFamily="2" charset="-122"/>
                <a:ea typeface="宋体" panose="02010600030101010101" pitchFamily="2" charset="-122"/>
              </a:rPr>
              <a:t>f</a:t>
            </a:r>
            <a:r>
              <a:rPr lang="zh-CN" altLang="en-US" sz="2800" b="1" dirty="0">
                <a:latin typeface="宋体" panose="02010600030101010101" pitchFamily="2" charset="-122"/>
                <a:ea typeface="宋体" panose="02010600030101010101" pitchFamily="2" charset="-122"/>
              </a:rPr>
              <a:t>，如</a:t>
            </a:r>
            <a:r>
              <a:rPr lang="en-US" altLang="zh-CN" sz="2800" b="1" dirty="0">
                <a:latin typeface="宋体" panose="02010600030101010101" pitchFamily="2" charset="-122"/>
                <a:ea typeface="宋体" panose="02010600030101010101" pitchFamily="2" charset="-122"/>
              </a:rPr>
              <a:t>69.7f</a:t>
            </a:r>
            <a:r>
              <a:rPr lang="zh-CN" altLang="en-US" sz="2800" b="1" dirty="0">
                <a:latin typeface="宋体" panose="02010600030101010101" pitchFamily="2" charset="-122"/>
                <a:ea typeface="宋体" panose="02010600030101010101" pitchFamily="2" charset="-122"/>
              </a:rPr>
              <a:t>，表示一个</a:t>
            </a:r>
            <a:r>
              <a:rPr lang="en-US" altLang="zh-CN" sz="2800" b="1" dirty="0">
                <a:latin typeface="宋体" panose="02010600030101010101" pitchFamily="2" charset="-122"/>
                <a:ea typeface="宋体" panose="02010600030101010101" pitchFamily="2" charset="-122"/>
              </a:rPr>
              <a:t> float</a:t>
            </a:r>
            <a:r>
              <a:rPr lang="zh-CN" altLang="en-US" sz="2800" b="1" dirty="0">
                <a:latin typeface="宋体" panose="02010600030101010101" pitchFamily="2" charset="-122"/>
                <a:ea typeface="宋体" panose="02010600030101010101" pitchFamily="2" charset="-122"/>
              </a:rPr>
              <a:t>型实数，它在内存中占</a:t>
            </a:r>
            <a:r>
              <a:rPr lang="en-US" altLang="zh-CN" sz="2800" b="1" dirty="0">
                <a:latin typeface="宋体" panose="02010600030101010101" pitchFamily="2" charset="-122"/>
                <a:ea typeface="宋体" panose="02010600030101010101" pitchFamily="2" charset="-122"/>
              </a:rPr>
              <a:t>32</a:t>
            </a:r>
            <a:r>
              <a:rPr lang="zh-CN" altLang="en-US" sz="2800" b="1" dirty="0">
                <a:latin typeface="宋体" panose="02010600030101010101" pitchFamily="2" charset="-122"/>
                <a:ea typeface="宋体" panose="02010600030101010101" pitchFamily="2" charset="-122"/>
              </a:rPr>
              <a:t>位（这取决于系统的版本高低）。</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18435" name="标题 2"/>
          <p:cNvSpPr>
            <a:spLocks noGrp="1"/>
          </p:cNvSpPr>
          <p:nvPr>
            <p:ph type="title" idx="4294967295"/>
          </p:nvPr>
        </p:nvSpPr>
        <p:spPr>
          <a:xfrm>
            <a:off x="284488" y="742836"/>
            <a:ext cx="8147318" cy="914055"/>
          </a:xfrm>
        </p:spPr>
        <p:txBody>
          <a:bodyPr/>
          <a:lstStyle/>
          <a:p>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、浮点型常量</a:t>
            </a:r>
            <a:endParaRPr lang="zh-CN" altLang="en-US" dirty="0">
              <a:latin typeface="宋体" panose="02010600030101010101" pitchFamily="2" charset="-122"/>
              <a:ea typeface="宋体" panose="02010600030101010101" pitchFamily="2" charset="-122"/>
            </a:endParaRPr>
          </a:p>
        </p:txBody>
      </p:sp>
      <p:sp>
        <p:nvSpPr>
          <p:cNvPr id="4" name="标题 2"/>
          <p:cNvSpPr txBox="1"/>
          <p:nvPr/>
        </p:nvSpPr>
        <p:spPr>
          <a:xfrm>
            <a:off x="170188" y="22148"/>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t>2.3.2 </a:t>
            </a:r>
            <a:r>
              <a:rPr lang="zh-CN" altLang="en-US" dirty="0"/>
              <a:t>常量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1"/>
          <p:cNvSpPr>
            <a:spLocks noGrp="1"/>
          </p:cNvSpPr>
          <p:nvPr>
            <p:ph idx="4294967295"/>
          </p:nvPr>
        </p:nvSpPr>
        <p:spPr>
          <a:xfrm>
            <a:off x="655963" y="1780716"/>
            <a:ext cx="10402562" cy="4570279"/>
          </a:xfrm>
        </p:spPr>
        <p:txBody>
          <a:bodyPr>
            <a:normAutofit/>
          </a:bodyPr>
          <a:lstStyle/>
          <a:p>
            <a:pPr marL="0" indent="353060">
              <a:buNone/>
            </a:pPr>
            <a:r>
              <a:rPr lang="en-US" altLang="zh-CN" sz="2800" b="1" dirty="0">
                <a:latin typeface="宋体" panose="02010600030101010101" pitchFamily="2" charset="-122"/>
                <a:ea typeface="宋体" panose="02010600030101010101" pitchFamily="2" charset="-122"/>
              </a:rPr>
              <a:t> Java</a:t>
            </a:r>
            <a:r>
              <a:rPr lang="zh-CN" altLang="en-US" sz="2800" b="1" dirty="0">
                <a:latin typeface="宋体" panose="02010600030101010101" pitchFamily="2" charset="-122"/>
                <a:ea typeface="宋体" panose="02010600030101010101" pitchFamily="2" charset="-122"/>
              </a:rPr>
              <a:t>的字符型常量值是用</a:t>
            </a:r>
            <a:r>
              <a:rPr lang="zh-CN" altLang="en-US" sz="2800" b="1" dirty="0">
                <a:solidFill>
                  <a:srgbClr val="FF0000"/>
                </a:solidFill>
                <a:latin typeface="宋体" panose="02010600030101010101" pitchFamily="2" charset="-122"/>
                <a:ea typeface="宋体" panose="02010600030101010101" pitchFamily="2" charset="-122"/>
              </a:rPr>
              <a:t>单引号</a:t>
            </a:r>
            <a:r>
              <a:rPr lang="zh-CN" altLang="en-US" sz="2800" b="1" dirty="0">
                <a:latin typeface="宋体" panose="02010600030101010101" pitchFamily="2" charset="-122"/>
                <a:ea typeface="宋体" panose="02010600030101010101" pitchFamily="2" charset="-122"/>
              </a:rPr>
              <a:t>引起来的一个字符，如</a:t>
            </a:r>
            <a:r>
              <a:rPr lang="en-US" altLang="zh-CN" sz="2800" b="1" dirty="0">
                <a:latin typeface="宋体" panose="02010600030101010101" pitchFamily="2" charset="-122"/>
                <a:ea typeface="宋体" panose="02010600030101010101" pitchFamily="2" charset="-122"/>
              </a:rPr>
              <a:t>′e′</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′E′</a:t>
            </a:r>
            <a:r>
              <a:rPr lang="zh-CN" altLang="en-US"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Java</a:t>
            </a:r>
            <a:r>
              <a:rPr lang="zh-CN" altLang="en-US" sz="2800" b="1" dirty="0">
                <a:latin typeface="宋体" panose="02010600030101010101" pitchFamily="2" charset="-122"/>
                <a:ea typeface="宋体" panose="02010600030101010101" pitchFamily="2" charset="-122"/>
              </a:rPr>
              <a:t>还允许使用一种特殊形式的字符常量值来表示一些难以用一般字符来表示的字符，这种特殊形式的字符是以一个＂</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＂开头的字符序列，称为</a:t>
            </a:r>
            <a:r>
              <a:rPr lang="zh-CN" altLang="en-US" sz="2800" b="1" dirty="0">
                <a:solidFill>
                  <a:srgbClr val="FF0000"/>
                </a:solidFill>
                <a:latin typeface="宋体" panose="02010600030101010101" pitchFamily="2" charset="-122"/>
                <a:ea typeface="宋体" panose="02010600030101010101" pitchFamily="2" charset="-122"/>
              </a:rPr>
              <a:t>转义字符</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p:txBody>
      </p:sp>
      <p:sp>
        <p:nvSpPr>
          <p:cNvPr id="19459" name="标题 2"/>
          <p:cNvSpPr>
            <a:spLocks noGrp="1"/>
          </p:cNvSpPr>
          <p:nvPr>
            <p:ph type="title" idx="4294967295"/>
          </p:nvPr>
        </p:nvSpPr>
        <p:spPr>
          <a:xfrm>
            <a:off x="341638" y="923811"/>
            <a:ext cx="8147318" cy="619239"/>
          </a:xfrm>
        </p:spPr>
        <p:txBody>
          <a:bodyPr>
            <a:normAutofit/>
          </a:bodyPr>
          <a:lstStyle/>
          <a:p>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、字符型常量</a:t>
            </a:r>
            <a:endParaRPr lang="zh-CN" altLang="en-US" sz="2800" dirty="0">
              <a:latin typeface="宋体" panose="02010600030101010101" pitchFamily="2" charset="-122"/>
              <a:ea typeface="宋体" panose="02010600030101010101" pitchFamily="2" charset="-122"/>
            </a:endParaRPr>
          </a:p>
        </p:txBody>
      </p:sp>
      <p:sp>
        <p:nvSpPr>
          <p:cNvPr id="4" name="标题 2"/>
          <p:cNvSpPr txBox="1"/>
          <p:nvPr/>
        </p:nvSpPr>
        <p:spPr>
          <a:xfrm>
            <a:off x="170188" y="22148"/>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t>2.3.2 </a:t>
            </a:r>
            <a:r>
              <a:rPr lang="zh-CN" altLang="en-US" dirty="0"/>
              <a:t>常量</a:t>
            </a:r>
            <a:endParaRPr lang="zh-CN" altLang="en-US" dirty="0"/>
          </a:p>
        </p:txBody>
      </p:sp>
      <p:graphicFrame>
        <p:nvGraphicFramePr>
          <p:cNvPr id="5" name="Group 2"/>
          <p:cNvGraphicFramePr/>
          <p:nvPr/>
        </p:nvGraphicFramePr>
        <p:xfrm>
          <a:off x="2284738" y="4065855"/>
          <a:ext cx="7281461" cy="2385840"/>
        </p:xfrm>
        <a:graphic>
          <a:graphicData uri="http://schemas.openxmlformats.org/drawingml/2006/table">
            <a:tbl>
              <a:tblPr/>
              <a:tblGrid>
                <a:gridCol w="1315139"/>
                <a:gridCol w="2311821"/>
                <a:gridCol w="1378829"/>
                <a:gridCol w="2275672"/>
              </a:tblGrid>
              <a:tr h="387312">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字符形式</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功能</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字符形式</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功能</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7968">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\r</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回车</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单引号</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7312">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\n</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换行</a:t>
                      </a:r>
                      <a:endParaRPr kumimoji="0" lang="zh-CN"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双引号</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7968">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\t</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水平制表</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反斜线</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7312">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\b</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退格</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\ddd</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八进制位模式</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7968">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\f</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换页</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\Udddd</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十六进制模式</a:t>
                      </a:r>
                      <a:endParaRPr kumimoji="0" lang="zh-CN"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4" marR="5391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0" name="Rectangle 1"/>
          <p:cNvSpPr>
            <a:spLocks noChangeArrowheads="1"/>
          </p:cNvSpPr>
          <p:nvPr/>
        </p:nvSpPr>
        <p:spPr bwMode="auto">
          <a:xfrm>
            <a:off x="725851" y="1104764"/>
            <a:ext cx="10885124" cy="101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8925" tIns="39462" rIns="78925" bIns="39462" anchor="ctr">
            <a:spAutoFit/>
          </a:bodyPr>
          <a:lstStyle>
            <a:lvl1pPr indent="211455"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pPr>
            <a:r>
              <a:rPr lang="en-US" altLang="zh-CN" sz="3035" dirty="0"/>
              <a:t>4</a:t>
            </a:r>
            <a:r>
              <a:rPr lang="zh-CN" altLang="en-US" sz="3035" dirty="0"/>
              <a:t>、布尔型常量</a:t>
            </a:r>
            <a:endParaRPr lang="zh-CN" altLang="en-US" sz="3035" dirty="0"/>
          </a:p>
          <a:p>
            <a:pPr>
              <a:lnSpc>
                <a:spcPct val="100000"/>
              </a:lnSpc>
            </a:pPr>
            <a:r>
              <a:rPr lang="en-US" altLang="zh-CN" sz="3035" dirty="0"/>
              <a:t>Java</a:t>
            </a:r>
            <a:r>
              <a:rPr lang="zh-CN" altLang="en-US" sz="3035" dirty="0"/>
              <a:t>的布尔型常量只有两个值：</a:t>
            </a:r>
            <a:r>
              <a:rPr lang="en-US" altLang="zh-CN" sz="3035" dirty="0"/>
              <a:t>false</a:t>
            </a:r>
            <a:r>
              <a:rPr lang="zh-CN" altLang="en-US" sz="3035" dirty="0"/>
              <a:t>（假）和</a:t>
            </a:r>
            <a:r>
              <a:rPr lang="en-US" altLang="zh-CN" sz="3035" dirty="0"/>
              <a:t>true</a:t>
            </a:r>
            <a:r>
              <a:rPr lang="zh-CN" altLang="en-US" sz="3035" dirty="0"/>
              <a:t>（真）。</a:t>
            </a:r>
            <a:endParaRPr lang="zh-CN" altLang="en-US" sz="3035" dirty="0"/>
          </a:p>
        </p:txBody>
      </p:sp>
      <p:sp>
        <p:nvSpPr>
          <p:cNvPr id="4" name="标题 2"/>
          <p:cNvSpPr txBox="1"/>
          <p:nvPr/>
        </p:nvSpPr>
        <p:spPr>
          <a:xfrm>
            <a:off x="170188" y="22148"/>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t>2.3.2 </a:t>
            </a:r>
            <a:r>
              <a:rPr lang="zh-CN" altLang="en-US" dirty="0"/>
              <a:t>常量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81000" y="208578"/>
            <a:ext cx="9601200" cy="1142385"/>
          </a:xfrm>
        </p:spPr>
        <p:txBody>
          <a:bodyPr/>
          <a:lstStyle/>
          <a:p>
            <a:r>
              <a:rPr lang="zh-CN" altLang="en-US" dirty="0"/>
              <a:t>练习：</a:t>
            </a:r>
            <a:endParaRPr lang="zh-CN" altLang="en-US" dirty="0"/>
          </a:p>
        </p:txBody>
      </p:sp>
      <p:sp>
        <p:nvSpPr>
          <p:cNvPr id="5" name="内容占位符 4"/>
          <p:cNvSpPr>
            <a:spLocks noGrp="1"/>
          </p:cNvSpPr>
          <p:nvPr>
            <p:ph idx="1"/>
          </p:nvPr>
        </p:nvSpPr>
        <p:spPr>
          <a:xfrm>
            <a:off x="685799" y="1524000"/>
            <a:ext cx="10931769" cy="3809999"/>
          </a:xfrm>
        </p:spPr>
        <p:txBody>
          <a:bodyPr>
            <a:normAutofit/>
          </a:bodyPr>
          <a:lstStyle/>
          <a:p>
            <a:pPr marL="0" indent="0" fontAlgn="auto">
              <a:lnSpc>
                <a:spcPct val="150000"/>
              </a:lnSpc>
              <a:buNone/>
            </a:pPr>
            <a:r>
              <a:rPr lang="en-US" altLang="zh-CN" sz="3200" dirty="0">
                <a:latin typeface="宋体" panose="02010600030101010101" pitchFamily="2" charset="-122"/>
                <a:ea typeface="宋体" panose="02010600030101010101" pitchFamily="2" charset="-122"/>
              </a:rPr>
              <a:t>1</a:t>
            </a:r>
            <a:r>
              <a:rPr lang="zh-CN" altLang="en-US" sz="3200" dirty="0">
                <a:latin typeface="宋体" panose="02010600030101010101" pitchFamily="2" charset="-122"/>
                <a:ea typeface="宋体" panose="02010600030101010101" pitchFamily="2" charset="-122"/>
              </a:rPr>
              <a:t>、如果变量</a:t>
            </a:r>
            <a:r>
              <a:rPr lang="en-US" altLang="zh-CN" sz="3200" dirty="0">
                <a:latin typeface="宋体" panose="02010600030101010101" pitchFamily="2" charset="-122"/>
                <a:ea typeface="宋体" panose="02010600030101010101" pitchFamily="2" charset="-122"/>
              </a:rPr>
              <a:t>a</a:t>
            </a:r>
            <a:r>
              <a:rPr lang="zh-CN" altLang="en-US" sz="3200" dirty="0">
                <a:latin typeface="宋体" panose="02010600030101010101" pitchFamily="2" charset="-122"/>
                <a:ea typeface="宋体" panose="02010600030101010101" pitchFamily="2" charset="-122"/>
              </a:rPr>
              <a:t>中有一个值，变量</a:t>
            </a:r>
            <a:r>
              <a:rPr lang="en-US" altLang="zh-CN" sz="3200" dirty="0">
                <a:latin typeface="宋体" panose="02010600030101010101" pitchFamily="2" charset="-122"/>
                <a:ea typeface="宋体" panose="02010600030101010101" pitchFamily="2" charset="-122"/>
              </a:rPr>
              <a:t>b</a:t>
            </a:r>
            <a:r>
              <a:rPr lang="zh-CN" altLang="en-US" sz="3200" dirty="0">
                <a:latin typeface="宋体" panose="02010600030101010101" pitchFamily="2" charset="-122"/>
                <a:ea typeface="宋体" panose="02010600030101010101" pitchFamily="2" charset="-122"/>
              </a:rPr>
              <a:t>中有一个值，怎样将两个变量中的值互换？尝试用多种数据类型的数据。</a:t>
            </a:r>
            <a:endParaRPr lang="en-US" altLang="zh-CN" sz="32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p:cNvSpPr>
            <a:spLocks noGrp="1"/>
          </p:cNvSpPr>
          <p:nvPr>
            <p:ph idx="4294967295"/>
          </p:nvPr>
        </p:nvSpPr>
        <p:spPr>
          <a:xfrm>
            <a:off x="351162" y="1201642"/>
            <a:ext cx="11288387" cy="4170917"/>
          </a:xfrm>
        </p:spPr>
        <p:txBody>
          <a:bodyPr>
            <a:normAutofit/>
          </a:bodyPr>
          <a:lstStyle/>
          <a:p>
            <a:pPr marL="0" indent="353060">
              <a:buNone/>
            </a:pP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、控制台输入语句</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控制台输入语句主要是由</a:t>
            </a:r>
            <a:r>
              <a:rPr lang="en-US" altLang="zh-CN" sz="2800" b="1" dirty="0">
                <a:solidFill>
                  <a:srgbClr val="FF0000"/>
                </a:solidFill>
                <a:latin typeface="宋体" panose="02010600030101010101" pitchFamily="2" charset="-122"/>
                <a:ea typeface="宋体" panose="02010600030101010101" pitchFamily="2" charset="-122"/>
              </a:rPr>
              <a:t>Scanner</a:t>
            </a:r>
            <a:r>
              <a:rPr lang="zh-CN" altLang="en-US" sz="2800" b="1" dirty="0">
                <a:solidFill>
                  <a:srgbClr val="FF0000"/>
                </a:solidFill>
                <a:latin typeface="宋体" panose="02010600030101010101" pitchFamily="2" charset="-122"/>
                <a:ea typeface="宋体" panose="02010600030101010101" pitchFamily="2" charset="-122"/>
              </a:rPr>
              <a:t>类</a:t>
            </a:r>
            <a:r>
              <a:rPr lang="zh-CN" altLang="en-US" sz="2800" b="1" dirty="0">
                <a:latin typeface="宋体" panose="02010600030101010101" pitchFamily="2" charset="-122"/>
                <a:ea typeface="宋体" panose="02010600030101010101" pitchFamily="2" charset="-122"/>
              </a:rPr>
              <a:t>来实现的。</a:t>
            </a:r>
            <a:endParaRPr lang="en-US" altLang="zh-CN" sz="2800" b="1" dirty="0">
              <a:latin typeface="宋体" panose="02010600030101010101" pitchFamily="2" charset="-122"/>
              <a:ea typeface="宋体" panose="02010600030101010101" pitchFamily="2" charset="-122"/>
            </a:endParaRPr>
          </a:p>
          <a:p>
            <a:pPr marL="0" indent="353060">
              <a:buNone/>
            </a:pPr>
            <a:r>
              <a:rPr lang="en-US" altLang="zh-CN" sz="2800" b="1" dirty="0">
                <a:solidFill>
                  <a:srgbClr val="FF0000"/>
                </a:solidFill>
                <a:latin typeface="宋体" panose="02010600030101010101" pitchFamily="2" charset="-122"/>
                <a:ea typeface="宋体" panose="02010600030101010101" pitchFamily="2" charset="-122"/>
              </a:rPr>
              <a:t>Scanner input=new Scanner(System.in)</a:t>
            </a:r>
            <a:r>
              <a:rPr lang="zh-CN" altLang="en-US" sz="2800" b="1" dirty="0">
                <a:solidFill>
                  <a:srgbClr val="FF0000"/>
                </a:solidFill>
                <a:latin typeface="宋体" panose="02010600030101010101" pitchFamily="2" charset="-122"/>
                <a:ea typeface="宋体" panose="02010600030101010101" pitchFamily="2" charset="-122"/>
              </a:rPr>
              <a:t>；</a:t>
            </a:r>
            <a:endParaRPr lang="zh-CN" altLang="en-US" sz="2800" b="1" dirty="0">
              <a:solidFill>
                <a:srgbClr val="FF0000"/>
              </a:solidFill>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Scanner</a:t>
            </a:r>
            <a:r>
              <a:rPr lang="zh-CN" altLang="en-US" sz="2800" b="1" dirty="0">
                <a:latin typeface="宋体" panose="02010600030101010101" pitchFamily="2" charset="-122"/>
                <a:ea typeface="宋体" panose="02010600030101010101" pitchFamily="2" charset="-122"/>
              </a:rPr>
              <a:t>类提供了非常丰富的输入方法：</a:t>
            </a:r>
            <a:r>
              <a:rPr lang="en-US" altLang="zh-CN" sz="2800" b="1" dirty="0" err="1">
                <a:solidFill>
                  <a:srgbClr val="FF0000"/>
                </a:solidFill>
                <a:latin typeface="宋体" panose="02010600030101010101" pitchFamily="2" charset="-122"/>
                <a:ea typeface="宋体" panose="02010600030101010101" pitchFamily="2" charset="-122"/>
              </a:rPr>
              <a:t>nextlnt</a:t>
            </a:r>
            <a:r>
              <a:rPr lang="en-US" altLang="zh-CN" sz="2800" b="1" dirty="0">
                <a:solidFill>
                  <a:srgbClr val="FF0000"/>
                </a:solidFill>
                <a:latin typeface="宋体" panose="02010600030101010101" pitchFamily="2" charset="-122"/>
                <a:ea typeface="宋体" panose="02010600030101010101" pitchFamily="2" charset="-122"/>
              </a:rPr>
              <a:t>( )</a:t>
            </a:r>
            <a:r>
              <a:rPr lang="zh-CN" altLang="en-US" sz="2800" b="1" dirty="0">
                <a:solidFill>
                  <a:srgbClr val="FF0000"/>
                </a:solidFill>
                <a:latin typeface="宋体" panose="02010600030101010101" pitchFamily="2" charset="-122"/>
                <a:ea typeface="宋体" panose="02010600030101010101" pitchFamily="2" charset="-122"/>
              </a:rPr>
              <a:t>、</a:t>
            </a:r>
            <a:r>
              <a:rPr lang="en-US" altLang="zh-CN" sz="2800" b="1" dirty="0" err="1">
                <a:solidFill>
                  <a:srgbClr val="FF0000"/>
                </a:solidFill>
                <a:latin typeface="宋体" panose="02010600030101010101" pitchFamily="2" charset="-122"/>
                <a:ea typeface="宋体" panose="02010600030101010101" pitchFamily="2" charset="-122"/>
              </a:rPr>
              <a:t>nextDouble</a:t>
            </a:r>
            <a:r>
              <a:rPr lang="en-US" altLang="zh-CN" sz="2800" b="1" dirty="0">
                <a:solidFill>
                  <a:srgbClr val="FF0000"/>
                </a:solidFill>
                <a:latin typeface="宋体" panose="02010600030101010101" pitchFamily="2" charset="-122"/>
                <a:ea typeface="宋体" panose="02010600030101010101" pitchFamily="2" charset="-122"/>
              </a:rPr>
              <a:t>( )</a:t>
            </a:r>
            <a:r>
              <a:rPr lang="zh-CN" altLang="en-US" sz="2800" b="1" dirty="0">
                <a:solidFill>
                  <a:srgbClr val="FF0000"/>
                </a:solidFill>
                <a:latin typeface="宋体" panose="02010600030101010101" pitchFamily="2" charset="-122"/>
                <a:ea typeface="宋体" panose="02010600030101010101" pitchFamily="2" charset="-122"/>
              </a:rPr>
              <a:t>、</a:t>
            </a:r>
            <a:r>
              <a:rPr lang="en-US" altLang="zh-CN" sz="2800" b="1" dirty="0" err="1">
                <a:solidFill>
                  <a:srgbClr val="FF0000"/>
                </a:solidFill>
                <a:latin typeface="宋体" panose="02010600030101010101" pitchFamily="2" charset="-122"/>
                <a:ea typeface="宋体" panose="02010600030101010101" pitchFamily="2" charset="-122"/>
              </a:rPr>
              <a:t>nextFloat</a:t>
            </a:r>
            <a:r>
              <a:rPr lang="en-US" altLang="zh-CN" sz="2800" b="1" dirty="0">
                <a:solidFill>
                  <a:srgbClr val="FF0000"/>
                </a:solidFill>
                <a:latin typeface="宋体" panose="02010600030101010101" pitchFamily="2" charset="-122"/>
                <a:ea typeface="宋体" panose="02010600030101010101" pitchFamily="2" charset="-122"/>
              </a:rPr>
              <a:t>( )</a:t>
            </a:r>
            <a:r>
              <a:rPr lang="zh-CN" altLang="en-US" sz="2800" b="1" dirty="0">
                <a:solidFill>
                  <a:srgbClr val="FF0000"/>
                </a:solidFill>
                <a:latin typeface="宋体" panose="02010600030101010101" pitchFamily="2" charset="-122"/>
                <a:ea typeface="宋体" panose="02010600030101010101" pitchFamily="2" charset="-122"/>
              </a:rPr>
              <a:t>、</a:t>
            </a:r>
            <a:r>
              <a:rPr lang="en-US" altLang="zh-CN" sz="2800" b="1" dirty="0">
                <a:solidFill>
                  <a:srgbClr val="FF0000"/>
                </a:solidFill>
                <a:latin typeface="宋体" panose="02010600030101010101" pitchFamily="2" charset="-122"/>
                <a:ea typeface="宋体" panose="02010600030101010101" pitchFamily="2" charset="-122"/>
              </a:rPr>
              <a:t>next ( )</a:t>
            </a:r>
            <a:r>
              <a:rPr lang="zh-CN" altLang="en-US" sz="2800" b="1" dirty="0">
                <a:latin typeface="宋体" panose="02010600030101010101" pitchFamily="2" charset="-122"/>
                <a:ea typeface="宋体" panose="02010600030101010101" pitchFamily="2" charset="-122"/>
              </a:rPr>
              <a:t>等，当这些方法执行时，程序的运行将发生中断，当数据输入后，才可以继续进行。</a:t>
            </a:r>
            <a:endParaRPr lang="en-US" altLang="zh-CN" sz="2800" b="1" dirty="0">
              <a:latin typeface="宋体" panose="02010600030101010101" pitchFamily="2" charset="-122"/>
              <a:ea typeface="宋体" panose="02010600030101010101" pitchFamily="2" charset="-122"/>
            </a:endParaRPr>
          </a:p>
          <a:p>
            <a:pPr marL="0" indent="353060">
              <a:buNone/>
            </a:pPr>
            <a:r>
              <a:rPr lang="en-US" altLang="zh-CN" sz="2800" b="1" dirty="0">
                <a:solidFill>
                  <a:srgbClr val="FF0000"/>
                </a:solidFill>
                <a:latin typeface="宋体" panose="02010600030101010101" pitchFamily="2" charset="-122"/>
                <a:ea typeface="宋体" panose="02010600030101010101" pitchFamily="2" charset="-122"/>
              </a:rPr>
              <a:t>import </a:t>
            </a:r>
            <a:r>
              <a:rPr lang="en-US" altLang="zh-CN" sz="2800" b="1" dirty="0" err="1">
                <a:solidFill>
                  <a:srgbClr val="FF0000"/>
                </a:solidFill>
                <a:latin typeface="宋体" panose="02010600030101010101" pitchFamily="2" charset="-122"/>
                <a:ea typeface="宋体" panose="02010600030101010101" pitchFamily="2" charset="-122"/>
              </a:rPr>
              <a:t>java.util.Scanner</a:t>
            </a:r>
            <a:r>
              <a:rPr lang="en-US" altLang="zh-CN" sz="2800" b="1" dirty="0">
                <a:solidFill>
                  <a:srgbClr val="FF0000"/>
                </a:solidFill>
                <a:latin typeface="宋体" panose="02010600030101010101" pitchFamily="2" charset="-122"/>
                <a:ea typeface="宋体" panose="02010600030101010101" pitchFamily="2" charset="-122"/>
              </a:rPr>
              <a:t>;</a:t>
            </a:r>
            <a:endParaRPr lang="zh-CN" altLang="en-US" sz="2800" b="1" dirty="0">
              <a:solidFill>
                <a:srgbClr val="FF0000"/>
              </a:solidFill>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21507" name="标题 2"/>
          <p:cNvSpPr>
            <a:spLocks noGrp="1"/>
          </p:cNvSpPr>
          <p:nvPr>
            <p:ph type="title" idx="4294967295"/>
          </p:nvPr>
        </p:nvSpPr>
        <p:spPr>
          <a:xfrm>
            <a:off x="2970538" y="190386"/>
            <a:ext cx="8147318" cy="914055"/>
          </a:xfrm>
        </p:spPr>
        <p:txBody>
          <a:bodyPr/>
          <a:lstStyle/>
          <a:p>
            <a:r>
              <a:rPr lang="en-US" altLang="zh-CN" dirty="0"/>
              <a:t>2.4  Java</a:t>
            </a:r>
            <a:r>
              <a:rPr lang="zh-CN" altLang="en-US" dirty="0"/>
              <a:t>的输入输出</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30">
                                            <p:txEl>
                                              <p:pRg st="3" end="3"/>
                                            </p:txEl>
                                          </p:spTgt>
                                        </p:tgtEl>
                                        <p:attrNameLst>
                                          <p:attrName>style.visibility</p:attrName>
                                        </p:attrNameLst>
                                      </p:cBhvr>
                                      <p:to>
                                        <p:strVal val="visible"/>
                                      </p:to>
                                    </p:set>
                                    <p:animEffect transition="in" filter="blinds(horizontal)">
                                      <p:cBhvr>
                                        <p:cTn id="7" dur="500"/>
                                        <p:tgtEl>
                                          <p:spTgt spid="22530">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0">
                                            <p:txEl>
                                              <p:pRg st="4" end="4"/>
                                            </p:txEl>
                                          </p:spTgt>
                                        </p:tgtEl>
                                        <p:attrNameLst>
                                          <p:attrName>style.visibility</p:attrName>
                                        </p:attrNameLst>
                                      </p:cBhvr>
                                      <p:to>
                                        <p:strVal val="visible"/>
                                      </p:to>
                                    </p:set>
                                    <p:animEffect transition="in" filter="blinds(horizontal)">
                                      <p:cBhvr>
                                        <p:cTn id="12" dur="500"/>
                                        <p:tgtEl>
                                          <p:spTgt spid="225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1"/>
          <p:cNvSpPr>
            <a:spLocks noGrp="1"/>
          </p:cNvSpPr>
          <p:nvPr>
            <p:ph idx="4294967295"/>
          </p:nvPr>
        </p:nvSpPr>
        <p:spPr>
          <a:xfrm>
            <a:off x="388919" y="1117294"/>
            <a:ext cx="11241105" cy="4170917"/>
          </a:xfrm>
        </p:spPr>
        <p:txBody>
          <a:bodyPr>
            <a:normAutofit/>
          </a:bodyPr>
          <a:lstStyle/>
          <a:p>
            <a:pPr marL="0" indent="353060">
              <a:buNone/>
            </a:pP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例</a:t>
            </a:r>
            <a:r>
              <a:rPr lang="en-US" altLang="zh-CN" sz="2800" b="1" dirty="0">
                <a:latin typeface="宋体" panose="02010600030101010101" pitchFamily="2" charset="-122"/>
                <a:ea typeface="宋体" panose="02010600030101010101" pitchFamily="2" charset="-122"/>
              </a:rPr>
              <a:t>2.1】</a:t>
            </a:r>
            <a:r>
              <a:rPr lang="zh-CN" altLang="en-US" sz="2800" b="1" dirty="0">
                <a:latin typeface="宋体" panose="02010600030101010101" pitchFamily="2" charset="-122"/>
                <a:ea typeface="宋体" panose="02010600030101010101" pitchFamily="2" charset="-122"/>
              </a:rPr>
              <a:t>从终端分别输入一个整型数据和一个</a:t>
            </a:r>
            <a:r>
              <a:rPr lang="en-US" altLang="zh-CN" sz="2800" b="1" dirty="0">
                <a:latin typeface="宋体" panose="02010600030101010101" pitchFamily="2" charset="-122"/>
                <a:ea typeface="宋体" panose="02010600030101010101" pitchFamily="2" charset="-122"/>
              </a:rPr>
              <a:t>double</a:t>
            </a:r>
            <a:r>
              <a:rPr lang="zh-CN" altLang="en-US" sz="2800" b="1" dirty="0">
                <a:latin typeface="宋体" panose="02010600030101010101" pitchFamily="2" charset="-122"/>
                <a:ea typeface="宋体" panose="02010600030101010101" pitchFamily="2" charset="-122"/>
              </a:rPr>
              <a:t>型的数据，并且进行输出。</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3" name="标题 2"/>
          <p:cNvSpPr txBox="1"/>
          <p:nvPr/>
        </p:nvSpPr>
        <p:spPr>
          <a:xfrm>
            <a:off x="2970538" y="190386"/>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a:t>2.4  Java</a:t>
            </a:r>
            <a:r>
              <a:rPr lang="zh-CN" altLang="en-US"/>
              <a:t>的输入输出</a:t>
            </a:r>
            <a:endParaRPr lang="zh-CN" altLang="en-US" dirty="0"/>
          </a:p>
        </p:txBody>
      </p:sp>
      <p:sp>
        <p:nvSpPr>
          <p:cNvPr id="4" name="内容占位符 1"/>
          <p:cNvSpPr txBox="1"/>
          <p:nvPr/>
        </p:nvSpPr>
        <p:spPr>
          <a:xfrm>
            <a:off x="388919" y="2048564"/>
            <a:ext cx="11069656" cy="35902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685800" indent="-179705"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11430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6pPr>
            <a:lvl7pPr marL="16002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8pPr>
            <a:lvl9pPr marL="1877695" indent="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None/>
              <a:defRPr sz="1400" kern="1200">
                <a:solidFill>
                  <a:schemeClr val="tx1"/>
                </a:solidFill>
                <a:latin typeface="+mn-lt"/>
                <a:ea typeface="+mn-ea"/>
                <a:cs typeface="+mn-cs"/>
              </a:defRPr>
            </a:lvl9pPr>
          </a:lstStyle>
          <a:p>
            <a:pPr marL="0" indent="353060">
              <a:buFont typeface="Arial" panose="020B0604020202020204" pitchFamily="34" charset="0"/>
              <a:buNone/>
            </a:pP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例</a:t>
            </a:r>
            <a:r>
              <a:rPr lang="en-US" altLang="zh-CN" sz="2800" b="1" dirty="0">
                <a:latin typeface="宋体" panose="02010600030101010101" pitchFamily="2" charset="-122"/>
                <a:ea typeface="宋体" panose="02010600030101010101" pitchFamily="2" charset="-122"/>
              </a:rPr>
              <a:t>2.2】</a:t>
            </a:r>
            <a:r>
              <a:rPr lang="zh-CN" altLang="en-US" sz="2800" b="1" dirty="0">
                <a:latin typeface="宋体" panose="02010600030101010101" pitchFamily="2" charset="-122"/>
                <a:ea typeface="宋体" panose="02010600030101010101" pitchFamily="2" charset="-122"/>
              </a:rPr>
              <a:t>从终端分别输入一个整型数据和一个</a:t>
            </a:r>
            <a:r>
              <a:rPr lang="en-US" altLang="zh-CN" sz="2800" b="1" dirty="0">
                <a:latin typeface="宋体" panose="02010600030101010101" pitchFamily="2" charset="-122"/>
                <a:ea typeface="宋体" panose="02010600030101010101" pitchFamily="2" charset="-122"/>
              </a:rPr>
              <a:t>double</a:t>
            </a:r>
            <a:r>
              <a:rPr lang="zh-CN" altLang="en-US" sz="2800" b="1" dirty="0">
                <a:latin typeface="宋体" panose="02010600030101010101" pitchFamily="2" charset="-122"/>
                <a:ea typeface="宋体" panose="02010600030101010101" pitchFamily="2" charset="-122"/>
              </a:rPr>
              <a:t>型的数据，如果输入有误，需要输出判断信息。</a:t>
            </a:r>
            <a:endParaRPr lang="en-US" altLang="zh-CN" sz="2800" b="1" dirty="0">
              <a:latin typeface="宋体" panose="02010600030101010101" pitchFamily="2" charset="-122"/>
              <a:ea typeface="宋体" panose="02010600030101010101" pitchFamily="2" charset="-122"/>
            </a:endParaRPr>
          </a:p>
          <a:p>
            <a:pPr marL="0" indent="0">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练习：</a:t>
            </a:r>
            <a:endParaRPr lang="en-US" altLang="zh-CN" sz="2800" b="1" dirty="0">
              <a:latin typeface="宋体" panose="02010600030101010101" pitchFamily="2" charset="-122"/>
              <a:ea typeface="宋体" panose="02010600030101010101" pitchFamily="2" charset="-122"/>
            </a:endParaRPr>
          </a:p>
          <a:p>
            <a:pPr marL="0" indent="353060" fontAlgn="auto">
              <a:lnSpc>
                <a:spcPct val="100000"/>
              </a:lnSpc>
              <a:buFont typeface="Arial" panose="020B0604020202020204" pitchFamily="34" charset="0"/>
              <a:buNone/>
            </a:pP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a:t>
            </a:r>
            <a:r>
              <a:rPr lang="zh-CN" altLang="zh-CN" sz="2800" b="1" dirty="0">
                <a:latin typeface="宋体" panose="02010600030101010101" pitchFamily="2" charset="-122"/>
                <a:ea typeface="宋体" panose="02010600030101010101" pitchFamily="2" charset="-122"/>
              </a:rPr>
              <a:t>编写一个</a:t>
            </a:r>
            <a:r>
              <a:rPr lang="en-US" altLang="zh-CN" sz="2800" b="1" dirty="0">
                <a:latin typeface="宋体" panose="02010600030101010101" pitchFamily="2" charset="-122"/>
                <a:ea typeface="宋体" panose="02010600030101010101" pitchFamily="2" charset="-122"/>
              </a:rPr>
              <a:t>Java</a:t>
            </a:r>
            <a:r>
              <a:rPr lang="zh-CN" altLang="zh-CN" sz="2800" b="1" dirty="0">
                <a:latin typeface="宋体" panose="02010600030101010101" pitchFamily="2" charset="-122"/>
                <a:ea typeface="宋体" panose="02010600030101010101" pitchFamily="2" charset="-122"/>
              </a:rPr>
              <a:t>应用程序，要求从键盘输入两个整数，计算这两个数据之和，并输出。</a:t>
            </a:r>
            <a:endParaRPr lang="zh-CN" altLang="zh-CN" sz="2800" b="1" dirty="0">
              <a:latin typeface="宋体" panose="02010600030101010101" pitchFamily="2" charset="-122"/>
              <a:ea typeface="宋体" panose="02010600030101010101" pitchFamily="2" charset="-122"/>
            </a:endParaRPr>
          </a:p>
          <a:p>
            <a:pPr marL="0" indent="353060" fontAlgn="auto">
              <a:lnSpc>
                <a:spcPct val="100000"/>
              </a:lnSpc>
              <a:buFont typeface="Arial" panose="020B0604020202020204" pitchFamily="34" charset="0"/>
              <a:buNone/>
            </a:pPr>
            <a:r>
              <a:rPr lang="zh-CN" altLang="zh-CN" sz="2800" b="1" dirty="0">
                <a:latin typeface="宋体" panose="02010600030101010101" pitchFamily="2" charset="-122"/>
                <a:ea typeface="宋体" panose="02010600030101010101" pitchFamily="2" charset="-122"/>
              </a:rPr>
              <a:t>思考：如何输入字符串？</a:t>
            </a:r>
            <a:endParaRPr lang="zh-CN" altLang="zh-CN" sz="2800" b="1" dirty="0">
              <a:latin typeface="宋体" panose="02010600030101010101" pitchFamily="2" charset="-122"/>
              <a:ea typeface="宋体" panose="02010600030101010101" pitchFamily="2" charset="-122"/>
            </a:endParaRPr>
          </a:p>
          <a:p>
            <a:pPr marL="0" indent="353060">
              <a:buFont typeface="Arial" panose="020B0604020202020204" pitchFamily="34" charset="0"/>
              <a:buNone/>
            </a:pPr>
            <a:endParaRPr lang="zh-CN" altLang="en-US" sz="28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内容占位符 1"/>
          <p:cNvSpPr>
            <a:spLocks noGrp="1"/>
          </p:cNvSpPr>
          <p:nvPr>
            <p:ph idx="4294967295"/>
          </p:nvPr>
        </p:nvSpPr>
        <p:spPr>
          <a:xfrm>
            <a:off x="819150" y="2014220"/>
            <a:ext cx="10429875" cy="2150110"/>
          </a:xfrm>
        </p:spPr>
        <p:txBody>
          <a:bodyPr>
            <a:normAutofit/>
          </a:bodyPr>
          <a:lstStyle/>
          <a:p>
            <a:pPr marL="0" indent="353060" fontAlgn="auto">
              <a:lnSpc>
                <a:spcPct val="150000"/>
              </a:lnSpc>
              <a:buNone/>
            </a:pPr>
            <a:r>
              <a:rPr lang="zh-CN" altLang="en-US" sz="2800" b="1" dirty="0">
                <a:latin typeface="宋体" panose="02010600030101010101" pitchFamily="2" charset="-122"/>
                <a:ea typeface="宋体" panose="02010600030101010101" pitchFamily="2" charset="-122"/>
              </a:rPr>
              <a:t>控制台输出语句是由</a:t>
            </a:r>
            <a:r>
              <a:rPr lang="en-US" altLang="zh-CN" sz="2800" b="1" dirty="0">
                <a:latin typeface="宋体" panose="02010600030101010101" pitchFamily="2" charset="-122"/>
                <a:ea typeface="宋体" panose="02010600030101010101" pitchFamily="2" charset="-122"/>
              </a:rPr>
              <a:t>System</a:t>
            </a:r>
            <a:r>
              <a:rPr lang="zh-CN" altLang="en-US" sz="2800" b="1" dirty="0">
                <a:latin typeface="宋体" panose="02010600030101010101" pitchFamily="2" charset="-122"/>
                <a:ea typeface="宋体" panose="02010600030101010101" pitchFamily="2" charset="-122"/>
              </a:rPr>
              <a:t>类的</a:t>
            </a:r>
            <a:r>
              <a:rPr lang="en-US" altLang="zh-CN" sz="2800" b="1" dirty="0">
                <a:latin typeface="宋体" panose="02010600030101010101" pitchFamily="2" charset="-122"/>
                <a:ea typeface="宋体" panose="02010600030101010101" pitchFamily="2" charset="-122"/>
              </a:rPr>
              <a:t>out</a:t>
            </a:r>
            <a:r>
              <a:rPr lang="zh-CN" altLang="en-US" sz="2800" b="1" dirty="0">
                <a:latin typeface="宋体" panose="02010600030101010101" pitchFamily="2" charset="-122"/>
                <a:ea typeface="宋体" panose="02010600030101010101" pitchFamily="2" charset="-122"/>
              </a:rPr>
              <a:t>流来实现的，</a:t>
            </a:r>
            <a:r>
              <a:rPr lang="en-US" altLang="zh-CN" sz="2800" b="1" dirty="0" err="1">
                <a:solidFill>
                  <a:srgbClr val="FF0000"/>
                </a:solidFill>
                <a:latin typeface="宋体" panose="02010600030101010101" pitchFamily="2" charset="-122"/>
                <a:ea typeface="宋体" panose="02010600030101010101" pitchFamily="2" charset="-122"/>
              </a:rPr>
              <a:t>System.out</a:t>
            </a:r>
            <a:r>
              <a:rPr lang="zh-CN" altLang="en-US" sz="2800" b="1" dirty="0">
                <a:latin typeface="宋体" panose="02010600030101010101" pitchFamily="2" charset="-122"/>
                <a:ea typeface="宋体" panose="02010600030101010101" pitchFamily="2" charset="-122"/>
              </a:rPr>
              <a:t>提供了多个输出方法，控制台输出方法主要由</a:t>
            </a:r>
            <a:r>
              <a:rPr lang="en-US" altLang="zh-CN" sz="2800" b="1" dirty="0">
                <a:solidFill>
                  <a:srgbClr val="FF0000"/>
                </a:solidFill>
                <a:latin typeface="宋体" panose="02010600030101010101" pitchFamily="2" charset="-122"/>
                <a:ea typeface="宋体" panose="02010600030101010101" pitchFamily="2" charset="-122"/>
              </a:rPr>
              <a:t>print</a:t>
            </a:r>
            <a:r>
              <a:rPr lang="zh-CN" altLang="en-US" sz="2800" b="1" dirty="0">
                <a:solidFill>
                  <a:srgbClr val="FF0000"/>
                </a:solidFill>
                <a:latin typeface="宋体" panose="02010600030101010101" pitchFamily="2" charset="-122"/>
                <a:ea typeface="宋体" panose="02010600030101010101" pitchFamily="2" charset="-122"/>
              </a:rPr>
              <a:t>方法</a:t>
            </a:r>
            <a:r>
              <a:rPr lang="zh-CN" altLang="en-US" sz="2800" b="1" dirty="0">
                <a:latin typeface="宋体" panose="02010600030101010101" pitchFamily="2" charset="-122"/>
                <a:ea typeface="宋体" panose="02010600030101010101" pitchFamily="2" charset="-122"/>
              </a:rPr>
              <a:t>和</a:t>
            </a:r>
            <a:r>
              <a:rPr lang="en-US" altLang="zh-CN" sz="2800" b="1" dirty="0" err="1">
                <a:solidFill>
                  <a:srgbClr val="FF0000"/>
                </a:solidFill>
                <a:latin typeface="宋体" panose="02010600030101010101" pitchFamily="2" charset="-122"/>
                <a:ea typeface="宋体" panose="02010600030101010101" pitchFamily="2" charset="-122"/>
              </a:rPr>
              <a:t>println</a:t>
            </a:r>
            <a:r>
              <a:rPr lang="zh-CN" altLang="en-US" sz="2800" b="1" dirty="0">
                <a:latin typeface="宋体" panose="02010600030101010101" pitchFamily="2" charset="-122"/>
                <a:ea typeface="宋体" panose="02010600030101010101" pitchFamily="2" charset="-122"/>
              </a:rPr>
              <a:t>方法实现，前者输出后不换行，后者输出后换行。</a:t>
            </a:r>
            <a:endParaRPr lang="en-US" altLang="zh-CN" sz="2800" b="1" dirty="0">
              <a:latin typeface="宋体" panose="02010600030101010101" pitchFamily="2" charset="-122"/>
              <a:ea typeface="宋体" panose="02010600030101010101" pitchFamily="2" charset="-122"/>
            </a:endParaRPr>
          </a:p>
          <a:p>
            <a:pPr marL="0" indent="353060">
              <a:buNone/>
            </a:pPr>
            <a:endParaRPr lang="en-US" altLang="zh-CN" sz="2800" b="1" dirty="0">
              <a:latin typeface="宋体" panose="02010600030101010101" pitchFamily="2" charset="-122"/>
              <a:ea typeface="宋体" panose="02010600030101010101" pitchFamily="2" charset="-122"/>
            </a:endParaRPr>
          </a:p>
        </p:txBody>
      </p:sp>
      <p:sp>
        <p:nvSpPr>
          <p:cNvPr id="24579" name="标题 2"/>
          <p:cNvSpPr>
            <a:spLocks noGrp="1"/>
          </p:cNvSpPr>
          <p:nvPr>
            <p:ph type="title" idx="4294967295"/>
          </p:nvPr>
        </p:nvSpPr>
        <p:spPr>
          <a:xfrm>
            <a:off x="646438" y="971436"/>
            <a:ext cx="8147318" cy="914055"/>
          </a:xfrm>
        </p:spPr>
        <p:txBody>
          <a:bodyPr/>
          <a:lstStyle/>
          <a:p>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、控制台输出语句</a:t>
            </a:r>
            <a:endParaRPr lang="zh-CN" altLang="en-US" dirty="0">
              <a:latin typeface="宋体" panose="02010600030101010101" pitchFamily="2" charset="-122"/>
              <a:ea typeface="宋体" panose="02010600030101010101" pitchFamily="2" charset="-122"/>
            </a:endParaRPr>
          </a:p>
        </p:txBody>
      </p:sp>
      <p:sp>
        <p:nvSpPr>
          <p:cNvPr id="4" name="标题 2"/>
          <p:cNvSpPr txBox="1"/>
          <p:nvPr/>
        </p:nvSpPr>
        <p:spPr>
          <a:xfrm>
            <a:off x="3398244" y="215688"/>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t>2.4  Java</a:t>
            </a:r>
            <a:r>
              <a:rPr lang="zh-CN" altLang="en-US" dirty="0"/>
              <a:t>的输入输出</a:t>
            </a:r>
            <a:endParaRPr lang="zh-CN" altLang="en-US" dirty="0"/>
          </a:p>
        </p:txBody>
      </p:sp>
      <p:sp>
        <p:nvSpPr>
          <p:cNvPr id="2" name="文本框 1"/>
          <p:cNvSpPr txBox="1"/>
          <p:nvPr/>
        </p:nvSpPr>
        <p:spPr>
          <a:xfrm>
            <a:off x="1020445" y="4772660"/>
            <a:ext cx="3907790" cy="1322070"/>
          </a:xfrm>
          <a:prstGeom prst="rect">
            <a:avLst/>
          </a:prstGeom>
          <a:noFill/>
        </p:spPr>
        <p:txBody>
          <a:bodyPr wrap="square" rtlCol="0">
            <a:spAutoFit/>
          </a:bodyPr>
          <a:p>
            <a:r>
              <a:rPr lang="en-US" altLang="zh-CN" sz="2000">
                <a:solidFill>
                  <a:srgbClr val="1D41D5"/>
                </a:solidFill>
              </a:rPr>
              <a:t>int  myInt = 1234;</a:t>
            </a:r>
            <a:endParaRPr lang="en-US" altLang="zh-CN" sz="2000">
              <a:solidFill>
                <a:srgbClr val="1D41D5"/>
              </a:solidFill>
            </a:endParaRPr>
          </a:p>
          <a:p>
            <a:r>
              <a:rPr lang="en-US" altLang="zh-CN" sz="2000">
                <a:solidFill>
                  <a:srgbClr val="1D41D5"/>
                </a:solidFill>
              </a:rPr>
              <a:t>String  myString = “”+myInt;</a:t>
            </a:r>
            <a:endParaRPr lang="en-US" altLang="zh-CN" sz="2000">
              <a:solidFill>
                <a:srgbClr val="1D41D5"/>
              </a:solidFill>
            </a:endParaRPr>
          </a:p>
          <a:p>
            <a:r>
              <a:rPr lang="zh-CN" altLang="en-US" sz="2000">
                <a:solidFill>
                  <a:srgbClr val="1D41D5"/>
                </a:solidFill>
              </a:rPr>
              <a:t>试输出两个变量</a:t>
            </a:r>
            <a:endParaRPr lang="en-US" altLang="zh-CN" sz="2000">
              <a:solidFill>
                <a:srgbClr val="1D41D5"/>
              </a:solidFill>
            </a:endParaRPr>
          </a:p>
          <a:p>
            <a:endParaRPr lang="en-US" altLang="zh-CN" sz="2000">
              <a:solidFill>
                <a:srgbClr val="1D41D5"/>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1"/>
          <p:cNvSpPr>
            <a:spLocks noGrp="1"/>
          </p:cNvSpPr>
          <p:nvPr>
            <p:ph idx="4294967295"/>
          </p:nvPr>
        </p:nvSpPr>
        <p:spPr>
          <a:xfrm>
            <a:off x="825576" y="1648629"/>
            <a:ext cx="10566324" cy="4170918"/>
          </a:xfrm>
        </p:spPr>
        <p:txBody>
          <a:bodyPr>
            <a:noAutofit/>
          </a:bodyPr>
          <a:lstStyle/>
          <a:p>
            <a:pPr marL="0" indent="353060">
              <a:buNone/>
            </a:pPr>
            <a:r>
              <a:rPr lang="en-US" altLang="zh-CN" sz="2800" b="1" dirty="0">
                <a:latin typeface="宋体" panose="02010600030101010101" pitchFamily="2" charset="-122"/>
                <a:ea typeface="宋体" panose="02010600030101010101" pitchFamily="2" charset="-122"/>
              </a:rPr>
              <a:t>Java</a:t>
            </a:r>
            <a:r>
              <a:rPr lang="zh-CN" altLang="en-US" sz="2800" b="1" dirty="0">
                <a:latin typeface="宋体" panose="02010600030101010101" pitchFamily="2" charset="-122"/>
                <a:ea typeface="宋体" panose="02010600030101010101" pitchFamily="2" charset="-122"/>
              </a:rPr>
              <a:t>会在下列的条件皆成立时，自动做数据类型的转换：</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 转换前的数据类型与转换后的类型兼容。</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 转换后的数据类型的表示范围比转换前的类型大。</a:t>
            </a:r>
            <a:endParaRPr lang="zh-CN" altLang="en-US" sz="2800" b="1" dirty="0">
              <a:latin typeface="宋体" panose="02010600030101010101" pitchFamily="2" charset="-122"/>
              <a:ea typeface="宋体" panose="02010600030101010101" pitchFamily="2" charset="-122"/>
            </a:endParaRPr>
          </a:p>
          <a:p>
            <a:pPr marL="0" indent="353060">
              <a:buNone/>
            </a:pPr>
            <a:endParaRPr lang="en-US" altLang="zh-CN" sz="2800" b="1" dirty="0">
              <a:latin typeface="宋体" panose="02010600030101010101" pitchFamily="2" charset="-122"/>
              <a:ea typeface="宋体" panose="02010600030101010101" pitchFamily="2" charset="-122"/>
            </a:endParaRPr>
          </a:p>
          <a:p>
            <a:pPr marL="0" indent="353060">
              <a:buNone/>
            </a:pPr>
            <a:r>
              <a:rPr lang="zh-CN" altLang="en-US" sz="2800" b="1" dirty="0">
                <a:solidFill>
                  <a:srgbClr val="0066FF"/>
                </a:solidFill>
                <a:latin typeface="宋体" panose="02010600030101010101" pitchFamily="2" charset="-122"/>
                <a:ea typeface="宋体" panose="02010600030101010101" pitchFamily="2" charset="-122"/>
              </a:rPr>
              <a:t>为了保证精度，转换需从“短”到“长”，其优先关系为：</a:t>
            </a:r>
            <a:endParaRPr lang="zh-CN" altLang="en-US" sz="2800" b="1" dirty="0">
              <a:solidFill>
                <a:srgbClr val="0066FF"/>
              </a:solidFill>
              <a:latin typeface="宋体" panose="02010600030101010101" pitchFamily="2" charset="-122"/>
              <a:ea typeface="宋体" panose="02010600030101010101" pitchFamily="2" charset="-122"/>
            </a:endParaRPr>
          </a:p>
          <a:p>
            <a:pPr marL="0" indent="353060">
              <a:buNone/>
            </a:pPr>
            <a:r>
              <a:rPr lang="en-US" altLang="zh-CN" sz="2800" b="1" dirty="0">
                <a:solidFill>
                  <a:srgbClr val="0066FF"/>
                </a:solidFill>
                <a:latin typeface="宋体" panose="02010600030101010101" pitchFamily="2" charset="-122"/>
                <a:ea typeface="宋体" panose="02010600030101010101" pitchFamily="2" charset="-122"/>
              </a:rPr>
              <a:t>byte</a:t>
            </a:r>
            <a:r>
              <a:rPr lang="zh-CN" altLang="en-US" sz="2800" b="1" dirty="0">
                <a:solidFill>
                  <a:srgbClr val="0066FF"/>
                </a:solidFill>
                <a:latin typeface="宋体" panose="02010600030101010101" pitchFamily="2" charset="-122"/>
                <a:ea typeface="宋体" panose="02010600030101010101" pitchFamily="2" charset="-122"/>
              </a:rPr>
              <a:t>→</a:t>
            </a:r>
            <a:r>
              <a:rPr lang="en-US" altLang="zh-CN" sz="2800" b="1" dirty="0">
                <a:solidFill>
                  <a:srgbClr val="0066FF"/>
                </a:solidFill>
                <a:latin typeface="宋体" panose="02010600030101010101" pitchFamily="2" charset="-122"/>
                <a:ea typeface="宋体" panose="02010600030101010101" pitchFamily="2" charset="-122"/>
              </a:rPr>
              <a:t>short</a:t>
            </a:r>
            <a:r>
              <a:rPr lang="zh-CN" altLang="en-US" sz="2800" b="1" dirty="0">
                <a:solidFill>
                  <a:srgbClr val="0066FF"/>
                </a:solidFill>
                <a:latin typeface="宋体" panose="02010600030101010101" pitchFamily="2" charset="-122"/>
                <a:ea typeface="宋体" panose="02010600030101010101" pitchFamily="2" charset="-122"/>
              </a:rPr>
              <a:t>→</a:t>
            </a:r>
            <a:r>
              <a:rPr lang="en-US" altLang="zh-CN" sz="2800" b="1" dirty="0">
                <a:solidFill>
                  <a:srgbClr val="0066FF"/>
                </a:solidFill>
                <a:latin typeface="宋体" panose="02010600030101010101" pitchFamily="2" charset="-122"/>
                <a:ea typeface="宋体" panose="02010600030101010101" pitchFamily="2" charset="-122"/>
              </a:rPr>
              <a:t>char</a:t>
            </a:r>
            <a:r>
              <a:rPr lang="zh-CN" altLang="en-US" sz="2800" b="1" dirty="0">
                <a:solidFill>
                  <a:srgbClr val="0066FF"/>
                </a:solidFill>
                <a:latin typeface="宋体" panose="02010600030101010101" pitchFamily="2" charset="-122"/>
                <a:ea typeface="宋体" panose="02010600030101010101" pitchFamily="2" charset="-122"/>
              </a:rPr>
              <a:t>→</a:t>
            </a:r>
            <a:r>
              <a:rPr lang="en-US" altLang="zh-CN" sz="2800" b="1" dirty="0">
                <a:solidFill>
                  <a:srgbClr val="0066FF"/>
                </a:solidFill>
                <a:latin typeface="宋体" panose="02010600030101010101" pitchFamily="2" charset="-122"/>
                <a:ea typeface="宋体" panose="02010600030101010101" pitchFamily="2" charset="-122"/>
              </a:rPr>
              <a:t>int</a:t>
            </a:r>
            <a:r>
              <a:rPr lang="zh-CN" altLang="en-US" sz="2800" b="1" dirty="0">
                <a:solidFill>
                  <a:srgbClr val="0066FF"/>
                </a:solidFill>
                <a:latin typeface="宋体" panose="02010600030101010101" pitchFamily="2" charset="-122"/>
                <a:ea typeface="宋体" panose="02010600030101010101" pitchFamily="2" charset="-122"/>
              </a:rPr>
              <a:t>→</a:t>
            </a:r>
            <a:r>
              <a:rPr lang="en-US" altLang="zh-CN" sz="2800" b="1" dirty="0">
                <a:solidFill>
                  <a:srgbClr val="0066FF"/>
                </a:solidFill>
                <a:latin typeface="宋体" panose="02010600030101010101" pitchFamily="2" charset="-122"/>
                <a:ea typeface="宋体" panose="02010600030101010101" pitchFamily="2" charset="-122"/>
              </a:rPr>
              <a:t>long</a:t>
            </a:r>
            <a:r>
              <a:rPr lang="zh-CN" altLang="en-US" sz="2800" b="1" dirty="0">
                <a:solidFill>
                  <a:srgbClr val="0066FF"/>
                </a:solidFill>
                <a:latin typeface="宋体" panose="02010600030101010101" pitchFamily="2" charset="-122"/>
                <a:ea typeface="宋体" panose="02010600030101010101" pitchFamily="2" charset="-122"/>
              </a:rPr>
              <a:t>→</a:t>
            </a:r>
            <a:r>
              <a:rPr lang="en-US" altLang="zh-CN" sz="2800" b="1" dirty="0">
                <a:solidFill>
                  <a:srgbClr val="0066FF"/>
                </a:solidFill>
                <a:latin typeface="宋体" panose="02010600030101010101" pitchFamily="2" charset="-122"/>
                <a:ea typeface="宋体" panose="02010600030101010101" pitchFamily="2" charset="-122"/>
              </a:rPr>
              <a:t>float</a:t>
            </a:r>
            <a:r>
              <a:rPr lang="zh-CN" altLang="en-US" sz="2800" b="1" dirty="0">
                <a:solidFill>
                  <a:srgbClr val="0066FF"/>
                </a:solidFill>
                <a:latin typeface="宋体" panose="02010600030101010101" pitchFamily="2" charset="-122"/>
                <a:ea typeface="宋体" panose="02010600030101010101" pitchFamily="2" charset="-122"/>
              </a:rPr>
              <a:t>→</a:t>
            </a:r>
            <a:r>
              <a:rPr lang="en-US" altLang="zh-CN" sz="2800" b="1" dirty="0">
                <a:solidFill>
                  <a:srgbClr val="0066FF"/>
                </a:solidFill>
                <a:latin typeface="宋体" panose="02010600030101010101" pitchFamily="2" charset="-122"/>
                <a:ea typeface="宋体" panose="02010600030101010101" pitchFamily="2" charset="-122"/>
              </a:rPr>
              <a:t>double</a:t>
            </a:r>
            <a:r>
              <a:rPr lang="zh-CN" altLang="en-US" sz="2800" b="1" dirty="0">
                <a:solidFill>
                  <a:srgbClr val="0066FF"/>
                </a:solidFill>
                <a:latin typeface="宋体" panose="02010600030101010101" pitchFamily="2" charset="-122"/>
                <a:ea typeface="宋体" panose="02010600030101010101" pitchFamily="2" charset="-122"/>
              </a:rPr>
              <a:t>。</a:t>
            </a:r>
            <a:endParaRPr lang="zh-CN" altLang="en-US" sz="2800" b="1" dirty="0">
              <a:solidFill>
                <a:srgbClr val="0066FF"/>
              </a:solidFill>
              <a:latin typeface="宋体" panose="02010600030101010101" pitchFamily="2" charset="-122"/>
              <a:ea typeface="宋体" panose="02010600030101010101" pitchFamily="2" charset="-122"/>
            </a:endParaRPr>
          </a:p>
        </p:txBody>
      </p:sp>
      <p:sp>
        <p:nvSpPr>
          <p:cNvPr id="25603" name="标题 2"/>
          <p:cNvSpPr>
            <a:spLocks noGrp="1"/>
          </p:cNvSpPr>
          <p:nvPr>
            <p:ph type="title" idx="4294967295"/>
          </p:nvPr>
        </p:nvSpPr>
        <p:spPr>
          <a:xfrm>
            <a:off x="1570363" y="48198"/>
            <a:ext cx="8147318" cy="914055"/>
          </a:xfrm>
        </p:spPr>
        <p:txBody>
          <a:bodyPr>
            <a:normAutofit/>
          </a:bodyPr>
          <a:lstStyle/>
          <a:p>
            <a:pPr algn="ctr"/>
            <a:r>
              <a:rPr lang="en-US" altLang="zh-CN" sz="3685" dirty="0"/>
              <a:t>2.5 </a:t>
            </a:r>
            <a:r>
              <a:rPr lang="zh-CN" altLang="en-US" sz="3685" dirty="0"/>
              <a:t>数据类型转换</a:t>
            </a:r>
            <a:endParaRPr lang="zh-CN" altLang="en-US" sz="3685" dirty="0"/>
          </a:p>
        </p:txBody>
      </p:sp>
      <p:sp>
        <p:nvSpPr>
          <p:cNvPr id="2" name="矩形 1"/>
          <p:cNvSpPr/>
          <p:nvPr/>
        </p:nvSpPr>
        <p:spPr>
          <a:xfrm>
            <a:off x="296842" y="962481"/>
            <a:ext cx="3762568" cy="535531"/>
          </a:xfrm>
          <a:prstGeom prst="rect">
            <a:avLst/>
          </a:prstGeom>
        </p:spPr>
        <p:txBody>
          <a:bodyPr wrap="none">
            <a:spAutoFit/>
          </a:bodyPr>
          <a:lstStyle/>
          <a:p>
            <a:pPr algn="ctr">
              <a:lnSpc>
                <a:spcPct val="90000"/>
              </a:lnSpc>
              <a:spcBef>
                <a:spcPct val="0"/>
              </a:spcBef>
            </a:pPr>
            <a:r>
              <a:rPr lang="en-US" altLang="zh-CN" sz="3200" b="1" dirty="0">
                <a:solidFill>
                  <a:schemeClr val="accent1">
                    <a:lumMod val="75000"/>
                  </a:schemeClr>
                </a:solidFill>
                <a:latin typeface="微软雅黑" panose="020B0503020204020204" pitchFamily="34" charset="-122"/>
                <a:ea typeface="微软雅黑" panose="020B0503020204020204" pitchFamily="34" charset="-122"/>
                <a:cs typeface="+mj-cs"/>
              </a:rPr>
              <a:t>2.5.1 </a:t>
            </a:r>
            <a:r>
              <a:rPr lang="zh-CN" altLang="en-US" sz="3200" b="1" dirty="0">
                <a:solidFill>
                  <a:schemeClr val="accent1">
                    <a:lumMod val="75000"/>
                  </a:schemeClr>
                </a:solidFill>
                <a:latin typeface="微软雅黑" panose="020B0503020204020204" pitchFamily="34" charset="-122"/>
                <a:ea typeface="微软雅黑" panose="020B0503020204020204" pitchFamily="34" charset="-122"/>
                <a:cs typeface="+mj-cs"/>
              </a:rPr>
              <a:t>自动类型转换</a:t>
            </a:r>
            <a:endParaRPr lang="zh-CN" altLang="en-US" sz="3200" b="1" dirty="0">
              <a:solidFill>
                <a:schemeClr val="accent1">
                  <a:lumMod val="75000"/>
                </a:schemeClr>
              </a:solidFill>
              <a:latin typeface="微软雅黑" panose="020B0503020204020204" pitchFamily="34" charset="-122"/>
              <a:ea typeface="微软雅黑" panose="020B0503020204020204" pitchFamily="34" charset="-122"/>
              <a:cs typeface="+mj-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6">
                                            <p:txEl>
                                              <p:pRg st="1" end="1"/>
                                            </p:txEl>
                                          </p:spTgt>
                                        </p:tgtEl>
                                        <p:attrNameLst>
                                          <p:attrName>style.visibility</p:attrName>
                                        </p:attrNameLst>
                                      </p:cBhvr>
                                      <p:to>
                                        <p:strVal val="visible"/>
                                      </p:to>
                                    </p:set>
                                    <p:animEffect transition="in" filter="blinds(horizontal)">
                                      <p:cBhvr>
                                        <p:cTn id="7" dur="500"/>
                                        <p:tgtEl>
                                          <p:spTgt spid="2662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626">
                                            <p:txEl>
                                              <p:pRg st="2" end="2"/>
                                            </p:txEl>
                                          </p:spTgt>
                                        </p:tgtEl>
                                        <p:attrNameLst>
                                          <p:attrName>style.visibility</p:attrName>
                                        </p:attrNameLst>
                                      </p:cBhvr>
                                      <p:to>
                                        <p:strVal val="visible"/>
                                      </p:to>
                                    </p:set>
                                    <p:animEffect transition="in" filter="blinds(horizontal)">
                                      <p:cBhvr>
                                        <p:cTn id="12" dur="500"/>
                                        <p:tgtEl>
                                          <p:spTgt spid="2662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6626">
                                            <p:txEl>
                                              <p:pRg st="4" end="4"/>
                                            </p:txEl>
                                          </p:spTgt>
                                        </p:tgtEl>
                                        <p:attrNameLst>
                                          <p:attrName>style.visibility</p:attrName>
                                        </p:attrNameLst>
                                      </p:cBhvr>
                                      <p:to>
                                        <p:strVal val="visible"/>
                                      </p:to>
                                    </p:set>
                                    <p:animEffect transition="in" filter="blinds(horizontal)">
                                      <p:cBhvr>
                                        <p:cTn id="17" dur="500"/>
                                        <p:tgtEl>
                                          <p:spTgt spid="26626">
                                            <p:txEl>
                                              <p:pRg st="4" end="4"/>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26626">
                                            <p:txEl>
                                              <p:pRg st="5" end="5"/>
                                            </p:txEl>
                                          </p:spTgt>
                                        </p:tgtEl>
                                        <p:attrNameLst>
                                          <p:attrName>style.visibility</p:attrName>
                                        </p:attrNameLst>
                                      </p:cBhvr>
                                      <p:to>
                                        <p:strVal val="visible"/>
                                      </p:to>
                                    </p:set>
                                    <p:animEffect transition="in" filter="blinds(horizontal)">
                                      <p:cBhvr>
                                        <p:cTn id="20" dur="500"/>
                                        <p:tgtEl>
                                          <p:spTgt spid="2662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1"/>
          <p:cNvSpPr>
            <a:spLocks noGrp="1"/>
          </p:cNvSpPr>
          <p:nvPr>
            <p:ph idx="4294967295"/>
          </p:nvPr>
        </p:nvSpPr>
        <p:spPr>
          <a:xfrm>
            <a:off x="342900" y="1343541"/>
            <a:ext cx="11639550" cy="4170918"/>
          </a:xfrm>
        </p:spPr>
        <p:txBody>
          <a:bodyPr>
            <a:noAutofit/>
          </a:bodyPr>
          <a:lstStyle/>
          <a:p>
            <a:pPr marL="0" indent="353060">
              <a:lnSpc>
                <a:spcPct val="120000"/>
              </a:lnSpc>
              <a:buNone/>
            </a:pPr>
            <a:r>
              <a:rPr lang="zh-CN" altLang="en-US" sz="2800" b="1" dirty="0">
                <a:latin typeface="宋体" panose="02010600030101010101" pitchFamily="2" charset="-122"/>
                <a:ea typeface="宋体" panose="02010600030101010101" pitchFamily="2" charset="-122"/>
              </a:rPr>
              <a:t>转换的语法如下：</a:t>
            </a:r>
            <a:endParaRPr lang="zh-CN" altLang="en-US" sz="2800" b="1" dirty="0">
              <a:latin typeface="宋体" panose="02010600030101010101" pitchFamily="2" charset="-122"/>
              <a:ea typeface="宋体" panose="02010600030101010101" pitchFamily="2" charset="-122"/>
            </a:endParaRPr>
          </a:p>
          <a:p>
            <a:pPr marL="0" indent="353060">
              <a:lnSpc>
                <a:spcPct val="120000"/>
              </a:lnSpc>
              <a:buNone/>
            </a:pPr>
            <a:r>
              <a:rPr lang="zh-CN" altLang="en-US" sz="2800" b="1" dirty="0">
                <a:solidFill>
                  <a:srgbClr val="FF0000"/>
                </a:solidFill>
                <a:latin typeface="宋体" panose="02010600030101010101" pitchFamily="2" charset="-122"/>
                <a:ea typeface="宋体" panose="02010600030101010101" pitchFamily="2" charset="-122"/>
              </a:rPr>
              <a:t>（欲转换的数据类型）变量名称；</a:t>
            </a:r>
            <a:endParaRPr lang="en-US" altLang="zh-CN" sz="2800" b="1" dirty="0">
              <a:solidFill>
                <a:srgbClr val="FF0000"/>
              </a:solidFill>
              <a:latin typeface="宋体" panose="02010600030101010101" pitchFamily="2" charset="-122"/>
              <a:ea typeface="宋体" panose="02010600030101010101" pitchFamily="2" charset="-122"/>
            </a:endParaRPr>
          </a:p>
          <a:p>
            <a:pPr marL="0" indent="353060">
              <a:lnSpc>
                <a:spcPct val="120000"/>
              </a:lnSpc>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(float)a/b    // </a:t>
            </a:r>
            <a:r>
              <a:rPr lang="zh-CN" altLang="en-US" sz="2800" b="1" dirty="0">
                <a:latin typeface="宋体" panose="02010600030101010101" pitchFamily="2" charset="-122"/>
                <a:ea typeface="宋体" panose="02010600030101010101" pitchFamily="2" charset="-122"/>
              </a:rPr>
              <a:t>将整数 </a:t>
            </a:r>
            <a:r>
              <a:rPr lang="en-US" altLang="zh-CN" sz="2800" b="1" dirty="0">
                <a:latin typeface="宋体" panose="02010600030101010101" pitchFamily="2" charset="-122"/>
                <a:ea typeface="宋体" panose="02010600030101010101" pitchFamily="2" charset="-122"/>
              </a:rPr>
              <a:t>a </a:t>
            </a:r>
            <a:r>
              <a:rPr lang="zh-CN" altLang="en-US" sz="2800" b="1" dirty="0">
                <a:latin typeface="宋体" panose="02010600030101010101" pitchFamily="2" charset="-122"/>
                <a:ea typeface="宋体" panose="02010600030101010101" pitchFamily="2" charset="-122"/>
              </a:rPr>
              <a:t>强制转换成浮点数，再与整数</a:t>
            </a:r>
            <a:r>
              <a:rPr lang="en-US" altLang="zh-CN" sz="2800" b="1" dirty="0">
                <a:latin typeface="宋体" panose="02010600030101010101" pitchFamily="2" charset="-122"/>
                <a:ea typeface="宋体" panose="02010600030101010101" pitchFamily="2" charset="-122"/>
              </a:rPr>
              <a:t>b</a:t>
            </a:r>
            <a:r>
              <a:rPr lang="zh-CN" altLang="en-US" sz="2800" b="1" dirty="0">
                <a:latin typeface="宋体" panose="02010600030101010101" pitchFamily="2" charset="-122"/>
                <a:ea typeface="宋体" panose="02010600030101010101" pitchFamily="2" charset="-122"/>
              </a:rPr>
              <a:t>相除</a:t>
            </a:r>
            <a:endParaRPr lang="zh-CN" altLang="en-US" sz="2800" b="1" dirty="0">
              <a:latin typeface="宋体" panose="02010600030101010101" pitchFamily="2" charset="-122"/>
              <a:ea typeface="宋体" panose="02010600030101010101" pitchFamily="2" charset="-122"/>
            </a:endParaRPr>
          </a:p>
          <a:p>
            <a:pPr marL="0" indent="353060">
              <a:lnSpc>
                <a:spcPct val="120000"/>
              </a:lnSpc>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a/(float)b    // </a:t>
            </a:r>
            <a:r>
              <a:rPr lang="zh-CN" altLang="en-US" sz="2800" b="1" dirty="0">
                <a:latin typeface="宋体" panose="02010600030101010101" pitchFamily="2" charset="-122"/>
                <a:ea typeface="宋体" panose="02010600030101010101" pitchFamily="2" charset="-122"/>
              </a:rPr>
              <a:t>将整数</a:t>
            </a:r>
            <a:r>
              <a:rPr lang="en-US" altLang="zh-CN" sz="2800" b="1" dirty="0">
                <a:latin typeface="宋体" panose="02010600030101010101" pitchFamily="2" charset="-122"/>
                <a:ea typeface="宋体" panose="02010600030101010101" pitchFamily="2" charset="-122"/>
              </a:rPr>
              <a:t> b </a:t>
            </a:r>
            <a:r>
              <a:rPr lang="zh-CN" altLang="en-US" sz="2800" b="1" dirty="0">
                <a:latin typeface="宋体" panose="02010600030101010101" pitchFamily="2" charset="-122"/>
                <a:ea typeface="宋体" panose="02010600030101010101" pitchFamily="2" charset="-122"/>
              </a:rPr>
              <a:t>强制转换成浮点数，再以整数</a:t>
            </a:r>
            <a:r>
              <a:rPr lang="en-US" altLang="zh-CN" sz="2800" b="1" dirty="0">
                <a:latin typeface="宋体" panose="02010600030101010101" pitchFamily="2" charset="-122"/>
                <a:ea typeface="宋体" panose="02010600030101010101" pitchFamily="2" charset="-122"/>
              </a:rPr>
              <a:t>a</a:t>
            </a:r>
            <a:r>
              <a:rPr lang="zh-CN" altLang="en-US" sz="2800" b="1" dirty="0">
                <a:latin typeface="宋体" panose="02010600030101010101" pitchFamily="2" charset="-122"/>
                <a:ea typeface="宋体" panose="02010600030101010101" pitchFamily="2" charset="-122"/>
              </a:rPr>
              <a:t>除之</a:t>
            </a:r>
            <a:endParaRPr lang="zh-CN" altLang="en-US" sz="2800" b="1" dirty="0">
              <a:latin typeface="宋体" panose="02010600030101010101" pitchFamily="2" charset="-122"/>
              <a:ea typeface="宋体" panose="02010600030101010101" pitchFamily="2" charset="-122"/>
            </a:endParaRPr>
          </a:p>
          <a:p>
            <a:pPr marL="0" indent="353060">
              <a:lnSpc>
                <a:spcPct val="120000"/>
              </a:lnSpc>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(float)a/(float)b    // </a:t>
            </a:r>
            <a:r>
              <a:rPr lang="zh-CN" altLang="en-US" sz="2800" b="1" dirty="0">
                <a:latin typeface="宋体" panose="02010600030101010101" pitchFamily="2" charset="-122"/>
                <a:ea typeface="宋体" panose="02010600030101010101" pitchFamily="2" charset="-122"/>
              </a:rPr>
              <a:t>将整数</a:t>
            </a:r>
            <a:r>
              <a:rPr lang="en-US" altLang="zh-CN" sz="2800" b="1" dirty="0">
                <a:latin typeface="宋体" panose="02010600030101010101" pitchFamily="2" charset="-122"/>
                <a:ea typeface="宋体" panose="02010600030101010101" pitchFamily="2" charset="-122"/>
              </a:rPr>
              <a:t> a </a:t>
            </a:r>
            <a:r>
              <a:rPr lang="zh-CN" altLang="en-US" sz="2800" b="1" dirty="0">
                <a:latin typeface="宋体" panose="02010600030101010101" pitchFamily="2" charset="-122"/>
                <a:ea typeface="宋体" panose="02010600030101010101" pitchFamily="2" charset="-122"/>
              </a:rPr>
              <a:t>与</a:t>
            </a:r>
            <a:r>
              <a:rPr lang="en-US" altLang="zh-CN" sz="2800" b="1" dirty="0">
                <a:latin typeface="宋体" panose="02010600030101010101" pitchFamily="2" charset="-122"/>
                <a:ea typeface="宋体" panose="02010600030101010101" pitchFamily="2" charset="-122"/>
              </a:rPr>
              <a:t> b </a:t>
            </a:r>
            <a:r>
              <a:rPr lang="zh-CN" altLang="en-US" sz="2800" b="1" dirty="0">
                <a:latin typeface="宋体" panose="02010600030101010101" pitchFamily="2" charset="-122"/>
                <a:ea typeface="宋体" panose="02010600030101010101" pitchFamily="2" charset="-122"/>
              </a:rPr>
              <a:t>同时强制转换成浮点数，再相除</a:t>
            </a:r>
            <a:endParaRPr lang="zh-CN" altLang="en-US" sz="2800" b="1" dirty="0">
              <a:latin typeface="宋体" panose="02010600030101010101" pitchFamily="2" charset="-122"/>
              <a:ea typeface="宋体" panose="02010600030101010101" pitchFamily="2" charset="-122"/>
            </a:endParaRPr>
          </a:p>
        </p:txBody>
      </p:sp>
      <p:sp>
        <p:nvSpPr>
          <p:cNvPr id="26627" name="标题 2"/>
          <p:cNvSpPr>
            <a:spLocks noGrp="1"/>
          </p:cNvSpPr>
          <p:nvPr>
            <p:ph type="title" idx="4294967295"/>
          </p:nvPr>
        </p:nvSpPr>
        <p:spPr>
          <a:xfrm>
            <a:off x="170188" y="161811"/>
            <a:ext cx="8147318" cy="914055"/>
          </a:xfrm>
        </p:spPr>
        <p:txBody>
          <a:bodyPr/>
          <a:lstStyle/>
          <a:p>
            <a:r>
              <a:rPr lang="en-US" altLang="zh-CN" dirty="0"/>
              <a:t>2.5.2</a:t>
            </a:r>
            <a:r>
              <a:rPr lang="zh-CN" altLang="en-US" dirty="0"/>
              <a:t>强制类型转换</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650">
                                            <p:txEl>
                                              <p:pRg st="3" end="3"/>
                                            </p:txEl>
                                          </p:spTgt>
                                        </p:tgtEl>
                                        <p:attrNameLst>
                                          <p:attrName>style.visibility</p:attrName>
                                        </p:attrNameLst>
                                      </p:cBhvr>
                                      <p:to>
                                        <p:strVal val="visible"/>
                                      </p:to>
                                    </p:set>
                                    <p:animEffect transition="in" filter="blinds(horizontal)">
                                      <p:cBhvr>
                                        <p:cTn id="7" dur="500"/>
                                        <p:tgtEl>
                                          <p:spTgt spid="27650">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650">
                                            <p:txEl>
                                              <p:pRg st="4" end="4"/>
                                            </p:txEl>
                                          </p:spTgt>
                                        </p:tgtEl>
                                        <p:attrNameLst>
                                          <p:attrName>style.visibility</p:attrName>
                                        </p:attrNameLst>
                                      </p:cBhvr>
                                      <p:to>
                                        <p:strVal val="visible"/>
                                      </p:to>
                                    </p:set>
                                    <p:animEffect transition="in" filter="blinds(horizontal)">
                                      <p:cBhvr>
                                        <p:cTn id="12" dur="500"/>
                                        <p:tgtEl>
                                          <p:spTgt spid="276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1"/>
          <p:cNvSpPr>
            <a:spLocks noGrp="1"/>
          </p:cNvSpPr>
          <p:nvPr>
            <p:ph idx="4294967295"/>
          </p:nvPr>
        </p:nvSpPr>
        <p:spPr>
          <a:xfrm>
            <a:off x="255913" y="406936"/>
            <a:ext cx="11736062" cy="6536789"/>
          </a:xfrm>
        </p:spPr>
        <p:txBody>
          <a:bodyPr>
            <a:noAutofit/>
          </a:bodyPr>
          <a:lstStyle/>
          <a:p>
            <a:pPr marL="0" indent="353060">
              <a:buNone/>
            </a:pP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例</a:t>
            </a:r>
            <a:r>
              <a:rPr lang="en-US" altLang="zh-CN" sz="2800" b="1" dirty="0">
                <a:latin typeface="宋体" panose="02010600030101010101" pitchFamily="2" charset="-122"/>
                <a:ea typeface="宋体" panose="02010600030101010101" pitchFamily="2" charset="-122"/>
              </a:rPr>
              <a:t>2.5】</a:t>
            </a:r>
            <a:r>
              <a:rPr lang="zh-CN" altLang="en-US" sz="2800" b="1" dirty="0">
                <a:latin typeface="宋体" panose="02010600030101010101" pitchFamily="2" charset="-122"/>
                <a:ea typeface="宋体" panose="02010600030101010101" pitchFamily="2" charset="-122"/>
              </a:rPr>
              <a:t>数据强制类型转换的使用。</a:t>
            </a:r>
            <a:endParaRPr lang="zh-CN" altLang="en-US" sz="2800" b="1" dirty="0">
              <a:latin typeface="宋体" panose="02010600030101010101" pitchFamily="2" charset="-122"/>
              <a:ea typeface="宋体" panose="02010600030101010101" pitchFamily="2" charset="-122"/>
            </a:endParaRPr>
          </a:p>
          <a:p>
            <a:pPr marL="0" indent="353060">
              <a:spcBef>
                <a:spcPts val="0"/>
              </a:spcBef>
              <a:buNone/>
            </a:pPr>
            <a:r>
              <a:rPr lang="en-US" altLang="zh-CN" sz="2800" b="1" dirty="0">
                <a:latin typeface="宋体" panose="02010600030101010101" pitchFamily="2" charset="-122"/>
                <a:ea typeface="宋体" panose="02010600030101010101" pitchFamily="2" charset="-122"/>
              </a:rPr>
              <a:t>public class Chapter2_5 {</a:t>
            </a:r>
            <a:endParaRPr lang="zh-CN" altLang="en-US" sz="2800" b="1" dirty="0">
              <a:latin typeface="宋体" panose="02010600030101010101" pitchFamily="2" charset="-122"/>
              <a:ea typeface="宋体" panose="02010600030101010101" pitchFamily="2" charset="-122"/>
            </a:endParaRPr>
          </a:p>
          <a:p>
            <a:pPr marL="0" indent="353060">
              <a:spcBef>
                <a:spcPts val="0"/>
              </a:spcBef>
              <a:buNone/>
            </a:pPr>
            <a:r>
              <a:rPr lang="en-US" altLang="zh-CN" sz="2800" b="1" dirty="0">
                <a:latin typeface="宋体" panose="02010600030101010101" pitchFamily="2" charset="-122"/>
                <a:ea typeface="宋体" panose="02010600030101010101" pitchFamily="2" charset="-122"/>
              </a:rPr>
              <a:t>	public static void main(String </a:t>
            </a:r>
            <a:r>
              <a:rPr lang="en-US" altLang="zh-CN" sz="2800" b="1" dirty="0" err="1">
                <a:latin typeface="宋体" panose="02010600030101010101" pitchFamily="2" charset="-122"/>
                <a:ea typeface="宋体" panose="02010600030101010101" pitchFamily="2" charset="-122"/>
              </a:rPr>
              <a:t>args</a:t>
            </a:r>
            <a:r>
              <a:rPr lang="en-US" altLang="zh-CN"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spcBef>
                <a:spcPts val="0"/>
              </a:spcBef>
              <a:buNone/>
            </a:pPr>
            <a:r>
              <a:rPr lang="en-US" altLang="zh-CN" sz="2800" b="1" dirty="0">
                <a:latin typeface="宋体" panose="02010600030101010101" pitchFamily="2" charset="-122"/>
                <a:ea typeface="宋体" panose="02010600030101010101" pitchFamily="2" charset="-122"/>
              </a:rPr>
              <a:t>		int a = 55;</a:t>
            </a:r>
            <a:endParaRPr lang="zh-CN" altLang="en-US" sz="2800" b="1" dirty="0">
              <a:latin typeface="宋体" panose="02010600030101010101" pitchFamily="2" charset="-122"/>
              <a:ea typeface="宋体" panose="02010600030101010101" pitchFamily="2" charset="-122"/>
            </a:endParaRPr>
          </a:p>
          <a:p>
            <a:pPr marL="0" indent="353060">
              <a:spcBef>
                <a:spcPts val="0"/>
              </a:spcBef>
              <a:buNone/>
            </a:pPr>
            <a:r>
              <a:rPr lang="en-US" altLang="zh-CN" sz="2800" b="1" dirty="0">
                <a:latin typeface="宋体" panose="02010600030101010101" pitchFamily="2" charset="-122"/>
                <a:ea typeface="宋体" panose="02010600030101010101" pitchFamily="2" charset="-122"/>
              </a:rPr>
              <a:t>		int b= 9;</a:t>
            </a:r>
            <a:endParaRPr lang="zh-CN" altLang="en-US" sz="2800" b="1" dirty="0">
              <a:latin typeface="宋体" panose="02010600030101010101" pitchFamily="2" charset="-122"/>
              <a:ea typeface="宋体" panose="02010600030101010101" pitchFamily="2" charset="-122"/>
            </a:endParaRPr>
          </a:p>
          <a:p>
            <a:pPr marL="0" indent="353060">
              <a:spcBef>
                <a:spcPts val="0"/>
              </a:spcBef>
              <a:buNone/>
            </a:pPr>
            <a:r>
              <a:rPr lang="en-US" altLang="zh-CN" sz="2800" b="1" dirty="0">
                <a:latin typeface="宋体" panose="02010600030101010101" pitchFamily="2" charset="-122"/>
                <a:ea typeface="宋体" panose="02010600030101010101" pitchFamily="2" charset="-122"/>
              </a:rPr>
              <a:t>		float </a:t>
            </a:r>
            <a:r>
              <a:rPr lang="en-US" altLang="zh-CN" sz="2800" b="1" dirty="0" err="1">
                <a:latin typeface="宋体" panose="02010600030101010101" pitchFamily="2" charset="-122"/>
                <a:ea typeface="宋体" panose="02010600030101010101" pitchFamily="2" charset="-122"/>
              </a:rPr>
              <a:t>g,h</a:t>
            </a:r>
            <a:r>
              <a:rPr lang="en-US" altLang="zh-CN"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spcBef>
                <a:spcPts val="0"/>
              </a:spcBef>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System.out.println</a:t>
            </a:r>
            <a:r>
              <a:rPr lang="en-US" altLang="zh-CN" sz="2800" b="1" dirty="0">
                <a:latin typeface="宋体" panose="02010600030101010101" pitchFamily="2" charset="-122"/>
                <a:ea typeface="宋体" panose="02010600030101010101" pitchFamily="2" charset="-122"/>
              </a:rPr>
              <a:t>("a = "+a+" , b = "+b); </a:t>
            </a:r>
            <a:endParaRPr lang="zh-CN" altLang="en-US" sz="2800" b="1" dirty="0">
              <a:latin typeface="宋体" panose="02010600030101010101" pitchFamily="2" charset="-122"/>
              <a:ea typeface="宋体" panose="02010600030101010101" pitchFamily="2" charset="-122"/>
            </a:endParaRPr>
          </a:p>
          <a:p>
            <a:pPr marL="0" indent="353060">
              <a:spcBef>
                <a:spcPts val="0"/>
              </a:spcBef>
              <a:buNone/>
            </a:pPr>
            <a:r>
              <a:rPr lang="en-US" altLang="zh-CN" sz="2800" b="1" dirty="0">
                <a:latin typeface="宋体" panose="02010600030101010101" pitchFamily="2" charset="-122"/>
                <a:ea typeface="宋体" panose="02010600030101010101" pitchFamily="2" charset="-122"/>
              </a:rPr>
              <a:t>		g  = a/b;</a:t>
            </a:r>
            <a:endParaRPr lang="zh-CN" altLang="en-US" sz="2800" b="1" dirty="0">
              <a:latin typeface="宋体" panose="02010600030101010101" pitchFamily="2" charset="-122"/>
              <a:ea typeface="宋体" panose="02010600030101010101" pitchFamily="2" charset="-122"/>
            </a:endParaRPr>
          </a:p>
          <a:p>
            <a:pPr marL="0" indent="353060">
              <a:spcBef>
                <a:spcPts val="0"/>
              </a:spcBef>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System.out.println</a:t>
            </a:r>
            <a:r>
              <a:rPr lang="en-US" altLang="zh-CN" sz="2800" b="1" dirty="0">
                <a:latin typeface="宋体" panose="02010600030101010101" pitchFamily="2" charset="-122"/>
                <a:ea typeface="宋体" panose="02010600030101010101" pitchFamily="2" charset="-122"/>
              </a:rPr>
              <a:t>("a / b ="+g+" \n"); </a:t>
            </a:r>
            <a:endParaRPr lang="zh-CN" altLang="en-US" sz="2800" b="1" dirty="0">
              <a:latin typeface="宋体" panose="02010600030101010101" pitchFamily="2" charset="-122"/>
              <a:ea typeface="宋体" panose="02010600030101010101" pitchFamily="2" charset="-122"/>
            </a:endParaRPr>
          </a:p>
          <a:p>
            <a:pPr marL="0" indent="353060">
              <a:spcBef>
                <a:spcPts val="0"/>
              </a:spcBef>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System.out.println</a:t>
            </a:r>
            <a:r>
              <a:rPr lang="en-US" altLang="zh-CN" sz="2800" b="1" dirty="0">
                <a:latin typeface="宋体" panose="02010600030101010101" pitchFamily="2" charset="-122"/>
                <a:ea typeface="宋体" panose="02010600030101010101" pitchFamily="2" charset="-122"/>
              </a:rPr>
              <a:t>("a = "+a+" , b = "+b); </a:t>
            </a:r>
            <a:endParaRPr lang="zh-CN" altLang="en-US" sz="2800" b="1" dirty="0">
              <a:latin typeface="宋体" panose="02010600030101010101" pitchFamily="2" charset="-122"/>
              <a:ea typeface="宋体" panose="02010600030101010101" pitchFamily="2" charset="-122"/>
            </a:endParaRPr>
          </a:p>
          <a:p>
            <a:pPr marL="0" indent="353060">
              <a:spcBef>
                <a:spcPts val="0"/>
              </a:spcBef>
              <a:buNone/>
            </a:pPr>
            <a:r>
              <a:rPr lang="en-US" altLang="zh-CN" sz="2800" b="1" dirty="0">
                <a:latin typeface="宋体" panose="02010600030101010101" pitchFamily="2" charset="-122"/>
                <a:ea typeface="宋体" panose="02010600030101010101" pitchFamily="2" charset="-122"/>
              </a:rPr>
              <a:t>		h = (float)a/b ;</a:t>
            </a:r>
            <a:endParaRPr lang="en-US" altLang="zh-CN" sz="2800" b="1" dirty="0">
              <a:latin typeface="宋体" panose="02010600030101010101" pitchFamily="2" charset="-122"/>
              <a:ea typeface="宋体" panose="02010600030101010101" pitchFamily="2" charset="-122"/>
            </a:endParaRPr>
          </a:p>
          <a:p>
            <a:pPr marL="0" indent="353060">
              <a:spcBef>
                <a:spcPts val="0"/>
              </a:spcBef>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System.out.println</a:t>
            </a:r>
            <a:r>
              <a:rPr lang="en-US" altLang="zh-CN" sz="2800" b="1" dirty="0">
                <a:latin typeface="宋体" panose="02010600030101010101" pitchFamily="2" charset="-122"/>
                <a:ea typeface="宋体" panose="02010600030101010101" pitchFamily="2" charset="-122"/>
              </a:rPr>
              <a:t>("a /b = "+h); </a:t>
            </a:r>
            <a:endParaRPr lang="zh-CN" altLang="en-US" sz="2800" b="1" dirty="0">
              <a:latin typeface="宋体" panose="02010600030101010101" pitchFamily="2" charset="-122"/>
              <a:ea typeface="宋体" panose="02010600030101010101" pitchFamily="2" charset="-122"/>
            </a:endParaRPr>
          </a:p>
          <a:p>
            <a:pPr marL="0" indent="353060">
              <a:spcBef>
                <a:spcPts val="0"/>
              </a:spcBef>
              <a:buNone/>
            </a:pPr>
            <a:r>
              <a:rPr lang="en-US" altLang="zh-CN" sz="2800" b="1" dirty="0">
                <a:latin typeface="宋体" panose="02010600030101010101" pitchFamily="2" charset="-122"/>
                <a:ea typeface="宋体" panose="02010600030101010101" pitchFamily="2" charset="-122"/>
              </a:rPr>
              <a:t>	} </a:t>
            </a:r>
            <a:endParaRPr lang="zh-CN" altLang="en-US" sz="2800" b="1" dirty="0">
              <a:latin typeface="宋体" panose="02010600030101010101" pitchFamily="2" charset="-122"/>
              <a:ea typeface="宋体" panose="02010600030101010101" pitchFamily="2" charset="-122"/>
            </a:endParaRPr>
          </a:p>
          <a:p>
            <a:pPr marL="0" indent="353060">
              <a:spcBef>
                <a:spcPts val="0"/>
              </a:spcBef>
              <a:buNone/>
            </a:pPr>
            <a:r>
              <a:rPr lang="en-US" altLang="zh-CN" sz="2800" b="1" dirty="0">
                <a:latin typeface="宋体" panose="02010600030101010101" pitchFamily="2" charset="-122"/>
                <a:ea typeface="宋体" panose="02010600030101010101" pitchFamily="2" charset="-122"/>
              </a:rPr>
              <a:t>}  </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内容占位符 1"/>
          <p:cNvSpPr>
            <a:spLocks noGrp="1"/>
          </p:cNvSpPr>
          <p:nvPr>
            <p:ph idx="4294967295"/>
          </p:nvPr>
        </p:nvSpPr>
        <p:spPr>
          <a:xfrm>
            <a:off x="904875" y="1028700"/>
            <a:ext cx="9983462" cy="5753100"/>
          </a:xfrm>
        </p:spPr>
        <p:txBody>
          <a:bodyPr>
            <a:noAutofit/>
          </a:bodyPr>
          <a:lstStyle/>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）字符串型数据转换成数值型数据</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①转换成</a:t>
            </a:r>
            <a:r>
              <a:rPr lang="en-US" altLang="zh-CN" sz="2800" b="1" dirty="0">
                <a:latin typeface="宋体" panose="02010600030101010101" pitchFamily="2" charset="-122"/>
                <a:ea typeface="宋体" panose="02010600030101010101" pitchFamily="2" charset="-122"/>
              </a:rPr>
              <a:t>int</a:t>
            </a:r>
            <a:r>
              <a:rPr lang="zh-CN" altLang="en-US" sz="2800" b="1" dirty="0">
                <a:latin typeface="宋体" panose="02010600030101010101" pitchFamily="2" charset="-122"/>
                <a:ea typeface="宋体" panose="02010600030101010101" pitchFamily="2" charset="-122"/>
              </a:rPr>
              <a:t>型：</a:t>
            </a:r>
            <a:r>
              <a:rPr lang="en-US" altLang="zh-CN" sz="2800" b="1" dirty="0">
                <a:latin typeface="宋体" panose="02010600030101010101" pitchFamily="2" charset="-122"/>
                <a:ea typeface="宋体" panose="02010600030101010101" pitchFamily="2" charset="-122"/>
              </a:rPr>
              <a:t>   </a:t>
            </a:r>
            <a:endParaRPr lang="en-US" altLang="zh-CN"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int num = </a:t>
            </a:r>
            <a:r>
              <a:rPr lang="en-US" altLang="zh-CN" sz="2800" b="1" dirty="0" err="1">
                <a:latin typeface="宋体" panose="02010600030101010101" pitchFamily="2" charset="-122"/>
                <a:ea typeface="宋体" panose="02010600030101010101" pitchFamily="2" charset="-122"/>
              </a:rPr>
              <a:t>Integer.parseInt</a:t>
            </a:r>
            <a:r>
              <a:rPr lang="en-US" altLang="zh-CN" sz="2800" b="1" dirty="0">
                <a:latin typeface="宋体" panose="02010600030101010101" pitchFamily="2" charset="-122"/>
                <a:ea typeface="宋体" panose="02010600030101010101" pitchFamily="2" charset="-122"/>
              </a:rPr>
              <a:t>(String str); </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②转换成</a:t>
            </a:r>
            <a:r>
              <a:rPr lang="en-US" altLang="zh-CN" sz="2800" b="1" dirty="0">
                <a:latin typeface="宋体" panose="02010600030101010101" pitchFamily="2" charset="-122"/>
                <a:ea typeface="宋体" panose="02010600030101010101" pitchFamily="2" charset="-122"/>
              </a:rPr>
              <a:t>long</a:t>
            </a:r>
            <a:r>
              <a:rPr lang="zh-CN" altLang="en-US" sz="2800" b="1" dirty="0">
                <a:latin typeface="宋体" panose="02010600030101010101" pitchFamily="2" charset="-122"/>
                <a:ea typeface="宋体" panose="02010600030101010101" pitchFamily="2" charset="-122"/>
              </a:rPr>
              <a:t>型：</a:t>
            </a:r>
            <a:r>
              <a:rPr lang="en-US" altLang="zh-CN" sz="2800" b="1" dirty="0">
                <a:latin typeface="宋体" panose="02010600030101010101" pitchFamily="2" charset="-122"/>
                <a:ea typeface="宋体" panose="02010600030101010101" pitchFamily="2" charset="-122"/>
              </a:rPr>
              <a:t> </a:t>
            </a:r>
            <a:endParaRPr lang="en-US" altLang="zh-CN"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long num = </a:t>
            </a:r>
            <a:r>
              <a:rPr lang="en-US" altLang="zh-CN" sz="2800" b="1" dirty="0" err="1">
                <a:latin typeface="宋体" panose="02010600030101010101" pitchFamily="2" charset="-122"/>
                <a:ea typeface="宋体" panose="02010600030101010101" pitchFamily="2" charset="-122"/>
              </a:rPr>
              <a:t>Long.parseLong</a:t>
            </a:r>
            <a:r>
              <a:rPr lang="en-US" altLang="zh-CN" sz="2800" b="1" dirty="0">
                <a:latin typeface="宋体" panose="02010600030101010101" pitchFamily="2" charset="-122"/>
                <a:ea typeface="宋体" panose="02010600030101010101" pitchFamily="2" charset="-122"/>
              </a:rPr>
              <a:t>(String str);</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③转换成</a:t>
            </a:r>
            <a:r>
              <a:rPr lang="en-US" altLang="zh-CN" sz="2800" b="1" dirty="0">
                <a:latin typeface="宋体" panose="02010600030101010101" pitchFamily="2" charset="-122"/>
                <a:ea typeface="宋体" panose="02010600030101010101" pitchFamily="2" charset="-122"/>
              </a:rPr>
              <a:t>short</a:t>
            </a:r>
            <a:r>
              <a:rPr lang="zh-CN" altLang="en-US" sz="2800" b="1" dirty="0">
                <a:latin typeface="宋体" panose="02010600030101010101" pitchFamily="2" charset="-122"/>
                <a:ea typeface="宋体" panose="02010600030101010101" pitchFamily="2" charset="-122"/>
              </a:rPr>
              <a:t>型：</a:t>
            </a:r>
            <a:r>
              <a:rPr lang="en-US" altLang="zh-CN" sz="2800" b="1" dirty="0">
                <a:latin typeface="宋体" panose="02010600030101010101" pitchFamily="2" charset="-122"/>
                <a:ea typeface="宋体" panose="02010600030101010101" pitchFamily="2" charset="-122"/>
              </a:rPr>
              <a:t> </a:t>
            </a:r>
            <a:endParaRPr lang="en-US" altLang="zh-CN"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short num = </a:t>
            </a:r>
            <a:r>
              <a:rPr lang="en-US" altLang="zh-CN" sz="2800" b="1" dirty="0" err="1">
                <a:latin typeface="宋体" panose="02010600030101010101" pitchFamily="2" charset="-122"/>
                <a:ea typeface="宋体" panose="02010600030101010101" pitchFamily="2" charset="-122"/>
              </a:rPr>
              <a:t>Short.parseShort</a:t>
            </a:r>
            <a:r>
              <a:rPr lang="en-US" altLang="zh-CN" sz="2800" b="1" dirty="0">
                <a:latin typeface="宋体" panose="02010600030101010101" pitchFamily="2" charset="-122"/>
                <a:ea typeface="宋体" panose="02010600030101010101" pitchFamily="2" charset="-122"/>
              </a:rPr>
              <a:t>(String str);</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④转换成</a:t>
            </a:r>
            <a:r>
              <a:rPr lang="en-US" altLang="zh-CN" sz="2800" b="1" dirty="0">
                <a:latin typeface="宋体" panose="02010600030101010101" pitchFamily="2" charset="-122"/>
                <a:ea typeface="宋体" panose="02010600030101010101" pitchFamily="2" charset="-122"/>
              </a:rPr>
              <a:t>float</a:t>
            </a:r>
            <a:r>
              <a:rPr lang="zh-CN" altLang="en-US" sz="2800" b="1" dirty="0">
                <a:latin typeface="宋体" panose="02010600030101010101" pitchFamily="2" charset="-122"/>
                <a:ea typeface="宋体" panose="02010600030101010101" pitchFamily="2" charset="-122"/>
              </a:rPr>
              <a:t>型：</a:t>
            </a:r>
            <a:r>
              <a:rPr lang="en-US" altLang="zh-CN" sz="2800" b="1" dirty="0">
                <a:latin typeface="宋体" panose="02010600030101010101" pitchFamily="2" charset="-122"/>
                <a:ea typeface="宋体" panose="02010600030101010101" pitchFamily="2" charset="-122"/>
              </a:rPr>
              <a:t> </a:t>
            </a:r>
            <a:endParaRPr lang="en-US" altLang="zh-CN"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float num = </a:t>
            </a:r>
            <a:r>
              <a:rPr lang="en-US" altLang="zh-CN" sz="2800" b="1" dirty="0" err="1">
                <a:latin typeface="宋体" panose="02010600030101010101" pitchFamily="2" charset="-122"/>
                <a:ea typeface="宋体" panose="02010600030101010101" pitchFamily="2" charset="-122"/>
              </a:rPr>
              <a:t>Float.parseFloat</a:t>
            </a:r>
            <a:r>
              <a:rPr lang="en-US" altLang="zh-CN" sz="2800" b="1" dirty="0">
                <a:latin typeface="宋体" panose="02010600030101010101" pitchFamily="2" charset="-122"/>
                <a:ea typeface="宋体" panose="02010600030101010101" pitchFamily="2" charset="-122"/>
              </a:rPr>
              <a:t>(String str);</a:t>
            </a:r>
            <a:endParaRPr lang="zh-CN" altLang="en-US" sz="2800" b="1" dirty="0">
              <a:latin typeface="宋体" panose="02010600030101010101" pitchFamily="2" charset="-122"/>
              <a:ea typeface="宋体" panose="02010600030101010101" pitchFamily="2" charset="-122"/>
            </a:endParaRPr>
          </a:p>
          <a:p>
            <a:pPr marL="0" indent="353060">
              <a:buNone/>
            </a:pPr>
            <a:endParaRPr lang="en-US" altLang="zh-CN"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28675" name="标题 2"/>
          <p:cNvSpPr>
            <a:spLocks noGrp="1"/>
          </p:cNvSpPr>
          <p:nvPr>
            <p:ph type="title" idx="4294967295"/>
          </p:nvPr>
        </p:nvSpPr>
        <p:spPr>
          <a:xfrm>
            <a:off x="109365" y="0"/>
            <a:ext cx="8407247" cy="914055"/>
          </a:xfrm>
        </p:spPr>
        <p:txBody>
          <a:bodyPr/>
          <a:lstStyle/>
          <a:p>
            <a:r>
              <a:rPr lang="en-US" altLang="zh-CN" sz="3470" dirty="0"/>
              <a:t>2.5.3</a:t>
            </a:r>
            <a:r>
              <a:rPr lang="zh-CN" altLang="en-US" sz="3470" dirty="0"/>
              <a:t>字符串型数据与数值型数据相互转换</a:t>
            </a:r>
            <a:endParaRPr lang="zh-CN" altLang="en-US" sz="347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698">
                                            <p:txEl>
                                              <p:pRg st="1" end="1"/>
                                            </p:txEl>
                                          </p:spTgt>
                                        </p:tgtEl>
                                        <p:attrNameLst>
                                          <p:attrName>style.visibility</p:attrName>
                                        </p:attrNameLst>
                                      </p:cBhvr>
                                      <p:to>
                                        <p:strVal val="visible"/>
                                      </p:to>
                                    </p:set>
                                    <p:animEffect transition="in" filter="blinds(horizontal)">
                                      <p:cBhvr>
                                        <p:cTn id="7" dur="500"/>
                                        <p:tgtEl>
                                          <p:spTgt spid="29698">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9698">
                                            <p:txEl>
                                              <p:pRg st="2" end="2"/>
                                            </p:txEl>
                                          </p:spTgt>
                                        </p:tgtEl>
                                        <p:attrNameLst>
                                          <p:attrName>style.visibility</p:attrName>
                                        </p:attrNameLst>
                                      </p:cBhvr>
                                      <p:to>
                                        <p:strVal val="visible"/>
                                      </p:to>
                                    </p:set>
                                    <p:animEffect transition="in" filter="blinds(horizontal)">
                                      <p:cBhvr>
                                        <p:cTn id="10" dur="500"/>
                                        <p:tgtEl>
                                          <p:spTgt spid="29698">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9698">
                                            <p:txEl>
                                              <p:pRg st="3" end="3"/>
                                            </p:txEl>
                                          </p:spTgt>
                                        </p:tgtEl>
                                        <p:attrNameLst>
                                          <p:attrName>style.visibility</p:attrName>
                                        </p:attrNameLst>
                                      </p:cBhvr>
                                      <p:to>
                                        <p:strVal val="visible"/>
                                      </p:to>
                                    </p:set>
                                    <p:animEffect transition="in" filter="blinds(horizontal)">
                                      <p:cBhvr>
                                        <p:cTn id="15" dur="500"/>
                                        <p:tgtEl>
                                          <p:spTgt spid="29698">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9698">
                                            <p:txEl>
                                              <p:pRg st="4" end="4"/>
                                            </p:txEl>
                                          </p:spTgt>
                                        </p:tgtEl>
                                        <p:attrNameLst>
                                          <p:attrName>style.visibility</p:attrName>
                                        </p:attrNameLst>
                                      </p:cBhvr>
                                      <p:to>
                                        <p:strVal val="visible"/>
                                      </p:to>
                                    </p:set>
                                    <p:animEffect transition="in" filter="blinds(horizontal)">
                                      <p:cBhvr>
                                        <p:cTn id="18" dur="500"/>
                                        <p:tgtEl>
                                          <p:spTgt spid="29698">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9698">
                                            <p:txEl>
                                              <p:pRg st="5" end="5"/>
                                            </p:txEl>
                                          </p:spTgt>
                                        </p:tgtEl>
                                        <p:attrNameLst>
                                          <p:attrName>style.visibility</p:attrName>
                                        </p:attrNameLst>
                                      </p:cBhvr>
                                      <p:to>
                                        <p:strVal val="visible"/>
                                      </p:to>
                                    </p:set>
                                    <p:animEffect transition="in" filter="blinds(horizontal)">
                                      <p:cBhvr>
                                        <p:cTn id="23" dur="500"/>
                                        <p:tgtEl>
                                          <p:spTgt spid="29698">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29698">
                                            <p:txEl>
                                              <p:pRg st="6" end="6"/>
                                            </p:txEl>
                                          </p:spTgt>
                                        </p:tgtEl>
                                        <p:attrNameLst>
                                          <p:attrName>style.visibility</p:attrName>
                                        </p:attrNameLst>
                                      </p:cBhvr>
                                      <p:to>
                                        <p:strVal val="visible"/>
                                      </p:to>
                                    </p:set>
                                    <p:animEffect transition="in" filter="blinds(horizontal)">
                                      <p:cBhvr>
                                        <p:cTn id="26" dur="500"/>
                                        <p:tgtEl>
                                          <p:spTgt spid="29698">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9698">
                                            <p:txEl>
                                              <p:pRg st="7" end="7"/>
                                            </p:txEl>
                                          </p:spTgt>
                                        </p:tgtEl>
                                        <p:attrNameLst>
                                          <p:attrName>style.visibility</p:attrName>
                                        </p:attrNameLst>
                                      </p:cBhvr>
                                      <p:to>
                                        <p:strVal val="visible"/>
                                      </p:to>
                                    </p:set>
                                    <p:animEffect transition="in" filter="blinds(horizontal)">
                                      <p:cBhvr>
                                        <p:cTn id="31" dur="500"/>
                                        <p:tgtEl>
                                          <p:spTgt spid="29698">
                                            <p:txEl>
                                              <p:pRg st="7" end="7"/>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29698">
                                            <p:txEl>
                                              <p:pRg st="8" end="8"/>
                                            </p:txEl>
                                          </p:spTgt>
                                        </p:tgtEl>
                                        <p:attrNameLst>
                                          <p:attrName>style.visibility</p:attrName>
                                        </p:attrNameLst>
                                      </p:cBhvr>
                                      <p:to>
                                        <p:strVal val="visible"/>
                                      </p:to>
                                    </p:set>
                                    <p:animEffect transition="in" filter="blinds(horizontal)">
                                      <p:cBhvr>
                                        <p:cTn id="34" dur="500"/>
                                        <p:tgtEl>
                                          <p:spTgt spid="2969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1"/>
          <p:cNvSpPr>
            <a:spLocks noGrp="1"/>
          </p:cNvSpPr>
          <p:nvPr>
            <p:ph idx="4294967295"/>
          </p:nvPr>
        </p:nvSpPr>
        <p:spPr>
          <a:xfrm>
            <a:off x="332113" y="1026062"/>
            <a:ext cx="11012162" cy="5363163"/>
          </a:xfrm>
        </p:spPr>
        <p:txBody>
          <a:bodyPr>
            <a:noAutofit/>
          </a:bodyPr>
          <a:lstStyle/>
          <a:p>
            <a:pPr marL="0" indent="353060">
              <a:lnSpc>
                <a:spcPct val="120000"/>
              </a:lnSpc>
              <a:spcBef>
                <a:spcPts val="600"/>
              </a:spcBef>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）数值型型数据转换成字符串数据</a:t>
            </a:r>
            <a:endParaRPr lang="zh-CN" altLang="en-US" sz="2800" b="1" dirty="0">
              <a:latin typeface="宋体" panose="02010600030101010101" pitchFamily="2" charset="-122"/>
              <a:ea typeface="宋体" panose="02010600030101010101" pitchFamily="2" charset="-122"/>
            </a:endParaRPr>
          </a:p>
          <a:p>
            <a:pPr marL="0" indent="353060">
              <a:lnSpc>
                <a:spcPct val="120000"/>
              </a:lnSpc>
              <a:spcBef>
                <a:spcPts val="600"/>
              </a:spcBef>
              <a:buNone/>
            </a:pPr>
            <a:r>
              <a:rPr lang="zh-CN" altLang="en-US" sz="2800" b="1" dirty="0">
                <a:latin typeface="宋体" panose="02010600030101010101" pitchFamily="2" charset="-122"/>
                <a:ea typeface="宋体" panose="02010600030101010101" pitchFamily="2" charset="-122"/>
              </a:rPr>
              <a:t>①</a:t>
            </a:r>
            <a:r>
              <a:rPr lang="en-US" altLang="zh-CN" sz="2800" b="1" dirty="0">
                <a:latin typeface="宋体" panose="02010600030101010101" pitchFamily="2" charset="-122"/>
                <a:ea typeface="宋体" panose="02010600030101010101" pitchFamily="2" charset="-122"/>
              </a:rPr>
              <a:t>int</a:t>
            </a:r>
            <a:r>
              <a:rPr lang="zh-CN" altLang="en-US" sz="2800" b="1" dirty="0">
                <a:latin typeface="宋体" panose="02010600030101010101" pitchFamily="2" charset="-122"/>
                <a:ea typeface="宋体" panose="02010600030101010101" pitchFamily="2" charset="-122"/>
              </a:rPr>
              <a:t>型转换成字符型：</a:t>
            </a:r>
            <a:endParaRPr lang="en-US" altLang="zh-CN" sz="2800" b="1" dirty="0">
              <a:latin typeface="宋体" panose="02010600030101010101" pitchFamily="2" charset="-122"/>
              <a:ea typeface="宋体" panose="02010600030101010101" pitchFamily="2" charset="-122"/>
            </a:endParaRPr>
          </a:p>
          <a:p>
            <a:pPr marL="0" indent="353060">
              <a:lnSpc>
                <a:spcPct val="120000"/>
              </a:lnSpc>
              <a:spcBef>
                <a:spcPts val="600"/>
              </a:spcBef>
              <a:buNone/>
            </a:pPr>
            <a:r>
              <a:rPr lang="en-US" altLang="zh-CN" sz="2800" b="1" dirty="0">
                <a:latin typeface="宋体" panose="02010600030101010101" pitchFamily="2" charset="-122"/>
                <a:ea typeface="宋体" panose="02010600030101010101" pitchFamily="2" charset="-122"/>
              </a:rPr>
              <a:t>String num = </a:t>
            </a:r>
            <a:r>
              <a:rPr lang="en-US" altLang="zh-CN" sz="2800" b="1" dirty="0" err="1">
                <a:latin typeface="宋体" panose="02010600030101010101" pitchFamily="2" charset="-122"/>
                <a:ea typeface="宋体" panose="02010600030101010101" pitchFamily="2" charset="-122"/>
              </a:rPr>
              <a:t>Integer.toString</a:t>
            </a:r>
            <a:r>
              <a:rPr lang="en-US" altLang="zh-CN" sz="2800" b="1" dirty="0">
                <a:latin typeface="宋体" panose="02010600030101010101" pitchFamily="2" charset="-122"/>
                <a:ea typeface="宋体" panose="02010600030101010101" pitchFamily="2" charset="-122"/>
              </a:rPr>
              <a:t>(int n);</a:t>
            </a:r>
            <a:endParaRPr lang="zh-CN" altLang="en-US" sz="2800" b="1" dirty="0">
              <a:latin typeface="宋体" panose="02010600030101010101" pitchFamily="2" charset="-122"/>
              <a:ea typeface="宋体" panose="02010600030101010101" pitchFamily="2" charset="-122"/>
            </a:endParaRPr>
          </a:p>
          <a:p>
            <a:pPr marL="0" indent="353060">
              <a:lnSpc>
                <a:spcPct val="120000"/>
              </a:lnSpc>
              <a:spcBef>
                <a:spcPts val="600"/>
              </a:spcBef>
              <a:buNone/>
            </a:pPr>
            <a:r>
              <a:rPr lang="zh-CN" altLang="en-US" sz="2800" b="1" dirty="0">
                <a:latin typeface="宋体" panose="02010600030101010101" pitchFamily="2" charset="-122"/>
                <a:ea typeface="宋体" panose="02010600030101010101" pitchFamily="2" charset="-122"/>
              </a:rPr>
              <a:t>②</a:t>
            </a:r>
            <a:r>
              <a:rPr lang="en-US" altLang="zh-CN" sz="2800" b="1" dirty="0">
                <a:latin typeface="宋体" panose="02010600030101010101" pitchFamily="2" charset="-122"/>
                <a:ea typeface="宋体" panose="02010600030101010101" pitchFamily="2" charset="-122"/>
              </a:rPr>
              <a:t>long</a:t>
            </a:r>
            <a:r>
              <a:rPr lang="zh-CN" altLang="en-US" sz="2800" b="1" dirty="0">
                <a:latin typeface="宋体" panose="02010600030101010101" pitchFamily="2" charset="-122"/>
                <a:ea typeface="宋体" panose="02010600030101010101" pitchFamily="2" charset="-122"/>
              </a:rPr>
              <a:t>型转换成字符型：</a:t>
            </a:r>
            <a:endParaRPr lang="en-US" altLang="zh-CN" sz="2800" b="1" dirty="0">
              <a:latin typeface="宋体" panose="02010600030101010101" pitchFamily="2" charset="-122"/>
              <a:ea typeface="宋体" panose="02010600030101010101" pitchFamily="2" charset="-122"/>
            </a:endParaRPr>
          </a:p>
          <a:p>
            <a:pPr marL="0" indent="353060">
              <a:lnSpc>
                <a:spcPct val="120000"/>
              </a:lnSpc>
              <a:spcBef>
                <a:spcPts val="600"/>
              </a:spcBef>
              <a:buNone/>
            </a:pPr>
            <a:r>
              <a:rPr lang="en-US" altLang="zh-CN" sz="2800" b="1" dirty="0">
                <a:latin typeface="宋体" panose="02010600030101010101" pitchFamily="2" charset="-122"/>
                <a:ea typeface="宋体" panose="02010600030101010101" pitchFamily="2" charset="-122"/>
              </a:rPr>
              <a:t>String num = </a:t>
            </a:r>
            <a:r>
              <a:rPr lang="en-US" altLang="zh-CN" sz="2800" b="1" dirty="0" err="1">
                <a:latin typeface="宋体" panose="02010600030101010101" pitchFamily="2" charset="-122"/>
                <a:ea typeface="宋体" panose="02010600030101010101" pitchFamily="2" charset="-122"/>
              </a:rPr>
              <a:t>Long.toString</a:t>
            </a:r>
            <a:r>
              <a:rPr lang="en-US" altLang="zh-CN" sz="2800" b="1" dirty="0">
                <a:latin typeface="宋体" panose="02010600030101010101" pitchFamily="2" charset="-122"/>
                <a:ea typeface="宋体" panose="02010600030101010101" pitchFamily="2" charset="-122"/>
              </a:rPr>
              <a:t>(long n);</a:t>
            </a:r>
            <a:endParaRPr lang="zh-CN" altLang="en-US" sz="2800" b="1" dirty="0">
              <a:latin typeface="宋体" panose="02010600030101010101" pitchFamily="2" charset="-122"/>
              <a:ea typeface="宋体" panose="02010600030101010101" pitchFamily="2" charset="-122"/>
            </a:endParaRPr>
          </a:p>
          <a:p>
            <a:pPr marL="0" indent="353060">
              <a:lnSpc>
                <a:spcPct val="120000"/>
              </a:lnSpc>
              <a:spcBef>
                <a:spcPts val="600"/>
              </a:spcBef>
              <a:buNone/>
            </a:pPr>
            <a:r>
              <a:rPr lang="zh-CN" altLang="en-US" sz="2800" b="1" dirty="0">
                <a:latin typeface="宋体" panose="02010600030101010101" pitchFamily="2" charset="-122"/>
                <a:ea typeface="宋体" panose="02010600030101010101" pitchFamily="2" charset="-122"/>
              </a:rPr>
              <a:t>③</a:t>
            </a:r>
            <a:r>
              <a:rPr lang="en-US" altLang="zh-CN" sz="2800" b="1" dirty="0">
                <a:latin typeface="宋体" panose="02010600030101010101" pitchFamily="2" charset="-122"/>
                <a:ea typeface="宋体" panose="02010600030101010101" pitchFamily="2" charset="-122"/>
              </a:rPr>
              <a:t>short</a:t>
            </a:r>
            <a:r>
              <a:rPr lang="zh-CN" altLang="en-US" sz="2800" b="1" dirty="0">
                <a:latin typeface="宋体" panose="02010600030101010101" pitchFamily="2" charset="-122"/>
                <a:ea typeface="宋体" panose="02010600030101010101" pitchFamily="2" charset="-122"/>
              </a:rPr>
              <a:t>型转换成字符型：</a:t>
            </a:r>
            <a:endParaRPr lang="en-US" altLang="zh-CN" sz="2800" b="1" dirty="0">
              <a:latin typeface="宋体" panose="02010600030101010101" pitchFamily="2" charset="-122"/>
              <a:ea typeface="宋体" panose="02010600030101010101" pitchFamily="2" charset="-122"/>
            </a:endParaRPr>
          </a:p>
          <a:p>
            <a:pPr marL="0" indent="353060">
              <a:lnSpc>
                <a:spcPct val="120000"/>
              </a:lnSpc>
              <a:spcBef>
                <a:spcPts val="600"/>
              </a:spcBef>
              <a:buNone/>
            </a:pPr>
            <a:r>
              <a:rPr lang="en-US" altLang="zh-CN" sz="2800" b="1" dirty="0">
                <a:latin typeface="宋体" panose="02010600030101010101" pitchFamily="2" charset="-122"/>
                <a:ea typeface="宋体" panose="02010600030101010101" pitchFamily="2" charset="-122"/>
              </a:rPr>
              <a:t>String num = </a:t>
            </a:r>
            <a:r>
              <a:rPr lang="en-US" altLang="zh-CN" sz="2800" b="1" dirty="0" err="1">
                <a:latin typeface="宋体" panose="02010600030101010101" pitchFamily="2" charset="-122"/>
                <a:ea typeface="宋体" panose="02010600030101010101" pitchFamily="2" charset="-122"/>
              </a:rPr>
              <a:t>Short.toString</a:t>
            </a:r>
            <a:r>
              <a:rPr lang="en-US" altLang="zh-CN" sz="2800" b="1" dirty="0">
                <a:latin typeface="宋体" panose="02010600030101010101" pitchFamily="2" charset="-122"/>
                <a:ea typeface="宋体" panose="02010600030101010101" pitchFamily="2" charset="-122"/>
              </a:rPr>
              <a:t>(short n);</a:t>
            </a:r>
            <a:endParaRPr lang="zh-CN" altLang="en-US" sz="2800" b="1" dirty="0">
              <a:latin typeface="宋体" panose="02010600030101010101" pitchFamily="2" charset="-122"/>
              <a:ea typeface="宋体" panose="02010600030101010101" pitchFamily="2" charset="-122"/>
            </a:endParaRPr>
          </a:p>
          <a:p>
            <a:pPr marL="0" indent="353060">
              <a:lnSpc>
                <a:spcPct val="120000"/>
              </a:lnSpc>
              <a:spcBef>
                <a:spcPts val="600"/>
              </a:spcBef>
              <a:buNone/>
            </a:pPr>
            <a:r>
              <a:rPr lang="zh-CN" altLang="en-US" sz="2800" b="1" dirty="0">
                <a:latin typeface="宋体" panose="02010600030101010101" pitchFamily="2" charset="-122"/>
                <a:ea typeface="宋体" panose="02010600030101010101" pitchFamily="2" charset="-122"/>
              </a:rPr>
              <a:t>④</a:t>
            </a:r>
            <a:r>
              <a:rPr lang="en-US" altLang="zh-CN" sz="2800" b="1" dirty="0">
                <a:latin typeface="宋体" panose="02010600030101010101" pitchFamily="2" charset="-122"/>
                <a:ea typeface="宋体" panose="02010600030101010101" pitchFamily="2" charset="-122"/>
              </a:rPr>
              <a:t>float</a:t>
            </a:r>
            <a:r>
              <a:rPr lang="zh-CN" altLang="en-US" sz="2800" b="1" dirty="0">
                <a:latin typeface="宋体" panose="02010600030101010101" pitchFamily="2" charset="-122"/>
                <a:ea typeface="宋体" panose="02010600030101010101" pitchFamily="2" charset="-122"/>
              </a:rPr>
              <a:t>型转换成字符型：</a:t>
            </a:r>
            <a:endParaRPr lang="en-US" altLang="zh-CN" sz="2800" b="1" dirty="0">
              <a:latin typeface="宋体" panose="02010600030101010101" pitchFamily="2" charset="-122"/>
              <a:ea typeface="宋体" panose="02010600030101010101" pitchFamily="2" charset="-122"/>
            </a:endParaRPr>
          </a:p>
          <a:p>
            <a:pPr marL="0" indent="353060">
              <a:lnSpc>
                <a:spcPct val="120000"/>
              </a:lnSpc>
              <a:spcBef>
                <a:spcPts val="600"/>
              </a:spcBef>
              <a:buNone/>
            </a:pPr>
            <a:r>
              <a:rPr lang="en-US" altLang="zh-CN" sz="2800" b="1" dirty="0">
                <a:latin typeface="宋体" panose="02010600030101010101" pitchFamily="2" charset="-122"/>
                <a:ea typeface="宋体" panose="02010600030101010101" pitchFamily="2" charset="-122"/>
              </a:rPr>
              <a:t>String num = </a:t>
            </a:r>
            <a:r>
              <a:rPr lang="en-US" altLang="zh-CN" sz="2800" b="1" dirty="0" err="1">
                <a:latin typeface="宋体" panose="02010600030101010101" pitchFamily="2" charset="-122"/>
                <a:ea typeface="宋体" panose="02010600030101010101" pitchFamily="2" charset="-122"/>
              </a:rPr>
              <a:t>Float.toString</a:t>
            </a:r>
            <a:r>
              <a:rPr lang="en-US" altLang="zh-CN" sz="2800" b="1" dirty="0">
                <a:latin typeface="宋体" panose="02010600030101010101" pitchFamily="2" charset="-122"/>
                <a:ea typeface="宋体" panose="02010600030101010101" pitchFamily="2" charset="-122"/>
              </a:rPr>
              <a:t>(float n);</a:t>
            </a:r>
            <a:endParaRPr lang="zh-CN" altLang="en-US" sz="2800" b="1" dirty="0">
              <a:latin typeface="宋体" panose="02010600030101010101" pitchFamily="2" charset="-122"/>
              <a:ea typeface="宋体" panose="02010600030101010101" pitchFamily="2" charset="-122"/>
            </a:endParaRPr>
          </a:p>
        </p:txBody>
      </p:sp>
      <p:sp>
        <p:nvSpPr>
          <p:cNvPr id="3" name="标题 2"/>
          <p:cNvSpPr txBox="1"/>
          <p:nvPr/>
        </p:nvSpPr>
        <p:spPr>
          <a:xfrm>
            <a:off x="109365" y="0"/>
            <a:ext cx="8407247"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3470" dirty="0"/>
              <a:t>2.5.3</a:t>
            </a:r>
            <a:r>
              <a:rPr lang="zh-CN" altLang="en-US" sz="3470" dirty="0"/>
              <a:t>字符串型数据与数值型数据相互转换</a:t>
            </a:r>
            <a:endParaRPr lang="zh-CN" altLang="en-US" sz="347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22">
                                            <p:txEl>
                                              <p:pRg st="1" end="1"/>
                                            </p:txEl>
                                          </p:spTgt>
                                        </p:tgtEl>
                                        <p:attrNameLst>
                                          <p:attrName>style.visibility</p:attrName>
                                        </p:attrNameLst>
                                      </p:cBhvr>
                                      <p:to>
                                        <p:strVal val="visible"/>
                                      </p:to>
                                    </p:set>
                                    <p:animEffect transition="in" filter="blinds(horizontal)">
                                      <p:cBhvr>
                                        <p:cTn id="7" dur="500"/>
                                        <p:tgtEl>
                                          <p:spTgt spid="30722">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0722">
                                            <p:txEl>
                                              <p:pRg st="2" end="2"/>
                                            </p:txEl>
                                          </p:spTgt>
                                        </p:tgtEl>
                                        <p:attrNameLst>
                                          <p:attrName>style.visibility</p:attrName>
                                        </p:attrNameLst>
                                      </p:cBhvr>
                                      <p:to>
                                        <p:strVal val="visible"/>
                                      </p:to>
                                    </p:set>
                                    <p:animEffect transition="in" filter="blinds(horizontal)">
                                      <p:cBhvr>
                                        <p:cTn id="10" dur="500"/>
                                        <p:tgtEl>
                                          <p:spTgt spid="3072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0722">
                                            <p:txEl>
                                              <p:pRg st="3" end="3"/>
                                            </p:txEl>
                                          </p:spTgt>
                                        </p:tgtEl>
                                        <p:attrNameLst>
                                          <p:attrName>style.visibility</p:attrName>
                                        </p:attrNameLst>
                                      </p:cBhvr>
                                      <p:to>
                                        <p:strVal val="visible"/>
                                      </p:to>
                                    </p:set>
                                    <p:animEffect transition="in" filter="blinds(horizontal)">
                                      <p:cBhvr>
                                        <p:cTn id="15" dur="500"/>
                                        <p:tgtEl>
                                          <p:spTgt spid="30722">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0722">
                                            <p:txEl>
                                              <p:pRg st="4" end="4"/>
                                            </p:txEl>
                                          </p:spTgt>
                                        </p:tgtEl>
                                        <p:attrNameLst>
                                          <p:attrName>style.visibility</p:attrName>
                                        </p:attrNameLst>
                                      </p:cBhvr>
                                      <p:to>
                                        <p:strVal val="visible"/>
                                      </p:to>
                                    </p:set>
                                    <p:animEffect transition="in" filter="blinds(horizontal)">
                                      <p:cBhvr>
                                        <p:cTn id="18" dur="500"/>
                                        <p:tgtEl>
                                          <p:spTgt spid="3072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0722">
                                            <p:txEl>
                                              <p:pRg st="5" end="5"/>
                                            </p:txEl>
                                          </p:spTgt>
                                        </p:tgtEl>
                                        <p:attrNameLst>
                                          <p:attrName>style.visibility</p:attrName>
                                        </p:attrNameLst>
                                      </p:cBhvr>
                                      <p:to>
                                        <p:strVal val="visible"/>
                                      </p:to>
                                    </p:set>
                                    <p:animEffect transition="in" filter="blinds(horizontal)">
                                      <p:cBhvr>
                                        <p:cTn id="23" dur="500"/>
                                        <p:tgtEl>
                                          <p:spTgt spid="30722">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0722">
                                            <p:txEl>
                                              <p:pRg st="6" end="6"/>
                                            </p:txEl>
                                          </p:spTgt>
                                        </p:tgtEl>
                                        <p:attrNameLst>
                                          <p:attrName>style.visibility</p:attrName>
                                        </p:attrNameLst>
                                      </p:cBhvr>
                                      <p:to>
                                        <p:strVal val="visible"/>
                                      </p:to>
                                    </p:set>
                                    <p:animEffect transition="in" filter="blinds(horizontal)">
                                      <p:cBhvr>
                                        <p:cTn id="26" dur="500"/>
                                        <p:tgtEl>
                                          <p:spTgt spid="30722">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0722">
                                            <p:txEl>
                                              <p:pRg st="7" end="7"/>
                                            </p:txEl>
                                          </p:spTgt>
                                        </p:tgtEl>
                                        <p:attrNameLst>
                                          <p:attrName>style.visibility</p:attrName>
                                        </p:attrNameLst>
                                      </p:cBhvr>
                                      <p:to>
                                        <p:strVal val="visible"/>
                                      </p:to>
                                    </p:set>
                                    <p:animEffect transition="in" filter="blinds(horizontal)">
                                      <p:cBhvr>
                                        <p:cTn id="31" dur="500"/>
                                        <p:tgtEl>
                                          <p:spTgt spid="30722">
                                            <p:txEl>
                                              <p:pRg st="7" end="7"/>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0722">
                                            <p:txEl>
                                              <p:pRg st="8" end="8"/>
                                            </p:txEl>
                                          </p:spTgt>
                                        </p:tgtEl>
                                        <p:attrNameLst>
                                          <p:attrName>style.visibility</p:attrName>
                                        </p:attrNameLst>
                                      </p:cBhvr>
                                      <p:to>
                                        <p:strVal val="visible"/>
                                      </p:to>
                                    </p:set>
                                    <p:animEffect transition="in" filter="blinds(horizontal)">
                                      <p:cBhvr>
                                        <p:cTn id="34" dur="500"/>
                                        <p:tgtEl>
                                          <p:spTgt spid="3072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1"/>
          <p:cNvSpPr>
            <a:spLocks noGrp="1"/>
          </p:cNvSpPr>
          <p:nvPr>
            <p:ph idx="4294967295"/>
          </p:nvPr>
        </p:nvSpPr>
        <p:spPr>
          <a:xfrm>
            <a:off x="608338" y="1264187"/>
            <a:ext cx="10945487" cy="4738974"/>
          </a:xfrm>
        </p:spPr>
        <p:txBody>
          <a:bodyPr>
            <a:normAutofit fontScale="92500" lnSpcReduction="10000"/>
          </a:bodyPr>
          <a:lstStyle/>
          <a:p>
            <a:pPr marL="0" indent="353060">
              <a:lnSpc>
                <a:spcPct val="120000"/>
              </a:lnSpc>
              <a:buNone/>
            </a:pPr>
            <a:r>
              <a:rPr lang="zh-CN" altLang="en-US" sz="3035" b="1" dirty="0">
                <a:latin typeface="宋体" panose="02010600030101010101" pitchFamily="2" charset="-122"/>
                <a:ea typeface="宋体" panose="02010600030101010101" pitchFamily="2" charset="-122"/>
              </a:rPr>
              <a:t>（</a:t>
            </a:r>
            <a:r>
              <a:rPr lang="en-US" altLang="zh-CN" sz="3035" b="1" dirty="0">
                <a:latin typeface="宋体" panose="02010600030101010101" pitchFamily="2" charset="-122"/>
                <a:ea typeface="宋体" panose="02010600030101010101" pitchFamily="2" charset="-122"/>
              </a:rPr>
              <a:t>2</a:t>
            </a:r>
            <a:r>
              <a:rPr lang="zh-CN" altLang="en-US" sz="3035" b="1" dirty="0">
                <a:latin typeface="宋体" panose="02010600030101010101" pitchFamily="2" charset="-122"/>
                <a:ea typeface="宋体" panose="02010600030101010101" pitchFamily="2" charset="-122"/>
              </a:rPr>
              <a:t>）数值型型数据转换成字符串数据</a:t>
            </a:r>
            <a:endParaRPr lang="zh-CN" altLang="en-US" sz="3035" b="1" dirty="0">
              <a:latin typeface="宋体" panose="02010600030101010101" pitchFamily="2" charset="-122"/>
              <a:ea typeface="宋体" panose="02010600030101010101" pitchFamily="2" charset="-122"/>
            </a:endParaRPr>
          </a:p>
          <a:p>
            <a:pPr marL="0" indent="353060">
              <a:lnSpc>
                <a:spcPct val="120000"/>
              </a:lnSpc>
              <a:buNone/>
            </a:pPr>
            <a:r>
              <a:rPr lang="zh-CN" altLang="en-US" sz="3035" b="1" dirty="0">
                <a:latin typeface="宋体" panose="02010600030101010101" pitchFamily="2" charset="-122"/>
                <a:ea typeface="宋体" panose="02010600030101010101" pitchFamily="2" charset="-122"/>
              </a:rPr>
              <a:t>⑤</a:t>
            </a:r>
            <a:r>
              <a:rPr lang="en-US" altLang="zh-CN" sz="3035" b="1" dirty="0">
                <a:latin typeface="宋体" panose="02010600030101010101" pitchFamily="2" charset="-122"/>
                <a:ea typeface="宋体" panose="02010600030101010101" pitchFamily="2" charset="-122"/>
              </a:rPr>
              <a:t>double</a:t>
            </a:r>
            <a:r>
              <a:rPr lang="zh-CN" altLang="en-US" sz="3035" b="1" dirty="0">
                <a:latin typeface="宋体" panose="02010600030101010101" pitchFamily="2" charset="-122"/>
                <a:ea typeface="宋体" panose="02010600030101010101" pitchFamily="2" charset="-122"/>
              </a:rPr>
              <a:t>型转换成字符型：</a:t>
            </a:r>
            <a:endParaRPr lang="en-US" altLang="zh-CN" sz="3035" b="1" dirty="0">
              <a:latin typeface="宋体" panose="02010600030101010101" pitchFamily="2" charset="-122"/>
              <a:ea typeface="宋体" panose="02010600030101010101" pitchFamily="2" charset="-122"/>
            </a:endParaRPr>
          </a:p>
          <a:p>
            <a:pPr marL="0" indent="353060">
              <a:lnSpc>
                <a:spcPct val="120000"/>
              </a:lnSpc>
              <a:buNone/>
            </a:pPr>
            <a:r>
              <a:rPr lang="en-US" altLang="zh-CN" sz="3035" b="1" dirty="0">
                <a:latin typeface="宋体" panose="02010600030101010101" pitchFamily="2" charset="-122"/>
                <a:ea typeface="宋体" panose="02010600030101010101" pitchFamily="2" charset="-122"/>
              </a:rPr>
              <a:t>String num = </a:t>
            </a:r>
            <a:r>
              <a:rPr lang="en-US" altLang="zh-CN" sz="3035" b="1" dirty="0" err="1">
                <a:latin typeface="宋体" panose="02010600030101010101" pitchFamily="2" charset="-122"/>
                <a:ea typeface="宋体" panose="02010600030101010101" pitchFamily="2" charset="-122"/>
              </a:rPr>
              <a:t>Double.toString</a:t>
            </a:r>
            <a:r>
              <a:rPr lang="en-US" altLang="zh-CN" sz="3035" b="1" dirty="0">
                <a:latin typeface="宋体" panose="02010600030101010101" pitchFamily="2" charset="-122"/>
                <a:ea typeface="宋体" panose="02010600030101010101" pitchFamily="2" charset="-122"/>
              </a:rPr>
              <a:t>(double n);</a:t>
            </a:r>
            <a:endParaRPr lang="zh-CN" altLang="en-US" sz="3035" b="1" dirty="0">
              <a:latin typeface="宋体" panose="02010600030101010101" pitchFamily="2" charset="-122"/>
              <a:ea typeface="宋体" panose="02010600030101010101" pitchFamily="2" charset="-122"/>
            </a:endParaRPr>
          </a:p>
          <a:p>
            <a:pPr marL="0" indent="353060">
              <a:lnSpc>
                <a:spcPct val="120000"/>
              </a:lnSpc>
              <a:buNone/>
            </a:pPr>
            <a:r>
              <a:rPr lang="zh-CN" altLang="en-US" sz="3035" b="1" dirty="0">
                <a:latin typeface="宋体" panose="02010600030101010101" pitchFamily="2" charset="-122"/>
                <a:ea typeface="宋体" panose="02010600030101010101" pitchFamily="2" charset="-122"/>
              </a:rPr>
              <a:t>如果字符串与其他类型的变量进行</a:t>
            </a:r>
            <a:r>
              <a:rPr lang="en-US" altLang="zh-CN" sz="3035" b="1" dirty="0">
                <a:latin typeface="宋体" panose="02010600030101010101" pitchFamily="2" charset="-122"/>
                <a:ea typeface="宋体" panose="02010600030101010101" pitchFamily="2" charset="-122"/>
              </a:rPr>
              <a:t>“+”</a:t>
            </a:r>
            <a:r>
              <a:rPr lang="zh-CN" altLang="en-US" sz="3035" b="1" dirty="0">
                <a:latin typeface="宋体" panose="02010600030101010101" pitchFamily="2" charset="-122"/>
                <a:ea typeface="宋体" panose="02010600030101010101" pitchFamily="2" charset="-122"/>
              </a:rPr>
              <a:t>运算，会涉及到数据类型的自动转换，系统需要将其他类型的数据转换为字符型。</a:t>
            </a:r>
            <a:endParaRPr lang="zh-CN" altLang="en-US" sz="3035" b="1" dirty="0">
              <a:latin typeface="宋体" panose="02010600030101010101" pitchFamily="2" charset="-122"/>
              <a:ea typeface="宋体" panose="02010600030101010101" pitchFamily="2" charset="-122"/>
            </a:endParaRPr>
          </a:p>
          <a:p>
            <a:pPr marL="0" indent="353060">
              <a:lnSpc>
                <a:spcPct val="120000"/>
              </a:lnSpc>
              <a:buNone/>
            </a:pPr>
            <a:r>
              <a:rPr lang="en-US" altLang="zh-CN" sz="3035" b="1" dirty="0">
                <a:latin typeface="宋体" panose="02010600030101010101" pitchFamily="2" charset="-122"/>
                <a:ea typeface="宋体" panose="02010600030101010101" pitchFamily="2" charset="-122"/>
              </a:rPr>
              <a:t>int </a:t>
            </a:r>
            <a:r>
              <a:rPr lang="en-US" altLang="zh-CN" sz="3035" b="1" dirty="0" err="1">
                <a:latin typeface="宋体" panose="02010600030101010101" pitchFamily="2" charset="-122"/>
                <a:ea typeface="宋体" panose="02010600030101010101" pitchFamily="2" charset="-122"/>
              </a:rPr>
              <a:t>i</a:t>
            </a:r>
            <a:r>
              <a:rPr lang="en-US" altLang="zh-CN" sz="3035" b="1" dirty="0">
                <a:latin typeface="宋体" panose="02010600030101010101" pitchFamily="2" charset="-122"/>
                <a:ea typeface="宋体" panose="02010600030101010101" pitchFamily="2" charset="-122"/>
              </a:rPr>
              <a:t>=10</a:t>
            </a:r>
            <a:r>
              <a:rPr lang="zh-CN" altLang="en-US" sz="3035" b="1" dirty="0">
                <a:latin typeface="宋体" panose="02010600030101010101" pitchFamily="2" charset="-122"/>
                <a:ea typeface="宋体" panose="02010600030101010101" pitchFamily="2" charset="-122"/>
              </a:rPr>
              <a:t>；</a:t>
            </a:r>
            <a:endParaRPr lang="zh-CN" altLang="en-US" sz="3035" b="1" dirty="0">
              <a:latin typeface="宋体" panose="02010600030101010101" pitchFamily="2" charset="-122"/>
              <a:ea typeface="宋体" panose="02010600030101010101" pitchFamily="2" charset="-122"/>
            </a:endParaRPr>
          </a:p>
          <a:p>
            <a:pPr marL="0" indent="353060">
              <a:lnSpc>
                <a:spcPct val="120000"/>
              </a:lnSpc>
              <a:buNone/>
            </a:pPr>
            <a:r>
              <a:rPr lang="en-US" altLang="zh-CN" sz="3035" b="1" dirty="0">
                <a:latin typeface="宋体" panose="02010600030101010101" pitchFamily="2" charset="-122"/>
                <a:ea typeface="宋体" panose="02010600030101010101" pitchFamily="2" charset="-122"/>
              </a:rPr>
              <a:t>String s=</a:t>
            </a:r>
            <a:r>
              <a:rPr lang="zh-CN" altLang="en-US" sz="3035" b="1" dirty="0">
                <a:latin typeface="宋体" panose="02010600030101010101" pitchFamily="2" charset="-122"/>
                <a:ea typeface="宋体" panose="02010600030101010101" pitchFamily="2" charset="-122"/>
              </a:rPr>
              <a:t>＂</a:t>
            </a:r>
            <a:r>
              <a:rPr lang="en-US" altLang="zh-CN" sz="3035" b="1" dirty="0" err="1">
                <a:latin typeface="宋体" panose="02010600030101010101" pitchFamily="2" charset="-122"/>
                <a:ea typeface="宋体" panose="02010600030101010101" pitchFamily="2" charset="-122"/>
              </a:rPr>
              <a:t>i</a:t>
            </a:r>
            <a:r>
              <a:rPr lang="en-US" altLang="zh-CN" sz="3035" b="1" dirty="0">
                <a:latin typeface="宋体" panose="02010600030101010101" pitchFamily="2" charset="-122"/>
                <a:ea typeface="宋体" panose="02010600030101010101" pitchFamily="2" charset="-122"/>
              </a:rPr>
              <a:t>=</a:t>
            </a:r>
            <a:r>
              <a:rPr lang="zh-CN" altLang="en-US" sz="3035" b="1" dirty="0">
                <a:latin typeface="宋体" panose="02010600030101010101" pitchFamily="2" charset="-122"/>
                <a:ea typeface="宋体" panose="02010600030101010101" pitchFamily="2" charset="-122"/>
              </a:rPr>
              <a:t>＂</a:t>
            </a:r>
            <a:r>
              <a:rPr lang="en-US" altLang="zh-CN" sz="3035" b="1" dirty="0">
                <a:latin typeface="宋体" panose="02010600030101010101" pitchFamily="2" charset="-122"/>
                <a:ea typeface="宋体" panose="02010600030101010101" pitchFamily="2" charset="-122"/>
              </a:rPr>
              <a:t>+</a:t>
            </a:r>
            <a:r>
              <a:rPr lang="en-US" altLang="zh-CN" sz="3035" b="1" dirty="0" err="1">
                <a:latin typeface="宋体" panose="02010600030101010101" pitchFamily="2" charset="-122"/>
                <a:ea typeface="宋体" panose="02010600030101010101" pitchFamily="2" charset="-122"/>
              </a:rPr>
              <a:t>i</a:t>
            </a:r>
            <a:r>
              <a:rPr lang="zh-CN" altLang="en-US" sz="3035" b="1" dirty="0">
                <a:latin typeface="宋体" panose="02010600030101010101" pitchFamily="2" charset="-122"/>
                <a:ea typeface="宋体" panose="02010600030101010101" pitchFamily="2" charset="-122"/>
              </a:rPr>
              <a:t>；</a:t>
            </a:r>
            <a:r>
              <a:rPr lang="en-US" altLang="zh-CN" sz="3035" b="1" dirty="0">
                <a:latin typeface="宋体" panose="02010600030101010101" pitchFamily="2" charset="-122"/>
                <a:ea typeface="宋体" panose="02010600030101010101" pitchFamily="2" charset="-122"/>
              </a:rPr>
              <a:t>//</a:t>
            </a:r>
            <a:r>
              <a:rPr lang="zh-CN" altLang="en-US" sz="3035" b="1" dirty="0">
                <a:latin typeface="宋体" panose="02010600030101010101" pitchFamily="2" charset="-122"/>
                <a:ea typeface="宋体" panose="02010600030101010101" pitchFamily="2" charset="-122"/>
              </a:rPr>
              <a:t>字符串</a:t>
            </a:r>
            <a:r>
              <a:rPr lang="en-US" altLang="zh-CN" sz="3035" b="1" dirty="0">
                <a:latin typeface="宋体" panose="02010600030101010101" pitchFamily="2" charset="-122"/>
                <a:ea typeface="宋体" panose="02010600030101010101" pitchFamily="2" charset="-122"/>
              </a:rPr>
              <a:t>s</a:t>
            </a:r>
            <a:r>
              <a:rPr lang="zh-CN" altLang="en-US" sz="3035" b="1" dirty="0">
                <a:latin typeface="宋体" panose="02010600030101010101" pitchFamily="2" charset="-122"/>
                <a:ea typeface="宋体" panose="02010600030101010101" pitchFamily="2" charset="-122"/>
              </a:rPr>
              <a:t>的值为＂</a:t>
            </a:r>
            <a:r>
              <a:rPr lang="en-US" altLang="zh-CN" sz="3035" b="1" dirty="0" err="1">
                <a:latin typeface="宋体" panose="02010600030101010101" pitchFamily="2" charset="-122"/>
                <a:ea typeface="宋体" panose="02010600030101010101" pitchFamily="2" charset="-122"/>
              </a:rPr>
              <a:t>i</a:t>
            </a:r>
            <a:r>
              <a:rPr lang="en-US" altLang="zh-CN" sz="3035" b="1" dirty="0">
                <a:latin typeface="宋体" panose="02010600030101010101" pitchFamily="2" charset="-122"/>
                <a:ea typeface="宋体" panose="02010600030101010101" pitchFamily="2" charset="-122"/>
              </a:rPr>
              <a:t>=10</a:t>
            </a:r>
            <a:r>
              <a:rPr lang="zh-CN" altLang="en-US" sz="3035" b="1" dirty="0">
                <a:latin typeface="宋体" panose="02010600030101010101" pitchFamily="2" charset="-122"/>
                <a:ea typeface="宋体" panose="02010600030101010101" pitchFamily="2" charset="-122"/>
              </a:rPr>
              <a:t>＂</a:t>
            </a:r>
            <a:endParaRPr lang="zh-CN" altLang="en-US" sz="3035" b="1" dirty="0">
              <a:latin typeface="宋体" panose="02010600030101010101" pitchFamily="2" charset="-122"/>
              <a:ea typeface="宋体" panose="02010600030101010101" pitchFamily="2" charset="-122"/>
            </a:endParaRPr>
          </a:p>
          <a:p>
            <a:pPr marL="0" indent="353060">
              <a:buNone/>
            </a:pPr>
            <a:endParaRPr lang="zh-CN" altLang="en-US" sz="3035" b="1" dirty="0">
              <a:latin typeface="宋体" panose="02010600030101010101" pitchFamily="2" charset="-122"/>
              <a:ea typeface="宋体" panose="02010600030101010101" pitchFamily="2" charset="-122"/>
            </a:endParaRPr>
          </a:p>
        </p:txBody>
      </p:sp>
      <p:sp>
        <p:nvSpPr>
          <p:cNvPr id="3" name="标题 2"/>
          <p:cNvSpPr txBox="1"/>
          <p:nvPr/>
        </p:nvSpPr>
        <p:spPr>
          <a:xfrm>
            <a:off x="109365" y="0"/>
            <a:ext cx="8407247"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3470" dirty="0"/>
              <a:t>2.5.3</a:t>
            </a:r>
            <a:r>
              <a:rPr lang="zh-CN" altLang="en-US" sz="3470" dirty="0"/>
              <a:t>字符串型数据与数值型数据相互转换</a:t>
            </a:r>
            <a:endParaRPr lang="zh-CN" altLang="en-US" sz="347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746">
                                            <p:txEl>
                                              <p:pRg st="1" end="1"/>
                                            </p:txEl>
                                          </p:spTgt>
                                        </p:tgtEl>
                                        <p:attrNameLst>
                                          <p:attrName>style.visibility</p:attrName>
                                        </p:attrNameLst>
                                      </p:cBhvr>
                                      <p:to>
                                        <p:strVal val="visible"/>
                                      </p:to>
                                    </p:set>
                                    <p:animEffect transition="in" filter="blinds(horizontal)">
                                      <p:cBhvr>
                                        <p:cTn id="7" dur="500"/>
                                        <p:tgtEl>
                                          <p:spTgt spid="31746">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1746">
                                            <p:txEl>
                                              <p:pRg st="2" end="2"/>
                                            </p:txEl>
                                          </p:spTgt>
                                        </p:tgtEl>
                                        <p:attrNameLst>
                                          <p:attrName>style.visibility</p:attrName>
                                        </p:attrNameLst>
                                      </p:cBhvr>
                                      <p:to>
                                        <p:strVal val="visible"/>
                                      </p:to>
                                    </p:set>
                                    <p:animEffect transition="in" filter="blinds(horizontal)">
                                      <p:cBhvr>
                                        <p:cTn id="10" dur="500"/>
                                        <p:tgtEl>
                                          <p:spTgt spid="3174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1746">
                                            <p:txEl>
                                              <p:pRg st="3" end="3"/>
                                            </p:txEl>
                                          </p:spTgt>
                                        </p:tgtEl>
                                        <p:attrNameLst>
                                          <p:attrName>style.visibility</p:attrName>
                                        </p:attrNameLst>
                                      </p:cBhvr>
                                      <p:to>
                                        <p:strVal val="visible"/>
                                      </p:to>
                                    </p:set>
                                    <p:animEffect transition="in" filter="blinds(horizontal)">
                                      <p:cBhvr>
                                        <p:cTn id="15" dur="500"/>
                                        <p:tgtEl>
                                          <p:spTgt spid="31746">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1746">
                                            <p:txEl>
                                              <p:pRg st="4" end="4"/>
                                            </p:txEl>
                                          </p:spTgt>
                                        </p:tgtEl>
                                        <p:attrNameLst>
                                          <p:attrName>style.visibility</p:attrName>
                                        </p:attrNameLst>
                                      </p:cBhvr>
                                      <p:to>
                                        <p:strVal val="visible"/>
                                      </p:to>
                                    </p:set>
                                    <p:animEffect transition="in" filter="blinds(horizontal)">
                                      <p:cBhvr>
                                        <p:cTn id="18" dur="500"/>
                                        <p:tgtEl>
                                          <p:spTgt spid="31746">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1746">
                                            <p:txEl>
                                              <p:pRg st="5" end="5"/>
                                            </p:txEl>
                                          </p:spTgt>
                                        </p:tgtEl>
                                        <p:attrNameLst>
                                          <p:attrName>style.visibility</p:attrName>
                                        </p:attrNameLst>
                                      </p:cBhvr>
                                      <p:to>
                                        <p:strVal val="visible"/>
                                      </p:to>
                                    </p:set>
                                    <p:animEffect transition="in" filter="blinds(horizontal)">
                                      <p:cBhvr>
                                        <p:cTn id="21" dur="500"/>
                                        <p:tgtEl>
                                          <p:spTgt spid="3174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8261" y="152161"/>
            <a:ext cx="9601200" cy="1142385"/>
          </a:xfrm>
        </p:spPr>
        <p:txBody>
          <a:bodyPr/>
          <a:lstStyle/>
          <a:p>
            <a:r>
              <a:rPr lang="zh-CN" altLang="en-US" dirty="0"/>
              <a:t>练习</a:t>
            </a:r>
            <a:endParaRPr lang="zh-CN" altLang="en-US" dirty="0"/>
          </a:p>
        </p:txBody>
      </p:sp>
      <p:sp>
        <p:nvSpPr>
          <p:cNvPr id="3" name="内容占位符 2"/>
          <p:cNvSpPr>
            <a:spLocks noGrp="1"/>
          </p:cNvSpPr>
          <p:nvPr>
            <p:ph idx="1"/>
          </p:nvPr>
        </p:nvSpPr>
        <p:spPr>
          <a:xfrm>
            <a:off x="533399" y="1500555"/>
            <a:ext cx="10908324" cy="3809999"/>
          </a:xfrm>
        </p:spPr>
        <p:txBody>
          <a:bodyPr>
            <a:normAutofit/>
          </a:bodyPr>
          <a:lstStyle/>
          <a:p>
            <a:pPr marL="0" indent="0">
              <a:buNone/>
            </a:pP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、定义一个</a:t>
            </a:r>
            <a:r>
              <a:rPr lang="en-US" altLang="zh-CN" sz="2800" dirty="0">
                <a:latin typeface="宋体" panose="02010600030101010101" pitchFamily="2" charset="-122"/>
                <a:ea typeface="宋体" panose="02010600030101010101" pitchFamily="2" charset="-122"/>
              </a:rPr>
              <a:t>double</a:t>
            </a:r>
            <a:r>
              <a:rPr lang="zh-CN" altLang="en-US" sz="2800" dirty="0">
                <a:latin typeface="宋体" panose="02010600030101010101" pitchFamily="2" charset="-122"/>
                <a:ea typeface="宋体" panose="02010600030101010101" pitchFamily="2" charset="-122"/>
              </a:rPr>
              <a:t>类型数据，将其转换为整型打印。</a:t>
            </a:r>
            <a:endParaRPr lang="en-US" altLang="zh-CN"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、已知可以通过</a:t>
            </a:r>
            <a:r>
              <a:rPr lang="en-US" altLang="zh-CN" sz="2800" dirty="0" err="1">
                <a:latin typeface="宋体" panose="02010600030101010101" pitchFamily="2" charset="-122"/>
                <a:ea typeface="宋体" panose="02010600030101010101" pitchFamily="2" charset="-122"/>
              </a:rPr>
              <a:t>Math.random</a:t>
            </a:r>
            <a:r>
              <a:rPr lang="zh-CN" altLang="en-US" sz="2800" dirty="0">
                <a:latin typeface="宋体" panose="02010600030101010101" pitchFamily="2" charset="-122"/>
                <a:ea typeface="宋体" panose="02010600030101010101" pitchFamily="2" charset="-122"/>
              </a:rPr>
              <a:t>（）获取一个</a:t>
            </a:r>
            <a:r>
              <a:rPr lang="en-US" altLang="zh-CN" sz="2800" dirty="0">
                <a:latin typeface="宋体" panose="02010600030101010101" pitchFamily="2" charset="-122"/>
                <a:ea typeface="宋体" panose="02010600030101010101" pitchFamily="2" charset="-122"/>
              </a:rPr>
              <a:t>0~1</a:t>
            </a:r>
            <a:r>
              <a:rPr lang="zh-CN" altLang="en-US" sz="2800" dirty="0">
                <a:latin typeface="宋体" panose="02010600030101010101" pitchFamily="2" charset="-122"/>
                <a:ea typeface="宋体" panose="02010600030101010101" pitchFamily="2" charset="-122"/>
              </a:rPr>
              <a:t>的</a:t>
            </a:r>
            <a:r>
              <a:rPr lang="en-US" altLang="zh-CN" sz="2800" dirty="0">
                <a:latin typeface="宋体" panose="02010600030101010101" pitchFamily="2" charset="-122"/>
                <a:ea typeface="宋体" panose="02010600030101010101" pitchFamily="2" charset="-122"/>
              </a:rPr>
              <a:t>double</a:t>
            </a:r>
            <a:r>
              <a:rPr lang="zh-CN" altLang="en-US" sz="2800" dirty="0">
                <a:latin typeface="宋体" panose="02010600030101010101" pitchFamily="2" charset="-122"/>
                <a:ea typeface="宋体" panose="02010600030101010101" pitchFamily="2" charset="-122"/>
              </a:rPr>
              <a:t>型随机数；要求：</a:t>
            </a:r>
            <a:endParaRPr lang="en-US" altLang="zh-CN"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）生成一个</a:t>
            </a:r>
            <a:r>
              <a:rPr lang="en-US" altLang="zh-CN" sz="2800" dirty="0">
                <a:latin typeface="宋体" panose="02010600030101010101" pitchFamily="2" charset="-122"/>
                <a:ea typeface="宋体" panose="02010600030101010101" pitchFamily="2" charset="-122"/>
              </a:rPr>
              <a:t>1~100</a:t>
            </a:r>
            <a:r>
              <a:rPr lang="zh-CN" altLang="en-US" sz="2800" dirty="0">
                <a:latin typeface="宋体" panose="02010600030101010101" pitchFamily="2" charset="-122"/>
                <a:ea typeface="宋体" panose="02010600030101010101" pitchFamily="2" charset="-122"/>
              </a:rPr>
              <a:t>的整型随机数。</a:t>
            </a:r>
            <a:endParaRPr lang="en-US" altLang="zh-CN"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）生成一个</a:t>
            </a:r>
            <a:r>
              <a:rPr lang="en-US" altLang="zh-CN" sz="2800" dirty="0">
                <a:latin typeface="宋体" panose="02010600030101010101" pitchFamily="2" charset="-122"/>
                <a:ea typeface="宋体" panose="02010600030101010101" pitchFamily="2" charset="-122"/>
              </a:rPr>
              <a:t>50~100</a:t>
            </a:r>
            <a:r>
              <a:rPr lang="zh-CN" altLang="en-US" sz="2800" dirty="0">
                <a:latin typeface="宋体" panose="02010600030101010101" pitchFamily="2" charset="-122"/>
                <a:ea typeface="宋体" panose="02010600030101010101" pitchFamily="2" charset="-122"/>
              </a:rPr>
              <a:t>的</a:t>
            </a:r>
            <a:r>
              <a:rPr lang="en-US" altLang="zh-CN" sz="2800" dirty="0">
                <a:latin typeface="宋体" panose="02010600030101010101" pitchFamily="2" charset="-122"/>
                <a:ea typeface="宋体" panose="02010600030101010101" pitchFamily="2" charset="-122"/>
              </a:rPr>
              <a:t>double</a:t>
            </a:r>
            <a:r>
              <a:rPr lang="zh-CN" altLang="en-US" sz="2800" dirty="0">
                <a:latin typeface="宋体" panose="02010600030101010101" pitchFamily="2" charset="-122"/>
                <a:ea typeface="宋体" panose="02010600030101010101" pitchFamily="2" charset="-122"/>
              </a:rPr>
              <a:t>型随机数。</a:t>
            </a: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2"/>
          <p:cNvSpPr>
            <a:spLocks noGrp="1"/>
          </p:cNvSpPr>
          <p:nvPr>
            <p:ph type="title" idx="4294967295"/>
          </p:nvPr>
        </p:nvSpPr>
        <p:spPr>
          <a:xfrm>
            <a:off x="84463" y="861611"/>
            <a:ext cx="8147318" cy="914055"/>
          </a:xfrm>
        </p:spPr>
        <p:txBody>
          <a:bodyPr/>
          <a:lstStyle/>
          <a:p>
            <a:pPr algn="l"/>
            <a:r>
              <a:rPr lang="en-US" altLang="zh-CN" dirty="0"/>
              <a:t>2.6.1 </a:t>
            </a:r>
            <a:r>
              <a:rPr lang="zh-CN" altLang="en-US" dirty="0"/>
              <a:t>算术运算符及其表达式</a:t>
            </a:r>
            <a:endParaRPr lang="zh-CN" altLang="en-US" dirty="0"/>
          </a:p>
        </p:txBody>
      </p:sp>
      <p:graphicFrame>
        <p:nvGraphicFramePr>
          <p:cNvPr id="32771" name="Group 3"/>
          <p:cNvGraphicFramePr>
            <a:graphicFrameLocks noGrp="1"/>
          </p:cNvGraphicFramePr>
          <p:nvPr>
            <p:custDataLst>
              <p:tags r:id="rId1"/>
            </p:custDataLst>
          </p:nvPr>
        </p:nvGraphicFramePr>
        <p:xfrm>
          <a:off x="3909841" y="2101812"/>
          <a:ext cx="3557905" cy="3215640"/>
        </p:xfrm>
        <a:graphic>
          <a:graphicData uri="http://schemas.openxmlformats.org/drawingml/2006/table">
            <a:tbl>
              <a:tblPr/>
              <a:tblGrid>
                <a:gridCol w="1778192"/>
                <a:gridCol w="1779905"/>
              </a:tblGrid>
              <a:tr h="396550">
                <a:tc>
                  <a:txBody>
                    <a:bodyPr/>
                    <a:lstStyle/>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sz="2200" b="1" i="0" u="none" strike="noStrike" cap="none" normalizeH="0" baseline="0">
                          <a:ln>
                            <a:noFill/>
                          </a:ln>
                          <a:solidFill>
                            <a:srgbClr val="080001"/>
                          </a:solidFill>
                          <a:effectLst/>
                          <a:latin typeface="Times New Roman" panose="02020603050405020304" pitchFamily="18" charset="0"/>
                          <a:ea typeface="宋体" panose="02010600030101010101" pitchFamily="2" charset="-122"/>
                          <a:cs typeface="Times New Roman" panose="02020603050405020304" pitchFamily="18" charset="0"/>
                        </a:rPr>
                        <a:t>算术运算符</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sz="2200" b="1" i="0" u="none" strike="noStrike" cap="none" normalizeH="0" baseline="0">
                          <a:ln>
                            <a:noFill/>
                          </a:ln>
                          <a:solidFill>
                            <a:srgbClr val="080001"/>
                          </a:solidFill>
                          <a:effectLst/>
                          <a:latin typeface="Times New Roman" panose="02020603050405020304" pitchFamily="18" charset="0"/>
                          <a:ea typeface="宋体" panose="02010600030101010101" pitchFamily="2" charset="-122"/>
                          <a:cs typeface="Times New Roman" panose="02020603050405020304" pitchFamily="18" charset="0"/>
                        </a:rPr>
                        <a:t>意</a:t>
                      </a:r>
                      <a:r>
                        <a:rPr kumimoji="0" lang="zh-CN" sz="2200" b="1" i="0" u="none" strike="noStrike" cap="none" normalizeH="0" baseline="0">
                          <a:ln>
                            <a:noFill/>
                          </a:ln>
                          <a:solidFill>
                            <a:srgbClr val="080001"/>
                          </a:solidFill>
                          <a:effectLst/>
                          <a:latin typeface="Calibri" panose="020F0502020204030204" pitchFamily="34" charset="0"/>
                          <a:ea typeface="宋体" panose="02010600030101010101" pitchFamily="2" charset="-122"/>
                          <a:cs typeface="Times New Roman" panose="02020603050405020304" pitchFamily="18" charset="0"/>
                        </a:rPr>
                        <a:t>   </a:t>
                      </a:r>
                      <a:r>
                        <a:rPr kumimoji="0" lang="zh-CN" sz="2200" b="1" i="0" u="none" strike="noStrike" cap="none" normalizeH="0" baseline="0">
                          <a:ln>
                            <a:noFill/>
                          </a:ln>
                          <a:solidFill>
                            <a:srgbClr val="080001"/>
                          </a:solidFill>
                          <a:effectLst/>
                          <a:latin typeface="Times New Roman" panose="02020603050405020304" pitchFamily="18" charset="0"/>
                          <a:ea typeface="宋体" panose="02010600030101010101" pitchFamily="2" charset="-122"/>
                          <a:cs typeface="Times New Roman" panose="02020603050405020304" pitchFamily="18" charset="0"/>
                        </a:rPr>
                        <a:t>义</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r>
              <a:tr h="399304">
                <a:tc>
                  <a:txBody>
                    <a:bodyPr/>
                    <a:lstStyle/>
                    <a:p>
                      <a:pPr marL="1492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加法</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550">
                <a:tc>
                  <a:txBody>
                    <a:bodyPr/>
                    <a:lstStyle/>
                    <a:p>
                      <a:pPr marL="1619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减法</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550">
                <a:tc>
                  <a:txBody>
                    <a:bodyPr/>
                    <a:lstStyle/>
                    <a:p>
                      <a:pPr marL="1619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乘法</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7583">
                <a:tc>
                  <a:txBody>
                    <a:bodyPr/>
                    <a:lstStyle/>
                    <a:p>
                      <a:pPr marL="1619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除法</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7583">
                <a:tc>
                  <a:txBody>
                    <a:bodyPr/>
                    <a:lstStyle/>
                    <a:p>
                      <a:pPr marL="1619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余数</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7583">
                <a:tc>
                  <a:txBody>
                    <a:bodyPr/>
                    <a:p>
                      <a:pPr marL="161925" marR="0" lvl="0" indent="0" algn="ctr" defTabSz="914400" rtl="0" eaLnBrk="1" fontAlgn="base" latinLnBrk="0" hangingPunct="1">
                        <a:lnSpc>
                          <a:spcPct val="100000"/>
                        </a:lnSpc>
                        <a:spcBef>
                          <a:spcPct val="0"/>
                        </a:spcBef>
                        <a:spcAft>
                          <a:spcPct val="0"/>
                        </a:spcAft>
                        <a:buClrTx/>
                        <a:buSzTx/>
                        <a:buFont typeface="Monotype Sorts" pitchFamily="2" charset="2"/>
                        <a:buNone/>
                      </a:pPr>
                      <a:r>
                        <a:rPr lang="en-US" sz="2200" b="1">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自增</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7583">
                <a:tc>
                  <a:txBody>
                    <a:bodyPr/>
                    <a:p>
                      <a:pPr marL="161925" marR="0" lvl="0" indent="0" algn="ctr" defTabSz="914400" rtl="0" eaLnBrk="1" fontAlgn="base" latinLnBrk="0" hangingPunct="1">
                        <a:lnSpc>
                          <a:spcPct val="100000"/>
                        </a:lnSpc>
                        <a:spcBef>
                          <a:spcPct val="0"/>
                        </a:spcBef>
                        <a:spcAft>
                          <a:spcPct val="0"/>
                        </a:spcAft>
                        <a:buClrTx/>
                        <a:buSzTx/>
                        <a:buFont typeface="Monotype Sorts" pitchFamily="2" charset="2"/>
                        <a:buNone/>
                      </a:pPr>
                      <a:r>
                        <a:rPr lang="en-US" sz="2200" b="1">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自减</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1770" name="标题 2"/>
          <p:cNvSpPr txBox="1">
            <a:spLocks noChangeArrowheads="1"/>
          </p:cNvSpPr>
          <p:nvPr/>
        </p:nvSpPr>
        <p:spPr bwMode="auto">
          <a:xfrm>
            <a:off x="1863114" y="304686"/>
            <a:ext cx="8147317" cy="914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buFont typeface="Monotype Sorts" pitchFamily="2" charset="2"/>
              <a:buNone/>
            </a:pPr>
            <a:r>
              <a:rPr lang="en-US" altLang="zh-CN" sz="4120" dirty="0">
                <a:solidFill>
                  <a:srgbClr val="993300"/>
                </a:solidFill>
                <a:latin typeface="微软雅黑" panose="020B0503020204020204" pitchFamily="34" charset="-122"/>
                <a:ea typeface="微软雅黑" panose="020B0503020204020204" pitchFamily="34" charset="-122"/>
              </a:rPr>
              <a:t>2.6</a:t>
            </a:r>
            <a:r>
              <a:rPr lang="zh-CN" altLang="en-US" sz="4120" dirty="0">
                <a:solidFill>
                  <a:srgbClr val="993300"/>
                </a:solidFill>
                <a:latin typeface="微软雅黑" panose="020B0503020204020204" pitchFamily="34" charset="-122"/>
                <a:ea typeface="微软雅黑" panose="020B0503020204020204" pitchFamily="34" charset="-122"/>
              </a:rPr>
              <a:t>运算符与表达式</a:t>
            </a:r>
            <a:endParaRPr lang="zh-CN" altLang="en-US" sz="4120" dirty="0">
              <a:solidFill>
                <a:srgbClr val="9933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2"/>
          <p:cNvSpPr>
            <a:spLocks noGrp="1"/>
          </p:cNvSpPr>
          <p:nvPr>
            <p:ph type="title" idx="4294967295"/>
          </p:nvPr>
        </p:nvSpPr>
        <p:spPr>
          <a:xfrm>
            <a:off x="294013" y="485432"/>
            <a:ext cx="8147318" cy="914055"/>
          </a:xfrm>
        </p:spPr>
        <p:txBody>
          <a:bodyPr/>
          <a:lstStyle/>
          <a:p>
            <a:r>
              <a:rPr lang="en-US" altLang="zh-CN" dirty="0"/>
              <a:t>2.6.2 </a:t>
            </a:r>
            <a:r>
              <a:rPr lang="zh-CN" altLang="en-US" dirty="0"/>
              <a:t>关系运算符及其表达式</a:t>
            </a:r>
            <a:endParaRPr lang="zh-CN" altLang="en-US" dirty="0"/>
          </a:p>
        </p:txBody>
      </p:sp>
      <p:graphicFrame>
        <p:nvGraphicFramePr>
          <p:cNvPr id="33795" name="Group 3"/>
          <p:cNvGraphicFramePr>
            <a:graphicFrameLocks noGrp="1"/>
          </p:cNvGraphicFramePr>
          <p:nvPr/>
        </p:nvGraphicFramePr>
        <p:xfrm>
          <a:off x="4190083" y="1904312"/>
          <a:ext cx="3136365" cy="2408077"/>
        </p:xfrm>
        <a:graphic>
          <a:graphicData uri="http://schemas.openxmlformats.org/drawingml/2006/table">
            <a:tbl>
              <a:tblPr/>
              <a:tblGrid>
                <a:gridCol w="1568183"/>
                <a:gridCol w="1568182"/>
              </a:tblGrid>
              <a:tr h="396397">
                <a:tc>
                  <a:txBody>
                    <a:bodyPr/>
                    <a:lstStyle/>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sz="2200" b="1" i="0" u="none" strike="noStrike" cap="none" normalizeH="0" baseline="0">
                          <a:ln>
                            <a:noFill/>
                          </a:ln>
                          <a:solidFill>
                            <a:srgbClr val="080001"/>
                          </a:solidFill>
                          <a:effectLst/>
                          <a:latin typeface="宋体" panose="02010600030101010101" pitchFamily="2" charset="-122"/>
                          <a:ea typeface="宋体" panose="02010600030101010101" pitchFamily="2" charset="-122"/>
                          <a:cs typeface="Times New Roman" panose="02020603050405020304" pitchFamily="18" charset="0"/>
                        </a:rPr>
                        <a:t>算术运算符</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sz="2200" b="1" i="0" u="none" strike="noStrike" cap="none" normalizeH="0" baseline="0">
                          <a:ln>
                            <a:noFill/>
                          </a:ln>
                          <a:solidFill>
                            <a:srgbClr val="080001"/>
                          </a:solidFill>
                          <a:effectLst/>
                          <a:latin typeface="宋体" panose="02010600030101010101" pitchFamily="2" charset="-122"/>
                          <a:ea typeface="宋体" panose="02010600030101010101" pitchFamily="2" charset="-122"/>
                          <a:cs typeface="Times New Roman" panose="02020603050405020304" pitchFamily="18" charset="0"/>
                        </a:rPr>
                        <a:t>意   义</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r>
              <a:tr h="330506">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&gt;</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大于</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0506">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&lt;</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小于</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0506">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&gt;=</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大于等于</a:t>
                      </a:r>
                      <a:endParaRPr kumimoji="0" lang="zh-CN"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0506">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&lt;=</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小于等于</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0506">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等于</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0506">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不等于</a:t>
                      </a:r>
                      <a:endParaRPr kumimoji="0" lang="zh-CN"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2"/>
          <p:cNvSpPr>
            <a:spLocks noGrp="1"/>
          </p:cNvSpPr>
          <p:nvPr>
            <p:ph type="title" idx="4294967295"/>
          </p:nvPr>
        </p:nvSpPr>
        <p:spPr>
          <a:xfrm>
            <a:off x="427363" y="733311"/>
            <a:ext cx="8147318" cy="914055"/>
          </a:xfrm>
        </p:spPr>
        <p:txBody>
          <a:bodyPr/>
          <a:lstStyle/>
          <a:p>
            <a:r>
              <a:rPr lang="en-US" altLang="zh-CN" dirty="0"/>
              <a:t>2.6.3 </a:t>
            </a:r>
            <a:r>
              <a:rPr lang="zh-CN" altLang="en-US" dirty="0"/>
              <a:t>逻辑运算符及其表达式</a:t>
            </a:r>
            <a:endParaRPr lang="zh-CN" altLang="en-US" dirty="0"/>
          </a:p>
        </p:txBody>
      </p:sp>
      <p:graphicFrame>
        <p:nvGraphicFramePr>
          <p:cNvPr id="34819" name="Group 3"/>
          <p:cNvGraphicFramePr>
            <a:graphicFrameLocks noGrp="1"/>
          </p:cNvGraphicFramePr>
          <p:nvPr/>
        </p:nvGraphicFramePr>
        <p:xfrm>
          <a:off x="4402157" y="1907296"/>
          <a:ext cx="3136365" cy="1066748"/>
        </p:xfrm>
        <a:graphic>
          <a:graphicData uri="http://schemas.openxmlformats.org/drawingml/2006/table">
            <a:tbl>
              <a:tblPr/>
              <a:tblGrid>
                <a:gridCol w="1568183"/>
                <a:gridCol w="1568182"/>
              </a:tblGrid>
              <a:tr h="396188">
                <a:tc>
                  <a:txBody>
                    <a:bodyPr/>
                    <a:lstStyle/>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sz="2200" b="1" i="0" u="none" strike="noStrike" cap="none" normalizeH="0" baseline="0">
                          <a:ln>
                            <a:noFill/>
                          </a:ln>
                          <a:solidFill>
                            <a:srgbClr val="080001"/>
                          </a:solidFill>
                          <a:effectLst/>
                          <a:latin typeface="Times New Roman" panose="02020603050405020304" pitchFamily="18" charset="0"/>
                          <a:ea typeface="宋体" panose="02010600030101010101" pitchFamily="2" charset="-122"/>
                          <a:cs typeface="Times New Roman" panose="02020603050405020304" pitchFamily="18" charset="0"/>
                        </a:rPr>
                        <a:t>逻辑运算符</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sz="2200" b="1" i="0" u="none" strike="noStrike" cap="none" normalizeH="0" baseline="0">
                          <a:ln>
                            <a:noFill/>
                          </a:ln>
                          <a:solidFill>
                            <a:srgbClr val="080001"/>
                          </a:solidFill>
                          <a:effectLst/>
                          <a:latin typeface="Times New Roman" panose="02020603050405020304" pitchFamily="18" charset="0"/>
                          <a:ea typeface="宋体" panose="02010600030101010101" pitchFamily="2" charset="-122"/>
                          <a:cs typeface="Times New Roman" panose="02020603050405020304" pitchFamily="18" charset="0"/>
                        </a:rPr>
                        <a:t>意</a:t>
                      </a:r>
                      <a:r>
                        <a:rPr kumimoji="0" lang="zh-CN" sz="2200" b="1" i="0" u="none" strike="noStrike" cap="none" normalizeH="0" baseline="0">
                          <a:ln>
                            <a:noFill/>
                          </a:ln>
                          <a:solidFill>
                            <a:srgbClr val="080001"/>
                          </a:solidFill>
                          <a:effectLst/>
                          <a:latin typeface="Calibri" panose="020F0502020204030204" pitchFamily="34" charset="0"/>
                          <a:ea typeface="宋体" panose="02010600030101010101" pitchFamily="2" charset="-122"/>
                          <a:cs typeface="Times New Roman" panose="02020603050405020304" pitchFamily="18" charset="0"/>
                        </a:rPr>
                        <a:t>   </a:t>
                      </a:r>
                      <a:r>
                        <a:rPr kumimoji="0" lang="zh-CN" sz="2200" b="1" i="0" u="none" strike="noStrike" cap="none" normalizeH="0" baseline="0">
                          <a:ln>
                            <a:noFill/>
                          </a:ln>
                          <a:solidFill>
                            <a:srgbClr val="080001"/>
                          </a:solidFill>
                          <a:effectLst/>
                          <a:latin typeface="Times New Roman" panose="02020603050405020304" pitchFamily="18" charset="0"/>
                          <a:ea typeface="宋体" panose="02010600030101010101" pitchFamily="2" charset="-122"/>
                          <a:cs typeface="Times New Roman" panose="02020603050405020304" pitchFamily="18" charset="0"/>
                        </a:rPr>
                        <a:t>义</a:t>
                      </a:r>
                      <a:endParaRPr kumimoji="0" lang="zh-CN"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r>
              <a:tr h="330506">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&amp;&amp;</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75"/>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AND</a:t>
                      </a:r>
                      <a:r>
                        <a:rPr kumimoji="0"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0506">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2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75"/>
                        </a:lnSpc>
                        <a:spcBef>
                          <a:spcPct val="0"/>
                        </a:spcBef>
                        <a:spcAft>
                          <a:spcPct val="0"/>
                        </a:spcAft>
                        <a:buClrTx/>
                        <a:buSzTx/>
                        <a:buFont typeface="Monotype Sorts" pitchFamily="2" charset="2"/>
                        <a:buNone/>
                      </a:pPr>
                      <a:r>
                        <a:rPr kumimoji="0" 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OR</a:t>
                      </a:r>
                      <a:r>
                        <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，或</a:t>
                      </a:r>
                      <a:endParaRPr kumimoji="0" lang="zh-CN" altLang="en-US" sz="22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 marR="4993"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 name="文本框 1"/>
          <p:cNvSpPr txBox="1"/>
          <p:nvPr/>
        </p:nvSpPr>
        <p:spPr>
          <a:xfrm>
            <a:off x="1104900" y="3989705"/>
            <a:ext cx="4447540" cy="1198880"/>
          </a:xfrm>
          <a:prstGeom prst="rect">
            <a:avLst/>
          </a:prstGeom>
          <a:noFill/>
        </p:spPr>
        <p:txBody>
          <a:bodyPr wrap="square" rtlCol="0">
            <a:spAutoFit/>
          </a:bodyPr>
          <a:p>
            <a:pPr algn="l"/>
            <a:r>
              <a:rPr lang="zh-CN" altLang="en-US" sz="2400" b="1">
                <a:solidFill>
                  <a:srgbClr val="1D41D5"/>
                </a:solidFill>
              </a:rPr>
              <a:t>int x=10, y=20;</a:t>
            </a:r>
            <a:endParaRPr lang="zh-CN" altLang="en-US" sz="2400" b="1">
              <a:solidFill>
                <a:srgbClr val="1D41D5"/>
              </a:solidFill>
            </a:endParaRPr>
          </a:p>
          <a:p>
            <a:pPr algn="l"/>
            <a:r>
              <a:rPr lang="zh-CN" altLang="en-US" sz="2400" b="1">
                <a:solidFill>
                  <a:srgbClr val="1D41D5"/>
                </a:solidFill>
              </a:rPr>
              <a:t>if(x&lt;1 &amp;&amp; ++y&gt;0)</a:t>
            </a:r>
            <a:endParaRPr lang="zh-CN" altLang="en-US" sz="2400" b="1">
              <a:solidFill>
                <a:srgbClr val="1D41D5"/>
              </a:solidFill>
            </a:endParaRPr>
          </a:p>
          <a:p>
            <a:pPr algn="l"/>
            <a:r>
              <a:rPr lang="zh-CN" altLang="en-US" sz="2400" b="1">
                <a:solidFill>
                  <a:srgbClr val="1D41D5"/>
                </a:solidFill>
              </a:rPr>
              <a:t>   </a:t>
            </a:r>
            <a:r>
              <a:rPr lang="en-US" altLang="zh-CN" sz="2400" b="1">
                <a:solidFill>
                  <a:srgbClr val="1D41D5"/>
                </a:solidFill>
              </a:rPr>
              <a:t>y=?</a:t>
            </a:r>
            <a:endParaRPr lang="en-US" altLang="zh-CN" sz="2400" b="1">
              <a:solidFill>
                <a:srgbClr val="1D41D5"/>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2"/>
          <p:cNvSpPr>
            <a:spLocks noGrp="1"/>
          </p:cNvSpPr>
          <p:nvPr>
            <p:ph type="title" idx="4294967295"/>
          </p:nvPr>
        </p:nvSpPr>
        <p:spPr>
          <a:xfrm>
            <a:off x="408313" y="580911"/>
            <a:ext cx="8147318" cy="914055"/>
          </a:xfrm>
        </p:spPr>
        <p:txBody>
          <a:bodyPr/>
          <a:lstStyle/>
          <a:p>
            <a:r>
              <a:rPr lang="en-US" altLang="zh-CN" dirty="0"/>
              <a:t>2.6.4 </a:t>
            </a:r>
            <a:r>
              <a:rPr lang="zh-CN" altLang="en-US" dirty="0"/>
              <a:t>赋值运算符及其表达式</a:t>
            </a:r>
            <a:endParaRPr lang="zh-CN" altLang="en-US" dirty="0"/>
          </a:p>
        </p:txBody>
      </p:sp>
      <p:graphicFrame>
        <p:nvGraphicFramePr>
          <p:cNvPr id="35843" name="Group 3"/>
          <p:cNvGraphicFramePr>
            <a:graphicFrameLocks noGrp="1"/>
          </p:cNvGraphicFramePr>
          <p:nvPr/>
        </p:nvGraphicFramePr>
        <p:xfrm>
          <a:off x="4300596" y="1711058"/>
          <a:ext cx="3060623" cy="838316"/>
        </p:xfrm>
        <a:graphic>
          <a:graphicData uri="http://schemas.openxmlformats.org/drawingml/2006/table">
            <a:tbl>
              <a:tblPr/>
              <a:tblGrid>
                <a:gridCol w="1530311"/>
                <a:gridCol w="1530312"/>
              </a:tblGrid>
              <a:tr h="440675">
                <a:tc>
                  <a:txBody>
                    <a:bodyPr/>
                    <a:lstStyle/>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sz="2200" b="1" i="0" u="none" strike="noStrike" cap="none" normalizeH="0" baseline="0">
                          <a:ln>
                            <a:noFill/>
                          </a:ln>
                          <a:solidFill>
                            <a:srgbClr val="080001"/>
                          </a:solidFill>
                          <a:effectLst/>
                          <a:latin typeface="宋体" panose="02010600030101010101" pitchFamily="2" charset="-122"/>
                          <a:ea typeface="宋体" panose="02010600030101010101" pitchFamily="2" charset="-122"/>
                          <a:cs typeface="Times New Roman" panose="02020603050405020304" pitchFamily="18" charset="0"/>
                        </a:rPr>
                        <a:t>算术运算符</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1" marR="499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20000"/>
                        </a:lnSpc>
                        <a:spcBef>
                          <a:spcPts val="500"/>
                        </a:spcBef>
                        <a:spcAft>
                          <a:spcPts val="500"/>
                        </a:spcAft>
                        <a:buClrTx/>
                        <a:buSzTx/>
                        <a:buFont typeface="Monotype Sorts" pitchFamily="2" charset="2"/>
                        <a:buNone/>
                      </a:pPr>
                      <a:r>
                        <a:rPr kumimoji="0" lang="zh-CN" sz="2200" b="1" i="0" u="none" strike="noStrike" cap="none" normalizeH="0" baseline="0">
                          <a:ln>
                            <a:noFill/>
                          </a:ln>
                          <a:solidFill>
                            <a:srgbClr val="080001"/>
                          </a:solidFill>
                          <a:effectLst/>
                          <a:latin typeface="宋体" panose="02010600030101010101" pitchFamily="2" charset="-122"/>
                          <a:ea typeface="宋体" panose="02010600030101010101" pitchFamily="2" charset="-122"/>
                          <a:cs typeface="Times New Roman" panose="02020603050405020304" pitchFamily="18" charset="0"/>
                        </a:rPr>
                        <a:t>意 义</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1" marR="499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r>
              <a:tr h="397641">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1" marR="499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75"/>
                        </a:lnSpc>
                        <a:spcBef>
                          <a:spcPct val="0"/>
                        </a:spcBef>
                        <a:spcAft>
                          <a:spcPct val="0"/>
                        </a:spcAft>
                        <a:buClrTx/>
                        <a:buSzTx/>
                        <a:buFont typeface="Monotype Sorts" pitchFamily="2" charset="2"/>
                        <a:buNone/>
                      </a:pPr>
                      <a:r>
                        <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赋值</a:t>
                      </a:r>
                      <a:endParaRPr kumimoji="0" lang="zh-CN" sz="2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4991" marR="4991"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内容占位符 1"/>
          <p:cNvSpPr>
            <a:spLocks noGrp="1"/>
          </p:cNvSpPr>
          <p:nvPr>
            <p:ph idx="4294967295"/>
          </p:nvPr>
        </p:nvSpPr>
        <p:spPr>
          <a:xfrm>
            <a:off x="446413" y="1492442"/>
            <a:ext cx="10916912" cy="4725203"/>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在运算中，首先对第一个表达式进行检验，如果为真，则返回表达式</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的值；如果为假，则返回表达</a:t>
            </a: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的值。</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solidFill>
                  <a:srgbClr val="FF0000"/>
                </a:solidFill>
                <a:latin typeface="宋体" panose="02010600030101010101" pitchFamily="2" charset="-122"/>
                <a:ea typeface="宋体" panose="02010600030101010101" pitchFamily="2" charset="-122"/>
              </a:rPr>
              <a:t>&lt;</a:t>
            </a:r>
            <a:r>
              <a:rPr lang="zh-CN" altLang="en-US" sz="2800" b="1" dirty="0">
                <a:solidFill>
                  <a:srgbClr val="FF0000"/>
                </a:solidFill>
                <a:latin typeface="宋体" panose="02010600030101010101" pitchFamily="2" charset="-122"/>
                <a:ea typeface="宋体" panose="02010600030101010101" pitchFamily="2" charset="-122"/>
              </a:rPr>
              <a:t>表达式</a:t>
            </a:r>
            <a:r>
              <a:rPr lang="en-US" altLang="zh-CN" sz="2800" b="1" dirty="0">
                <a:solidFill>
                  <a:srgbClr val="FF0000"/>
                </a:solidFill>
                <a:latin typeface="宋体" panose="02010600030101010101" pitchFamily="2" charset="-122"/>
                <a:ea typeface="宋体" panose="02010600030101010101" pitchFamily="2" charset="-122"/>
              </a:rPr>
              <a:t>1&gt;</a:t>
            </a:r>
            <a:r>
              <a:rPr lang="zh-CN" altLang="en-US" sz="2800" b="1" dirty="0">
                <a:solidFill>
                  <a:srgbClr val="FF0000"/>
                </a:solidFill>
                <a:latin typeface="宋体" panose="02010600030101010101" pitchFamily="2" charset="-122"/>
                <a:ea typeface="宋体" panose="02010600030101010101" pitchFamily="2" charset="-122"/>
              </a:rPr>
              <a:t>？</a:t>
            </a:r>
            <a:r>
              <a:rPr lang="en-US" altLang="zh-CN" sz="2800" b="1" dirty="0">
                <a:solidFill>
                  <a:srgbClr val="FF0000"/>
                </a:solidFill>
                <a:latin typeface="宋体" panose="02010600030101010101" pitchFamily="2" charset="-122"/>
                <a:ea typeface="宋体" panose="02010600030101010101" pitchFamily="2" charset="-122"/>
              </a:rPr>
              <a:t>&lt;</a:t>
            </a:r>
            <a:r>
              <a:rPr lang="zh-CN" altLang="en-US" sz="2800" b="1" dirty="0">
                <a:solidFill>
                  <a:srgbClr val="FF0000"/>
                </a:solidFill>
                <a:latin typeface="宋体" panose="02010600030101010101" pitchFamily="2" charset="-122"/>
                <a:ea typeface="宋体" panose="02010600030101010101" pitchFamily="2" charset="-122"/>
              </a:rPr>
              <a:t>表达式</a:t>
            </a:r>
            <a:r>
              <a:rPr lang="en-US" altLang="zh-CN" sz="2800" b="1" dirty="0">
                <a:solidFill>
                  <a:srgbClr val="FF0000"/>
                </a:solidFill>
                <a:latin typeface="宋体" panose="02010600030101010101" pitchFamily="2" charset="-122"/>
                <a:ea typeface="宋体" panose="02010600030101010101" pitchFamily="2" charset="-122"/>
              </a:rPr>
              <a:t>2&gt;</a:t>
            </a:r>
            <a:r>
              <a:rPr lang="zh-CN" altLang="en-US" sz="2800" b="1" dirty="0">
                <a:solidFill>
                  <a:srgbClr val="FF0000"/>
                </a:solidFill>
                <a:latin typeface="宋体" panose="02010600030101010101" pitchFamily="2" charset="-122"/>
                <a:ea typeface="宋体" panose="02010600030101010101" pitchFamily="2" charset="-122"/>
              </a:rPr>
              <a:t>：</a:t>
            </a:r>
            <a:r>
              <a:rPr lang="en-US" altLang="zh-CN" sz="2800" b="1" dirty="0">
                <a:solidFill>
                  <a:srgbClr val="FF0000"/>
                </a:solidFill>
                <a:latin typeface="宋体" panose="02010600030101010101" pitchFamily="2" charset="-122"/>
                <a:ea typeface="宋体" panose="02010600030101010101" pitchFamily="2" charset="-122"/>
              </a:rPr>
              <a:t>&lt;</a:t>
            </a:r>
            <a:r>
              <a:rPr lang="zh-CN" altLang="en-US" sz="2800" b="1" dirty="0">
                <a:solidFill>
                  <a:srgbClr val="FF0000"/>
                </a:solidFill>
                <a:latin typeface="宋体" panose="02010600030101010101" pitchFamily="2" charset="-122"/>
                <a:ea typeface="宋体" panose="02010600030101010101" pitchFamily="2" charset="-122"/>
              </a:rPr>
              <a:t>表达式</a:t>
            </a:r>
            <a:r>
              <a:rPr lang="en-US" altLang="zh-CN" sz="2800" b="1" dirty="0">
                <a:solidFill>
                  <a:srgbClr val="FF0000"/>
                </a:solidFill>
                <a:latin typeface="宋体" panose="02010600030101010101" pitchFamily="2" charset="-122"/>
                <a:ea typeface="宋体" panose="02010600030101010101" pitchFamily="2" charset="-122"/>
              </a:rPr>
              <a:t>3&gt;</a:t>
            </a:r>
            <a:endParaRPr lang="zh-CN" altLang="en-US" sz="2800" b="1" dirty="0">
              <a:solidFill>
                <a:srgbClr val="FF0000"/>
              </a:solidFill>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示例：</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a=</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b&gt;0</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?b:-b</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35843" name="标题 2"/>
          <p:cNvSpPr>
            <a:spLocks noGrp="1"/>
          </p:cNvSpPr>
          <p:nvPr>
            <p:ph type="title" idx="4294967295"/>
          </p:nvPr>
        </p:nvSpPr>
        <p:spPr>
          <a:xfrm>
            <a:off x="446413" y="504711"/>
            <a:ext cx="8147318" cy="914055"/>
          </a:xfrm>
        </p:spPr>
        <p:txBody>
          <a:bodyPr/>
          <a:lstStyle/>
          <a:p>
            <a:r>
              <a:rPr lang="en-US" altLang="zh-CN" dirty="0"/>
              <a:t>2.6.5 </a:t>
            </a:r>
            <a:r>
              <a:rPr lang="zh-CN" altLang="en-US" dirty="0"/>
              <a:t>条件运算符及其表达式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2"/>
          <p:cNvSpPr>
            <a:spLocks noGrp="1"/>
          </p:cNvSpPr>
          <p:nvPr>
            <p:ph type="title" idx="4294967295"/>
          </p:nvPr>
        </p:nvSpPr>
        <p:spPr>
          <a:xfrm>
            <a:off x="1303663" y="304686"/>
            <a:ext cx="8147318" cy="914055"/>
          </a:xfrm>
        </p:spPr>
        <p:txBody>
          <a:bodyPr/>
          <a:lstStyle/>
          <a:p>
            <a:r>
              <a:rPr lang="en-US" altLang="zh-CN"/>
              <a:t>2.6.6 </a:t>
            </a:r>
            <a:r>
              <a:rPr lang="zh-CN" altLang="en-US"/>
              <a:t>位运算符及其表达式</a:t>
            </a:r>
            <a:endParaRPr lang="zh-CN" altLang="en-US"/>
          </a:p>
        </p:txBody>
      </p:sp>
      <p:graphicFrame>
        <p:nvGraphicFramePr>
          <p:cNvPr id="37891" name="Group 3"/>
          <p:cNvGraphicFramePr>
            <a:graphicFrameLocks noGrp="1"/>
          </p:cNvGraphicFramePr>
          <p:nvPr>
            <p:custDataLst>
              <p:tags r:id="rId1"/>
            </p:custDataLst>
          </p:nvPr>
        </p:nvGraphicFramePr>
        <p:xfrm>
          <a:off x="1880327" y="1320304"/>
          <a:ext cx="8510530" cy="4060750"/>
        </p:xfrm>
        <a:graphic>
          <a:graphicData uri="http://schemas.openxmlformats.org/drawingml/2006/table">
            <a:tbl>
              <a:tblPr/>
              <a:tblGrid>
                <a:gridCol w="1005289"/>
                <a:gridCol w="1258332"/>
                <a:gridCol w="6246909"/>
              </a:tblGrid>
              <a:tr h="409690">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运算符</a:t>
                      </a:r>
                      <a:endParaRPr kumimoji="0" lang="zh-CN"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含义</a:t>
                      </a:r>
                      <a:endParaRPr kumimoji="0" lang="zh-CN"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说明</a:t>
                      </a:r>
                      <a:endParaRPr kumimoji="0" lang="zh-CN"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4455">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&amp;</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按位与</a:t>
                      </a:r>
                      <a:endParaRPr kumimoji="0" lang="zh-CN"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两个运算数都为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，则整个表达式为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，否则为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。可用布尔型</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4455">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按位或</a:t>
                      </a:r>
                      <a:endParaRPr kumimoji="0" lang="zh-CN"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两个运算数都为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，则整个表达式为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，否则为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。可用布尔型</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7695">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按位非</a:t>
                      </a:r>
                      <a:endParaRPr kumimoji="0" lang="zh-CN"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当被运算的值为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时，运算结果为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；当被运算的值为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时，运算结果为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。该操作符不能用于布尔型。对正整数取反，则在原来的数上加</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，然后取负数；对负整数取反时，会则在原来的数上加</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，然后取绝对值。</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4455">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按位异或</a:t>
                      </a:r>
                      <a:endParaRPr kumimoji="0" lang="zh-CN"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只有进行运算的两位不同，结果才为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，否则为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。可用布尔型</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4" marR="53914"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2"/>
          <p:cNvSpPr>
            <a:spLocks noGrp="1"/>
          </p:cNvSpPr>
          <p:nvPr>
            <p:ph type="title" idx="4294967295"/>
          </p:nvPr>
        </p:nvSpPr>
        <p:spPr>
          <a:xfrm>
            <a:off x="1303663" y="1"/>
            <a:ext cx="8147318" cy="914056"/>
          </a:xfrm>
        </p:spPr>
        <p:txBody>
          <a:bodyPr/>
          <a:lstStyle/>
          <a:p>
            <a:r>
              <a:rPr lang="en-US" altLang="zh-CN"/>
              <a:t>2.6.7 </a:t>
            </a:r>
            <a:r>
              <a:rPr lang="zh-CN" altLang="en-US"/>
              <a:t>运算符的优先级</a:t>
            </a:r>
            <a:endParaRPr lang="zh-CN" altLang="en-US"/>
          </a:p>
        </p:txBody>
      </p:sp>
      <p:graphicFrame>
        <p:nvGraphicFramePr>
          <p:cNvPr id="38915" name="Group 3"/>
          <p:cNvGraphicFramePr>
            <a:graphicFrameLocks noGrp="1"/>
          </p:cNvGraphicFramePr>
          <p:nvPr>
            <p:custDataLst>
              <p:tags r:id="rId1"/>
            </p:custDataLst>
          </p:nvPr>
        </p:nvGraphicFramePr>
        <p:xfrm>
          <a:off x="2739298" y="1008732"/>
          <a:ext cx="7043910" cy="5485850"/>
        </p:xfrm>
        <a:graphic>
          <a:graphicData uri="http://schemas.openxmlformats.org/drawingml/2006/table">
            <a:tbl>
              <a:tblPr/>
              <a:tblGrid>
                <a:gridCol w="1260054"/>
                <a:gridCol w="2260180"/>
                <a:gridCol w="1760977"/>
                <a:gridCol w="1762699"/>
              </a:tblGrid>
              <a:tr h="297215">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优先级</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类</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结合性</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215">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492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括号运算符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由左至右</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215">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492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方括号运算符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由左至右</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7931">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49225" marR="0" lvl="0" indent="0" algn="ctr" defTabSz="914400" rtl="0" eaLnBrk="1" fontAlgn="base" latinLnBrk="0" hangingPunct="1">
                        <a:lnSpc>
                          <a:spcPts val="139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（正号）、</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（负号）</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一元运算符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由右至左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215">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365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由右至左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215">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365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递增与递减运算符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由右至左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215">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365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算术运算符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由左至右</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180">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365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算术运算符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由左至右</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9733">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365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&lt;&lt;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&gt;&gt;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位左移、右移运算符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由左至右</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215">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492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关系运算符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由左至右</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215">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365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关系运算符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由左至右</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215">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36525" marR="0" lvl="0" indent="0" algn="ctr" defTabSz="914400" rtl="0" eaLnBrk="1" fontAlgn="base" latinLnBrk="0" hangingPunct="1">
                        <a:lnSpc>
                          <a:spcPts val="1275"/>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&amp;</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（位运算符</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AND</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由左至右</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180">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49225" marR="0" lvl="0" indent="0" algn="ctr" defTabSz="914400" rtl="0" eaLnBrk="1" fontAlgn="base" latinLnBrk="0" hangingPunct="1">
                        <a:lnSpc>
                          <a:spcPts val="1275"/>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（位运算符号</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XOR</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由左至右</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215">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49225" marR="0" lvl="0" indent="0" algn="ctr" defTabSz="914400" rtl="0" eaLnBrk="1" fontAlgn="base" latinLnBrk="0" hangingPunct="1">
                        <a:lnSpc>
                          <a:spcPts val="1275"/>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（位运算符号</a:t>
                      </a: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OR</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由左至右</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6871">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365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&amp;&amp;</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逻辑运算符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由左至右</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8932">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365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逻辑运算符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由左至右</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6871">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365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条件运算符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由右至左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8932">
                <a:tc>
                  <a:txBody>
                    <a:bodyPr/>
                    <a:lstStyle/>
                    <a:p>
                      <a:pPr marL="0" marR="0" lvl="0" indent="0" algn="ctr" defTabSz="914400" rtl="0" eaLnBrk="1" fontAlgn="base" latinLnBrk="0" hangingPunct="1">
                        <a:lnSpc>
                          <a:spcPct val="12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36525"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赋值运算符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200"/>
                        </a:lnSpc>
                        <a:spcBef>
                          <a:spcPct val="0"/>
                        </a:spcBef>
                        <a:spcAft>
                          <a:spcPct val="0"/>
                        </a:spcAft>
                        <a:buClrTx/>
                        <a:buSzTx/>
                        <a:buFont typeface="Monotype Sorts" pitchFamily="2" charset="2"/>
                        <a:buNone/>
                      </a:pPr>
                      <a:r>
                        <a:rPr kumimoji="0" 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由右至左</a:t>
                      </a:r>
                      <a:endParaRPr kumimoji="0" 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8" marR="53918"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601200" cy="1142385"/>
          </a:xfrm>
        </p:spPr>
        <p:txBody>
          <a:bodyPr/>
          <a:lstStyle/>
          <a:p>
            <a:r>
              <a:rPr lang="zh-CN" altLang="en-US" dirty="0"/>
              <a:t>练习</a:t>
            </a:r>
            <a:endParaRPr lang="zh-CN" altLang="en-US" dirty="0"/>
          </a:p>
        </p:txBody>
      </p:sp>
      <p:sp>
        <p:nvSpPr>
          <p:cNvPr id="3" name="内容占位符 2"/>
          <p:cNvSpPr>
            <a:spLocks noGrp="1"/>
          </p:cNvSpPr>
          <p:nvPr>
            <p:ph idx="1"/>
          </p:nvPr>
        </p:nvSpPr>
        <p:spPr>
          <a:xfrm>
            <a:off x="314325" y="1142385"/>
            <a:ext cx="11239500" cy="5543549"/>
          </a:xfrm>
        </p:spPr>
        <p:txBody>
          <a:bodyPr>
            <a:noAutofit/>
          </a:bodyPr>
          <a:lstStyle/>
          <a:p>
            <a:pPr marL="0" indent="0">
              <a:buNone/>
            </a:pP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、求余数能够将结果限制在某个范围之内。如果用户不知道一个整数变量</a:t>
            </a:r>
            <a:r>
              <a:rPr lang="en-US" altLang="zh-CN" sz="2400" b="1" dirty="0">
                <a:latin typeface="宋体" panose="02010600030101010101" pitchFamily="2" charset="-122"/>
                <a:ea typeface="宋体" panose="02010600030101010101" pitchFamily="2" charset="-122"/>
              </a:rPr>
              <a:t>a</a:t>
            </a:r>
            <a:r>
              <a:rPr lang="zh-CN" altLang="en-US" sz="2400" b="1" dirty="0">
                <a:latin typeface="宋体" panose="02010600030101010101" pitchFamily="2" charset="-122"/>
                <a:ea typeface="宋体" panose="02010600030101010101" pitchFamily="2" charset="-122"/>
              </a:rPr>
              <a:t>的内容，但是可以通过</a:t>
            </a:r>
            <a:r>
              <a:rPr lang="en-US" altLang="zh-CN" sz="2400" b="1" dirty="0">
                <a:latin typeface="宋体" panose="02010600030101010101" pitchFamily="2" charset="-122"/>
                <a:ea typeface="宋体" panose="02010600030101010101" pitchFamily="2" charset="-122"/>
              </a:rPr>
              <a:t>a%10</a:t>
            </a:r>
            <a:r>
              <a:rPr lang="zh-CN" altLang="en-US" sz="2400" b="1" dirty="0">
                <a:latin typeface="宋体" panose="02010600030101010101" pitchFamily="2" charset="-122"/>
                <a:ea typeface="宋体" panose="02010600030101010101" pitchFamily="2" charset="-122"/>
              </a:rPr>
              <a:t>得到一个结果，该结果限制在</a:t>
            </a:r>
            <a:r>
              <a:rPr lang="en-US" altLang="zh-CN" sz="2400" b="1" dirty="0">
                <a:latin typeface="宋体" panose="02010600030101010101" pitchFamily="2" charset="-122"/>
                <a:ea typeface="宋体" panose="02010600030101010101" pitchFamily="2" charset="-122"/>
              </a:rPr>
              <a:t>0~10</a:t>
            </a:r>
            <a:r>
              <a:rPr lang="zh-CN" altLang="en-US" sz="2400" b="1" dirty="0">
                <a:latin typeface="宋体" panose="02010600030101010101" pitchFamily="2" charset="-122"/>
                <a:ea typeface="宋体" panose="02010600030101010101" pitchFamily="2" charset="-122"/>
              </a:rPr>
              <a:t>之间。那么如果需要限制在</a:t>
            </a:r>
            <a:r>
              <a:rPr lang="en-US" altLang="zh-CN" sz="2400" b="1" dirty="0">
                <a:latin typeface="宋体" panose="02010600030101010101" pitchFamily="2" charset="-122"/>
                <a:ea typeface="宋体" panose="02010600030101010101" pitchFamily="2" charset="-122"/>
              </a:rPr>
              <a:t>10~20</a:t>
            </a:r>
            <a:r>
              <a:rPr lang="zh-CN" altLang="en-US" sz="2400" b="1" dirty="0">
                <a:latin typeface="宋体" panose="02010600030101010101" pitchFamily="2" charset="-122"/>
                <a:ea typeface="宋体" panose="02010600030101010101" pitchFamily="2" charset="-122"/>
              </a:rPr>
              <a:t>之间该怎么办？</a:t>
            </a:r>
            <a:endParaRPr lang="en-US" altLang="zh-CN" sz="2400" b="1" dirty="0">
              <a:latin typeface="宋体" panose="02010600030101010101" pitchFamily="2" charset="-122"/>
              <a:ea typeface="宋体" panose="02010600030101010101" pitchFamily="2" charset="-122"/>
            </a:endParaRPr>
          </a:p>
          <a:p>
            <a:pPr marL="0" indent="0">
              <a:buNone/>
            </a:pP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、如果</a:t>
            </a:r>
            <a:r>
              <a:rPr lang="en-US" altLang="zh-CN" sz="2400" b="1" dirty="0">
                <a:latin typeface="宋体" panose="02010600030101010101" pitchFamily="2" charset="-122"/>
                <a:ea typeface="宋体" panose="02010600030101010101" pitchFamily="2" charset="-122"/>
              </a:rPr>
              <a:t>a=1</a:t>
            </a:r>
            <a:r>
              <a:rPr lang="zh-CN" altLang="en-US" sz="2400" b="1" dirty="0">
                <a:latin typeface="宋体" panose="02010600030101010101" pitchFamily="2" charset="-122"/>
                <a:ea typeface="宋体" panose="02010600030101010101" pitchFamily="2" charset="-122"/>
              </a:rPr>
              <a:t>，运行以下代码将会打印什么？</a:t>
            </a:r>
            <a:endParaRPr lang="en-US" altLang="zh-CN" sz="2400" b="1" dirty="0">
              <a:latin typeface="宋体" panose="02010600030101010101" pitchFamily="2" charset="-122"/>
              <a:ea typeface="宋体" panose="02010600030101010101" pitchFamily="2" charset="-122"/>
            </a:endParaRPr>
          </a:p>
          <a:p>
            <a:pPr marL="0" indent="0">
              <a:buNone/>
            </a:pPr>
            <a:r>
              <a:rPr lang="en-US" altLang="zh-CN" sz="2400" b="1" dirty="0" err="1">
                <a:latin typeface="宋体" panose="02010600030101010101" pitchFamily="2" charset="-122"/>
                <a:ea typeface="宋体" panose="02010600030101010101" pitchFamily="2" charset="-122"/>
              </a:rPr>
              <a:t>System.out.println</a:t>
            </a:r>
            <a:r>
              <a:rPr lang="en-US" altLang="zh-CN" sz="2400" b="1" dirty="0">
                <a:latin typeface="宋体" panose="02010600030101010101" pitchFamily="2" charset="-122"/>
                <a:ea typeface="宋体" panose="02010600030101010101" pitchFamily="2" charset="-122"/>
              </a:rPr>
              <a:t>(a++);    </a:t>
            </a:r>
            <a:r>
              <a:rPr lang="en-US" altLang="zh-CN" sz="2400" b="1" dirty="0" err="1">
                <a:latin typeface="宋体" panose="02010600030101010101" pitchFamily="2" charset="-122"/>
                <a:ea typeface="宋体" panose="02010600030101010101" pitchFamily="2" charset="-122"/>
              </a:rPr>
              <a:t>System.out.println</a:t>
            </a:r>
            <a:r>
              <a:rPr lang="en-US" altLang="zh-CN" sz="2400" b="1" dirty="0">
                <a:latin typeface="宋体" panose="02010600030101010101" pitchFamily="2" charset="-122"/>
                <a:ea typeface="宋体" panose="02010600030101010101" pitchFamily="2" charset="-122"/>
              </a:rPr>
              <a:t>(a);</a:t>
            </a:r>
            <a:endParaRPr lang="zh-CN" altLang="en-US" sz="2400" b="1" dirty="0">
              <a:latin typeface="宋体" panose="02010600030101010101" pitchFamily="2" charset="-122"/>
              <a:ea typeface="宋体" panose="02010600030101010101" pitchFamily="2" charset="-122"/>
            </a:endParaRPr>
          </a:p>
          <a:p>
            <a:pPr marL="0" indent="0">
              <a:buNone/>
            </a:pPr>
            <a:r>
              <a:rPr lang="en-US" altLang="zh-CN" sz="2400" b="1" dirty="0" err="1">
                <a:latin typeface="宋体" panose="02010600030101010101" pitchFamily="2" charset="-122"/>
                <a:ea typeface="宋体" panose="02010600030101010101" pitchFamily="2" charset="-122"/>
              </a:rPr>
              <a:t>System.out.println</a:t>
            </a:r>
            <a:r>
              <a:rPr lang="en-US" altLang="zh-CN" sz="2400" b="1" dirty="0">
                <a:latin typeface="宋体" panose="02010600030101010101" pitchFamily="2" charset="-122"/>
                <a:ea typeface="宋体" panose="02010600030101010101" pitchFamily="2" charset="-122"/>
              </a:rPr>
              <a:t>(++a);</a:t>
            </a:r>
            <a:r>
              <a:rPr lang="zh-CN" altLang="en-US" sz="2400" b="1" dirty="0">
                <a:latin typeface="宋体" panose="02010600030101010101" pitchFamily="2" charset="-122"/>
                <a:ea typeface="宋体" panose="02010600030101010101" pitchFamily="2" charset="-122"/>
              </a:rPr>
              <a:t>    </a:t>
            </a:r>
            <a:r>
              <a:rPr lang="en-US" altLang="zh-CN" sz="2400" b="1" dirty="0" err="1">
                <a:latin typeface="宋体" panose="02010600030101010101" pitchFamily="2" charset="-122"/>
                <a:ea typeface="宋体" panose="02010600030101010101" pitchFamily="2" charset="-122"/>
              </a:rPr>
              <a:t>System.out.println</a:t>
            </a:r>
            <a:r>
              <a:rPr lang="en-US" altLang="zh-CN" sz="2400" b="1" dirty="0">
                <a:latin typeface="宋体" panose="02010600030101010101" pitchFamily="2" charset="-122"/>
                <a:ea typeface="宋体" panose="02010600030101010101" pitchFamily="2" charset="-122"/>
              </a:rPr>
              <a:t>(a);</a:t>
            </a:r>
            <a:endParaRPr lang="zh-CN" altLang="en-US" sz="2400" b="1" dirty="0">
              <a:latin typeface="宋体" panose="02010600030101010101" pitchFamily="2" charset="-122"/>
              <a:ea typeface="宋体" panose="02010600030101010101" pitchFamily="2" charset="-122"/>
            </a:endParaRPr>
          </a:p>
          <a:p>
            <a:pPr marL="0" indent="0">
              <a:buNone/>
            </a:pPr>
            <a:r>
              <a:rPr lang="en-US" altLang="zh-CN" sz="2400" b="1" dirty="0">
                <a:latin typeface="宋体" panose="02010600030101010101" pitchFamily="2" charset="-122"/>
                <a:ea typeface="宋体" panose="02010600030101010101" pitchFamily="2" charset="-122"/>
              </a:rPr>
              <a:t>3</a:t>
            </a:r>
            <a:r>
              <a:rPr lang="zh-CN" altLang="en-US" sz="2400" b="1" dirty="0">
                <a:latin typeface="宋体" panose="02010600030101010101" pitchFamily="2" charset="-122"/>
                <a:ea typeface="宋体" panose="02010600030101010101" pitchFamily="2" charset="-122"/>
              </a:rPr>
              <a:t>、如果</a:t>
            </a:r>
            <a:r>
              <a:rPr lang="en-US" altLang="zh-CN" sz="2400" b="1" dirty="0">
                <a:latin typeface="宋体" panose="02010600030101010101" pitchFamily="2" charset="-122"/>
                <a:ea typeface="宋体" panose="02010600030101010101" pitchFamily="2" charset="-122"/>
              </a:rPr>
              <a:t>a=3</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b=4</a:t>
            </a:r>
            <a:r>
              <a:rPr lang="zh-CN" altLang="en-US" sz="2400" b="1" dirty="0">
                <a:latin typeface="宋体" panose="02010600030101010101" pitchFamily="2" charset="-122"/>
                <a:ea typeface="宋体" panose="02010600030101010101" pitchFamily="2" charset="-122"/>
              </a:rPr>
              <a:t>，运行以下代码将会打印什么？</a:t>
            </a:r>
            <a:endParaRPr lang="en-US" altLang="zh-CN" sz="2400" b="1" dirty="0">
              <a:latin typeface="宋体" panose="02010600030101010101" pitchFamily="2" charset="-122"/>
              <a:ea typeface="宋体" panose="02010600030101010101" pitchFamily="2" charset="-122"/>
            </a:endParaRPr>
          </a:p>
          <a:p>
            <a:pPr marL="0" indent="0">
              <a:buNone/>
            </a:pPr>
            <a:r>
              <a:rPr lang="en-US" altLang="zh-CN" sz="2400" b="1" dirty="0" err="1">
                <a:latin typeface="宋体" panose="02010600030101010101" pitchFamily="2" charset="-122"/>
                <a:ea typeface="宋体" panose="02010600030101010101" pitchFamily="2" charset="-122"/>
              </a:rPr>
              <a:t>System.out.println</a:t>
            </a:r>
            <a:r>
              <a:rPr lang="en-US" altLang="zh-CN" sz="2400" b="1" dirty="0">
                <a:latin typeface="宋体" panose="02010600030101010101" pitchFamily="2" charset="-122"/>
                <a:ea typeface="宋体" panose="02010600030101010101" pitchFamily="2" charset="-122"/>
              </a:rPr>
              <a:t>((a&gt;b)&amp;&amp;(b++&gt;5));</a:t>
            </a:r>
            <a:endParaRPr lang="zh-CN" altLang="en-US" sz="2400" b="1" dirty="0">
              <a:latin typeface="宋体" panose="02010600030101010101" pitchFamily="2" charset="-122"/>
              <a:ea typeface="宋体" panose="02010600030101010101" pitchFamily="2" charset="-122"/>
            </a:endParaRPr>
          </a:p>
          <a:p>
            <a:pPr marL="0" indent="0">
              <a:buNone/>
            </a:pPr>
            <a:r>
              <a:rPr lang="en-US" altLang="zh-CN" sz="2400" b="1" dirty="0" err="1">
                <a:latin typeface="宋体" panose="02010600030101010101" pitchFamily="2" charset="-122"/>
                <a:ea typeface="宋体" panose="02010600030101010101" pitchFamily="2" charset="-122"/>
              </a:rPr>
              <a:t>System.out.println</a:t>
            </a:r>
            <a:r>
              <a:rPr lang="en-US" altLang="zh-CN" sz="2400" b="1" dirty="0">
                <a:latin typeface="宋体" panose="02010600030101010101" pitchFamily="2" charset="-122"/>
                <a:ea typeface="宋体" panose="02010600030101010101" pitchFamily="2" charset="-122"/>
              </a:rPr>
              <a:t>(a);</a:t>
            </a:r>
            <a:endParaRPr lang="zh-CN" altLang="en-US" sz="2400" b="1" dirty="0">
              <a:latin typeface="宋体" panose="02010600030101010101" pitchFamily="2" charset="-122"/>
              <a:ea typeface="宋体" panose="02010600030101010101" pitchFamily="2" charset="-122"/>
            </a:endParaRPr>
          </a:p>
          <a:p>
            <a:pPr marL="0" indent="0">
              <a:buNone/>
            </a:pPr>
            <a:r>
              <a:rPr lang="en-US" altLang="zh-CN" sz="2400" b="1" dirty="0" err="1">
                <a:latin typeface="宋体" panose="02010600030101010101" pitchFamily="2" charset="-122"/>
                <a:ea typeface="宋体" panose="02010600030101010101" pitchFamily="2" charset="-122"/>
              </a:rPr>
              <a:t>System.out.println</a:t>
            </a:r>
            <a:r>
              <a:rPr lang="en-US" altLang="zh-CN" sz="2400" b="1" dirty="0">
                <a:latin typeface="宋体" panose="02010600030101010101" pitchFamily="2" charset="-122"/>
                <a:ea typeface="宋体" panose="02010600030101010101" pitchFamily="2" charset="-122"/>
              </a:rPr>
              <a:t>(b);</a:t>
            </a:r>
            <a:endParaRPr lang="zh-CN" altLang="en-US" sz="2400" b="1" dirty="0">
              <a:latin typeface="宋体" panose="02010600030101010101" pitchFamily="2" charset="-122"/>
              <a:ea typeface="宋体" panose="02010600030101010101" pitchFamily="2" charset="-122"/>
            </a:endParaRPr>
          </a:p>
          <a:p>
            <a:pPr marL="0" indent="0">
              <a:buNone/>
            </a:pP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2"/>
          <p:cNvSpPr>
            <a:spLocks noGrp="1"/>
          </p:cNvSpPr>
          <p:nvPr>
            <p:ph type="title" idx="4294967295"/>
          </p:nvPr>
        </p:nvSpPr>
        <p:spPr>
          <a:xfrm>
            <a:off x="370213" y="995822"/>
            <a:ext cx="8147318" cy="914056"/>
          </a:xfrm>
        </p:spPr>
        <p:txBody>
          <a:bodyPr/>
          <a:lstStyle/>
          <a:p>
            <a:pPr algn="l"/>
            <a:r>
              <a:rPr lang="en-US" altLang="zh-CN" sz="3470" dirty="0"/>
              <a:t>2.7.1 </a:t>
            </a:r>
            <a:r>
              <a:rPr lang="zh-CN" altLang="en-US" sz="3470" dirty="0"/>
              <a:t>顺序结构</a:t>
            </a:r>
            <a:endParaRPr lang="zh-CN" altLang="en-US" sz="3470" dirty="0"/>
          </a:p>
        </p:txBody>
      </p:sp>
      <p:sp>
        <p:nvSpPr>
          <p:cNvPr id="38915" name="标题 2"/>
          <p:cNvSpPr txBox="1">
            <a:spLocks noChangeArrowheads="1"/>
          </p:cNvSpPr>
          <p:nvPr/>
        </p:nvSpPr>
        <p:spPr bwMode="auto">
          <a:xfrm>
            <a:off x="1196937" y="-82626"/>
            <a:ext cx="8145596" cy="912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buFont typeface="Monotype Sorts" pitchFamily="2" charset="2"/>
              <a:buNone/>
            </a:pPr>
            <a:r>
              <a:rPr lang="en-US" altLang="zh-CN" sz="3470" dirty="0">
                <a:solidFill>
                  <a:srgbClr val="993300"/>
                </a:solidFill>
                <a:latin typeface="微软雅黑" panose="020B0503020204020204" pitchFamily="34" charset="-122"/>
                <a:ea typeface="微软雅黑" panose="020B0503020204020204" pitchFamily="34" charset="-122"/>
              </a:rPr>
              <a:t>2.7 </a:t>
            </a:r>
            <a:r>
              <a:rPr lang="zh-CN" altLang="en-US" sz="3470" dirty="0">
                <a:solidFill>
                  <a:srgbClr val="993300"/>
                </a:solidFill>
                <a:latin typeface="微软雅黑" panose="020B0503020204020204" pitchFamily="34" charset="-122"/>
                <a:ea typeface="微软雅黑" panose="020B0503020204020204" pitchFamily="34" charset="-122"/>
              </a:rPr>
              <a:t>熟悉</a:t>
            </a:r>
            <a:r>
              <a:rPr lang="en-US" altLang="zh-CN" sz="3470" dirty="0">
                <a:solidFill>
                  <a:srgbClr val="993300"/>
                </a:solidFill>
                <a:latin typeface="微软雅黑" panose="020B0503020204020204" pitchFamily="34" charset="-122"/>
                <a:ea typeface="微软雅黑" panose="020B0503020204020204" pitchFamily="34" charset="-122"/>
              </a:rPr>
              <a:t>Java</a:t>
            </a:r>
            <a:r>
              <a:rPr lang="zh-CN" altLang="en-US" sz="3470" dirty="0">
                <a:solidFill>
                  <a:srgbClr val="993300"/>
                </a:solidFill>
                <a:latin typeface="微软雅黑" panose="020B0503020204020204" pitchFamily="34" charset="-122"/>
                <a:ea typeface="微软雅黑" panose="020B0503020204020204" pitchFamily="34" charset="-122"/>
              </a:rPr>
              <a:t>程序的流程控制语句</a:t>
            </a:r>
            <a:endParaRPr lang="zh-CN" altLang="en-US" sz="3470" dirty="0">
              <a:solidFill>
                <a:srgbClr val="993300"/>
              </a:solidFill>
              <a:latin typeface="微软雅黑" panose="020B0503020204020204" pitchFamily="34" charset="-122"/>
              <a:ea typeface="微软雅黑" panose="020B0503020204020204" pitchFamily="34" charset="-122"/>
            </a:endParaRPr>
          </a:p>
        </p:txBody>
      </p:sp>
      <p:sp>
        <p:nvSpPr>
          <p:cNvPr id="38916" name="标题 2"/>
          <p:cNvSpPr txBox="1">
            <a:spLocks noChangeArrowheads="1"/>
          </p:cNvSpPr>
          <p:nvPr/>
        </p:nvSpPr>
        <p:spPr bwMode="auto">
          <a:xfrm>
            <a:off x="370213" y="1929330"/>
            <a:ext cx="8147318" cy="914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lang="en-US" altLang="zh-CN" sz="3470">
                <a:solidFill>
                  <a:srgbClr val="993300"/>
                </a:solidFill>
                <a:latin typeface="微软雅黑" panose="020B0503020204020204" pitchFamily="34" charset="-122"/>
                <a:ea typeface="微软雅黑" panose="020B0503020204020204" pitchFamily="34" charset="-122"/>
              </a:rPr>
              <a:t>2.7.2 </a:t>
            </a:r>
            <a:r>
              <a:rPr lang="zh-CN" altLang="en-US" sz="3470">
                <a:solidFill>
                  <a:srgbClr val="993300"/>
                </a:solidFill>
                <a:latin typeface="微软雅黑" panose="020B0503020204020204" pitchFamily="34" charset="-122"/>
                <a:ea typeface="微软雅黑" panose="020B0503020204020204" pitchFamily="34" charset="-122"/>
              </a:rPr>
              <a:t>选择结构</a:t>
            </a:r>
            <a:endParaRPr lang="zh-CN" altLang="en-US" sz="3470">
              <a:solidFill>
                <a:srgbClr val="993300"/>
              </a:solidFill>
              <a:latin typeface="微软雅黑" panose="020B0503020204020204" pitchFamily="34" charset="-122"/>
              <a:ea typeface="微软雅黑" panose="020B0503020204020204" pitchFamily="34" charset="-122"/>
            </a:endParaRPr>
          </a:p>
        </p:txBody>
      </p:sp>
      <p:sp>
        <p:nvSpPr>
          <p:cNvPr id="38917" name="矩形 4"/>
          <p:cNvSpPr>
            <a:spLocks noChangeArrowheads="1"/>
          </p:cNvSpPr>
          <p:nvPr/>
        </p:nvSpPr>
        <p:spPr bwMode="auto">
          <a:xfrm>
            <a:off x="689472" y="2862837"/>
            <a:ext cx="10673853" cy="1026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just">
              <a:spcBef>
                <a:spcPct val="50000"/>
              </a:spcBef>
            </a:pPr>
            <a:r>
              <a:rPr lang="en-US" altLang="zh-CN" sz="3035" dirty="0">
                <a:latin typeface="宋体" panose="02010600030101010101" pitchFamily="2" charset="-122"/>
              </a:rPr>
              <a:t>【</a:t>
            </a:r>
            <a:r>
              <a:rPr lang="zh-CN" altLang="en-US" sz="3035" dirty="0">
                <a:latin typeface="宋体" panose="02010600030101010101" pitchFamily="2" charset="-122"/>
              </a:rPr>
              <a:t>练习</a:t>
            </a:r>
            <a:r>
              <a:rPr lang="en-US" altLang="zh-CN" sz="3035" dirty="0">
                <a:latin typeface="宋体" panose="02010600030101010101" pitchFamily="2" charset="-122"/>
              </a:rPr>
              <a:t>】</a:t>
            </a:r>
            <a:r>
              <a:rPr lang="zh-CN" altLang="en-US" sz="3035" dirty="0">
                <a:latin typeface="宋体" panose="02010600030101010101" pitchFamily="2" charset="-122"/>
              </a:rPr>
              <a:t>给出一个分数，按不同的分数段将其评定为</a:t>
            </a:r>
            <a:r>
              <a:rPr lang="en-US" altLang="zh-CN" sz="3035" dirty="0">
                <a:latin typeface="宋体" panose="02010600030101010101" pitchFamily="2" charset="-122"/>
              </a:rPr>
              <a:t>A</a:t>
            </a:r>
            <a:r>
              <a:rPr lang="zh-CN" altLang="en-US" sz="3035" dirty="0">
                <a:latin typeface="宋体" panose="02010600030101010101" pitchFamily="2" charset="-122"/>
              </a:rPr>
              <a:t>、</a:t>
            </a:r>
            <a:r>
              <a:rPr lang="en-US" altLang="zh-CN" sz="3035" dirty="0">
                <a:latin typeface="宋体" panose="02010600030101010101" pitchFamily="2" charset="-122"/>
              </a:rPr>
              <a:t>B</a:t>
            </a:r>
            <a:r>
              <a:rPr lang="zh-CN" altLang="en-US" sz="3035" dirty="0">
                <a:latin typeface="宋体" panose="02010600030101010101" pitchFamily="2" charset="-122"/>
              </a:rPr>
              <a:t>、</a:t>
            </a:r>
            <a:r>
              <a:rPr lang="en-US" altLang="zh-CN" sz="3035" dirty="0">
                <a:latin typeface="宋体" panose="02010600030101010101" pitchFamily="2" charset="-122"/>
              </a:rPr>
              <a:t>C</a:t>
            </a:r>
            <a:r>
              <a:rPr lang="zh-CN" altLang="en-US" sz="3035" dirty="0">
                <a:latin typeface="宋体" panose="02010600030101010101" pitchFamily="2" charset="-122"/>
              </a:rPr>
              <a:t>、</a:t>
            </a:r>
            <a:r>
              <a:rPr lang="en-US" altLang="zh-CN" sz="3035" dirty="0">
                <a:latin typeface="宋体" panose="02010600030101010101" pitchFamily="2" charset="-122"/>
              </a:rPr>
              <a:t>D</a:t>
            </a:r>
            <a:r>
              <a:rPr lang="zh-CN" altLang="en-US" sz="3035" dirty="0">
                <a:latin typeface="宋体" panose="02010600030101010101" pitchFamily="2" charset="-122"/>
              </a:rPr>
              <a:t>和</a:t>
            </a:r>
            <a:r>
              <a:rPr lang="en-US" altLang="zh-CN" sz="3035" dirty="0">
                <a:latin typeface="宋体" panose="02010600030101010101" pitchFamily="2" charset="-122"/>
              </a:rPr>
              <a:t>E</a:t>
            </a:r>
            <a:r>
              <a:rPr lang="zh-CN" altLang="en-US" sz="3035" dirty="0">
                <a:latin typeface="宋体" panose="02010600030101010101" pitchFamily="2" charset="-122"/>
              </a:rPr>
              <a:t>五个档次之一。</a:t>
            </a:r>
            <a:endParaRPr lang="zh-CN" altLang="en-US" sz="3035" dirty="0">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2"/>
          <p:cNvSpPr>
            <a:spLocks noGrp="1"/>
          </p:cNvSpPr>
          <p:nvPr>
            <p:ph type="title" idx="4294967295"/>
          </p:nvPr>
        </p:nvSpPr>
        <p:spPr>
          <a:xfrm>
            <a:off x="817888" y="370569"/>
            <a:ext cx="8147318" cy="914055"/>
          </a:xfrm>
        </p:spPr>
        <p:txBody>
          <a:bodyPr/>
          <a:lstStyle/>
          <a:p>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 if</a:t>
            </a:r>
            <a:r>
              <a:rPr lang="zh-CN" altLang="en-US" dirty="0">
                <a:latin typeface="宋体" panose="02010600030101010101" pitchFamily="2" charset="-122"/>
                <a:ea typeface="宋体" panose="02010600030101010101" pitchFamily="2" charset="-122"/>
              </a:rPr>
              <a:t>语句</a:t>
            </a:r>
            <a:endParaRPr lang="zh-CN" altLang="en-US" dirty="0">
              <a:latin typeface="宋体" panose="02010600030101010101" pitchFamily="2" charset="-122"/>
              <a:ea typeface="宋体" panose="02010600030101010101" pitchFamily="2" charset="-122"/>
            </a:endParaRPr>
          </a:p>
        </p:txBody>
      </p:sp>
      <p:sp>
        <p:nvSpPr>
          <p:cNvPr id="39939" name="Rectangle 12"/>
          <p:cNvSpPr>
            <a:spLocks noChangeArrowheads="1"/>
          </p:cNvSpPr>
          <p:nvPr/>
        </p:nvSpPr>
        <p:spPr bwMode="auto">
          <a:xfrm>
            <a:off x="1303663" y="49733"/>
            <a:ext cx="159456" cy="41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8925" tIns="39462" rIns="78925" bIns="39462" anchor="ct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2170"/>
          </a:p>
        </p:txBody>
      </p:sp>
      <p:grpSp>
        <p:nvGrpSpPr>
          <p:cNvPr id="39940" name="Group 4"/>
          <p:cNvGrpSpPr/>
          <p:nvPr/>
        </p:nvGrpSpPr>
        <p:grpSpPr bwMode="auto">
          <a:xfrm>
            <a:off x="1200150" y="1605460"/>
            <a:ext cx="3549727" cy="3360739"/>
            <a:chOff x="0" y="0"/>
            <a:chExt cx="3543300" cy="1981200"/>
          </a:xfrm>
        </p:grpSpPr>
        <p:sp>
          <p:nvSpPr>
            <p:cNvPr id="39942" name="AutoShape 11"/>
            <p:cNvSpPr>
              <a:spLocks noRot="1" noChangeAspect="1" noChangeArrowheads="1"/>
            </p:cNvSpPr>
            <p:nvPr/>
          </p:nvSpPr>
          <p:spPr bwMode="auto">
            <a:xfrm>
              <a:off x="0" y="0"/>
              <a:ext cx="35433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1950"/>
            </a:p>
          </p:txBody>
        </p:sp>
        <p:sp>
          <p:nvSpPr>
            <p:cNvPr id="39943" name="Rectangle 79"/>
            <p:cNvSpPr>
              <a:spLocks noChangeArrowheads="1"/>
            </p:cNvSpPr>
            <p:nvPr/>
          </p:nvSpPr>
          <p:spPr bwMode="auto">
            <a:xfrm>
              <a:off x="359329" y="1168080"/>
              <a:ext cx="2023541" cy="297508"/>
            </a:xfrm>
            <a:prstGeom prst="rect">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1950" dirty="0">
                  <a:latin typeface="Calibri" panose="020F0502020204030204" pitchFamily="34" charset="0"/>
                  <a:cs typeface="Times New Roman" panose="02020603050405020304" pitchFamily="18" charset="0"/>
                </a:rPr>
                <a:t>语句序列</a:t>
              </a:r>
              <a:endParaRPr lang="zh-CN" altLang="en-US" sz="1950" dirty="0">
                <a:latin typeface="Arial" panose="020B0604020202020204" pitchFamily="34" charset="0"/>
              </a:endParaRPr>
            </a:p>
          </p:txBody>
        </p:sp>
        <p:sp>
          <p:nvSpPr>
            <p:cNvPr id="39944" name="AutoShape 80"/>
            <p:cNvSpPr>
              <a:spLocks noChangeArrowheads="1"/>
            </p:cNvSpPr>
            <p:nvPr/>
          </p:nvSpPr>
          <p:spPr bwMode="auto">
            <a:xfrm>
              <a:off x="359329" y="202689"/>
              <a:ext cx="1757696" cy="579482"/>
            </a:xfrm>
            <a:prstGeom prst="diamond">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pPr>
              <a:r>
                <a:rPr lang="zh-CN" altLang="en-US" sz="1300">
                  <a:latin typeface="Calibri" panose="020F0502020204030204" pitchFamily="34" charset="0"/>
                  <a:cs typeface="Times New Roman" panose="02020603050405020304" pitchFamily="18" charset="0"/>
                </a:rPr>
                <a:t>布尔表达式</a:t>
              </a:r>
              <a:endParaRPr lang="zh-CN" altLang="en-US" sz="1300">
                <a:latin typeface="Arial" panose="020B0604020202020204" pitchFamily="34" charset="0"/>
              </a:endParaRPr>
            </a:p>
          </p:txBody>
        </p:sp>
        <p:sp>
          <p:nvSpPr>
            <p:cNvPr id="39945" name="Line 81"/>
            <p:cNvSpPr>
              <a:spLocks noChangeShapeType="1"/>
            </p:cNvSpPr>
            <p:nvPr/>
          </p:nvSpPr>
          <p:spPr bwMode="auto">
            <a:xfrm>
              <a:off x="1316642" y="782171"/>
              <a:ext cx="0" cy="39594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39946" name="Rectangle 82"/>
            <p:cNvSpPr>
              <a:spLocks noChangeArrowheads="1"/>
            </p:cNvSpPr>
            <p:nvPr/>
          </p:nvSpPr>
          <p:spPr bwMode="auto">
            <a:xfrm>
              <a:off x="175370" y="782171"/>
              <a:ext cx="1141272" cy="29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1950">
                  <a:latin typeface="Calibri" panose="020F0502020204030204" pitchFamily="34" charset="0"/>
                  <a:cs typeface="Times New Roman" panose="02020603050405020304" pitchFamily="18" charset="0"/>
                </a:rPr>
                <a:t>true</a:t>
              </a:r>
              <a:endParaRPr lang="en-US" altLang="zh-CN" sz="1950">
                <a:latin typeface="Arial" panose="020B0604020202020204" pitchFamily="34" charset="0"/>
              </a:endParaRPr>
            </a:p>
          </p:txBody>
        </p:sp>
        <p:sp>
          <p:nvSpPr>
            <p:cNvPr id="39947" name="Rectangle 83"/>
            <p:cNvSpPr>
              <a:spLocks noChangeArrowheads="1"/>
            </p:cNvSpPr>
            <p:nvPr/>
          </p:nvSpPr>
          <p:spPr bwMode="auto">
            <a:xfrm>
              <a:off x="2117024" y="187155"/>
              <a:ext cx="1185636" cy="29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1950">
                  <a:latin typeface="Calibri" panose="020F0502020204030204" pitchFamily="34" charset="0"/>
                  <a:cs typeface="Times New Roman" panose="02020603050405020304" pitchFamily="18" charset="0"/>
                </a:rPr>
                <a:t>false</a:t>
              </a:r>
              <a:endParaRPr lang="en-US" altLang="zh-CN" sz="1950">
                <a:latin typeface="Arial" panose="020B0604020202020204" pitchFamily="34" charset="0"/>
              </a:endParaRPr>
            </a:p>
          </p:txBody>
        </p:sp>
        <p:sp>
          <p:nvSpPr>
            <p:cNvPr id="39948" name="Line 84"/>
            <p:cNvSpPr>
              <a:spLocks noChangeShapeType="1"/>
            </p:cNvSpPr>
            <p:nvPr/>
          </p:nvSpPr>
          <p:spPr bwMode="auto">
            <a:xfrm>
              <a:off x="2117025" y="484663"/>
              <a:ext cx="685728" cy="72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39949" name="Line 85"/>
            <p:cNvSpPr>
              <a:spLocks noChangeShapeType="1"/>
            </p:cNvSpPr>
            <p:nvPr/>
          </p:nvSpPr>
          <p:spPr bwMode="auto">
            <a:xfrm>
              <a:off x="2802755" y="484663"/>
              <a:ext cx="730" cy="118857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39950" name="Line 86"/>
            <p:cNvSpPr>
              <a:spLocks noChangeShapeType="1"/>
            </p:cNvSpPr>
            <p:nvPr/>
          </p:nvSpPr>
          <p:spPr bwMode="auto">
            <a:xfrm>
              <a:off x="1316642" y="1475627"/>
              <a:ext cx="730" cy="39594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39951" name="Line 87"/>
            <p:cNvSpPr>
              <a:spLocks noChangeShapeType="1"/>
            </p:cNvSpPr>
            <p:nvPr/>
          </p:nvSpPr>
          <p:spPr bwMode="auto">
            <a:xfrm flipH="1">
              <a:off x="1316642" y="1673237"/>
              <a:ext cx="1486112"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grpSp>
      <p:sp>
        <p:nvSpPr>
          <p:cNvPr id="39941" name="Rectangle 17"/>
          <p:cNvSpPr>
            <a:spLocks noChangeArrowheads="1"/>
          </p:cNvSpPr>
          <p:nvPr/>
        </p:nvSpPr>
        <p:spPr bwMode="auto">
          <a:xfrm>
            <a:off x="4694961" y="1392607"/>
            <a:ext cx="6155675" cy="4388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925" tIns="39462" rIns="78925" bIns="39462" anchor="ctr">
            <a:spAutoFit/>
          </a:bodyPr>
          <a:lstStyle>
            <a:lvl1pPr indent="212725"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pPr>
            <a:r>
              <a:rPr lang="zh-CN" altLang="en-US" sz="2800" dirty="0">
                <a:latin typeface="宋体" panose="02010600030101010101" pitchFamily="2" charset="-122"/>
                <a:cs typeface="Times New Roman" panose="02020603050405020304" pitchFamily="18" charset="0"/>
              </a:rPr>
              <a:t>（</a:t>
            </a:r>
            <a:r>
              <a:rPr lang="en-US" altLang="zh-CN" sz="2800" dirty="0">
                <a:latin typeface="宋体" panose="02010600030101010101" pitchFamily="2" charset="-122"/>
                <a:cs typeface="Times New Roman" panose="02020603050405020304" pitchFamily="18" charset="0"/>
              </a:rPr>
              <a:t>1</a:t>
            </a:r>
            <a:r>
              <a:rPr lang="zh-CN" altLang="en-US" sz="2800" dirty="0">
                <a:latin typeface="宋体" panose="02010600030101010101" pitchFamily="2" charset="-122"/>
                <a:cs typeface="Times New Roman" panose="02020603050405020304" pitchFamily="18" charset="0"/>
              </a:rPr>
              <a:t>）</a:t>
            </a:r>
            <a:r>
              <a:rPr lang="en-US" altLang="zh-CN" sz="2800" dirty="0">
                <a:latin typeface="宋体" panose="02010600030101010101" pitchFamily="2" charset="-122"/>
                <a:cs typeface="Times New Roman" panose="02020603050405020304" pitchFamily="18" charset="0"/>
              </a:rPr>
              <a:t>if</a:t>
            </a:r>
            <a:r>
              <a:rPr lang="zh-CN" altLang="en-US" sz="2800" dirty="0">
                <a:latin typeface="宋体" panose="02010600030101010101" pitchFamily="2" charset="-122"/>
                <a:cs typeface="Times New Roman" panose="02020603050405020304" pitchFamily="18" charset="0"/>
              </a:rPr>
              <a:t>语句的基本形式</a:t>
            </a:r>
            <a:endParaRPr lang="zh-CN" altLang="en-US" sz="2800" dirty="0">
              <a:latin typeface="宋体" panose="02010600030101010101" pitchFamily="2" charset="-122"/>
            </a:endParaRPr>
          </a:p>
          <a:p>
            <a:pPr>
              <a:lnSpc>
                <a:spcPct val="100000"/>
              </a:lnSpc>
            </a:pPr>
            <a:r>
              <a:rPr lang="zh-CN" altLang="en-US" sz="2800" dirty="0">
                <a:latin typeface="宋体" panose="02010600030101010101" pitchFamily="2" charset="-122"/>
                <a:cs typeface="Times New Roman" panose="02020603050405020304" pitchFamily="18" charset="0"/>
              </a:rPr>
              <a:t>基本</a:t>
            </a:r>
            <a:r>
              <a:rPr lang="en-US" altLang="zh-CN" sz="2800" dirty="0">
                <a:latin typeface="宋体" panose="02010600030101010101" pitchFamily="2" charset="-122"/>
                <a:cs typeface="Times New Roman" panose="02020603050405020304" pitchFamily="18" charset="0"/>
              </a:rPr>
              <a:t>if</a:t>
            </a:r>
            <a:r>
              <a:rPr lang="zh-CN" altLang="en-US" sz="2800" dirty="0">
                <a:latin typeface="宋体" panose="02010600030101010101" pitchFamily="2" charset="-122"/>
                <a:cs typeface="Times New Roman" panose="02020603050405020304" pitchFamily="18" charset="0"/>
              </a:rPr>
              <a:t>语句的语法格式如下：</a:t>
            </a:r>
            <a:endParaRPr lang="en-US" altLang="zh-CN" sz="2800" dirty="0">
              <a:latin typeface="宋体" panose="02010600030101010101" pitchFamily="2" charset="-122"/>
              <a:cs typeface="Times New Roman" panose="02020603050405020304" pitchFamily="18" charset="0"/>
            </a:endParaRPr>
          </a:p>
          <a:p>
            <a:pPr>
              <a:lnSpc>
                <a:spcPct val="100000"/>
              </a:lnSpc>
            </a:pPr>
            <a:endParaRPr lang="zh-CN" altLang="en-US" sz="2800" dirty="0">
              <a:latin typeface="宋体" panose="02010600030101010101" pitchFamily="2" charset="-122"/>
            </a:endParaRPr>
          </a:p>
          <a:p>
            <a:pPr>
              <a:lnSpc>
                <a:spcPct val="100000"/>
              </a:lnSpc>
            </a:pPr>
            <a:r>
              <a:rPr lang="en-US" altLang="zh-CN" sz="2800" dirty="0">
                <a:solidFill>
                  <a:srgbClr val="FF3300"/>
                </a:solidFill>
                <a:latin typeface="宋体" panose="02010600030101010101" pitchFamily="2" charset="-122"/>
                <a:cs typeface="Times New Roman" panose="02020603050405020304" pitchFamily="18" charset="0"/>
              </a:rPr>
              <a:t>if</a:t>
            </a:r>
            <a:r>
              <a:rPr lang="zh-CN" altLang="en-US" sz="2800" dirty="0">
                <a:solidFill>
                  <a:srgbClr val="FF3300"/>
                </a:solidFill>
                <a:latin typeface="宋体" panose="02010600030101010101" pitchFamily="2" charset="-122"/>
                <a:cs typeface="Times New Roman" panose="02020603050405020304" pitchFamily="18" charset="0"/>
              </a:rPr>
              <a:t>（布尔表达式）</a:t>
            </a:r>
            <a:endParaRPr lang="zh-CN" altLang="en-US" sz="2800" dirty="0">
              <a:solidFill>
                <a:srgbClr val="FF3300"/>
              </a:solidFill>
              <a:latin typeface="宋体" panose="02010600030101010101" pitchFamily="2" charset="-122"/>
            </a:endParaRPr>
          </a:p>
          <a:p>
            <a:pPr>
              <a:lnSpc>
                <a:spcPct val="100000"/>
              </a:lnSpc>
            </a:pPr>
            <a:r>
              <a:rPr lang="zh-CN" altLang="en-US" sz="2800" dirty="0">
                <a:solidFill>
                  <a:srgbClr val="FF3300"/>
                </a:solidFill>
                <a:latin typeface="宋体" panose="02010600030101010101" pitchFamily="2" charset="-122"/>
                <a:cs typeface="Times New Roman" panose="02020603050405020304" pitchFamily="18" charset="0"/>
              </a:rPr>
              <a:t>  语句</a:t>
            </a:r>
            <a:endParaRPr lang="zh-CN" altLang="en-US" sz="2800" dirty="0">
              <a:solidFill>
                <a:srgbClr val="FF3300"/>
              </a:solidFill>
              <a:latin typeface="宋体" panose="02010600030101010101" pitchFamily="2" charset="-122"/>
            </a:endParaRPr>
          </a:p>
          <a:p>
            <a:pPr>
              <a:lnSpc>
                <a:spcPct val="100000"/>
              </a:lnSpc>
            </a:pPr>
            <a:r>
              <a:rPr lang="zh-CN" altLang="en-US" sz="2800" dirty="0">
                <a:latin typeface="宋体" panose="02010600030101010101" pitchFamily="2" charset="-122"/>
                <a:cs typeface="Times New Roman" panose="02020603050405020304" pitchFamily="18" charset="0"/>
              </a:rPr>
              <a:t>或者</a:t>
            </a:r>
            <a:endParaRPr lang="zh-CN" altLang="en-US" sz="2800" dirty="0">
              <a:latin typeface="宋体" panose="02010600030101010101" pitchFamily="2" charset="-122"/>
            </a:endParaRPr>
          </a:p>
          <a:p>
            <a:pPr>
              <a:lnSpc>
                <a:spcPct val="100000"/>
              </a:lnSpc>
            </a:pPr>
            <a:r>
              <a:rPr lang="en-US" altLang="zh-CN" sz="2800" dirty="0">
                <a:solidFill>
                  <a:srgbClr val="FF3300"/>
                </a:solidFill>
                <a:latin typeface="宋体" panose="02010600030101010101" pitchFamily="2" charset="-122"/>
                <a:cs typeface="Times New Roman" panose="02020603050405020304" pitchFamily="18" charset="0"/>
              </a:rPr>
              <a:t>if</a:t>
            </a:r>
            <a:r>
              <a:rPr lang="zh-CN" altLang="en-US" sz="2800" dirty="0">
                <a:solidFill>
                  <a:srgbClr val="FF3300"/>
                </a:solidFill>
                <a:latin typeface="宋体" panose="02010600030101010101" pitchFamily="2" charset="-122"/>
                <a:cs typeface="Times New Roman" panose="02020603050405020304" pitchFamily="18" charset="0"/>
              </a:rPr>
              <a:t>（布尔表达式）</a:t>
            </a:r>
            <a:r>
              <a:rPr lang="en-US" altLang="zh-CN" sz="2800" dirty="0">
                <a:solidFill>
                  <a:srgbClr val="FF3300"/>
                </a:solidFill>
                <a:latin typeface="宋体" panose="02010600030101010101" pitchFamily="2" charset="-122"/>
                <a:cs typeface="Times New Roman" panose="02020603050405020304" pitchFamily="18" charset="0"/>
              </a:rPr>
              <a:t>{</a:t>
            </a:r>
            <a:endParaRPr lang="en-US" altLang="zh-CN" sz="2800" dirty="0">
              <a:solidFill>
                <a:srgbClr val="FF3300"/>
              </a:solidFill>
              <a:latin typeface="宋体" panose="02010600030101010101" pitchFamily="2" charset="-122"/>
            </a:endParaRPr>
          </a:p>
          <a:p>
            <a:pPr>
              <a:lnSpc>
                <a:spcPct val="100000"/>
              </a:lnSpc>
            </a:pPr>
            <a:r>
              <a:rPr lang="zh-CN" altLang="en-US" sz="2800" dirty="0">
                <a:solidFill>
                  <a:srgbClr val="FF3300"/>
                </a:solidFill>
                <a:latin typeface="宋体" panose="02010600030101010101" pitchFamily="2" charset="-122"/>
                <a:cs typeface="Times New Roman" panose="02020603050405020304" pitchFamily="18" charset="0"/>
              </a:rPr>
              <a:t>  语句序列</a:t>
            </a:r>
            <a:endParaRPr lang="zh-CN" altLang="en-US" sz="2800" dirty="0">
              <a:solidFill>
                <a:srgbClr val="FF3300"/>
              </a:solidFill>
              <a:latin typeface="宋体" panose="02010600030101010101" pitchFamily="2" charset="-122"/>
            </a:endParaRPr>
          </a:p>
          <a:p>
            <a:pPr>
              <a:lnSpc>
                <a:spcPct val="100000"/>
              </a:lnSpc>
            </a:pPr>
            <a:r>
              <a:rPr lang="en-US" altLang="zh-CN" sz="2800" dirty="0">
                <a:solidFill>
                  <a:srgbClr val="FF3300"/>
                </a:solidFill>
                <a:latin typeface="宋体" panose="02010600030101010101" pitchFamily="2" charset="-122"/>
                <a:cs typeface="Times New Roman" panose="02020603050405020304" pitchFamily="18" charset="0"/>
              </a:rPr>
              <a:t>}</a:t>
            </a:r>
            <a:endParaRPr lang="en-US" altLang="zh-CN" sz="2800" dirty="0">
              <a:solidFill>
                <a:srgbClr val="FF3300"/>
              </a:solidFill>
              <a:latin typeface="宋体" panose="02010600030101010101" pitchFamily="2" charset="-122"/>
              <a:cs typeface="Times New Roman" panose="02020603050405020304" pitchFamily="18" charset="0"/>
            </a:endParaRPr>
          </a:p>
          <a:p>
            <a:pPr>
              <a:lnSpc>
                <a:spcPct val="100000"/>
              </a:lnSpc>
            </a:pPr>
            <a:endParaRPr lang="en-US" altLang="zh-CN" sz="2800" dirty="0">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内容占位符 1"/>
          <p:cNvSpPr>
            <a:spLocks noGrp="1"/>
          </p:cNvSpPr>
          <p:nvPr>
            <p:ph idx="4294967295"/>
          </p:nvPr>
        </p:nvSpPr>
        <p:spPr>
          <a:xfrm>
            <a:off x="308702" y="555798"/>
            <a:ext cx="4396648" cy="481988"/>
          </a:xfrm>
        </p:spPr>
        <p:txBody>
          <a:bodyPr>
            <a:noAutofit/>
          </a:bodyPr>
          <a:lstStyle/>
          <a:p>
            <a:pPr marL="0" indent="353060">
              <a:buNone/>
            </a:pPr>
            <a:r>
              <a:rPr lang="zh-CN" altLang="en-US" sz="3200" b="1" dirty="0">
                <a:latin typeface="宋体" panose="02010600030101010101" pitchFamily="2" charset="-122"/>
                <a:ea typeface="宋体" panose="02010600030101010101" pitchFamily="2" charset="-122"/>
              </a:rPr>
              <a:t>（</a:t>
            </a:r>
            <a:r>
              <a:rPr lang="en-US" altLang="zh-CN" sz="3200" b="1" dirty="0">
                <a:latin typeface="宋体" panose="02010600030101010101" pitchFamily="2" charset="-122"/>
                <a:ea typeface="宋体" panose="02010600030101010101" pitchFamily="2" charset="-122"/>
              </a:rPr>
              <a:t>2</a:t>
            </a:r>
            <a:r>
              <a:rPr lang="zh-CN" altLang="en-US" sz="3200" b="1" dirty="0">
                <a:latin typeface="宋体" panose="02010600030101010101" pitchFamily="2" charset="-122"/>
                <a:ea typeface="宋体" panose="02010600030101010101" pitchFamily="2" charset="-122"/>
              </a:rPr>
              <a:t>）</a:t>
            </a:r>
            <a:r>
              <a:rPr lang="en-US" altLang="zh-CN" sz="3200" b="1" dirty="0">
                <a:latin typeface="宋体" panose="02010600030101010101" pitchFamily="2" charset="-122"/>
                <a:ea typeface="宋体" panose="02010600030101010101" pitchFamily="2" charset="-122"/>
              </a:rPr>
              <a:t>if…else</a:t>
            </a:r>
            <a:r>
              <a:rPr lang="zh-CN" altLang="en-US" sz="3200" b="1" dirty="0">
                <a:latin typeface="宋体" panose="02010600030101010101" pitchFamily="2" charset="-122"/>
                <a:ea typeface="宋体" panose="02010600030101010101" pitchFamily="2" charset="-122"/>
              </a:rPr>
              <a:t>语句</a:t>
            </a:r>
            <a:endParaRPr lang="zh-CN" altLang="en-US" sz="3200" b="1" dirty="0">
              <a:latin typeface="宋体" panose="02010600030101010101" pitchFamily="2" charset="-122"/>
              <a:ea typeface="宋体" panose="02010600030101010101" pitchFamily="2" charset="-122"/>
            </a:endParaRPr>
          </a:p>
          <a:p>
            <a:pPr marL="0" indent="353060">
              <a:buNone/>
            </a:pPr>
            <a:endParaRPr lang="zh-CN" altLang="en-US" sz="3200" b="1" dirty="0">
              <a:latin typeface="宋体" panose="02010600030101010101" pitchFamily="2" charset="-122"/>
              <a:ea typeface="宋体" panose="02010600030101010101" pitchFamily="2" charset="-122"/>
            </a:endParaRPr>
          </a:p>
        </p:txBody>
      </p:sp>
      <p:sp>
        <p:nvSpPr>
          <p:cNvPr id="40963" name="Rectangle 1"/>
          <p:cNvSpPr>
            <a:spLocks noChangeArrowheads="1"/>
          </p:cNvSpPr>
          <p:nvPr/>
        </p:nvSpPr>
        <p:spPr bwMode="auto">
          <a:xfrm>
            <a:off x="712927" y="1421556"/>
            <a:ext cx="3563268" cy="3957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925" tIns="39462" rIns="78925" bIns="39462" anchor="ctr">
            <a:spAutoFit/>
          </a:bodyPr>
          <a:lstStyle>
            <a:lvl1pPr indent="211455"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pPr>
            <a:r>
              <a:rPr lang="en-US" altLang="zh-CN" sz="2800" dirty="0">
                <a:latin typeface="宋体" panose="02010600030101010101" pitchFamily="2" charset="-122"/>
                <a:cs typeface="Times New Roman" panose="02020603050405020304" pitchFamily="18" charset="0"/>
              </a:rPr>
              <a:t>if…else</a:t>
            </a:r>
            <a:r>
              <a:rPr lang="zh-CN" altLang="en-US" sz="2800" dirty="0">
                <a:latin typeface="宋体" panose="02010600030101010101" pitchFamily="2" charset="-122"/>
                <a:cs typeface="Times New Roman" panose="02020603050405020304" pitchFamily="18" charset="0"/>
              </a:rPr>
              <a:t>语句结构可以实现二选一的效果，语法格式如下：</a:t>
            </a:r>
            <a:endParaRPr lang="en-US" altLang="zh-CN" sz="2800" dirty="0">
              <a:latin typeface="宋体" panose="02010600030101010101" pitchFamily="2" charset="-122"/>
              <a:cs typeface="Times New Roman" panose="02020603050405020304" pitchFamily="18" charset="0"/>
            </a:endParaRPr>
          </a:p>
          <a:p>
            <a:pPr eaLnBrk="1" hangingPunct="1">
              <a:lnSpc>
                <a:spcPct val="100000"/>
              </a:lnSpc>
            </a:pPr>
            <a:endParaRPr lang="zh-CN" altLang="en-US" sz="2800" dirty="0">
              <a:latin typeface="宋体" panose="02010600030101010101" pitchFamily="2" charset="-122"/>
            </a:endParaRPr>
          </a:p>
          <a:p>
            <a:pPr>
              <a:lnSpc>
                <a:spcPct val="100000"/>
              </a:lnSpc>
            </a:pPr>
            <a:r>
              <a:rPr lang="en-US" altLang="zh-CN" sz="2800" dirty="0">
                <a:solidFill>
                  <a:srgbClr val="FF3300"/>
                </a:solidFill>
                <a:latin typeface="宋体" panose="02010600030101010101" pitchFamily="2" charset="-122"/>
                <a:cs typeface="Times New Roman" panose="02020603050405020304" pitchFamily="18" charset="0"/>
              </a:rPr>
              <a:t>if</a:t>
            </a:r>
            <a:r>
              <a:rPr lang="zh-CN" altLang="en-US" sz="2800" dirty="0">
                <a:solidFill>
                  <a:srgbClr val="FF3300"/>
                </a:solidFill>
                <a:latin typeface="宋体" panose="02010600030101010101" pitchFamily="2" charset="-122"/>
                <a:cs typeface="Times New Roman" panose="02020603050405020304" pitchFamily="18" charset="0"/>
              </a:rPr>
              <a:t>（布尔表达式）</a:t>
            </a:r>
            <a:endParaRPr lang="zh-CN" altLang="en-US" sz="2800" dirty="0">
              <a:solidFill>
                <a:srgbClr val="FF3300"/>
              </a:solidFill>
              <a:latin typeface="宋体" panose="02010600030101010101" pitchFamily="2" charset="-122"/>
            </a:endParaRPr>
          </a:p>
          <a:p>
            <a:pPr>
              <a:lnSpc>
                <a:spcPct val="100000"/>
              </a:lnSpc>
            </a:pPr>
            <a:r>
              <a:rPr lang="zh-CN" altLang="en-US" sz="2800" dirty="0">
                <a:solidFill>
                  <a:srgbClr val="FF3300"/>
                </a:solidFill>
                <a:latin typeface="宋体" panose="02010600030101010101" pitchFamily="2" charset="-122"/>
                <a:cs typeface="Times New Roman" panose="02020603050405020304" pitchFamily="18" charset="0"/>
              </a:rPr>
              <a:t>语句（块）</a:t>
            </a:r>
            <a:r>
              <a:rPr lang="en-US" altLang="zh-CN" sz="2800" dirty="0">
                <a:solidFill>
                  <a:srgbClr val="FF3300"/>
                </a:solidFill>
                <a:latin typeface="宋体" panose="02010600030101010101" pitchFamily="2" charset="-122"/>
                <a:cs typeface="Times New Roman" panose="02020603050405020304" pitchFamily="18" charset="0"/>
              </a:rPr>
              <a:t>1</a:t>
            </a:r>
            <a:r>
              <a:rPr lang="zh-CN" altLang="en-US" sz="2800" dirty="0">
                <a:solidFill>
                  <a:srgbClr val="FF3300"/>
                </a:solidFill>
                <a:latin typeface="宋体" panose="02010600030101010101" pitchFamily="2" charset="-122"/>
                <a:cs typeface="Times New Roman" panose="02020603050405020304" pitchFamily="18" charset="0"/>
              </a:rPr>
              <a:t>；</a:t>
            </a:r>
            <a:endParaRPr lang="zh-CN" altLang="en-US" sz="2800" dirty="0">
              <a:solidFill>
                <a:srgbClr val="FF3300"/>
              </a:solidFill>
              <a:latin typeface="宋体" panose="02010600030101010101" pitchFamily="2" charset="-122"/>
            </a:endParaRPr>
          </a:p>
          <a:p>
            <a:pPr>
              <a:lnSpc>
                <a:spcPct val="100000"/>
              </a:lnSpc>
            </a:pPr>
            <a:r>
              <a:rPr lang="en-US" altLang="zh-CN" sz="2800" dirty="0">
                <a:solidFill>
                  <a:srgbClr val="FF3300"/>
                </a:solidFill>
                <a:latin typeface="宋体" panose="02010600030101010101" pitchFamily="2" charset="-122"/>
                <a:cs typeface="Times New Roman" panose="02020603050405020304" pitchFamily="18" charset="0"/>
              </a:rPr>
              <a:t>else</a:t>
            </a:r>
            <a:endParaRPr lang="en-US" altLang="zh-CN" sz="2800" dirty="0">
              <a:solidFill>
                <a:srgbClr val="FF3300"/>
              </a:solidFill>
              <a:latin typeface="宋体" panose="02010600030101010101" pitchFamily="2" charset="-122"/>
            </a:endParaRPr>
          </a:p>
          <a:p>
            <a:pPr>
              <a:lnSpc>
                <a:spcPct val="100000"/>
              </a:lnSpc>
            </a:pPr>
            <a:r>
              <a:rPr lang="zh-CN" altLang="en-US" sz="2800" dirty="0">
                <a:solidFill>
                  <a:srgbClr val="FF3300"/>
                </a:solidFill>
                <a:latin typeface="宋体" panose="02010600030101010101" pitchFamily="2" charset="-122"/>
                <a:cs typeface="Times New Roman" panose="02020603050405020304" pitchFamily="18" charset="0"/>
              </a:rPr>
              <a:t>语句（块）</a:t>
            </a:r>
            <a:r>
              <a:rPr lang="en-US" altLang="zh-CN" sz="2800" dirty="0">
                <a:solidFill>
                  <a:srgbClr val="FF3300"/>
                </a:solidFill>
                <a:latin typeface="宋体" panose="02010600030101010101" pitchFamily="2" charset="-122"/>
                <a:cs typeface="Times New Roman" panose="02020603050405020304" pitchFamily="18" charset="0"/>
              </a:rPr>
              <a:t>2</a:t>
            </a:r>
            <a:r>
              <a:rPr lang="zh-CN" altLang="en-US" sz="2800" dirty="0">
                <a:solidFill>
                  <a:srgbClr val="FF3300"/>
                </a:solidFill>
                <a:latin typeface="宋体" panose="02010600030101010101" pitchFamily="2" charset="-122"/>
                <a:cs typeface="Times New Roman" panose="02020603050405020304" pitchFamily="18" charset="0"/>
              </a:rPr>
              <a:t>；</a:t>
            </a:r>
            <a:endParaRPr lang="en-US" altLang="zh-CN" sz="2800" dirty="0">
              <a:solidFill>
                <a:srgbClr val="FF3300"/>
              </a:solidFill>
              <a:latin typeface="宋体" panose="02010600030101010101" pitchFamily="2" charset="-122"/>
              <a:cs typeface="Times New Roman" panose="02020603050405020304" pitchFamily="18" charset="0"/>
            </a:endParaRPr>
          </a:p>
          <a:p>
            <a:pPr>
              <a:lnSpc>
                <a:spcPct val="100000"/>
              </a:lnSpc>
            </a:pPr>
            <a:endParaRPr lang="zh-CN" altLang="en-US" sz="2800" dirty="0">
              <a:latin typeface="宋体" panose="02010600030101010101" pitchFamily="2" charset="-122"/>
            </a:endParaRPr>
          </a:p>
        </p:txBody>
      </p:sp>
      <p:sp>
        <p:nvSpPr>
          <p:cNvPr id="40964" name="内容占位符 1"/>
          <p:cNvSpPr txBox="1">
            <a:spLocks noChangeArrowheads="1"/>
          </p:cNvSpPr>
          <p:nvPr/>
        </p:nvSpPr>
        <p:spPr bwMode="auto">
          <a:xfrm>
            <a:off x="5372573" y="568585"/>
            <a:ext cx="6226017" cy="497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925" tIns="39462" rIns="78925" bIns="39462"/>
          <a:lstStyle>
            <a:lvl1pPr marL="290830" indent="285750">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spcBef>
                <a:spcPts val="340"/>
              </a:spcBef>
              <a:buClr>
                <a:schemeClr val="accent1"/>
              </a:buClr>
              <a:buSzPct val="68000"/>
            </a:pPr>
            <a:r>
              <a:rPr lang="zh-CN" altLang="en-US" sz="3200" dirty="0">
                <a:latin typeface="宋体" panose="02010600030101010101" pitchFamily="2" charset="-122"/>
              </a:rPr>
              <a:t>（</a:t>
            </a:r>
            <a:r>
              <a:rPr lang="en-US" altLang="zh-CN" sz="3200" dirty="0">
                <a:latin typeface="宋体" panose="02010600030101010101" pitchFamily="2" charset="-122"/>
              </a:rPr>
              <a:t>3</a:t>
            </a:r>
            <a:r>
              <a:rPr lang="zh-CN" altLang="en-US" sz="3200" dirty="0">
                <a:latin typeface="宋体" panose="02010600030101010101" pitchFamily="2" charset="-122"/>
              </a:rPr>
              <a:t>）</a:t>
            </a:r>
            <a:r>
              <a:rPr lang="en-US" altLang="zh-CN" sz="3200" dirty="0">
                <a:latin typeface="宋体" panose="02010600030101010101" pitchFamily="2" charset="-122"/>
              </a:rPr>
              <a:t> if…else if …</a:t>
            </a:r>
            <a:r>
              <a:rPr lang="zh-CN" altLang="en-US" sz="3200" dirty="0">
                <a:latin typeface="宋体" panose="02010600030101010101" pitchFamily="2" charset="-122"/>
              </a:rPr>
              <a:t>语句</a:t>
            </a:r>
            <a:endParaRPr lang="zh-CN" altLang="en-US" sz="3200" dirty="0">
              <a:latin typeface="宋体" panose="02010600030101010101" pitchFamily="2" charset="-122"/>
            </a:endParaRPr>
          </a:p>
        </p:txBody>
      </p:sp>
      <p:sp>
        <p:nvSpPr>
          <p:cNvPr id="40965" name="Rectangle 39"/>
          <p:cNvSpPr>
            <a:spLocks noChangeArrowheads="1"/>
          </p:cNvSpPr>
          <p:nvPr/>
        </p:nvSpPr>
        <p:spPr bwMode="auto">
          <a:xfrm>
            <a:off x="1303663" y="49733"/>
            <a:ext cx="159456" cy="41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8925" tIns="39462" rIns="78925" bIns="39462" anchor="ct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2170"/>
          </a:p>
        </p:txBody>
      </p:sp>
      <p:grpSp>
        <p:nvGrpSpPr>
          <p:cNvPr id="40966" name="Group 6"/>
          <p:cNvGrpSpPr/>
          <p:nvPr/>
        </p:nvGrpSpPr>
        <p:grpSpPr bwMode="auto">
          <a:xfrm>
            <a:off x="5553764" y="950205"/>
            <a:ext cx="5638111" cy="5631570"/>
            <a:chOff x="0" y="0"/>
            <a:chExt cx="5183505" cy="4191635"/>
          </a:xfrm>
        </p:grpSpPr>
        <p:sp>
          <p:nvSpPr>
            <p:cNvPr id="40967" name="AutoShape 38"/>
            <p:cNvSpPr>
              <a:spLocks noRot="1" noChangeAspect="1" noChangeArrowheads="1"/>
            </p:cNvSpPr>
            <p:nvPr/>
          </p:nvSpPr>
          <p:spPr bwMode="auto">
            <a:xfrm>
              <a:off x="0" y="0"/>
              <a:ext cx="5183505" cy="419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865"/>
            </a:p>
          </p:txBody>
        </p:sp>
        <p:sp>
          <p:nvSpPr>
            <p:cNvPr id="40968" name="Rectangle 42"/>
            <p:cNvSpPr>
              <a:spLocks noChangeArrowheads="1"/>
            </p:cNvSpPr>
            <p:nvPr/>
          </p:nvSpPr>
          <p:spPr bwMode="auto">
            <a:xfrm>
              <a:off x="343234" y="3070982"/>
              <a:ext cx="685739" cy="298274"/>
            </a:xfrm>
            <a:prstGeom prst="rect">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865">
                  <a:latin typeface="Calibri" panose="020F0502020204030204" pitchFamily="34" charset="0"/>
                  <a:cs typeface="Times New Roman" panose="02020603050405020304" pitchFamily="18" charset="0"/>
                </a:rPr>
                <a:t>语句序列</a:t>
              </a:r>
              <a:endParaRPr lang="zh-CN" altLang="en-US" sz="865">
                <a:latin typeface="Arial" panose="020B0604020202020204" pitchFamily="34" charset="0"/>
              </a:endParaRPr>
            </a:p>
          </p:txBody>
        </p:sp>
        <p:sp>
          <p:nvSpPr>
            <p:cNvPr id="40969" name="AutoShape 43"/>
            <p:cNvSpPr>
              <a:spLocks noChangeArrowheads="1"/>
            </p:cNvSpPr>
            <p:nvPr/>
          </p:nvSpPr>
          <p:spPr bwMode="auto">
            <a:xfrm>
              <a:off x="0" y="395997"/>
              <a:ext cx="1371477" cy="396726"/>
            </a:xfrm>
            <a:prstGeom prst="diamond">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pPr>
              <a:r>
                <a:rPr lang="zh-CN" altLang="en-US" sz="865">
                  <a:latin typeface="Calibri" panose="020F0502020204030204" pitchFamily="34" charset="0"/>
                  <a:cs typeface="Times New Roman" panose="02020603050405020304" pitchFamily="18" charset="0"/>
                </a:rPr>
                <a:t>布尔表达式</a:t>
              </a:r>
              <a:r>
                <a:rPr lang="en-US" altLang="zh-CN" sz="865">
                  <a:latin typeface="Calibri" panose="020F0502020204030204" pitchFamily="34" charset="0"/>
                  <a:cs typeface="Times New Roman" panose="02020603050405020304" pitchFamily="18" charset="0"/>
                </a:rPr>
                <a:t>1</a:t>
              </a:r>
              <a:endParaRPr lang="en-US" altLang="zh-CN" sz="865">
                <a:latin typeface="Arial" panose="020B0604020202020204" pitchFamily="34" charset="0"/>
              </a:endParaRPr>
            </a:p>
          </p:txBody>
        </p:sp>
        <p:sp>
          <p:nvSpPr>
            <p:cNvPr id="40970" name="Line 44"/>
            <p:cNvSpPr>
              <a:spLocks noChangeShapeType="1"/>
            </p:cNvSpPr>
            <p:nvPr/>
          </p:nvSpPr>
          <p:spPr bwMode="auto">
            <a:xfrm flipH="1">
              <a:off x="685739" y="792723"/>
              <a:ext cx="730" cy="227825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0971" name="Rectangle 45"/>
            <p:cNvSpPr>
              <a:spLocks noChangeArrowheads="1"/>
            </p:cNvSpPr>
            <p:nvPr/>
          </p:nvSpPr>
          <p:spPr bwMode="auto">
            <a:xfrm>
              <a:off x="114655" y="1287902"/>
              <a:ext cx="569623" cy="296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865">
                  <a:latin typeface="Calibri" panose="020F0502020204030204" pitchFamily="34" charset="0"/>
                  <a:cs typeface="Times New Roman" panose="02020603050405020304" pitchFamily="18" charset="0"/>
                </a:rPr>
                <a:t>true</a:t>
              </a:r>
              <a:endParaRPr lang="en-US" altLang="zh-CN" sz="865">
                <a:latin typeface="Arial" panose="020B0604020202020204" pitchFamily="34" charset="0"/>
              </a:endParaRPr>
            </a:p>
          </p:txBody>
        </p:sp>
        <p:sp>
          <p:nvSpPr>
            <p:cNvPr id="40972" name="Rectangle 46"/>
            <p:cNvSpPr>
              <a:spLocks noChangeArrowheads="1"/>
            </p:cNvSpPr>
            <p:nvPr/>
          </p:nvSpPr>
          <p:spPr bwMode="auto">
            <a:xfrm>
              <a:off x="1257553" y="296815"/>
              <a:ext cx="571814" cy="29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865">
                  <a:latin typeface="Calibri" panose="020F0502020204030204" pitchFamily="34" charset="0"/>
                  <a:cs typeface="Times New Roman" panose="02020603050405020304" pitchFamily="18" charset="0"/>
                </a:rPr>
                <a:t>false</a:t>
              </a:r>
              <a:endParaRPr lang="en-US" altLang="zh-CN" sz="865">
                <a:latin typeface="Arial" panose="020B0604020202020204" pitchFamily="34" charset="0"/>
              </a:endParaRPr>
            </a:p>
          </p:txBody>
        </p:sp>
        <p:sp>
          <p:nvSpPr>
            <p:cNvPr id="40973" name="Line 47"/>
            <p:cNvSpPr>
              <a:spLocks noChangeShapeType="1"/>
            </p:cNvSpPr>
            <p:nvPr/>
          </p:nvSpPr>
          <p:spPr bwMode="auto">
            <a:xfrm>
              <a:off x="1371477" y="594360"/>
              <a:ext cx="343234" cy="72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40974" name="Line 48"/>
            <p:cNvSpPr>
              <a:spLocks noChangeShapeType="1"/>
            </p:cNvSpPr>
            <p:nvPr/>
          </p:nvSpPr>
          <p:spPr bwMode="auto">
            <a:xfrm>
              <a:off x="1714712" y="594360"/>
              <a:ext cx="730" cy="39599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0975" name="Line 49"/>
            <p:cNvSpPr>
              <a:spLocks noChangeShapeType="1"/>
            </p:cNvSpPr>
            <p:nvPr/>
          </p:nvSpPr>
          <p:spPr bwMode="auto">
            <a:xfrm>
              <a:off x="684278" y="3369255"/>
              <a:ext cx="730" cy="39599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0976" name="Line 50"/>
            <p:cNvSpPr>
              <a:spLocks noChangeShapeType="1"/>
            </p:cNvSpPr>
            <p:nvPr/>
          </p:nvSpPr>
          <p:spPr bwMode="auto">
            <a:xfrm flipH="1">
              <a:off x="684278" y="3764523"/>
              <a:ext cx="4001968" cy="291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0977" name="Line 51"/>
            <p:cNvSpPr>
              <a:spLocks noChangeShapeType="1"/>
            </p:cNvSpPr>
            <p:nvPr/>
          </p:nvSpPr>
          <p:spPr bwMode="auto">
            <a:xfrm>
              <a:off x="685739" y="99182"/>
              <a:ext cx="1461" cy="29608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0978" name="AutoShape 52"/>
            <p:cNvSpPr>
              <a:spLocks noChangeArrowheads="1"/>
            </p:cNvSpPr>
            <p:nvPr/>
          </p:nvSpPr>
          <p:spPr bwMode="auto">
            <a:xfrm>
              <a:off x="1028973" y="990357"/>
              <a:ext cx="1371477" cy="396726"/>
            </a:xfrm>
            <a:prstGeom prst="diamond">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pPr>
              <a:r>
                <a:rPr lang="zh-CN" altLang="en-US" sz="865">
                  <a:latin typeface="Calibri" panose="020F0502020204030204" pitchFamily="34" charset="0"/>
                  <a:cs typeface="Times New Roman" panose="02020603050405020304" pitchFamily="18" charset="0"/>
                </a:rPr>
                <a:t>布尔表达式</a:t>
              </a:r>
              <a:r>
                <a:rPr lang="en-US" altLang="zh-CN" sz="865">
                  <a:latin typeface="Calibri" panose="020F0502020204030204" pitchFamily="34" charset="0"/>
                  <a:cs typeface="Times New Roman" panose="02020603050405020304" pitchFamily="18" charset="0"/>
                </a:rPr>
                <a:t>2</a:t>
              </a:r>
              <a:endParaRPr lang="en-US" altLang="zh-CN" sz="865">
                <a:latin typeface="Arial" panose="020B0604020202020204" pitchFamily="34" charset="0"/>
              </a:endParaRPr>
            </a:p>
          </p:txBody>
        </p:sp>
        <p:sp>
          <p:nvSpPr>
            <p:cNvPr id="40979" name="AutoShape 53"/>
            <p:cNvSpPr>
              <a:spLocks noChangeArrowheads="1"/>
            </p:cNvSpPr>
            <p:nvPr/>
          </p:nvSpPr>
          <p:spPr bwMode="auto">
            <a:xfrm>
              <a:off x="2057216" y="1584717"/>
              <a:ext cx="1372938" cy="395268"/>
            </a:xfrm>
            <a:prstGeom prst="diamond">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865">
                  <a:latin typeface="Calibri" panose="020F0502020204030204" pitchFamily="34" charset="0"/>
                  <a:cs typeface="Times New Roman" panose="02020603050405020304" pitchFamily="18" charset="0"/>
                </a:rPr>
                <a:t>…</a:t>
              </a:r>
              <a:endParaRPr lang="zh-CN" altLang="en-US" sz="865">
                <a:latin typeface="Arial" panose="020B0604020202020204" pitchFamily="34" charset="0"/>
              </a:endParaRPr>
            </a:p>
          </p:txBody>
        </p:sp>
        <p:sp>
          <p:nvSpPr>
            <p:cNvPr id="40980" name="Rectangle 54"/>
            <p:cNvSpPr>
              <a:spLocks noChangeArrowheads="1"/>
            </p:cNvSpPr>
            <p:nvPr/>
          </p:nvSpPr>
          <p:spPr bwMode="auto">
            <a:xfrm>
              <a:off x="2285795" y="891905"/>
              <a:ext cx="572544" cy="296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865">
                  <a:latin typeface="Calibri" panose="020F0502020204030204" pitchFamily="34" charset="0"/>
                  <a:cs typeface="Times New Roman" panose="02020603050405020304" pitchFamily="18" charset="0"/>
                </a:rPr>
                <a:t>false</a:t>
              </a:r>
              <a:endParaRPr lang="en-US" altLang="zh-CN" sz="865">
                <a:latin typeface="Arial" panose="020B0604020202020204" pitchFamily="34" charset="0"/>
              </a:endParaRPr>
            </a:p>
          </p:txBody>
        </p:sp>
        <p:sp>
          <p:nvSpPr>
            <p:cNvPr id="40981" name="Line 55"/>
            <p:cNvSpPr>
              <a:spLocks noChangeShapeType="1"/>
            </p:cNvSpPr>
            <p:nvPr/>
          </p:nvSpPr>
          <p:spPr bwMode="auto">
            <a:xfrm>
              <a:off x="2400450" y="1188720"/>
              <a:ext cx="343234" cy="72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40982" name="Line 56"/>
            <p:cNvSpPr>
              <a:spLocks noChangeShapeType="1"/>
            </p:cNvSpPr>
            <p:nvPr/>
          </p:nvSpPr>
          <p:spPr bwMode="auto">
            <a:xfrm>
              <a:off x="2743685" y="1188720"/>
              <a:ext cx="730" cy="39672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0983" name="AutoShape 57"/>
            <p:cNvSpPr>
              <a:spLocks noChangeArrowheads="1"/>
            </p:cNvSpPr>
            <p:nvPr/>
          </p:nvSpPr>
          <p:spPr bwMode="auto">
            <a:xfrm>
              <a:off x="3086189" y="2179077"/>
              <a:ext cx="1372938" cy="394538"/>
            </a:xfrm>
            <a:prstGeom prst="diamond">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pPr>
              <a:r>
                <a:rPr lang="zh-CN" altLang="en-US" sz="865">
                  <a:latin typeface="Calibri" panose="020F0502020204030204" pitchFamily="34" charset="0"/>
                  <a:cs typeface="Times New Roman" panose="02020603050405020304" pitchFamily="18" charset="0"/>
                </a:rPr>
                <a:t>布尔表达式</a:t>
              </a:r>
              <a:r>
                <a:rPr lang="en-US" altLang="zh-CN" sz="865">
                  <a:latin typeface="Calibri" panose="020F0502020204030204" pitchFamily="34" charset="0"/>
                  <a:cs typeface="Times New Roman" panose="02020603050405020304" pitchFamily="18" charset="0"/>
                </a:rPr>
                <a:t>n</a:t>
              </a:r>
              <a:endParaRPr lang="en-US" altLang="zh-CN" sz="865">
                <a:latin typeface="Arial" panose="020B0604020202020204" pitchFamily="34" charset="0"/>
              </a:endParaRPr>
            </a:p>
            <a:p>
              <a:pPr>
                <a:lnSpc>
                  <a:spcPct val="100000"/>
                </a:lnSpc>
              </a:pPr>
              <a:endParaRPr lang="en-US" altLang="zh-CN" sz="865">
                <a:latin typeface="Arial" panose="020B0604020202020204" pitchFamily="34" charset="0"/>
              </a:endParaRPr>
            </a:p>
          </p:txBody>
        </p:sp>
        <p:sp>
          <p:nvSpPr>
            <p:cNvPr id="40984" name="Rectangle 58"/>
            <p:cNvSpPr>
              <a:spLocks noChangeArrowheads="1"/>
            </p:cNvSpPr>
            <p:nvPr/>
          </p:nvSpPr>
          <p:spPr bwMode="auto">
            <a:xfrm>
              <a:off x="3314768" y="1486265"/>
              <a:ext cx="572544" cy="295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865">
                  <a:latin typeface="Calibri" panose="020F0502020204030204" pitchFamily="34" charset="0"/>
                  <a:cs typeface="Times New Roman" panose="02020603050405020304" pitchFamily="18" charset="0"/>
                </a:rPr>
                <a:t>false</a:t>
              </a:r>
              <a:endParaRPr lang="en-US" altLang="zh-CN" sz="865">
                <a:latin typeface="Arial" panose="020B0604020202020204" pitchFamily="34" charset="0"/>
              </a:endParaRPr>
            </a:p>
          </p:txBody>
        </p:sp>
        <p:sp>
          <p:nvSpPr>
            <p:cNvPr id="40985" name="Line 59"/>
            <p:cNvSpPr>
              <a:spLocks noChangeShapeType="1"/>
            </p:cNvSpPr>
            <p:nvPr/>
          </p:nvSpPr>
          <p:spPr bwMode="auto">
            <a:xfrm>
              <a:off x="3429423" y="1783080"/>
              <a:ext cx="342504" cy="291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40986" name="Line 60"/>
            <p:cNvSpPr>
              <a:spLocks noChangeShapeType="1"/>
            </p:cNvSpPr>
            <p:nvPr/>
          </p:nvSpPr>
          <p:spPr bwMode="auto">
            <a:xfrm>
              <a:off x="3771927" y="1780892"/>
              <a:ext cx="730" cy="39818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0987" name="Rectangle 61"/>
            <p:cNvSpPr>
              <a:spLocks noChangeArrowheads="1"/>
            </p:cNvSpPr>
            <p:nvPr/>
          </p:nvSpPr>
          <p:spPr bwMode="auto">
            <a:xfrm>
              <a:off x="1371477" y="3070982"/>
              <a:ext cx="685739" cy="298274"/>
            </a:xfrm>
            <a:prstGeom prst="rect">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865">
                  <a:latin typeface="Calibri" panose="020F0502020204030204" pitchFamily="34" charset="0"/>
                  <a:cs typeface="Times New Roman" panose="02020603050405020304" pitchFamily="18" charset="0"/>
                </a:rPr>
                <a:t>语句序列</a:t>
              </a:r>
              <a:endParaRPr lang="zh-CN" altLang="en-US" sz="865">
                <a:latin typeface="Arial" panose="020B0604020202020204" pitchFamily="34" charset="0"/>
              </a:endParaRPr>
            </a:p>
          </p:txBody>
        </p:sp>
        <p:sp>
          <p:nvSpPr>
            <p:cNvPr id="40988" name="Line 62"/>
            <p:cNvSpPr>
              <a:spLocks noChangeShapeType="1"/>
            </p:cNvSpPr>
            <p:nvPr/>
          </p:nvSpPr>
          <p:spPr bwMode="auto">
            <a:xfrm>
              <a:off x="1712521" y="3369255"/>
              <a:ext cx="730" cy="39599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0989" name="Line 63"/>
            <p:cNvSpPr>
              <a:spLocks noChangeShapeType="1"/>
            </p:cNvSpPr>
            <p:nvPr/>
          </p:nvSpPr>
          <p:spPr bwMode="auto">
            <a:xfrm flipH="1">
              <a:off x="1714712" y="1387083"/>
              <a:ext cx="730" cy="168389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0990" name="Rectangle 64"/>
            <p:cNvSpPr>
              <a:spLocks noChangeArrowheads="1"/>
            </p:cNvSpPr>
            <p:nvPr/>
          </p:nvSpPr>
          <p:spPr bwMode="auto">
            <a:xfrm>
              <a:off x="1142898" y="1683898"/>
              <a:ext cx="569623" cy="296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865">
                  <a:latin typeface="Calibri" panose="020F0502020204030204" pitchFamily="34" charset="0"/>
                  <a:cs typeface="Times New Roman" panose="02020603050405020304" pitchFamily="18" charset="0"/>
                </a:rPr>
                <a:t>true</a:t>
              </a:r>
              <a:endParaRPr lang="en-US" altLang="zh-CN" sz="865">
                <a:latin typeface="Arial" panose="020B0604020202020204" pitchFamily="34" charset="0"/>
              </a:endParaRPr>
            </a:p>
          </p:txBody>
        </p:sp>
        <p:sp>
          <p:nvSpPr>
            <p:cNvPr id="40991" name="Rectangle 65"/>
            <p:cNvSpPr>
              <a:spLocks noChangeArrowheads="1"/>
            </p:cNvSpPr>
            <p:nvPr/>
          </p:nvSpPr>
          <p:spPr bwMode="auto">
            <a:xfrm>
              <a:off x="2399720" y="3070982"/>
              <a:ext cx="686469" cy="298274"/>
            </a:xfrm>
            <a:prstGeom prst="rect">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865">
                  <a:latin typeface="Calibri" panose="020F0502020204030204" pitchFamily="34" charset="0"/>
                  <a:cs typeface="Times New Roman" panose="02020603050405020304" pitchFamily="18" charset="0"/>
                </a:rPr>
                <a:t>语句序列</a:t>
              </a:r>
              <a:endParaRPr lang="zh-CN" altLang="en-US" sz="865">
                <a:latin typeface="Arial" panose="020B0604020202020204" pitchFamily="34" charset="0"/>
              </a:endParaRPr>
            </a:p>
          </p:txBody>
        </p:sp>
        <p:sp>
          <p:nvSpPr>
            <p:cNvPr id="40992" name="Line 66"/>
            <p:cNvSpPr>
              <a:spLocks noChangeShapeType="1"/>
            </p:cNvSpPr>
            <p:nvPr/>
          </p:nvSpPr>
          <p:spPr bwMode="auto">
            <a:xfrm>
              <a:off x="2741494" y="3369255"/>
              <a:ext cx="730" cy="39599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0993" name="Line 67"/>
            <p:cNvSpPr>
              <a:spLocks noChangeShapeType="1"/>
            </p:cNvSpPr>
            <p:nvPr/>
          </p:nvSpPr>
          <p:spPr bwMode="auto">
            <a:xfrm flipH="1">
              <a:off x="2743685" y="1981443"/>
              <a:ext cx="730" cy="108953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0994" name="Rectangle 68"/>
            <p:cNvSpPr>
              <a:spLocks noChangeArrowheads="1"/>
            </p:cNvSpPr>
            <p:nvPr/>
          </p:nvSpPr>
          <p:spPr bwMode="auto">
            <a:xfrm>
              <a:off x="2171871" y="2278258"/>
              <a:ext cx="569623" cy="296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865">
                  <a:latin typeface="Calibri" panose="020F0502020204030204" pitchFamily="34" charset="0"/>
                  <a:cs typeface="Times New Roman" panose="02020603050405020304" pitchFamily="18" charset="0"/>
                </a:rPr>
                <a:t>true</a:t>
              </a:r>
              <a:endParaRPr lang="en-US" altLang="zh-CN" sz="865">
                <a:latin typeface="Arial" panose="020B0604020202020204" pitchFamily="34" charset="0"/>
              </a:endParaRPr>
            </a:p>
          </p:txBody>
        </p:sp>
        <p:sp>
          <p:nvSpPr>
            <p:cNvPr id="40995" name="Rectangle 69"/>
            <p:cNvSpPr>
              <a:spLocks noChangeArrowheads="1"/>
            </p:cNvSpPr>
            <p:nvPr/>
          </p:nvSpPr>
          <p:spPr bwMode="auto">
            <a:xfrm>
              <a:off x="3429423" y="3070982"/>
              <a:ext cx="686469" cy="298274"/>
            </a:xfrm>
            <a:prstGeom prst="rect">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865">
                  <a:latin typeface="Calibri" panose="020F0502020204030204" pitchFamily="34" charset="0"/>
                  <a:cs typeface="Times New Roman" panose="02020603050405020304" pitchFamily="18" charset="0"/>
                </a:rPr>
                <a:t>语句序列</a:t>
              </a:r>
              <a:endParaRPr lang="zh-CN" altLang="en-US" sz="865">
                <a:latin typeface="Arial" panose="020B0604020202020204" pitchFamily="34" charset="0"/>
              </a:endParaRPr>
            </a:p>
          </p:txBody>
        </p:sp>
        <p:sp>
          <p:nvSpPr>
            <p:cNvPr id="40996" name="Line 70"/>
            <p:cNvSpPr>
              <a:spLocks noChangeShapeType="1"/>
            </p:cNvSpPr>
            <p:nvPr/>
          </p:nvSpPr>
          <p:spPr bwMode="auto">
            <a:xfrm>
              <a:off x="3770467" y="3369255"/>
              <a:ext cx="730" cy="39599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0997" name="Line 71"/>
            <p:cNvSpPr>
              <a:spLocks noChangeShapeType="1"/>
            </p:cNvSpPr>
            <p:nvPr/>
          </p:nvSpPr>
          <p:spPr bwMode="auto">
            <a:xfrm>
              <a:off x="3771927" y="2575803"/>
              <a:ext cx="1461" cy="49517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0998" name="Rectangle 72"/>
            <p:cNvSpPr>
              <a:spLocks noChangeArrowheads="1"/>
            </p:cNvSpPr>
            <p:nvPr/>
          </p:nvSpPr>
          <p:spPr bwMode="auto">
            <a:xfrm>
              <a:off x="4572321" y="2773437"/>
              <a:ext cx="571814" cy="29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865">
                  <a:latin typeface="Calibri" panose="020F0502020204030204" pitchFamily="34" charset="0"/>
                  <a:cs typeface="Times New Roman" panose="02020603050405020304" pitchFamily="18" charset="0"/>
                </a:rPr>
                <a:t>false</a:t>
              </a:r>
              <a:endParaRPr lang="en-US" altLang="zh-CN" sz="865">
                <a:latin typeface="Arial" panose="020B0604020202020204" pitchFamily="34" charset="0"/>
              </a:endParaRPr>
            </a:p>
          </p:txBody>
        </p:sp>
        <p:sp>
          <p:nvSpPr>
            <p:cNvPr id="40999" name="Line 73"/>
            <p:cNvSpPr>
              <a:spLocks noChangeShapeType="1"/>
            </p:cNvSpPr>
            <p:nvPr/>
          </p:nvSpPr>
          <p:spPr bwMode="auto">
            <a:xfrm>
              <a:off x="4457666" y="2377440"/>
              <a:ext cx="228580" cy="72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41000" name="Line 74"/>
            <p:cNvSpPr>
              <a:spLocks noChangeShapeType="1"/>
            </p:cNvSpPr>
            <p:nvPr/>
          </p:nvSpPr>
          <p:spPr bwMode="auto">
            <a:xfrm>
              <a:off x="4686246" y="2377440"/>
              <a:ext cx="730" cy="138927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1001" name="Rectangle 75"/>
            <p:cNvSpPr>
              <a:spLocks noChangeArrowheads="1"/>
            </p:cNvSpPr>
            <p:nvPr/>
          </p:nvSpPr>
          <p:spPr bwMode="auto">
            <a:xfrm>
              <a:off x="3200844" y="2674985"/>
              <a:ext cx="569623" cy="296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865">
                  <a:latin typeface="Calibri" panose="020F0502020204030204" pitchFamily="34" charset="0"/>
                  <a:cs typeface="Times New Roman" panose="02020603050405020304" pitchFamily="18" charset="0"/>
                </a:rPr>
                <a:t>true</a:t>
              </a:r>
              <a:endParaRPr lang="en-US" altLang="zh-CN" sz="865">
                <a:latin typeface="Arial" panose="020B0604020202020204" pitchFamily="34" charset="0"/>
              </a:endParaRPr>
            </a:p>
          </p:txBody>
        </p:sp>
        <p:sp>
          <p:nvSpPr>
            <p:cNvPr id="41002" name="Line 76"/>
            <p:cNvSpPr>
              <a:spLocks noChangeShapeType="1"/>
            </p:cNvSpPr>
            <p:nvPr/>
          </p:nvSpPr>
          <p:spPr bwMode="auto">
            <a:xfrm>
              <a:off x="2400450" y="3764523"/>
              <a:ext cx="1461" cy="29608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r" eaLnBrk="1" hangingPunct="1">
              <a:lnSpc>
                <a:spcPct val="100000"/>
              </a:lnSpc>
              <a:spcBef>
                <a:spcPct val="50000"/>
              </a:spcBef>
            </a:pPr>
            <a:fld id="{640F3AD4-8515-47EC-A303-4C4C01E867E5}"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44035" name="Rectangle 3"/>
          <p:cNvSpPr>
            <a:spLocks noGrp="1" noChangeArrowheads="1"/>
          </p:cNvSpPr>
          <p:nvPr>
            <p:ph type="body" idx="4294967295"/>
          </p:nvPr>
        </p:nvSpPr>
        <p:spPr>
          <a:xfrm>
            <a:off x="348868" y="238871"/>
            <a:ext cx="11633582" cy="5580732"/>
          </a:xfrm>
        </p:spPr>
        <p:txBody>
          <a:bodyPr>
            <a:normAutofit/>
          </a:bodyPr>
          <a:lstStyle/>
          <a:p>
            <a:pPr marL="624840" indent="-624840">
              <a:buNone/>
            </a:pPr>
            <a:r>
              <a:rPr lang="zh-CN" altLang="en-US" sz="2800" b="1" dirty="0">
                <a:latin typeface="宋体" panose="02010600030101010101" pitchFamily="2" charset="-122"/>
                <a:ea typeface="宋体" panose="02010600030101010101" pitchFamily="2" charset="-122"/>
              </a:rPr>
              <a:t>练习：</a:t>
            </a:r>
            <a:endParaRPr lang="zh-CN" altLang="en-US" sz="2800" b="1" dirty="0">
              <a:latin typeface="宋体" panose="02010600030101010101" pitchFamily="2" charset="-122"/>
              <a:ea typeface="宋体" panose="02010600030101010101" pitchFamily="2" charset="-122"/>
            </a:endParaRPr>
          </a:p>
          <a:p>
            <a:pPr marL="624840" indent="-624840">
              <a:buNone/>
            </a:pP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输入一个整数，如果是正数就减去</a:t>
            </a:r>
            <a:r>
              <a:rPr lang="en-US" altLang="zh-CN" sz="2800" b="1" dirty="0">
                <a:latin typeface="宋体" panose="02010600030101010101" pitchFamily="2" charset="-122"/>
                <a:ea typeface="宋体" panose="02010600030101010101" pitchFamily="2" charset="-122"/>
              </a:rPr>
              <a:t>10</a:t>
            </a:r>
            <a:r>
              <a:rPr lang="zh-CN" altLang="en-US" sz="2800" b="1" dirty="0">
                <a:latin typeface="宋体" panose="02010600030101010101" pitchFamily="2" charset="-122"/>
                <a:ea typeface="宋体" panose="02010600030101010101" pitchFamily="2" charset="-122"/>
              </a:rPr>
              <a:t>，如果是负数就加上</a:t>
            </a:r>
            <a:r>
              <a:rPr lang="en-US" altLang="zh-CN" sz="2800" b="1" dirty="0">
                <a:latin typeface="宋体" panose="02010600030101010101" pitchFamily="2" charset="-122"/>
                <a:ea typeface="宋体" panose="02010600030101010101" pitchFamily="2" charset="-122"/>
              </a:rPr>
              <a:t>10</a:t>
            </a:r>
            <a:r>
              <a:rPr lang="zh-CN" altLang="en-US" sz="2800" b="1" dirty="0">
                <a:latin typeface="宋体" panose="02010600030101010101" pitchFamily="2" charset="-122"/>
                <a:ea typeface="宋体" panose="02010600030101010101" pitchFamily="2" charset="-122"/>
              </a:rPr>
              <a:t>，然后显示。</a:t>
            </a:r>
            <a:endParaRPr lang="zh-CN" altLang="en-US" sz="2800" b="1" dirty="0">
              <a:latin typeface="宋体" panose="02010600030101010101" pitchFamily="2" charset="-122"/>
              <a:ea typeface="宋体" panose="02010600030101010101" pitchFamily="2" charset="-122"/>
            </a:endParaRPr>
          </a:p>
          <a:p>
            <a:pPr marL="624840" indent="-624840">
              <a:buNone/>
            </a:pP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设计一个程序，实现下面公式的求解，根据用户输入的</a:t>
            </a:r>
            <a:r>
              <a:rPr lang="en-US" altLang="zh-CN" sz="2800" b="1" dirty="0">
                <a:latin typeface="宋体" panose="02010600030101010101" pitchFamily="2" charset="-122"/>
                <a:ea typeface="宋体" panose="02010600030101010101" pitchFamily="2" charset="-122"/>
              </a:rPr>
              <a:t>x</a:t>
            </a:r>
            <a:r>
              <a:rPr lang="zh-CN" altLang="en-US" sz="2800" b="1" dirty="0">
                <a:latin typeface="宋体" panose="02010600030101010101" pitchFamily="2" charset="-122"/>
                <a:ea typeface="宋体" panose="02010600030101010101" pitchFamily="2" charset="-122"/>
              </a:rPr>
              <a:t>的值计算</a:t>
            </a:r>
            <a:r>
              <a:rPr lang="en-US" altLang="zh-CN" sz="2800" b="1" dirty="0">
                <a:latin typeface="宋体" panose="02010600030101010101" pitchFamily="2" charset="-122"/>
                <a:ea typeface="宋体" panose="02010600030101010101" pitchFamily="2" charset="-122"/>
              </a:rPr>
              <a:t>y</a:t>
            </a:r>
            <a:r>
              <a:rPr lang="zh-CN" altLang="en-US" sz="2800" b="1" dirty="0">
                <a:latin typeface="宋体" panose="02010600030101010101" pitchFamily="2" charset="-122"/>
                <a:ea typeface="宋体" panose="02010600030101010101" pitchFamily="2" charset="-122"/>
              </a:rPr>
              <a:t>的值，并输出。有下列函数：  </a:t>
            </a:r>
            <a:endParaRPr lang="en-US" altLang="zh-CN" sz="2800" b="1" dirty="0">
              <a:latin typeface="宋体" panose="02010600030101010101" pitchFamily="2" charset="-122"/>
              <a:ea typeface="宋体" panose="02010600030101010101" pitchFamily="2" charset="-122"/>
            </a:endParaRPr>
          </a:p>
          <a:p>
            <a:pPr marL="624840" indent="-624840">
              <a:buNone/>
            </a:pPr>
            <a:r>
              <a:rPr lang="zh-CN" altLang="en-US" sz="2800" b="1" dirty="0">
                <a:latin typeface="宋体" panose="02010600030101010101" pitchFamily="2" charset="-122"/>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x+3             (x&lt;5) </a:t>
            </a:r>
            <a:endParaRPr lang="en-US" altLang="zh-CN" sz="2800" b="1" dirty="0">
              <a:latin typeface="宋体" panose="02010600030101010101" pitchFamily="2" charset="-122"/>
              <a:ea typeface="宋体" panose="02010600030101010101" pitchFamily="2" charset="-122"/>
            </a:endParaRPr>
          </a:p>
          <a:p>
            <a:pPr marL="624840" indent="-624840">
              <a:buNone/>
            </a:pPr>
            <a:r>
              <a:rPr lang="en-US" altLang="zh-CN" sz="2800" b="1" dirty="0">
                <a:latin typeface="宋体" panose="02010600030101010101" pitchFamily="2" charset="-122"/>
                <a:ea typeface="宋体" panose="02010600030101010101" pitchFamily="2" charset="-122"/>
              </a:rPr>
              <a:t>       y=      20</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3* (x+3)       (5≤x&lt;10)</a:t>
            </a:r>
            <a:endParaRPr lang="en-US" altLang="zh-CN" sz="2800" b="1" dirty="0">
              <a:latin typeface="宋体" panose="02010600030101010101" pitchFamily="2" charset="-122"/>
              <a:ea typeface="宋体" panose="02010600030101010101" pitchFamily="2" charset="-122"/>
            </a:endParaRPr>
          </a:p>
          <a:p>
            <a:pPr marL="624840" indent="-624840">
              <a:buNone/>
            </a:pP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3+x             (x≥10) </a:t>
            </a:r>
            <a:endParaRPr lang="zh-CN" altLang="en-US" sz="2800" b="1" dirty="0">
              <a:latin typeface="宋体" panose="02010600030101010101" pitchFamily="2" charset="-122"/>
              <a:ea typeface="宋体" panose="02010600030101010101" pitchFamily="2" charset="-122"/>
            </a:endParaRPr>
          </a:p>
          <a:p>
            <a:pPr marL="624840" indent="-624840">
              <a:buNone/>
            </a:pP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输入一个应收金额，输入一个实收金额，显示找零的各种纸币的张数，优先考虑面额大的纸币，显示各种人民币要多少张。假如现有</a:t>
            </a:r>
            <a:r>
              <a:rPr lang="en-US" altLang="zh-CN" sz="2800" b="1" dirty="0">
                <a:latin typeface="宋体" panose="02010600030101010101" pitchFamily="2" charset="-122"/>
                <a:ea typeface="宋体" panose="02010600030101010101" pitchFamily="2" charset="-122"/>
              </a:rPr>
              <a:t>100</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50</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20</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10</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5</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元的面额，如果实收金额小于应收金额将报错。</a:t>
            </a:r>
            <a:endParaRPr lang="en-US" altLang="zh-CN" sz="2800" b="1" dirty="0">
              <a:latin typeface="宋体" panose="02010600030101010101" pitchFamily="2" charset="-122"/>
              <a:ea typeface="宋体" panose="02010600030101010101" pitchFamily="2" charset="-122"/>
            </a:endParaRPr>
          </a:p>
          <a:p>
            <a:pPr marL="624840" indent="-624840">
              <a:buNone/>
            </a:pPr>
            <a:endParaRPr lang="en-US" altLang="zh-CN" sz="2800" b="1" dirty="0">
              <a:latin typeface="宋体" panose="02010600030101010101" pitchFamily="2" charset="-122"/>
              <a:ea typeface="宋体" panose="02010600030101010101" pitchFamily="2" charset="-122"/>
            </a:endParaRPr>
          </a:p>
        </p:txBody>
      </p:sp>
      <p:sp>
        <p:nvSpPr>
          <p:cNvPr id="44036" name="AutoShape 4"/>
          <p:cNvSpPr/>
          <p:nvPr/>
        </p:nvSpPr>
        <p:spPr bwMode="auto">
          <a:xfrm>
            <a:off x="2619030" y="2381996"/>
            <a:ext cx="75741" cy="1294482"/>
          </a:xfrm>
          <a:prstGeom prst="leftBrace">
            <a:avLst>
              <a:gd name="adj1" fmla="val 149308"/>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93957" tIns="46978" rIns="93957" bIns="46978"/>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217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内容占位符 1"/>
          <p:cNvSpPr>
            <a:spLocks noGrp="1"/>
          </p:cNvSpPr>
          <p:nvPr>
            <p:ph idx="4294967295"/>
          </p:nvPr>
        </p:nvSpPr>
        <p:spPr>
          <a:xfrm>
            <a:off x="789313" y="1260054"/>
            <a:ext cx="4778566" cy="2168946"/>
          </a:xfrm>
        </p:spPr>
        <p:txBody>
          <a:bodyPr/>
          <a:lstStyle/>
          <a:p>
            <a:pPr marL="0" indent="353060">
              <a:buNone/>
            </a:pPr>
            <a:r>
              <a:rPr lang="en-US" altLang="zh-CN" sz="2600" b="1" dirty="0">
                <a:latin typeface="宋体" panose="02010600030101010101" pitchFamily="2" charset="-122"/>
                <a:ea typeface="宋体" panose="02010600030101010101" pitchFamily="2" charset="-122"/>
              </a:rPr>
              <a:t>switch</a:t>
            </a:r>
            <a:r>
              <a:rPr lang="zh-CN" altLang="en-US" sz="2600" b="1" dirty="0">
                <a:latin typeface="宋体" panose="02010600030101010101" pitchFamily="2" charset="-122"/>
                <a:ea typeface="宋体" panose="02010600030101010101" pitchFamily="2" charset="-122"/>
              </a:rPr>
              <a:t>语句是一个多分支结构，能实现</a:t>
            </a:r>
            <a:r>
              <a:rPr lang="en-US" altLang="zh-CN" sz="2600" b="1" dirty="0">
                <a:latin typeface="宋体" panose="02010600030101010101" pitchFamily="2" charset="-122"/>
                <a:ea typeface="宋体" panose="02010600030101010101" pitchFamily="2" charset="-122"/>
              </a:rPr>
              <a:t>“</a:t>
            </a:r>
            <a:r>
              <a:rPr lang="zh-CN" altLang="en-US" sz="2600" b="1" dirty="0">
                <a:solidFill>
                  <a:srgbClr val="FF0000"/>
                </a:solidFill>
                <a:latin typeface="宋体" panose="02010600030101010101" pitchFamily="2" charset="-122"/>
                <a:ea typeface="宋体" panose="02010600030101010101" pitchFamily="2" charset="-122"/>
              </a:rPr>
              <a:t>多选一</a:t>
            </a:r>
            <a:r>
              <a:rPr lang="en-US" altLang="zh-CN" sz="2600" b="1" dirty="0">
                <a:latin typeface="宋体" panose="02010600030101010101" pitchFamily="2" charset="-122"/>
                <a:ea typeface="宋体" panose="02010600030101010101" pitchFamily="2" charset="-122"/>
              </a:rPr>
              <a:t>”</a:t>
            </a:r>
            <a:r>
              <a:rPr lang="zh-CN" altLang="en-US" sz="2600" b="1" dirty="0">
                <a:latin typeface="宋体" panose="02010600030101010101" pitchFamily="2" charset="-122"/>
                <a:ea typeface="宋体" panose="02010600030101010101" pitchFamily="2" charset="-122"/>
              </a:rPr>
              <a:t>功能，因此称为多分支选择语句。</a:t>
            </a:r>
            <a:r>
              <a:rPr lang="en-US" altLang="zh-CN" sz="2600" b="1" dirty="0">
                <a:latin typeface="宋体" panose="02010600030101010101" pitchFamily="2" charset="-122"/>
                <a:ea typeface="宋体" panose="02010600030101010101" pitchFamily="2" charset="-122"/>
              </a:rPr>
              <a:t>switch</a:t>
            </a:r>
            <a:r>
              <a:rPr lang="zh-CN" altLang="en-US" sz="2600" b="1" dirty="0">
                <a:latin typeface="宋体" panose="02010600030101010101" pitchFamily="2" charset="-122"/>
                <a:ea typeface="宋体" panose="02010600030101010101" pitchFamily="2" charset="-122"/>
              </a:rPr>
              <a:t>结构由一个</a:t>
            </a:r>
            <a:r>
              <a:rPr lang="zh-CN" altLang="en-US" sz="2600" b="1" dirty="0">
                <a:solidFill>
                  <a:srgbClr val="FF0000"/>
                </a:solidFill>
                <a:latin typeface="宋体" panose="02010600030101010101" pitchFamily="2" charset="-122"/>
                <a:ea typeface="宋体" panose="02010600030101010101" pitchFamily="2" charset="-122"/>
              </a:rPr>
              <a:t>控制表达式</a:t>
            </a:r>
            <a:r>
              <a:rPr lang="zh-CN" altLang="en-US" sz="2600" b="1" dirty="0">
                <a:latin typeface="宋体" panose="02010600030101010101" pitchFamily="2" charset="-122"/>
                <a:ea typeface="宋体" panose="02010600030101010101" pitchFamily="2" charset="-122"/>
              </a:rPr>
              <a:t>和</a:t>
            </a:r>
            <a:r>
              <a:rPr lang="zh-CN" altLang="en-US" sz="2600" b="1" dirty="0">
                <a:solidFill>
                  <a:srgbClr val="FF0000"/>
                </a:solidFill>
                <a:latin typeface="宋体" panose="02010600030101010101" pitchFamily="2" charset="-122"/>
                <a:ea typeface="宋体" panose="02010600030101010101" pitchFamily="2" charset="-122"/>
              </a:rPr>
              <a:t>多个</a:t>
            </a:r>
            <a:r>
              <a:rPr lang="en-US" altLang="zh-CN" sz="2600" b="1" dirty="0">
                <a:solidFill>
                  <a:srgbClr val="FF0000"/>
                </a:solidFill>
                <a:latin typeface="宋体" panose="02010600030101010101" pitchFamily="2" charset="-122"/>
                <a:ea typeface="宋体" panose="02010600030101010101" pitchFamily="2" charset="-122"/>
              </a:rPr>
              <a:t>case</a:t>
            </a:r>
            <a:r>
              <a:rPr lang="zh-CN" altLang="en-US" sz="2600" b="1" dirty="0">
                <a:solidFill>
                  <a:srgbClr val="FF0000"/>
                </a:solidFill>
                <a:latin typeface="宋体" panose="02010600030101010101" pitchFamily="2" charset="-122"/>
                <a:ea typeface="宋体" panose="02010600030101010101" pitchFamily="2" charset="-122"/>
              </a:rPr>
              <a:t>标签</a:t>
            </a:r>
            <a:r>
              <a:rPr lang="zh-CN" altLang="en-US" sz="2600" b="1" dirty="0">
                <a:latin typeface="宋体" panose="02010600030101010101" pitchFamily="2" charset="-122"/>
                <a:ea typeface="宋体" panose="02010600030101010101" pitchFamily="2" charset="-122"/>
              </a:rPr>
              <a:t>组成。</a:t>
            </a:r>
            <a:endParaRPr lang="zh-CN" altLang="en-US" sz="2600" b="1" dirty="0">
              <a:latin typeface="宋体" panose="02010600030101010101" pitchFamily="2" charset="-122"/>
              <a:ea typeface="宋体" panose="02010600030101010101" pitchFamily="2" charset="-122"/>
            </a:endParaRPr>
          </a:p>
          <a:p>
            <a:pPr marL="0" indent="353060">
              <a:buNone/>
            </a:pPr>
            <a:endParaRPr lang="zh-CN" altLang="en-US" sz="2820" b="1" dirty="0">
              <a:latin typeface="宋体" panose="02010600030101010101" pitchFamily="2" charset="-122"/>
              <a:ea typeface="宋体" panose="02010600030101010101" pitchFamily="2" charset="-122"/>
            </a:endParaRPr>
          </a:p>
        </p:txBody>
      </p:sp>
      <p:sp>
        <p:nvSpPr>
          <p:cNvPr id="41987" name="标题 2"/>
          <p:cNvSpPr>
            <a:spLocks noGrp="1"/>
          </p:cNvSpPr>
          <p:nvPr>
            <p:ph type="title" idx="4294967295"/>
          </p:nvPr>
        </p:nvSpPr>
        <p:spPr>
          <a:xfrm>
            <a:off x="601337" y="181607"/>
            <a:ext cx="8147318" cy="914055"/>
          </a:xfrm>
        </p:spPr>
        <p:txBody>
          <a:bodyPr/>
          <a:lstStyle/>
          <a:p>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switch</a:t>
            </a:r>
            <a:r>
              <a:rPr lang="zh-CN" altLang="en-US" dirty="0">
                <a:latin typeface="宋体" panose="02010600030101010101" pitchFamily="2" charset="-122"/>
                <a:ea typeface="宋体" panose="02010600030101010101" pitchFamily="2" charset="-122"/>
              </a:rPr>
              <a:t>语句</a:t>
            </a:r>
            <a:endParaRPr lang="zh-CN" altLang="en-US" dirty="0">
              <a:latin typeface="宋体" panose="02010600030101010101" pitchFamily="2" charset="-122"/>
              <a:ea typeface="宋体" panose="02010600030101010101" pitchFamily="2" charset="-122"/>
            </a:endParaRPr>
          </a:p>
        </p:txBody>
      </p:sp>
      <p:sp>
        <p:nvSpPr>
          <p:cNvPr id="41988" name="Rectangle 2"/>
          <p:cNvSpPr>
            <a:spLocks noChangeArrowheads="1"/>
          </p:cNvSpPr>
          <p:nvPr/>
        </p:nvSpPr>
        <p:spPr bwMode="auto">
          <a:xfrm>
            <a:off x="6191824" y="588386"/>
            <a:ext cx="5538959" cy="568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8925" tIns="39462" rIns="78925" bIns="39462" anchor="ctr">
            <a:spAutoFit/>
          </a:bodyPr>
          <a:lstStyle>
            <a:lvl1pPr indent="211455"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pPr>
            <a:r>
              <a:rPr lang="en-US" altLang="zh-CN" sz="2800" dirty="0">
                <a:solidFill>
                  <a:srgbClr val="FF3300"/>
                </a:solidFill>
                <a:latin typeface="宋体" panose="02010600030101010101" pitchFamily="2" charset="-122"/>
                <a:cs typeface="Times New Roman" panose="02020603050405020304" pitchFamily="18" charset="0"/>
              </a:rPr>
              <a:t>switch</a:t>
            </a:r>
            <a:r>
              <a:rPr lang="zh-CN" altLang="en-US" sz="2800" dirty="0">
                <a:solidFill>
                  <a:srgbClr val="FF3300"/>
                </a:solidFill>
                <a:latin typeface="宋体" panose="02010600030101010101" pitchFamily="2" charset="-122"/>
                <a:cs typeface="Times New Roman" panose="02020603050405020304" pitchFamily="18" charset="0"/>
              </a:rPr>
              <a:t>（表达式）</a:t>
            </a:r>
            <a:endParaRPr lang="zh-CN" altLang="en-US" sz="2800" dirty="0">
              <a:solidFill>
                <a:srgbClr val="FF3300"/>
              </a:solidFill>
              <a:latin typeface="宋体" panose="02010600030101010101" pitchFamily="2" charset="-122"/>
            </a:endParaRPr>
          </a:p>
          <a:p>
            <a:pPr>
              <a:lnSpc>
                <a:spcPct val="100000"/>
              </a:lnSpc>
            </a:pPr>
            <a:r>
              <a:rPr lang="en-US" altLang="zh-CN" sz="2800" dirty="0">
                <a:solidFill>
                  <a:srgbClr val="FF3300"/>
                </a:solidFill>
                <a:latin typeface="宋体" panose="02010600030101010101" pitchFamily="2" charset="-122"/>
                <a:cs typeface="Times New Roman" panose="02020603050405020304" pitchFamily="18" charset="0"/>
              </a:rPr>
              <a:t>{</a:t>
            </a:r>
            <a:endParaRPr lang="en-US" altLang="zh-CN" sz="2800" dirty="0">
              <a:solidFill>
                <a:srgbClr val="FF3300"/>
              </a:solidFill>
              <a:latin typeface="宋体" panose="02010600030101010101" pitchFamily="2" charset="-122"/>
            </a:endParaRPr>
          </a:p>
          <a:p>
            <a:pPr>
              <a:lnSpc>
                <a:spcPct val="100000"/>
              </a:lnSpc>
            </a:pPr>
            <a:r>
              <a:rPr lang="en-US" altLang="zh-CN" sz="2800" dirty="0">
                <a:solidFill>
                  <a:srgbClr val="FF3300"/>
                </a:solidFill>
                <a:latin typeface="宋体" panose="02010600030101010101" pitchFamily="2" charset="-122"/>
                <a:cs typeface="Times New Roman" panose="02020603050405020304" pitchFamily="18" charset="0"/>
              </a:rPr>
              <a:t>      case</a:t>
            </a:r>
            <a:r>
              <a:rPr lang="zh-CN" altLang="en-US" sz="2800" dirty="0">
                <a:solidFill>
                  <a:srgbClr val="FF3300"/>
                </a:solidFill>
                <a:latin typeface="宋体" panose="02010600030101010101" pitchFamily="2" charset="-122"/>
                <a:cs typeface="Times New Roman" panose="02020603050405020304" pitchFamily="18" charset="0"/>
              </a:rPr>
              <a:t>常量值</a:t>
            </a:r>
            <a:r>
              <a:rPr lang="en-US" altLang="zh-CN" sz="2800" dirty="0">
                <a:solidFill>
                  <a:srgbClr val="FF3300"/>
                </a:solidFill>
                <a:latin typeface="宋体" panose="02010600030101010101" pitchFamily="2" charset="-122"/>
                <a:cs typeface="Times New Roman" panose="02020603050405020304" pitchFamily="18" charset="0"/>
              </a:rPr>
              <a:t>1</a:t>
            </a:r>
            <a:r>
              <a:rPr lang="zh-CN" altLang="en-US" sz="2800" dirty="0">
                <a:solidFill>
                  <a:srgbClr val="FF3300"/>
                </a:solidFill>
                <a:latin typeface="宋体" panose="02010600030101010101" pitchFamily="2" charset="-122"/>
                <a:cs typeface="Times New Roman" panose="02020603050405020304" pitchFamily="18" charset="0"/>
              </a:rPr>
              <a:t>：</a:t>
            </a:r>
            <a:endParaRPr lang="zh-CN" altLang="en-US" sz="2800" dirty="0">
              <a:solidFill>
                <a:srgbClr val="FF3300"/>
              </a:solidFill>
              <a:latin typeface="宋体" panose="02010600030101010101" pitchFamily="2" charset="-122"/>
            </a:endParaRPr>
          </a:p>
          <a:p>
            <a:pPr>
              <a:lnSpc>
                <a:spcPct val="100000"/>
              </a:lnSpc>
            </a:pPr>
            <a:r>
              <a:rPr lang="zh-CN" altLang="en-US" sz="2800" dirty="0">
                <a:solidFill>
                  <a:srgbClr val="FF3300"/>
                </a:solidFill>
                <a:latin typeface="宋体" panose="02010600030101010101" pitchFamily="2" charset="-122"/>
                <a:cs typeface="Times New Roman" panose="02020603050405020304" pitchFamily="18" charset="0"/>
              </a:rPr>
              <a:t>            语句序列</a:t>
            </a:r>
            <a:r>
              <a:rPr lang="en-US" altLang="zh-CN" sz="2800" dirty="0">
                <a:solidFill>
                  <a:srgbClr val="FF3300"/>
                </a:solidFill>
                <a:latin typeface="宋体" panose="02010600030101010101" pitchFamily="2" charset="-122"/>
                <a:cs typeface="Times New Roman" panose="02020603050405020304" pitchFamily="18" charset="0"/>
              </a:rPr>
              <a:t>1</a:t>
            </a:r>
            <a:r>
              <a:rPr lang="zh-CN" altLang="en-US" sz="2800" dirty="0">
                <a:solidFill>
                  <a:srgbClr val="FF3300"/>
                </a:solidFill>
                <a:latin typeface="宋体" panose="02010600030101010101" pitchFamily="2" charset="-122"/>
                <a:cs typeface="Times New Roman" panose="02020603050405020304" pitchFamily="18" charset="0"/>
              </a:rPr>
              <a:t>；</a:t>
            </a:r>
            <a:endParaRPr lang="zh-CN" altLang="en-US" sz="2800" dirty="0">
              <a:solidFill>
                <a:srgbClr val="FF3300"/>
              </a:solidFill>
              <a:latin typeface="宋体" panose="02010600030101010101" pitchFamily="2" charset="-122"/>
            </a:endParaRPr>
          </a:p>
          <a:p>
            <a:pPr>
              <a:lnSpc>
                <a:spcPct val="100000"/>
              </a:lnSpc>
            </a:pPr>
            <a:r>
              <a:rPr lang="en-US" altLang="zh-CN" sz="2800" dirty="0">
                <a:solidFill>
                  <a:srgbClr val="FF3300"/>
                </a:solidFill>
                <a:latin typeface="宋体" panose="02010600030101010101" pitchFamily="2" charset="-122"/>
                <a:cs typeface="Times New Roman" panose="02020603050405020304" pitchFamily="18" charset="0"/>
              </a:rPr>
              <a:t>             [break</a:t>
            </a:r>
            <a:r>
              <a:rPr lang="zh-CN" altLang="en-US" sz="2800" dirty="0">
                <a:solidFill>
                  <a:srgbClr val="FF3300"/>
                </a:solidFill>
                <a:latin typeface="宋体" panose="02010600030101010101" pitchFamily="2" charset="-122"/>
                <a:cs typeface="Times New Roman" panose="02020603050405020304" pitchFamily="18" charset="0"/>
              </a:rPr>
              <a:t>；</a:t>
            </a:r>
            <a:r>
              <a:rPr lang="en-US" altLang="zh-CN" sz="2800" dirty="0">
                <a:solidFill>
                  <a:srgbClr val="FF3300"/>
                </a:solidFill>
                <a:latin typeface="宋体" panose="02010600030101010101" pitchFamily="2" charset="-122"/>
                <a:cs typeface="Times New Roman" panose="02020603050405020304" pitchFamily="18" charset="0"/>
              </a:rPr>
              <a:t>]</a:t>
            </a:r>
            <a:endParaRPr lang="en-US" altLang="zh-CN" sz="2800" dirty="0">
              <a:solidFill>
                <a:srgbClr val="FF3300"/>
              </a:solidFill>
              <a:latin typeface="宋体" panose="02010600030101010101" pitchFamily="2" charset="-122"/>
              <a:cs typeface="Times New Roman" panose="02020603050405020304" pitchFamily="18" charset="0"/>
            </a:endParaRPr>
          </a:p>
          <a:p>
            <a:r>
              <a:rPr lang="en-US" altLang="zh-CN" sz="2800" dirty="0">
                <a:solidFill>
                  <a:srgbClr val="FF3300"/>
                </a:solidFill>
                <a:latin typeface="宋体" panose="02010600030101010101" pitchFamily="2" charset="-122"/>
                <a:cs typeface="Times New Roman" panose="02020603050405020304" pitchFamily="18" charset="0"/>
              </a:rPr>
              <a:t>      case</a:t>
            </a:r>
            <a:r>
              <a:rPr lang="zh-CN" altLang="en-US" sz="2800" dirty="0">
                <a:solidFill>
                  <a:srgbClr val="FF3300"/>
                </a:solidFill>
                <a:latin typeface="宋体" panose="02010600030101010101" pitchFamily="2" charset="-122"/>
                <a:cs typeface="Times New Roman" panose="02020603050405020304" pitchFamily="18" charset="0"/>
              </a:rPr>
              <a:t>常量值</a:t>
            </a:r>
            <a:r>
              <a:rPr lang="en-US" altLang="zh-CN" sz="2800" dirty="0">
                <a:solidFill>
                  <a:srgbClr val="FF3300"/>
                </a:solidFill>
                <a:latin typeface="宋体" panose="02010600030101010101" pitchFamily="2" charset="-122"/>
                <a:cs typeface="Times New Roman" panose="02020603050405020304" pitchFamily="18" charset="0"/>
              </a:rPr>
              <a:t>n</a:t>
            </a:r>
            <a:r>
              <a:rPr lang="zh-CN" altLang="en-US" sz="2800" dirty="0">
                <a:solidFill>
                  <a:srgbClr val="FF3300"/>
                </a:solidFill>
                <a:latin typeface="宋体" panose="02010600030101010101" pitchFamily="2" charset="-122"/>
                <a:cs typeface="Times New Roman" panose="02020603050405020304" pitchFamily="18" charset="0"/>
              </a:rPr>
              <a:t>：</a:t>
            </a:r>
            <a:endParaRPr lang="zh-CN" altLang="en-US" sz="2800" dirty="0">
              <a:solidFill>
                <a:srgbClr val="FF3300"/>
              </a:solidFill>
              <a:latin typeface="宋体" panose="02010600030101010101" pitchFamily="2" charset="-122"/>
            </a:endParaRPr>
          </a:p>
          <a:p>
            <a:r>
              <a:rPr lang="zh-CN" altLang="en-US" sz="2800" dirty="0">
                <a:solidFill>
                  <a:srgbClr val="FF3300"/>
                </a:solidFill>
                <a:latin typeface="宋体" panose="02010600030101010101" pitchFamily="2" charset="-122"/>
                <a:cs typeface="Times New Roman" panose="02020603050405020304" pitchFamily="18" charset="0"/>
              </a:rPr>
              <a:t>            语句序列</a:t>
            </a:r>
            <a:r>
              <a:rPr lang="en-US" altLang="zh-CN" sz="2800" dirty="0">
                <a:solidFill>
                  <a:srgbClr val="FF3300"/>
                </a:solidFill>
                <a:latin typeface="宋体" panose="02010600030101010101" pitchFamily="2" charset="-122"/>
                <a:cs typeface="Times New Roman" panose="02020603050405020304" pitchFamily="18" charset="0"/>
              </a:rPr>
              <a:t>n</a:t>
            </a:r>
            <a:r>
              <a:rPr lang="zh-CN" altLang="en-US" sz="2800" dirty="0">
                <a:solidFill>
                  <a:srgbClr val="FF3300"/>
                </a:solidFill>
                <a:latin typeface="宋体" panose="02010600030101010101" pitchFamily="2" charset="-122"/>
                <a:cs typeface="Times New Roman" panose="02020603050405020304" pitchFamily="18" charset="0"/>
              </a:rPr>
              <a:t>；</a:t>
            </a:r>
            <a:endParaRPr lang="zh-CN" altLang="en-US" sz="2800" dirty="0">
              <a:solidFill>
                <a:srgbClr val="FF3300"/>
              </a:solidFill>
              <a:latin typeface="宋体" panose="02010600030101010101" pitchFamily="2" charset="-122"/>
            </a:endParaRPr>
          </a:p>
          <a:p>
            <a:r>
              <a:rPr lang="en-US" altLang="zh-CN" sz="2800" dirty="0">
                <a:solidFill>
                  <a:srgbClr val="FF3300"/>
                </a:solidFill>
                <a:latin typeface="宋体" panose="02010600030101010101" pitchFamily="2" charset="-122"/>
                <a:cs typeface="Times New Roman" panose="02020603050405020304" pitchFamily="18" charset="0"/>
              </a:rPr>
              <a:t>             [break</a:t>
            </a:r>
            <a:r>
              <a:rPr lang="zh-CN" altLang="en-US" sz="2800" dirty="0">
                <a:solidFill>
                  <a:srgbClr val="FF3300"/>
                </a:solidFill>
                <a:latin typeface="宋体" panose="02010600030101010101" pitchFamily="2" charset="-122"/>
                <a:cs typeface="Times New Roman" panose="02020603050405020304" pitchFamily="18" charset="0"/>
              </a:rPr>
              <a:t>；</a:t>
            </a:r>
            <a:r>
              <a:rPr lang="en-US" altLang="zh-CN" sz="2800" dirty="0">
                <a:solidFill>
                  <a:srgbClr val="FF3300"/>
                </a:solidFill>
                <a:latin typeface="宋体" panose="02010600030101010101" pitchFamily="2" charset="-122"/>
                <a:cs typeface="Times New Roman" panose="02020603050405020304" pitchFamily="18" charset="0"/>
              </a:rPr>
              <a:t>]</a:t>
            </a:r>
            <a:endParaRPr lang="en-US" altLang="zh-CN" sz="2800" dirty="0">
              <a:solidFill>
                <a:srgbClr val="FF3300"/>
              </a:solidFill>
              <a:latin typeface="宋体" panose="02010600030101010101" pitchFamily="2" charset="-122"/>
            </a:endParaRPr>
          </a:p>
          <a:p>
            <a:r>
              <a:rPr lang="en-US" altLang="zh-CN" sz="2800" dirty="0">
                <a:solidFill>
                  <a:srgbClr val="FF3300"/>
                </a:solidFill>
                <a:latin typeface="宋体" panose="02010600030101010101" pitchFamily="2" charset="-122"/>
                <a:cs typeface="Times New Roman" panose="02020603050405020304" pitchFamily="18" charset="0"/>
              </a:rPr>
              <a:t>      </a:t>
            </a:r>
            <a:r>
              <a:rPr lang="en-US" altLang="zh-CN" sz="2800" dirty="0" err="1">
                <a:solidFill>
                  <a:srgbClr val="FF3300"/>
                </a:solidFill>
                <a:latin typeface="宋体" panose="02010600030101010101" pitchFamily="2" charset="-122"/>
                <a:cs typeface="Times New Roman" panose="02020603050405020304" pitchFamily="18" charset="0"/>
              </a:rPr>
              <a:t>defalult</a:t>
            </a:r>
            <a:r>
              <a:rPr lang="zh-CN" altLang="en-US" sz="2800" dirty="0">
                <a:solidFill>
                  <a:srgbClr val="FF3300"/>
                </a:solidFill>
                <a:latin typeface="宋体" panose="02010600030101010101" pitchFamily="2" charset="-122"/>
                <a:cs typeface="Times New Roman" panose="02020603050405020304" pitchFamily="18" charset="0"/>
              </a:rPr>
              <a:t>：</a:t>
            </a:r>
            <a:endParaRPr lang="zh-CN" altLang="en-US" sz="2800" dirty="0">
              <a:solidFill>
                <a:srgbClr val="FF3300"/>
              </a:solidFill>
              <a:latin typeface="宋体" panose="02010600030101010101" pitchFamily="2" charset="-122"/>
            </a:endParaRPr>
          </a:p>
          <a:p>
            <a:r>
              <a:rPr lang="zh-CN" altLang="en-US" sz="2800" dirty="0">
                <a:solidFill>
                  <a:srgbClr val="FF3300"/>
                </a:solidFill>
                <a:latin typeface="宋体" panose="02010600030101010101" pitchFamily="2" charset="-122"/>
                <a:cs typeface="Times New Roman" panose="02020603050405020304" pitchFamily="18" charset="0"/>
              </a:rPr>
              <a:t>             语句序列</a:t>
            </a:r>
            <a:r>
              <a:rPr lang="en-US" altLang="zh-CN" sz="2800" dirty="0">
                <a:solidFill>
                  <a:srgbClr val="FF3300"/>
                </a:solidFill>
                <a:latin typeface="宋体" panose="02010600030101010101" pitchFamily="2" charset="-122"/>
                <a:cs typeface="Times New Roman" panose="02020603050405020304" pitchFamily="18" charset="0"/>
              </a:rPr>
              <a:t>n+1</a:t>
            </a:r>
            <a:r>
              <a:rPr lang="zh-CN" altLang="en-US" sz="2800" dirty="0">
                <a:solidFill>
                  <a:srgbClr val="FF3300"/>
                </a:solidFill>
                <a:latin typeface="宋体" panose="02010600030101010101" pitchFamily="2" charset="-122"/>
                <a:cs typeface="Times New Roman" panose="02020603050405020304" pitchFamily="18" charset="0"/>
              </a:rPr>
              <a:t>；</a:t>
            </a:r>
            <a:endParaRPr lang="zh-CN" altLang="en-US" sz="2800" dirty="0">
              <a:solidFill>
                <a:srgbClr val="FF3300"/>
              </a:solidFill>
              <a:latin typeface="宋体" panose="02010600030101010101" pitchFamily="2" charset="-122"/>
            </a:endParaRPr>
          </a:p>
          <a:p>
            <a:r>
              <a:rPr lang="en-US" altLang="zh-CN" sz="2800" dirty="0">
                <a:solidFill>
                  <a:srgbClr val="FF3300"/>
                </a:solidFill>
                <a:latin typeface="宋体" panose="02010600030101010101" pitchFamily="2" charset="-122"/>
                <a:cs typeface="Times New Roman" panose="02020603050405020304" pitchFamily="18" charset="0"/>
              </a:rPr>
              <a:t>      [break</a:t>
            </a:r>
            <a:r>
              <a:rPr lang="zh-CN" altLang="en-US" sz="2800" dirty="0">
                <a:solidFill>
                  <a:srgbClr val="FF3300"/>
                </a:solidFill>
                <a:latin typeface="宋体" panose="02010600030101010101" pitchFamily="2" charset="-122"/>
                <a:cs typeface="Times New Roman" panose="02020603050405020304" pitchFamily="18" charset="0"/>
              </a:rPr>
              <a:t>；</a:t>
            </a:r>
            <a:r>
              <a:rPr lang="en-US" altLang="zh-CN" sz="2800" dirty="0">
                <a:solidFill>
                  <a:srgbClr val="FF3300"/>
                </a:solidFill>
                <a:latin typeface="宋体" panose="02010600030101010101" pitchFamily="2" charset="-122"/>
                <a:cs typeface="Times New Roman" panose="02020603050405020304" pitchFamily="18" charset="0"/>
              </a:rPr>
              <a:t>]</a:t>
            </a:r>
            <a:endParaRPr lang="en-US" altLang="zh-CN" sz="2800" dirty="0">
              <a:solidFill>
                <a:srgbClr val="FF3300"/>
              </a:solidFill>
              <a:latin typeface="宋体" panose="02010600030101010101" pitchFamily="2" charset="-122"/>
            </a:endParaRPr>
          </a:p>
          <a:p>
            <a:r>
              <a:rPr lang="en-US" altLang="zh-CN" sz="2800" dirty="0">
                <a:solidFill>
                  <a:srgbClr val="FF3300"/>
                </a:solidFill>
                <a:latin typeface="宋体" panose="02010600030101010101" pitchFamily="2" charset="-122"/>
                <a:cs typeface="Times New Roman" panose="02020603050405020304" pitchFamily="18" charset="0"/>
              </a:rPr>
              <a:t>}</a:t>
            </a:r>
            <a:endParaRPr lang="en-US" altLang="zh-CN" sz="2800" dirty="0">
              <a:solidFill>
                <a:srgbClr val="FF3300"/>
              </a:solidFill>
              <a:latin typeface="宋体" panose="02010600030101010101" pitchFamily="2" charset="-122"/>
            </a:endParaRPr>
          </a:p>
          <a:p>
            <a:pPr>
              <a:lnSpc>
                <a:spcPct val="100000"/>
              </a:lnSpc>
            </a:pPr>
            <a:endParaRPr lang="en-US" altLang="zh-CN" sz="2800" dirty="0">
              <a:latin typeface="宋体" panose="02010600030101010101" pitchFamily="2" charset="-122"/>
            </a:endParaRPr>
          </a:p>
        </p:txBody>
      </p:sp>
      <p:graphicFrame>
        <p:nvGraphicFramePr>
          <p:cNvPr id="41989" name="Object 5"/>
          <p:cNvGraphicFramePr>
            <a:graphicFrameLocks noChangeAspect="1"/>
          </p:cNvGraphicFramePr>
          <p:nvPr/>
        </p:nvGraphicFramePr>
        <p:xfrm>
          <a:off x="1303663" y="457889"/>
          <a:ext cx="51642" cy="180746"/>
        </p:xfrm>
        <a:graphic>
          <a:graphicData uri="http://schemas.openxmlformats.org/presentationml/2006/ole">
            <mc:AlternateContent xmlns:mc="http://schemas.openxmlformats.org/markup-compatibility/2006">
              <mc:Choice xmlns:v="urn:schemas-microsoft-com:vml" Requires="v">
                <p:oleObj spid="_x0000_s1053" name="" r:id="rId1" imgW="76200" imgH="177800" progId="Equation.DSMT4">
                  <p:embed/>
                </p:oleObj>
              </mc:Choice>
              <mc:Fallback>
                <p:oleObj name="" r:id="rId1" imgW="76200" imgH="1778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663" y="457889"/>
                        <a:ext cx="51642" cy="180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4" name="矩形 6"/>
          <p:cNvSpPr>
            <a:spLocks noChangeArrowheads="1"/>
          </p:cNvSpPr>
          <p:nvPr/>
        </p:nvSpPr>
        <p:spPr bwMode="auto">
          <a:xfrm>
            <a:off x="789313" y="3337537"/>
            <a:ext cx="4647741" cy="2665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925" tIns="39462" rIns="78925" bIns="39462">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r>
              <a:rPr lang="zh-CN" altLang="en-US" sz="2800" dirty="0">
                <a:solidFill>
                  <a:srgbClr val="0000FF"/>
                </a:solidFill>
                <a:latin typeface="宋体" panose="02010600030101010101" pitchFamily="2" charset="-122"/>
              </a:rPr>
              <a:t>整体执行流程是：计算表达式结果，然后和常量值进行匹配，如果匹配成功，则执行对应的语句序列，然后跳出</a:t>
            </a:r>
            <a:r>
              <a:rPr lang="en-US" altLang="zh-CN" sz="2800" dirty="0">
                <a:solidFill>
                  <a:srgbClr val="0000FF"/>
                </a:solidFill>
                <a:latin typeface="宋体" panose="02010600030101010101" pitchFamily="2" charset="-122"/>
              </a:rPr>
              <a:t>switch</a:t>
            </a:r>
            <a:r>
              <a:rPr lang="zh-CN" altLang="en-US" sz="2800" dirty="0">
                <a:solidFill>
                  <a:srgbClr val="0000FF"/>
                </a:solidFill>
                <a:latin typeface="宋体" panose="02010600030101010101" pitchFamily="2" charset="-122"/>
              </a:rPr>
              <a:t>语句，完成整个流程。</a:t>
            </a:r>
            <a:endParaRPr lang="zh-CN" altLang="en-US" sz="2800" dirty="0">
              <a:solidFill>
                <a:srgbClr val="0000FF"/>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4"/>
                                        </p:tgtEl>
                                        <p:attrNameLst>
                                          <p:attrName>style.visibility</p:attrName>
                                        </p:attrNameLst>
                                      </p:cBhvr>
                                      <p:to>
                                        <p:strVal val="visible"/>
                                      </p:to>
                                    </p:set>
                                    <p:animEffect transition="in" filter="blinds(horizontal)">
                                      <p:cBhvr>
                                        <p:cTn id="7"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9"/>
          <p:cNvSpPr>
            <a:spLocks noChangeArrowheads="1"/>
          </p:cNvSpPr>
          <p:nvPr/>
        </p:nvSpPr>
        <p:spPr bwMode="auto">
          <a:xfrm>
            <a:off x="1303663" y="49733"/>
            <a:ext cx="159456" cy="41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8925" tIns="39462" rIns="78925" bIns="39462" anchor="ct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2170"/>
          </a:p>
        </p:txBody>
      </p:sp>
      <p:grpSp>
        <p:nvGrpSpPr>
          <p:cNvPr id="43011" name="Group 3"/>
          <p:cNvGrpSpPr/>
          <p:nvPr/>
        </p:nvGrpSpPr>
        <p:grpSpPr bwMode="auto">
          <a:xfrm>
            <a:off x="3074970" y="1"/>
            <a:ext cx="5035052" cy="6704797"/>
            <a:chOff x="0" y="0"/>
            <a:chExt cx="4046220" cy="4457700"/>
          </a:xfrm>
        </p:grpSpPr>
        <p:sp>
          <p:nvSpPr>
            <p:cNvPr id="43013" name="AutoShape 38"/>
            <p:cNvSpPr>
              <a:spLocks noRot="1" noChangeAspect="1" noChangeArrowheads="1"/>
            </p:cNvSpPr>
            <p:nvPr/>
          </p:nvSpPr>
          <p:spPr bwMode="auto">
            <a:xfrm>
              <a:off x="0" y="0"/>
              <a:ext cx="4046220"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975"/>
            </a:p>
          </p:txBody>
        </p:sp>
        <p:sp>
          <p:nvSpPr>
            <p:cNvPr id="43014" name="Rectangle 4"/>
            <p:cNvSpPr>
              <a:spLocks noChangeArrowheads="1"/>
            </p:cNvSpPr>
            <p:nvPr/>
          </p:nvSpPr>
          <p:spPr bwMode="auto">
            <a:xfrm>
              <a:off x="2674113" y="1386970"/>
              <a:ext cx="914982" cy="298250"/>
            </a:xfrm>
            <a:prstGeom prst="rect">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975">
                  <a:latin typeface="Calibri" panose="020F0502020204030204" pitchFamily="34" charset="0"/>
                  <a:cs typeface="Times New Roman" panose="02020603050405020304" pitchFamily="18" charset="0"/>
                </a:rPr>
                <a:t>语句序列</a:t>
              </a:r>
              <a:r>
                <a:rPr lang="en-US" altLang="zh-CN" sz="975">
                  <a:latin typeface="Calibri" panose="020F0502020204030204" pitchFamily="34" charset="0"/>
                  <a:cs typeface="Times New Roman" panose="02020603050405020304" pitchFamily="18" charset="0"/>
                </a:rPr>
                <a:t>1</a:t>
              </a:r>
              <a:endParaRPr lang="en-US" altLang="zh-CN" sz="975">
                <a:latin typeface="Arial" panose="020B0604020202020204" pitchFamily="34" charset="0"/>
              </a:endParaRPr>
            </a:p>
          </p:txBody>
        </p:sp>
        <p:sp>
          <p:nvSpPr>
            <p:cNvPr id="43015" name="AutoShape 5"/>
            <p:cNvSpPr>
              <a:spLocks noChangeArrowheads="1"/>
            </p:cNvSpPr>
            <p:nvPr/>
          </p:nvSpPr>
          <p:spPr bwMode="auto">
            <a:xfrm>
              <a:off x="46005" y="990276"/>
              <a:ext cx="1371377" cy="396694"/>
            </a:xfrm>
            <a:prstGeom prst="diamond">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975">
                  <a:latin typeface="Calibri" panose="020F0502020204030204" pitchFamily="34" charset="0"/>
                  <a:cs typeface="Times New Roman" panose="02020603050405020304" pitchFamily="18" charset="0"/>
                </a:rPr>
                <a:t>case</a:t>
              </a:r>
              <a:r>
                <a:rPr lang="zh-CN" altLang="en-US" sz="975">
                  <a:latin typeface="Calibri" panose="020F0502020204030204" pitchFamily="34" charset="0"/>
                  <a:cs typeface="Times New Roman" panose="02020603050405020304" pitchFamily="18" charset="0"/>
                </a:rPr>
                <a:t>常量值</a:t>
              </a:r>
              <a:r>
                <a:rPr lang="en-US" altLang="zh-CN" sz="975">
                  <a:latin typeface="Calibri" panose="020F0502020204030204" pitchFamily="34" charset="0"/>
                  <a:cs typeface="Times New Roman" panose="02020603050405020304" pitchFamily="18" charset="0"/>
                </a:rPr>
                <a:t>1</a:t>
              </a:r>
              <a:endParaRPr lang="en-US" altLang="zh-CN" sz="975">
                <a:latin typeface="Arial" panose="020B0604020202020204" pitchFamily="34" charset="0"/>
              </a:endParaRPr>
            </a:p>
          </p:txBody>
        </p:sp>
        <p:sp>
          <p:nvSpPr>
            <p:cNvPr id="43016" name="Rectangle 6"/>
            <p:cNvSpPr>
              <a:spLocks noChangeArrowheads="1"/>
            </p:cNvSpPr>
            <p:nvPr/>
          </p:nvSpPr>
          <p:spPr bwMode="auto">
            <a:xfrm>
              <a:off x="1645945" y="891832"/>
              <a:ext cx="569582" cy="296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975">
                  <a:latin typeface="Calibri" panose="020F0502020204030204" pitchFamily="34" charset="0"/>
                  <a:cs typeface="Times New Roman" panose="02020603050405020304" pitchFamily="18" charset="0"/>
                </a:rPr>
                <a:t>true</a:t>
              </a:r>
              <a:endParaRPr lang="en-US" altLang="zh-CN" sz="975">
                <a:latin typeface="Arial" panose="020B0604020202020204" pitchFamily="34" charset="0"/>
              </a:endParaRPr>
            </a:p>
          </p:txBody>
        </p:sp>
        <p:sp>
          <p:nvSpPr>
            <p:cNvPr id="43017" name="Line 7"/>
            <p:cNvSpPr>
              <a:spLocks noChangeShapeType="1"/>
            </p:cNvSpPr>
            <p:nvPr/>
          </p:nvSpPr>
          <p:spPr bwMode="auto">
            <a:xfrm>
              <a:off x="731693" y="3467424"/>
              <a:ext cx="730" cy="79192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18" name="Line 8"/>
            <p:cNvSpPr>
              <a:spLocks noChangeShapeType="1"/>
            </p:cNvSpPr>
            <p:nvPr/>
          </p:nvSpPr>
          <p:spPr bwMode="auto">
            <a:xfrm flipH="1">
              <a:off x="731693" y="3962562"/>
              <a:ext cx="3199880" cy="218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19" name="Line 9"/>
            <p:cNvSpPr>
              <a:spLocks noChangeShapeType="1"/>
            </p:cNvSpPr>
            <p:nvPr/>
          </p:nvSpPr>
          <p:spPr bwMode="auto">
            <a:xfrm>
              <a:off x="731693" y="99173"/>
              <a:ext cx="730" cy="29606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20" name="Rectangle 10"/>
            <p:cNvSpPr>
              <a:spLocks noChangeArrowheads="1"/>
            </p:cNvSpPr>
            <p:nvPr/>
          </p:nvSpPr>
          <p:spPr bwMode="auto">
            <a:xfrm>
              <a:off x="159921" y="1386970"/>
              <a:ext cx="571772" cy="294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975">
                  <a:latin typeface="Calibri" panose="020F0502020204030204" pitchFamily="34" charset="0"/>
                  <a:cs typeface="Times New Roman" panose="02020603050405020304" pitchFamily="18" charset="0"/>
                </a:rPr>
                <a:t>false</a:t>
              </a:r>
              <a:endParaRPr lang="en-US" altLang="zh-CN" sz="975">
                <a:latin typeface="Arial" panose="020B0604020202020204" pitchFamily="34" charset="0"/>
              </a:endParaRPr>
            </a:p>
          </p:txBody>
        </p:sp>
        <p:sp>
          <p:nvSpPr>
            <p:cNvPr id="43021" name="Rectangle 11"/>
            <p:cNvSpPr>
              <a:spLocks noChangeArrowheads="1"/>
            </p:cNvSpPr>
            <p:nvPr/>
          </p:nvSpPr>
          <p:spPr bwMode="auto">
            <a:xfrm>
              <a:off x="274568" y="395965"/>
              <a:ext cx="914251" cy="298250"/>
            </a:xfrm>
            <a:prstGeom prst="rect">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975">
                  <a:latin typeface="Calibri" panose="020F0502020204030204" pitchFamily="34" charset="0"/>
                  <a:cs typeface="Times New Roman" panose="02020603050405020304" pitchFamily="18" charset="0"/>
                </a:rPr>
                <a:t>表达式结果</a:t>
              </a:r>
              <a:endParaRPr lang="zh-CN" altLang="en-US" sz="975">
                <a:latin typeface="Arial" panose="020B0604020202020204" pitchFamily="34" charset="0"/>
              </a:endParaRPr>
            </a:p>
          </p:txBody>
        </p:sp>
        <p:sp>
          <p:nvSpPr>
            <p:cNvPr id="43022" name="Line 12"/>
            <p:cNvSpPr>
              <a:spLocks noChangeShapeType="1"/>
            </p:cNvSpPr>
            <p:nvPr/>
          </p:nvSpPr>
          <p:spPr bwMode="auto">
            <a:xfrm>
              <a:off x="731693" y="693485"/>
              <a:ext cx="730" cy="29606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23" name="Line 13"/>
            <p:cNvSpPr>
              <a:spLocks noChangeShapeType="1"/>
            </p:cNvSpPr>
            <p:nvPr/>
          </p:nvSpPr>
          <p:spPr bwMode="auto">
            <a:xfrm>
              <a:off x="731693" y="1386970"/>
              <a:ext cx="730" cy="29533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24" name="AutoShape 14"/>
            <p:cNvSpPr>
              <a:spLocks noChangeArrowheads="1"/>
            </p:cNvSpPr>
            <p:nvPr/>
          </p:nvSpPr>
          <p:spPr bwMode="auto">
            <a:xfrm>
              <a:off x="46005" y="1683761"/>
              <a:ext cx="1371377" cy="396694"/>
            </a:xfrm>
            <a:prstGeom prst="diamond">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975">
                  <a:latin typeface="Calibri" panose="020F0502020204030204" pitchFamily="34" charset="0"/>
                  <a:cs typeface="Times New Roman" panose="02020603050405020304" pitchFamily="18" charset="0"/>
                </a:rPr>
                <a:t>…</a:t>
              </a:r>
              <a:endParaRPr lang="zh-CN" altLang="en-US" sz="975">
                <a:latin typeface="Arial" panose="020B0604020202020204" pitchFamily="34" charset="0"/>
              </a:endParaRPr>
            </a:p>
          </p:txBody>
        </p:sp>
        <p:sp>
          <p:nvSpPr>
            <p:cNvPr id="43025" name="Rectangle 15"/>
            <p:cNvSpPr>
              <a:spLocks noChangeArrowheads="1"/>
            </p:cNvSpPr>
            <p:nvPr/>
          </p:nvSpPr>
          <p:spPr bwMode="auto">
            <a:xfrm>
              <a:off x="159921" y="2080454"/>
              <a:ext cx="571772" cy="294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975">
                  <a:latin typeface="Calibri" panose="020F0502020204030204" pitchFamily="34" charset="0"/>
                  <a:cs typeface="Times New Roman" panose="02020603050405020304" pitchFamily="18" charset="0"/>
                </a:rPr>
                <a:t>false</a:t>
              </a:r>
              <a:endParaRPr lang="en-US" altLang="zh-CN" sz="975">
                <a:latin typeface="Arial" panose="020B0604020202020204" pitchFamily="34" charset="0"/>
              </a:endParaRPr>
            </a:p>
          </p:txBody>
        </p:sp>
        <p:sp>
          <p:nvSpPr>
            <p:cNvPr id="43026" name="Line 16"/>
            <p:cNvSpPr>
              <a:spLocks noChangeShapeType="1"/>
            </p:cNvSpPr>
            <p:nvPr/>
          </p:nvSpPr>
          <p:spPr bwMode="auto">
            <a:xfrm>
              <a:off x="731693" y="2080454"/>
              <a:ext cx="730" cy="29533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27" name="AutoShape 17"/>
            <p:cNvSpPr>
              <a:spLocks noChangeArrowheads="1"/>
            </p:cNvSpPr>
            <p:nvPr/>
          </p:nvSpPr>
          <p:spPr bwMode="auto">
            <a:xfrm>
              <a:off x="46005" y="2377246"/>
              <a:ext cx="1371377" cy="396694"/>
            </a:xfrm>
            <a:prstGeom prst="diamond">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975">
                  <a:latin typeface="Calibri" panose="020F0502020204030204" pitchFamily="34" charset="0"/>
                  <a:cs typeface="Times New Roman" panose="02020603050405020304" pitchFamily="18" charset="0"/>
                </a:rPr>
                <a:t>case</a:t>
              </a:r>
              <a:r>
                <a:rPr lang="zh-CN" altLang="en-US" sz="975">
                  <a:latin typeface="Calibri" panose="020F0502020204030204" pitchFamily="34" charset="0"/>
                  <a:cs typeface="Times New Roman" panose="02020603050405020304" pitchFamily="18" charset="0"/>
                </a:rPr>
                <a:t>常量值</a:t>
              </a:r>
              <a:r>
                <a:rPr lang="en-US" altLang="zh-CN" sz="975">
                  <a:latin typeface="Calibri" panose="020F0502020204030204" pitchFamily="34" charset="0"/>
                  <a:cs typeface="Times New Roman" panose="02020603050405020304" pitchFamily="18" charset="0"/>
                </a:rPr>
                <a:t>n</a:t>
              </a:r>
              <a:endParaRPr lang="en-US" altLang="zh-CN" sz="975">
                <a:latin typeface="Arial" panose="020B0604020202020204" pitchFamily="34" charset="0"/>
              </a:endParaRPr>
            </a:p>
            <a:p>
              <a:pPr>
                <a:lnSpc>
                  <a:spcPct val="100000"/>
                </a:lnSpc>
              </a:pPr>
              <a:endParaRPr lang="en-US" altLang="zh-CN" sz="975">
                <a:latin typeface="Arial" panose="020B0604020202020204" pitchFamily="34" charset="0"/>
              </a:endParaRPr>
            </a:p>
          </p:txBody>
        </p:sp>
        <p:sp>
          <p:nvSpPr>
            <p:cNvPr id="43028" name="Rectangle 18"/>
            <p:cNvSpPr>
              <a:spLocks noChangeArrowheads="1"/>
            </p:cNvSpPr>
            <p:nvPr/>
          </p:nvSpPr>
          <p:spPr bwMode="auto">
            <a:xfrm>
              <a:off x="159921" y="2773939"/>
              <a:ext cx="571772" cy="294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975">
                  <a:latin typeface="Calibri" panose="020F0502020204030204" pitchFamily="34" charset="0"/>
                  <a:cs typeface="Times New Roman" panose="02020603050405020304" pitchFamily="18" charset="0"/>
                </a:rPr>
                <a:t>false</a:t>
              </a:r>
              <a:endParaRPr lang="en-US" altLang="zh-CN" sz="975">
                <a:latin typeface="Arial" panose="020B0604020202020204" pitchFamily="34" charset="0"/>
              </a:endParaRPr>
            </a:p>
          </p:txBody>
        </p:sp>
        <p:sp>
          <p:nvSpPr>
            <p:cNvPr id="43029" name="Line 19"/>
            <p:cNvSpPr>
              <a:spLocks noChangeShapeType="1"/>
            </p:cNvSpPr>
            <p:nvPr/>
          </p:nvSpPr>
          <p:spPr bwMode="auto">
            <a:xfrm>
              <a:off x="731693" y="2773939"/>
              <a:ext cx="730" cy="29533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30" name="AutoShape 20"/>
            <p:cNvSpPr>
              <a:spLocks noChangeArrowheads="1"/>
            </p:cNvSpPr>
            <p:nvPr/>
          </p:nvSpPr>
          <p:spPr bwMode="auto">
            <a:xfrm>
              <a:off x="46005" y="3070730"/>
              <a:ext cx="1371377" cy="396694"/>
            </a:xfrm>
            <a:prstGeom prst="diamond">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975">
                  <a:latin typeface="Calibri" panose="020F0502020204030204" pitchFamily="34" charset="0"/>
                  <a:cs typeface="Times New Roman" panose="02020603050405020304" pitchFamily="18" charset="0"/>
                </a:rPr>
                <a:t>default</a:t>
              </a:r>
              <a:endParaRPr lang="en-US" altLang="zh-CN" sz="975">
                <a:latin typeface="Arial" panose="020B0604020202020204" pitchFamily="34" charset="0"/>
              </a:endParaRPr>
            </a:p>
            <a:p>
              <a:pPr>
                <a:lnSpc>
                  <a:spcPct val="100000"/>
                </a:lnSpc>
              </a:pPr>
              <a:endParaRPr lang="en-US" altLang="zh-CN" sz="975">
                <a:latin typeface="Arial" panose="020B0604020202020204" pitchFamily="34" charset="0"/>
              </a:endParaRPr>
            </a:p>
          </p:txBody>
        </p:sp>
        <p:sp>
          <p:nvSpPr>
            <p:cNvPr id="43031" name="Line 21"/>
            <p:cNvSpPr>
              <a:spLocks noChangeShapeType="1"/>
            </p:cNvSpPr>
            <p:nvPr/>
          </p:nvSpPr>
          <p:spPr bwMode="auto">
            <a:xfrm>
              <a:off x="1417382" y="1188623"/>
              <a:ext cx="171385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43032" name="Line 22"/>
            <p:cNvSpPr>
              <a:spLocks noChangeShapeType="1"/>
            </p:cNvSpPr>
            <p:nvPr/>
          </p:nvSpPr>
          <p:spPr bwMode="auto">
            <a:xfrm>
              <a:off x="3131238" y="1188623"/>
              <a:ext cx="0" cy="19834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33" name="Rectangle 23"/>
            <p:cNvSpPr>
              <a:spLocks noChangeArrowheads="1"/>
            </p:cNvSpPr>
            <p:nvPr/>
          </p:nvSpPr>
          <p:spPr bwMode="auto">
            <a:xfrm>
              <a:off x="2674113" y="2080454"/>
              <a:ext cx="914982" cy="298250"/>
            </a:xfrm>
            <a:prstGeom prst="rect">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975">
                  <a:latin typeface="Calibri" panose="020F0502020204030204" pitchFamily="34" charset="0"/>
                  <a:cs typeface="Times New Roman" panose="02020603050405020304" pitchFamily="18" charset="0"/>
                </a:rPr>
                <a:t>…</a:t>
              </a:r>
              <a:endParaRPr lang="zh-CN" altLang="en-US" sz="975">
                <a:latin typeface="Arial" panose="020B0604020202020204" pitchFamily="34" charset="0"/>
              </a:endParaRPr>
            </a:p>
          </p:txBody>
        </p:sp>
        <p:sp>
          <p:nvSpPr>
            <p:cNvPr id="43034" name="Rectangle 24"/>
            <p:cNvSpPr>
              <a:spLocks noChangeArrowheads="1"/>
            </p:cNvSpPr>
            <p:nvPr/>
          </p:nvSpPr>
          <p:spPr bwMode="auto">
            <a:xfrm>
              <a:off x="1645945" y="1585317"/>
              <a:ext cx="569582" cy="296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975">
                  <a:latin typeface="Calibri" panose="020F0502020204030204" pitchFamily="34" charset="0"/>
                  <a:cs typeface="Times New Roman" panose="02020603050405020304" pitchFamily="18" charset="0"/>
                </a:rPr>
                <a:t>true</a:t>
              </a:r>
              <a:endParaRPr lang="en-US" altLang="zh-CN" sz="975">
                <a:latin typeface="Arial" panose="020B0604020202020204" pitchFamily="34" charset="0"/>
              </a:endParaRPr>
            </a:p>
          </p:txBody>
        </p:sp>
        <p:sp>
          <p:nvSpPr>
            <p:cNvPr id="43035" name="Line 25"/>
            <p:cNvSpPr>
              <a:spLocks noChangeShapeType="1"/>
            </p:cNvSpPr>
            <p:nvPr/>
          </p:nvSpPr>
          <p:spPr bwMode="auto">
            <a:xfrm>
              <a:off x="1417382" y="1882108"/>
              <a:ext cx="1713856" cy="72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43036" name="Line 26"/>
            <p:cNvSpPr>
              <a:spLocks noChangeShapeType="1"/>
            </p:cNvSpPr>
            <p:nvPr/>
          </p:nvSpPr>
          <p:spPr bwMode="auto">
            <a:xfrm>
              <a:off x="3131238" y="1882108"/>
              <a:ext cx="730" cy="19834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37" name="Rectangle 27"/>
            <p:cNvSpPr>
              <a:spLocks noChangeArrowheads="1"/>
            </p:cNvSpPr>
            <p:nvPr/>
          </p:nvSpPr>
          <p:spPr bwMode="auto">
            <a:xfrm>
              <a:off x="2674113" y="2773939"/>
              <a:ext cx="914982" cy="298250"/>
            </a:xfrm>
            <a:prstGeom prst="rect">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975">
                  <a:latin typeface="Calibri" panose="020F0502020204030204" pitchFamily="34" charset="0"/>
                  <a:cs typeface="Times New Roman" panose="02020603050405020304" pitchFamily="18" charset="0"/>
                </a:rPr>
                <a:t>语句序列</a:t>
              </a:r>
              <a:r>
                <a:rPr lang="en-US" altLang="zh-CN" sz="975">
                  <a:latin typeface="Calibri" panose="020F0502020204030204" pitchFamily="34" charset="0"/>
                  <a:cs typeface="Times New Roman" panose="02020603050405020304" pitchFamily="18" charset="0"/>
                </a:rPr>
                <a:t>n</a:t>
              </a:r>
              <a:endParaRPr lang="en-US" altLang="zh-CN" sz="975">
                <a:latin typeface="Arial" panose="020B0604020202020204" pitchFamily="34" charset="0"/>
              </a:endParaRPr>
            </a:p>
          </p:txBody>
        </p:sp>
        <p:sp>
          <p:nvSpPr>
            <p:cNvPr id="43038" name="Rectangle 28"/>
            <p:cNvSpPr>
              <a:spLocks noChangeArrowheads="1"/>
            </p:cNvSpPr>
            <p:nvPr/>
          </p:nvSpPr>
          <p:spPr bwMode="auto">
            <a:xfrm>
              <a:off x="1645945" y="2278801"/>
              <a:ext cx="569582" cy="296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975">
                  <a:latin typeface="Calibri" panose="020F0502020204030204" pitchFamily="34" charset="0"/>
                  <a:cs typeface="Times New Roman" panose="02020603050405020304" pitchFamily="18" charset="0"/>
                </a:rPr>
                <a:t>true</a:t>
              </a:r>
              <a:endParaRPr lang="en-US" altLang="zh-CN" sz="975">
                <a:latin typeface="Arial" panose="020B0604020202020204" pitchFamily="34" charset="0"/>
              </a:endParaRPr>
            </a:p>
          </p:txBody>
        </p:sp>
        <p:sp>
          <p:nvSpPr>
            <p:cNvPr id="43039" name="Line 29"/>
            <p:cNvSpPr>
              <a:spLocks noChangeShapeType="1"/>
            </p:cNvSpPr>
            <p:nvPr/>
          </p:nvSpPr>
          <p:spPr bwMode="auto">
            <a:xfrm>
              <a:off x="1417382" y="2575592"/>
              <a:ext cx="1713856" cy="72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43040" name="Line 30"/>
            <p:cNvSpPr>
              <a:spLocks noChangeShapeType="1"/>
            </p:cNvSpPr>
            <p:nvPr/>
          </p:nvSpPr>
          <p:spPr bwMode="auto">
            <a:xfrm>
              <a:off x="3131238" y="2575592"/>
              <a:ext cx="730" cy="19834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41" name="Rectangle 31"/>
            <p:cNvSpPr>
              <a:spLocks noChangeArrowheads="1"/>
            </p:cNvSpPr>
            <p:nvPr/>
          </p:nvSpPr>
          <p:spPr bwMode="auto">
            <a:xfrm>
              <a:off x="2674113" y="3467424"/>
              <a:ext cx="914982" cy="298250"/>
            </a:xfrm>
            <a:prstGeom prst="rect">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975">
                  <a:latin typeface="Calibri" panose="020F0502020204030204" pitchFamily="34" charset="0"/>
                  <a:cs typeface="Times New Roman" panose="02020603050405020304" pitchFamily="18" charset="0"/>
                </a:rPr>
                <a:t>语句序列</a:t>
              </a:r>
              <a:r>
                <a:rPr lang="en-US" altLang="zh-CN" sz="975">
                  <a:latin typeface="Calibri" panose="020F0502020204030204" pitchFamily="34" charset="0"/>
                  <a:cs typeface="Times New Roman" panose="02020603050405020304" pitchFamily="18" charset="0"/>
                </a:rPr>
                <a:t>n+1</a:t>
              </a:r>
              <a:endParaRPr lang="en-US" altLang="zh-CN" sz="975">
                <a:latin typeface="Arial" panose="020B0604020202020204" pitchFamily="34" charset="0"/>
              </a:endParaRPr>
            </a:p>
          </p:txBody>
        </p:sp>
        <p:sp>
          <p:nvSpPr>
            <p:cNvPr id="43042" name="Rectangle 32"/>
            <p:cNvSpPr>
              <a:spLocks noChangeArrowheads="1"/>
            </p:cNvSpPr>
            <p:nvPr/>
          </p:nvSpPr>
          <p:spPr bwMode="auto">
            <a:xfrm>
              <a:off x="1645945" y="2972286"/>
              <a:ext cx="569582" cy="296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975">
                  <a:latin typeface="Calibri" panose="020F0502020204030204" pitchFamily="34" charset="0"/>
                  <a:cs typeface="Times New Roman" panose="02020603050405020304" pitchFamily="18" charset="0"/>
                </a:rPr>
                <a:t>true</a:t>
              </a:r>
              <a:endParaRPr lang="en-US" altLang="zh-CN" sz="975">
                <a:latin typeface="Arial" panose="020B0604020202020204" pitchFamily="34" charset="0"/>
              </a:endParaRPr>
            </a:p>
          </p:txBody>
        </p:sp>
        <p:sp>
          <p:nvSpPr>
            <p:cNvPr id="43043" name="Line 33"/>
            <p:cNvSpPr>
              <a:spLocks noChangeShapeType="1"/>
            </p:cNvSpPr>
            <p:nvPr/>
          </p:nvSpPr>
          <p:spPr bwMode="auto">
            <a:xfrm>
              <a:off x="1417382" y="3269077"/>
              <a:ext cx="1713856" cy="72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43044" name="Line 34"/>
            <p:cNvSpPr>
              <a:spLocks noChangeShapeType="1"/>
            </p:cNvSpPr>
            <p:nvPr/>
          </p:nvSpPr>
          <p:spPr bwMode="auto">
            <a:xfrm>
              <a:off x="3131238" y="3269077"/>
              <a:ext cx="730" cy="19834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45" name="Line 35"/>
            <p:cNvSpPr>
              <a:spLocks noChangeShapeType="1"/>
            </p:cNvSpPr>
            <p:nvPr/>
          </p:nvSpPr>
          <p:spPr bwMode="auto">
            <a:xfrm>
              <a:off x="3589094" y="3665042"/>
              <a:ext cx="341019" cy="72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46" name="Line 36"/>
            <p:cNvSpPr>
              <a:spLocks noChangeShapeType="1"/>
            </p:cNvSpPr>
            <p:nvPr/>
          </p:nvSpPr>
          <p:spPr bwMode="auto">
            <a:xfrm>
              <a:off x="3589094" y="2971557"/>
              <a:ext cx="340288" cy="145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47" name="Line 37"/>
            <p:cNvSpPr>
              <a:spLocks noChangeShapeType="1"/>
            </p:cNvSpPr>
            <p:nvPr/>
          </p:nvSpPr>
          <p:spPr bwMode="auto">
            <a:xfrm>
              <a:off x="3589094" y="2278072"/>
              <a:ext cx="339558" cy="145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48" name="Line 38"/>
            <p:cNvSpPr>
              <a:spLocks noChangeShapeType="1"/>
            </p:cNvSpPr>
            <p:nvPr/>
          </p:nvSpPr>
          <p:spPr bwMode="auto">
            <a:xfrm>
              <a:off x="3931573" y="1585317"/>
              <a:ext cx="0" cy="237724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3049" name="Line 39"/>
            <p:cNvSpPr>
              <a:spLocks noChangeShapeType="1"/>
            </p:cNvSpPr>
            <p:nvPr/>
          </p:nvSpPr>
          <p:spPr bwMode="auto">
            <a:xfrm>
              <a:off x="3589094" y="1585317"/>
              <a:ext cx="34247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grpSp>
      <p:sp>
        <p:nvSpPr>
          <p:cNvPr id="43012" name="Rectangle 56"/>
          <p:cNvSpPr>
            <a:spLocks noChangeArrowheads="1"/>
          </p:cNvSpPr>
          <p:nvPr/>
        </p:nvSpPr>
        <p:spPr bwMode="auto">
          <a:xfrm>
            <a:off x="3694668" y="6062534"/>
            <a:ext cx="4284528" cy="41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925" tIns="39462" rIns="78925" bIns="39462" anchor="ctr">
            <a:spAutoFit/>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2170">
                <a:cs typeface="Times New Roman" panose="02020603050405020304" pitchFamily="18" charset="0"/>
              </a:rPr>
              <a:t>图</a:t>
            </a:r>
            <a:r>
              <a:rPr lang="en-US" altLang="zh-CN" sz="2170">
                <a:cs typeface="Times New Roman" panose="02020603050405020304" pitchFamily="18" charset="0"/>
              </a:rPr>
              <a:t>2-5  switch</a:t>
            </a:r>
            <a:r>
              <a:rPr lang="zh-CN" altLang="en-US" sz="2170">
                <a:cs typeface="Times New Roman" panose="02020603050405020304" pitchFamily="18" charset="0"/>
              </a:rPr>
              <a:t>语句流程图</a:t>
            </a:r>
            <a:endParaRPr lang="zh-CN" altLang="en-US" sz="2170">
              <a:latin typeface="Arial" panose="020B0604020202020204" pitchFamily="34" charset="0"/>
            </a:endParaRPr>
          </a:p>
        </p:txBody>
      </p:sp>
      <p:sp>
        <p:nvSpPr>
          <p:cNvPr id="42" name="标题 2"/>
          <p:cNvSpPr txBox="1"/>
          <p:nvPr/>
        </p:nvSpPr>
        <p:spPr>
          <a:xfrm>
            <a:off x="77462" y="77778"/>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switch</a:t>
            </a:r>
            <a:r>
              <a:rPr lang="zh-CN" altLang="en-US">
                <a:latin typeface="宋体" panose="02010600030101010101" pitchFamily="2" charset="-122"/>
                <a:ea typeface="宋体" panose="02010600030101010101" pitchFamily="2" charset="-122"/>
              </a:rPr>
              <a:t>语句</a:t>
            </a:r>
            <a:endParaRPr lang="zh-CN" altLang="en-US"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idx="4294967295"/>
          </p:nvPr>
        </p:nvSpPr>
        <p:spPr>
          <a:xfrm>
            <a:off x="1990725" y="187325"/>
            <a:ext cx="8369300" cy="573088"/>
          </a:xfrm>
        </p:spPr>
        <p:txBody>
          <a:bodyPr vert="horz" wrap="square" lIns="91440" tIns="45720" rIns="91440" bIns="45720" anchor="ctr"/>
          <a:p>
            <a:pPr algn="l" eaLnBrk="1" hangingPunct="1"/>
            <a:r>
              <a:rPr lang="zh-CN" altLang="en-US" sz="2400" dirty="0">
                <a:solidFill>
                  <a:schemeClr val="tx1"/>
                </a:solidFill>
              </a:rPr>
              <a:t>常见错误</a:t>
            </a:r>
            <a:endParaRPr lang="en-US" altLang="zh-CN" sz="2400" dirty="0">
              <a:solidFill>
                <a:schemeClr val="tx1"/>
              </a:solidFill>
            </a:endParaRPr>
          </a:p>
        </p:txBody>
      </p:sp>
      <p:sp>
        <p:nvSpPr>
          <p:cNvPr id="46083" name="AutoShape 9"/>
          <p:cNvSpPr/>
          <p:nvPr/>
        </p:nvSpPr>
        <p:spPr>
          <a:xfrm>
            <a:off x="2135188" y="1052513"/>
            <a:ext cx="8010525" cy="4316359"/>
          </a:xfrm>
          <a:prstGeom prst="roundRect">
            <a:avLst>
              <a:gd name="adj" fmla="val 8903"/>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457200" lvl="1" indent="0" eaLnBrk="1" fontAlgn="b" hangingPunct="1">
              <a:buClr>
                <a:schemeClr val="folHlink"/>
              </a:buClr>
              <a:buSzPct val="60000"/>
              <a:buFont typeface="Wingdings" panose="05000000000000000000" pitchFamily="2" charset="2"/>
              <a:buNone/>
            </a:pPr>
            <a:r>
              <a:rPr lang="en-US" altLang="zh-CN" sz="2000" b="1" dirty="0">
                <a:solidFill>
                  <a:schemeClr val="tx1"/>
                </a:solidFill>
                <a:ea typeface="黑体" panose="02010609060101010101" pitchFamily="2" charset="-122"/>
              </a:rPr>
              <a:t>int mingCi = 1;</a:t>
            </a:r>
            <a:endParaRPr lang="en-US" altLang="zh-CN" sz="2000" b="1" dirty="0">
              <a:solidFill>
                <a:schemeClr val="tx1"/>
              </a:solidFill>
              <a:ea typeface="黑体" panose="02010609060101010101" pitchFamily="2" charset="-122"/>
            </a:endParaRPr>
          </a:p>
          <a:p>
            <a:pPr marL="457200" lvl="1" indent="0" eaLnBrk="1" fontAlgn="b" hangingPunct="1">
              <a:buClr>
                <a:schemeClr val="folHlink"/>
              </a:buClr>
              <a:buSzPct val="60000"/>
              <a:buFont typeface="Wingdings" panose="05000000000000000000" pitchFamily="2" charset="2"/>
              <a:buNone/>
            </a:pPr>
            <a:r>
              <a:rPr lang="en-US" altLang="zh-CN" sz="2000" b="1" dirty="0">
                <a:solidFill>
                  <a:schemeClr val="tx1"/>
                </a:solidFill>
                <a:ea typeface="黑体" panose="02010609060101010101" pitchFamily="2" charset="-122"/>
              </a:rPr>
              <a:t>switch (mingCi){</a:t>
            </a:r>
            <a:endParaRPr lang="en-US" altLang="zh-CN" sz="2000" b="1" dirty="0">
              <a:solidFill>
                <a:schemeClr val="tx1"/>
              </a:solidFill>
              <a:ea typeface="黑体" panose="02010609060101010101" pitchFamily="2" charset="-122"/>
            </a:endParaRPr>
          </a:p>
          <a:p>
            <a:pPr marL="457200" lvl="1" indent="0" eaLnBrk="1" fontAlgn="b" hangingPunct="1">
              <a:buClr>
                <a:schemeClr val="folHlink"/>
              </a:buClr>
              <a:buSzPct val="60000"/>
              <a:buFont typeface="Wingdings" panose="05000000000000000000" pitchFamily="2" charset="2"/>
              <a:buNone/>
            </a:pPr>
            <a:r>
              <a:rPr lang="en-US" altLang="zh-CN" sz="2000" b="1" dirty="0">
                <a:solidFill>
                  <a:schemeClr val="tx1"/>
                </a:solidFill>
                <a:ea typeface="黑体" panose="02010609060101010101" pitchFamily="2" charset="-122"/>
              </a:rPr>
              <a:t>            case 1:</a:t>
            </a:r>
            <a:endParaRPr lang="en-US" altLang="zh-CN" sz="2000" b="1" dirty="0">
              <a:solidFill>
                <a:schemeClr val="tx1"/>
              </a:solidFill>
              <a:ea typeface="黑体" panose="02010609060101010101" pitchFamily="2" charset="-122"/>
            </a:endParaRPr>
          </a:p>
          <a:p>
            <a:pPr marL="457200" lvl="1" indent="0" eaLnBrk="1" fontAlgn="b" hangingPunct="1">
              <a:buClr>
                <a:schemeClr val="folHlink"/>
              </a:buClr>
              <a:buSzPct val="60000"/>
              <a:buFont typeface="Wingdings" panose="05000000000000000000" pitchFamily="2" charset="2"/>
              <a:buNone/>
            </a:pPr>
            <a:r>
              <a:rPr lang="en-US" altLang="zh-CN" sz="2000" b="1" dirty="0">
                <a:solidFill>
                  <a:schemeClr val="tx1"/>
                </a:solidFill>
                <a:ea typeface="黑体" panose="02010609060101010101" pitchFamily="2" charset="-122"/>
              </a:rPr>
              <a:t>                System.out.println("</a:t>
            </a:r>
            <a:r>
              <a:rPr lang="zh-CN" altLang="en-US" sz="2000" b="1" dirty="0">
                <a:solidFill>
                  <a:schemeClr val="tx1"/>
                </a:solidFill>
                <a:ea typeface="黑体" panose="02010609060101010101" pitchFamily="2" charset="-122"/>
              </a:rPr>
              <a:t>出任武林盟主</a:t>
            </a:r>
            <a:r>
              <a:rPr lang="en-US" altLang="zh-CN" sz="2000" b="1" dirty="0">
                <a:solidFill>
                  <a:schemeClr val="tx1"/>
                </a:solidFill>
                <a:ea typeface="黑体" panose="02010609060101010101" pitchFamily="2" charset="-122"/>
              </a:rPr>
              <a:t>");</a:t>
            </a:r>
            <a:endParaRPr lang="en-US" altLang="zh-CN" sz="2000" b="1" dirty="0">
              <a:solidFill>
                <a:schemeClr val="tx1"/>
              </a:solidFill>
              <a:ea typeface="黑体" panose="02010609060101010101" pitchFamily="2" charset="-122"/>
            </a:endParaRPr>
          </a:p>
          <a:p>
            <a:pPr marL="457200" lvl="1" indent="0" eaLnBrk="1" fontAlgn="b" hangingPunct="1">
              <a:buClr>
                <a:schemeClr val="folHlink"/>
              </a:buClr>
              <a:buSzPct val="60000"/>
              <a:buFont typeface="Wingdings" panose="05000000000000000000" pitchFamily="2" charset="2"/>
              <a:buNone/>
            </a:pPr>
            <a:r>
              <a:rPr lang="en-US" altLang="zh-CN" sz="2000" b="1" dirty="0">
                <a:solidFill>
                  <a:schemeClr val="tx1"/>
                </a:solidFill>
                <a:ea typeface="黑体" panose="02010609060101010101" pitchFamily="2" charset="-122"/>
              </a:rPr>
              <a:t>            case 2:</a:t>
            </a:r>
            <a:endParaRPr lang="en-US" altLang="zh-CN" sz="2000" b="1" dirty="0">
              <a:solidFill>
                <a:schemeClr val="tx1"/>
              </a:solidFill>
              <a:ea typeface="黑体" panose="02010609060101010101" pitchFamily="2" charset="-122"/>
            </a:endParaRPr>
          </a:p>
          <a:p>
            <a:pPr marL="457200" lvl="1" indent="0" eaLnBrk="1" fontAlgn="b" hangingPunct="1">
              <a:buClr>
                <a:schemeClr val="folHlink"/>
              </a:buClr>
              <a:buSzPct val="60000"/>
              <a:buFont typeface="Wingdings" panose="05000000000000000000" pitchFamily="2" charset="2"/>
              <a:buNone/>
            </a:pPr>
            <a:r>
              <a:rPr lang="en-US" altLang="zh-CN" sz="2000" b="1" dirty="0">
                <a:solidFill>
                  <a:schemeClr val="tx1"/>
                </a:solidFill>
                <a:ea typeface="黑体" panose="02010609060101010101" pitchFamily="2" charset="-122"/>
              </a:rPr>
              <a:t>                System.out.println("</a:t>
            </a:r>
            <a:r>
              <a:rPr lang="zh-CN" altLang="en-US" sz="2000" b="1" dirty="0">
                <a:solidFill>
                  <a:schemeClr val="tx1"/>
                </a:solidFill>
                <a:ea typeface="黑体" panose="02010609060101010101" pitchFamily="2" charset="-122"/>
              </a:rPr>
              <a:t>出任武当掌门</a:t>
            </a:r>
            <a:r>
              <a:rPr lang="en-US" altLang="zh-CN" sz="2000" b="1" dirty="0">
                <a:solidFill>
                  <a:schemeClr val="tx1"/>
                </a:solidFill>
                <a:ea typeface="黑体" panose="02010609060101010101" pitchFamily="2" charset="-122"/>
              </a:rPr>
              <a:t>");</a:t>
            </a:r>
            <a:endParaRPr lang="en-US" altLang="zh-CN" sz="2000" b="1" dirty="0">
              <a:solidFill>
                <a:schemeClr val="tx1"/>
              </a:solidFill>
              <a:ea typeface="黑体" panose="02010609060101010101" pitchFamily="2" charset="-122"/>
            </a:endParaRPr>
          </a:p>
          <a:p>
            <a:pPr marL="457200" lvl="1" indent="0" eaLnBrk="1" fontAlgn="b" hangingPunct="1">
              <a:buClr>
                <a:schemeClr val="folHlink"/>
              </a:buClr>
              <a:buSzPct val="60000"/>
              <a:buFont typeface="Wingdings" panose="05000000000000000000" pitchFamily="2" charset="2"/>
              <a:buNone/>
            </a:pPr>
            <a:r>
              <a:rPr lang="en-US" altLang="zh-CN" sz="2000" b="1" dirty="0">
                <a:solidFill>
                  <a:schemeClr val="tx1"/>
                </a:solidFill>
                <a:ea typeface="黑体" panose="02010609060101010101" pitchFamily="2" charset="-122"/>
              </a:rPr>
              <a:t>            case 3:</a:t>
            </a:r>
            <a:endParaRPr lang="en-US" altLang="zh-CN" sz="2000" b="1" dirty="0">
              <a:solidFill>
                <a:schemeClr val="tx1"/>
              </a:solidFill>
              <a:ea typeface="黑体" panose="02010609060101010101" pitchFamily="2" charset="-122"/>
            </a:endParaRPr>
          </a:p>
          <a:p>
            <a:pPr marL="457200" lvl="1" indent="0" eaLnBrk="1" fontAlgn="b" hangingPunct="1">
              <a:buClr>
                <a:schemeClr val="folHlink"/>
              </a:buClr>
              <a:buSzPct val="60000"/>
              <a:buFont typeface="Wingdings" panose="05000000000000000000" pitchFamily="2" charset="2"/>
              <a:buNone/>
            </a:pPr>
            <a:r>
              <a:rPr lang="en-US" altLang="zh-CN" sz="2000" b="1" dirty="0">
                <a:solidFill>
                  <a:schemeClr val="tx1"/>
                </a:solidFill>
                <a:ea typeface="黑体" panose="02010609060101010101" pitchFamily="2" charset="-122"/>
              </a:rPr>
              <a:t>                System.out.println("</a:t>
            </a:r>
            <a:r>
              <a:rPr lang="zh-CN" altLang="en-US" sz="2000" b="1" dirty="0">
                <a:solidFill>
                  <a:schemeClr val="tx1"/>
                </a:solidFill>
                <a:ea typeface="黑体" panose="02010609060101010101" pitchFamily="2" charset="-122"/>
              </a:rPr>
              <a:t>出任峨嵋掌门</a:t>
            </a:r>
            <a:r>
              <a:rPr lang="en-US" altLang="zh-CN" sz="2000" b="1" dirty="0">
                <a:solidFill>
                  <a:schemeClr val="tx1"/>
                </a:solidFill>
                <a:ea typeface="黑体" panose="02010609060101010101" pitchFamily="2" charset="-122"/>
              </a:rPr>
              <a:t>");</a:t>
            </a:r>
            <a:endParaRPr lang="en-US" altLang="zh-CN" sz="2000" b="1" dirty="0">
              <a:solidFill>
                <a:schemeClr val="tx1"/>
              </a:solidFill>
              <a:ea typeface="黑体" panose="02010609060101010101" pitchFamily="2" charset="-122"/>
            </a:endParaRPr>
          </a:p>
          <a:p>
            <a:pPr marL="457200" lvl="1" indent="0" eaLnBrk="1" fontAlgn="b" hangingPunct="1">
              <a:buClr>
                <a:schemeClr val="folHlink"/>
              </a:buClr>
              <a:buSzPct val="60000"/>
              <a:buFont typeface="Wingdings" panose="05000000000000000000" pitchFamily="2" charset="2"/>
              <a:buNone/>
            </a:pPr>
            <a:r>
              <a:rPr lang="en-US" altLang="zh-CN" sz="2000" b="1" dirty="0">
                <a:solidFill>
                  <a:schemeClr val="tx1"/>
                </a:solidFill>
                <a:ea typeface="黑体" panose="02010609060101010101" pitchFamily="2" charset="-122"/>
              </a:rPr>
              <a:t>            default:</a:t>
            </a:r>
            <a:endParaRPr lang="en-US" altLang="zh-CN" sz="2000" b="1" dirty="0">
              <a:solidFill>
                <a:schemeClr val="tx1"/>
              </a:solidFill>
              <a:ea typeface="黑体" panose="02010609060101010101" pitchFamily="2" charset="-122"/>
            </a:endParaRPr>
          </a:p>
          <a:p>
            <a:pPr marL="457200" lvl="1" indent="0" eaLnBrk="1" fontAlgn="b" hangingPunct="1">
              <a:buClr>
                <a:schemeClr val="folHlink"/>
              </a:buClr>
              <a:buSzPct val="60000"/>
              <a:buFont typeface="Wingdings" panose="05000000000000000000" pitchFamily="2" charset="2"/>
              <a:buNone/>
            </a:pPr>
            <a:r>
              <a:rPr lang="en-US" altLang="zh-CN" sz="2000" b="1" dirty="0">
                <a:solidFill>
                  <a:schemeClr val="tx1"/>
                </a:solidFill>
                <a:ea typeface="黑体" panose="02010609060101010101" pitchFamily="2" charset="-122"/>
              </a:rPr>
              <a:t>                System.out.println("</a:t>
            </a:r>
            <a:r>
              <a:rPr lang="zh-CN" altLang="en-US" sz="2000" b="1" dirty="0">
                <a:solidFill>
                  <a:schemeClr val="tx1"/>
                </a:solidFill>
                <a:ea typeface="黑体" panose="02010609060101010101" pitchFamily="2" charset="-122"/>
              </a:rPr>
              <a:t>被逐出师门</a:t>
            </a:r>
            <a:r>
              <a:rPr lang="en-US" altLang="zh-CN" sz="2000" b="1" dirty="0">
                <a:solidFill>
                  <a:schemeClr val="tx1"/>
                </a:solidFill>
                <a:ea typeface="黑体" panose="02010609060101010101" pitchFamily="2" charset="-122"/>
              </a:rPr>
              <a:t>");</a:t>
            </a:r>
            <a:endParaRPr lang="en-US" altLang="zh-CN" sz="2000" b="1" dirty="0">
              <a:solidFill>
                <a:schemeClr val="tx1"/>
              </a:solidFill>
              <a:ea typeface="黑体" panose="02010609060101010101" pitchFamily="2" charset="-122"/>
            </a:endParaRPr>
          </a:p>
          <a:p>
            <a:pPr marL="457200" lvl="1" indent="0" eaLnBrk="1" fontAlgn="b" hangingPunct="1">
              <a:buClr>
                <a:schemeClr val="folHlink"/>
              </a:buClr>
              <a:buSzPct val="60000"/>
              <a:buFont typeface="Wingdings" panose="05000000000000000000" pitchFamily="2" charset="2"/>
              <a:buNone/>
            </a:pPr>
            <a:r>
              <a:rPr lang="en-US" altLang="zh-CN" sz="2000" b="1" dirty="0">
                <a:solidFill>
                  <a:schemeClr val="tx1"/>
                </a:solidFill>
                <a:ea typeface="黑体" panose="02010609060101010101" pitchFamily="2" charset="-122"/>
              </a:rPr>
              <a:t>}</a:t>
            </a:r>
            <a:endParaRPr lang="en-US" altLang="zh-CN" sz="2000" b="1" dirty="0">
              <a:solidFill>
                <a:schemeClr val="tx1"/>
              </a:solidFill>
              <a:ea typeface="黑体" panose="02010609060101010101" pitchFamily="2" charset="-122"/>
            </a:endParaRPr>
          </a:p>
        </p:txBody>
      </p:sp>
      <p:sp>
        <p:nvSpPr>
          <p:cNvPr id="46084" name="AutoShape 10"/>
          <p:cNvSpPr/>
          <p:nvPr/>
        </p:nvSpPr>
        <p:spPr>
          <a:xfrm>
            <a:off x="7032625" y="1557338"/>
            <a:ext cx="3057525" cy="509815"/>
          </a:xfrm>
          <a:prstGeom prst="roundRect">
            <a:avLst>
              <a:gd name="adj" fmla="val 16667"/>
            </a:avLst>
          </a:prstGeom>
          <a:gradFill rotWithShape="1">
            <a:gsLst>
              <a:gs pos="0">
                <a:srgbClr val="FFFF99"/>
              </a:gs>
              <a:gs pos="100000">
                <a:srgbClr val="FFFFFF"/>
              </a:gs>
            </a:gsLst>
            <a:lin ang="5400000" scaled="1"/>
            <a:tileRect/>
          </a:gradFill>
          <a:ln w="9525" cap="flat" cmpd="sng">
            <a:solidFill>
              <a:srgbClr val="FF9900"/>
            </a:solidFill>
            <a:prstDash val="solid"/>
            <a:headEnd type="none" w="med" len="med"/>
            <a:tailEnd type="none" w="med" len="med"/>
          </a:ln>
          <a:effectLst>
            <a:outerShdw dist="53882" dir="2699999" algn="ctr" rotWithShape="0">
              <a:schemeClr val="bg2">
                <a:alpha val="50000"/>
              </a:schemeClr>
            </a:outerShdw>
          </a:effectLst>
        </p:spPr>
        <p:txBody>
          <a:bodyPr anchor="t" anchorCtr="1">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r>
              <a:rPr lang="zh-CN" altLang="en-US" sz="2400" b="1" dirty="0">
                <a:solidFill>
                  <a:schemeClr val="tx1"/>
                </a:solidFill>
                <a:ea typeface="黑体" panose="02010609060101010101" pitchFamily="2" charset="-122"/>
              </a:rPr>
              <a:t>输出结果是什么？</a:t>
            </a:r>
            <a:endParaRPr lang="zh-CN" altLang="en-US" sz="2400" b="1" dirty="0">
              <a:solidFill>
                <a:schemeClr val="tx1"/>
              </a:solidFill>
              <a:ea typeface="黑体" panose="02010609060101010101" pitchFamily="2" charset="-122"/>
            </a:endParaRPr>
          </a:p>
        </p:txBody>
      </p:sp>
      <p:sp>
        <p:nvSpPr>
          <p:cNvPr id="46085" name="AutoShape 20"/>
          <p:cNvSpPr/>
          <p:nvPr/>
        </p:nvSpPr>
        <p:spPr>
          <a:xfrm>
            <a:off x="8758238" y="2420938"/>
            <a:ext cx="431800" cy="1150937"/>
          </a:xfrm>
          <a:prstGeom prst="downArrow">
            <a:avLst>
              <a:gd name="adj1" fmla="val 50000"/>
              <a:gd name="adj2" fmla="val 50088"/>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endParaRPr lang="zh-CN" altLang="en-US" sz="2800" dirty="0">
              <a:solidFill>
                <a:schemeClr val="tx1"/>
              </a:solidFill>
            </a:endParaRPr>
          </a:p>
        </p:txBody>
      </p:sp>
      <p:sp>
        <p:nvSpPr>
          <p:cNvPr id="46086" name="AutoShape 23"/>
          <p:cNvSpPr/>
          <p:nvPr/>
        </p:nvSpPr>
        <p:spPr>
          <a:xfrm>
            <a:off x="2430463" y="5521325"/>
            <a:ext cx="7265987" cy="865188"/>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80008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r>
              <a:rPr lang="zh-CN" altLang="en-US" sz="2400" b="1" dirty="0">
                <a:solidFill>
                  <a:schemeClr val="tx1"/>
                </a:solidFill>
                <a:ea typeface="黑体" panose="02010609060101010101" pitchFamily="2" charset="-122"/>
              </a:rPr>
              <a:t>如果需要每个</a:t>
            </a:r>
            <a:r>
              <a:rPr lang="en-GB" altLang="en-US" sz="2400" b="1" dirty="0">
                <a:solidFill>
                  <a:schemeClr val="tx1"/>
                </a:solidFill>
                <a:ea typeface="黑体" panose="02010609060101010101" pitchFamily="2" charset="-122"/>
              </a:rPr>
              <a:t>case</a:t>
            </a:r>
            <a:r>
              <a:rPr lang="zh-CN" altLang="en-US" sz="2400" b="1" dirty="0">
                <a:solidFill>
                  <a:schemeClr val="tx1"/>
                </a:solidFill>
                <a:ea typeface="黑体" panose="02010609060101010101" pitchFamily="2" charset="-122"/>
              </a:rPr>
              <a:t>执行完后跳出，</a:t>
            </a:r>
            <a:endParaRPr lang="zh-CN" altLang="en-US" sz="2400" b="1" dirty="0">
              <a:solidFill>
                <a:schemeClr val="tx1"/>
              </a:solidFill>
              <a:ea typeface="黑体" panose="02010609060101010101" pitchFamily="2" charset="-122"/>
            </a:endParaRPr>
          </a:p>
          <a:p>
            <a:pPr marL="0" lvl="0" indent="0" eaLnBrk="1" hangingPunct="1">
              <a:spcBef>
                <a:spcPct val="0"/>
              </a:spcBef>
              <a:buSzTx/>
              <a:buFontTx/>
              <a:buNone/>
            </a:pPr>
            <a:r>
              <a:rPr lang="zh-CN" altLang="en-US" sz="2400" b="1" dirty="0">
                <a:solidFill>
                  <a:schemeClr val="tx1"/>
                </a:solidFill>
                <a:ea typeface="黑体" panose="02010609060101010101" pitchFamily="2" charset="-122"/>
              </a:rPr>
              <a:t>在每个</a:t>
            </a:r>
            <a:r>
              <a:rPr lang="en-GB" altLang="en-US" sz="2400" b="1" dirty="0">
                <a:solidFill>
                  <a:schemeClr val="tx1"/>
                </a:solidFill>
                <a:ea typeface="黑体" panose="02010609060101010101" pitchFamily="2" charset="-122"/>
              </a:rPr>
              <a:t>case</a:t>
            </a:r>
            <a:r>
              <a:rPr lang="zh-CN" altLang="en-US" sz="2400" b="1" dirty="0">
                <a:solidFill>
                  <a:schemeClr val="tx1"/>
                </a:solidFill>
                <a:ea typeface="黑体" panose="02010609060101010101" pitchFamily="2" charset="-122"/>
              </a:rPr>
              <a:t>后不要忘记写</a:t>
            </a:r>
            <a:r>
              <a:rPr lang="en-GB" altLang="en-US" sz="2400" b="1" dirty="0">
                <a:solidFill>
                  <a:srgbClr val="FF0000"/>
                </a:solidFill>
                <a:ea typeface="黑体" panose="02010609060101010101" pitchFamily="2" charset="-122"/>
              </a:rPr>
              <a:t>break</a:t>
            </a:r>
            <a:r>
              <a:rPr lang="en-GB" altLang="en-US" sz="2400" b="1" dirty="0">
                <a:solidFill>
                  <a:schemeClr val="tx1"/>
                </a:solidFill>
                <a:ea typeface="黑体" panose="02010609060101010101" pitchFamily="2" charset="-122"/>
              </a:rPr>
              <a:t>;</a:t>
            </a:r>
            <a:endParaRPr lang="en-US" altLang="zh-CN" sz="2400" b="1" dirty="0">
              <a:solidFill>
                <a:schemeClr val="tx1"/>
              </a:solidFill>
              <a:ea typeface="黑体" panose="02010609060101010101" pitchFamily="2" charset="-122"/>
            </a:endParaRPr>
          </a:p>
        </p:txBody>
      </p:sp>
      <p:pic>
        <p:nvPicPr>
          <p:cNvPr id="46087" name="Picture 31" descr="代码改错"/>
          <p:cNvPicPr>
            <a:picLocks noChangeAspect="1"/>
          </p:cNvPicPr>
          <p:nvPr/>
        </p:nvPicPr>
        <p:blipFill>
          <a:blip r:embed="rId1"/>
          <a:stretch>
            <a:fillRect/>
          </a:stretch>
        </p:blipFill>
        <p:spPr>
          <a:xfrm>
            <a:off x="2062163" y="763588"/>
            <a:ext cx="792162" cy="792162"/>
          </a:xfrm>
          <a:prstGeom prst="rect">
            <a:avLst/>
          </a:prstGeom>
          <a:noFill/>
          <a:ln w="9525">
            <a:noFill/>
          </a:ln>
        </p:spPr>
      </p:pic>
      <p:pic>
        <p:nvPicPr>
          <p:cNvPr id="46088" name="Picture 33" descr="图3"/>
          <p:cNvPicPr>
            <a:picLocks noChangeAspect="1"/>
          </p:cNvPicPr>
          <p:nvPr/>
        </p:nvPicPr>
        <p:blipFill>
          <a:blip r:embed="rId2"/>
          <a:stretch>
            <a:fillRect/>
          </a:stretch>
        </p:blipFill>
        <p:spPr>
          <a:xfrm>
            <a:off x="6940550" y="3644900"/>
            <a:ext cx="4067175" cy="1876425"/>
          </a:xfrm>
          <a:prstGeom prst="rect">
            <a:avLst/>
          </a:prstGeom>
          <a:noFill/>
          <a:ln w="9525">
            <a:noFill/>
          </a:ln>
        </p:spPr>
      </p:pic>
      <p:sp>
        <p:nvSpPr>
          <p:cNvPr id="38921" name="灯片编号占位符 4"/>
          <p:cNvSpPr txBox="1">
            <a:spLocks noGrp="1"/>
          </p:cNvSpPr>
          <p:nvPr>
            <p:ph type="sldNum" sz="quarter" idx="4"/>
          </p:nvPr>
        </p:nvSpPr>
        <p:spPr/>
        <p:txBody>
          <a:bodyPr/>
          <a:p>
            <a:pPr marL="0" indent="0" algn="r" eaLnBrk="1" hangingPunct="1">
              <a:spcBef>
                <a:spcPct val="0"/>
              </a:spcBef>
              <a:buSzTx/>
              <a:buFontTx/>
              <a:buNone/>
            </a:pPr>
            <a:fld id="{9A0DB2DC-4C9A-4742-B13C-FB6460FD3503}" type="slidenum">
              <a:rPr lang="en-US" altLang="zh-CN" dirty="0">
                <a:solidFill>
                  <a:srgbClr val="1C1C1C"/>
                </a:solidFill>
                <a:latin typeface="+mn-lt"/>
                <a:ea typeface="+mn-ea"/>
                <a:cs typeface="+mn-cs"/>
              </a:rPr>
            </a:fld>
            <a:endParaRPr lang="en-US" altLang="zh-CN" dirty="0">
              <a:solidFill>
                <a:srgbClr val="1C1C1C"/>
              </a:solidFill>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46087"/>
                                        </p:tgtEl>
                                        <p:attrNameLst>
                                          <p:attrName>style.visibility</p:attrName>
                                        </p:attrNameLst>
                                      </p:cBhvr>
                                      <p:to>
                                        <p:strVal val="visible"/>
                                      </p:to>
                                    </p:set>
                                    <p:anim calcmode="lin" valueType="num">
                                      <p:cBhvr additive="base">
                                        <p:cTn id="7" dur="500" fill="hold"/>
                                        <p:tgtEl>
                                          <p:spTgt spid="46087"/>
                                        </p:tgtEl>
                                        <p:attrNameLst>
                                          <p:attrName>ppt_x</p:attrName>
                                        </p:attrNameLst>
                                      </p:cBhvr>
                                      <p:tavLst>
                                        <p:tav tm="0">
                                          <p:val>
                                            <p:strVal val="1+#ppt_w/2"/>
                                          </p:val>
                                        </p:tav>
                                        <p:tav tm="100000">
                                          <p:val>
                                            <p:strVal val="#ppt_x"/>
                                          </p:val>
                                        </p:tav>
                                      </p:tavLst>
                                    </p:anim>
                                    <p:anim calcmode="lin" valueType="num">
                                      <p:cBhvr additive="base">
                                        <p:cTn id="8" dur="500" fill="hold"/>
                                        <p:tgtEl>
                                          <p:spTgt spid="4608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46083"/>
                                        </p:tgtEl>
                                        <p:attrNameLst>
                                          <p:attrName>style.visibility</p:attrName>
                                        </p:attrNameLst>
                                      </p:cBhvr>
                                      <p:to>
                                        <p:strVal val="visible"/>
                                      </p:to>
                                    </p:set>
                                    <p:animEffect transition="in" filter="blinds(horizontal)">
                                      <p:cBhvr>
                                        <p:cTn id="12" dur="500"/>
                                        <p:tgtEl>
                                          <p:spTgt spid="46083"/>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46084"/>
                                        </p:tgtEl>
                                        <p:attrNameLst>
                                          <p:attrName>style.visibility</p:attrName>
                                        </p:attrNameLst>
                                      </p:cBhvr>
                                      <p:to>
                                        <p:strVal val="visible"/>
                                      </p:to>
                                    </p:set>
                                    <p:animEffect transition="in" filter="wipe(left)">
                                      <p:cBhvr>
                                        <p:cTn id="16" dur="500"/>
                                        <p:tgtEl>
                                          <p:spTgt spid="4608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46085"/>
                                        </p:tgtEl>
                                        <p:attrNameLst>
                                          <p:attrName>style.visibility</p:attrName>
                                        </p:attrNameLst>
                                      </p:cBhvr>
                                      <p:to>
                                        <p:strVal val="visible"/>
                                      </p:to>
                                    </p:set>
                                    <p:animEffect transition="in" filter="wipe(up)">
                                      <p:cBhvr>
                                        <p:cTn id="21" dur="500"/>
                                        <p:tgtEl>
                                          <p:spTgt spid="46085"/>
                                        </p:tgtEl>
                                      </p:cBhvr>
                                    </p:animEffect>
                                  </p:childTnLst>
                                </p:cTn>
                              </p:par>
                              <p:par>
                                <p:cTn id="22" presetID="5" presetClass="entr" presetSubtype="10" fill="hold" nodeType="withEffect">
                                  <p:stCondLst>
                                    <p:cond delay="0"/>
                                  </p:stCondLst>
                                  <p:childTnLst>
                                    <p:set>
                                      <p:cBhvr>
                                        <p:cTn id="23" dur="1" fill="hold">
                                          <p:stCondLst>
                                            <p:cond delay="0"/>
                                          </p:stCondLst>
                                        </p:cTn>
                                        <p:tgtEl>
                                          <p:spTgt spid="46088"/>
                                        </p:tgtEl>
                                        <p:attrNameLst>
                                          <p:attrName>style.visibility</p:attrName>
                                        </p:attrNameLst>
                                      </p:cBhvr>
                                      <p:to>
                                        <p:strVal val="visible"/>
                                      </p:to>
                                    </p:set>
                                    <p:animEffect transition="in" filter="checkerboard(across)">
                                      <p:cBhvr>
                                        <p:cTn id="24" dur="500"/>
                                        <p:tgtEl>
                                          <p:spTgt spid="4608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6086"/>
                                        </p:tgtEl>
                                        <p:attrNameLst>
                                          <p:attrName>style.visibility</p:attrName>
                                        </p:attrNameLst>
                                      </p:cBhvr>
                                      <p:to>
                                        <p:strVal val="visible"/>
                                      </p:to>
                                    </p:set>
                                    <p:animEffect transition="in" filter="wipe(left)">
                                      <p:cBhvr>
                                        <p:cTn id="29" dur="500"/>
                                        <p:tgtEl>
                                          <p:spTgt spid="46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ldLvl="0" animBg="1"/>
      <p:bldP spid="46084" grpId="0" bldLvl="0" animBg="1"/>
      <p:bldP spid="46085" grpId="0" bldLvl="0" animBg="1"/>
      <p:bldP spid="46086"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idx="4294967295"/>
          </p:nvPr>
        </p:nvSpPr>
        <p:spPr>
          <a:xfrm>
            <a:off x="2063750" y="188913"/>
            <a:ext cx="8369300" cy="573087"/>
          </a:xfrm>
        </p:spPr>
        <p:txBody>
          <a:bodyPr vert="horz" wrap="square" lIns="91440" tIns="45720" rIns="91440" bIns="45720" anchor="ctr"/>
          <a:p>
            <a:pPr algn="l" eaLnBrk="1" hangingPunct="1"/>
            <a:r>
              <a:rPr lang="zh-CN" altLang="en-US" sz="2400" dirty="0">
                <a:solidFill>
                  <a:schemeClr val="tx1"/>
                </a:solidFill>
              </a:rPr>
              <a:t>常见错误</a:t>
            </a:r>
            <a:endParaRPr lang="en-US" altLang="zh-CN" sz="2400" dirty="0">
              <a:solidFill>
                <a:schemeClr val="tx1"/>
              </a:solidFill>
            </a:endParaRPr>
          </a:p>
        </p:txBody>
      </p:sp>
      <p:sp>
        <p:nvSpPr>
          <p:cNvPr id="48131" name="AutoShape 4"/>
          <p:cNvSpPr/>
          <p:nvPr/>
        </p:nvSpPr>
        <p:spPr>
          <a:xfrm>
            <a:off x="1992313" y="1052513"/>
            <a:ext cx="8097837" cy="5347711"/>
          </a:xfrm>
          <a:prstGeom prst="roundRect">
            <a:avLst>
              <a:gd name="adj" fmla="val 10681"/>
            </a:avLst>
          </a:prstGeom>
          <a:gradFill rotWithShape="1">
            <a:gsLst>
              <a:gs pos="0">
                <a:srgbClr val="CCFFFF"/>
              </a:gs>
              <a:gs pos="100000">
                <a:schemeClr val="bg1"/>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457200" lvl="1" indent="0" eaLnBrk="1" hangingPunct="1">
              <a:spcBef>
                <a:spcPct val="50000"/>
              </a:spcBef>
              <a:buClrTx/>
              <a:buSzTx/>
              <a:buFontTx/>
              <a:buNone/>
            </a:pPr>
            <a:r>
              <a:rPr lang="en-US" altLang="zh-CN" sz="2000" b="1" dirty="0">
                <a:solidFill>
                  <a:schemeClr val="tx1"/>
                </a:solidFill>
                <a:ea typeface="黑体" panose="02010609060101010101" pitchFamily="2" charset="-122"/>
              </a:rPr>
              <a:t>int mingCi = 1;</a:t>
            </a:r>
            <a:endParaRPr lang="en-US" altLang="zh-CN" sz="2000" b="1" dirty="0">
              <a:solidFill>
                <a:schemeClr val="tx1"/>
              </a:solidFill>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黑体" panose="02010609060101010101" pitchFamily="2" charset="-122"/>
              </a:rPr>
              <a:t>switch (mingCi){</a:t>
            </a:r>
            <a:endParaRPr lang="en-US" altLang="zh-CN" sz="2000" b="1" dirty="0">
              <a:solidFill>
                <a:schemeClr val="tx1"/>
              </a:solidFill>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黑体" panose="02010609060101010101" pitchFamily="2" charset="-122"/>
              </a:rPr>
              <a:t>            case 1:</a:t>
            </a:r>
            <a:endParaRPr lang="en-US" altLang="zh-CN" sz="2000" b="1" dirty="0">
              <a:solidFill>
                <a:schemeClr val="tx1"/>
              </a:solidFill>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黑体" panose="02010609060101010101" pitchFamily="2" charset="-122"/>
              </a:rPr>
              <a:t>                System.out.println("</a:t>
            </a:r>
            <a:r>
              <a:rPr lang="zh-CN" altLang="en-US" sz="2000" b="1" dirty="0">
                <a:solidFill>
                  <a:schemeClr val="tx1"/>
                </a:solidFill>
                <a:ea typeface="黑体" panose="02010609060101010101" pitchFamily="2" charset="-122"/>
              </a:rPr>
              <a:t>出任武林盟主</a:t>
            </a:r>
            <a:r>
              <a:rPr lang="en-US" altLang="zh-CN" sz="2000" b="1" dirty="0">
                <a:solidFill>
                  <a:schemeClr val="tx1"/>
                </a:solidFill>
                <a:ea typeface="黑体" panose="02010609060101010101" pitchFamily="2" charset="-122"/>
              </a:rPr>
              <a:t>");break;</a:t>
            </a:r>
            <a:endParaRPr lang="en-US" altLang="zh-CN" sz="2000" b="1" dirty="0">
              <a:solidFill>
                <a:schemeClr val="tx1"/>
              </a:solidFill>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黑体" panose="02010609060101010101" pitchFamily="2" charset="-122"/>
              </a:rPr>
              <a:t>            case 2:</a:t>
            </a:r>
            <a:endParaRPr lang="en-US" altLang="zh-CN" sz="2000" b="1" dirty="0">
              <a:solidFill>
                <a:schemeClr val="tx1"/>
              </a:solidFill>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黑体" panose="02010609060101010101" pitchFamily="2" charset="-122"/>
              </a:rPr>
              <a:t>                System.out.println("</a:t>
            </a:r>
            <a:r>
              <a:rPr lang="zh-CN" altLang="en-US" sz="2000" b="1" dirty="0">
                <a:solidFill>
                  <a:schemeClr val="tx1"/>
                </a:solidFill>
                <a:ea typeface="黑体" panose="02010609060101010101" pitchFamily="2" charset="-122"/>
              </a:rPr>
              <a:t>出任武当掌门</a:t>
            </a:r>
            <a:r>
              <a:rPr lang="en-US" altLang="zh-CN" sz="2000" b="1" dirty="0">
                <a:solidFill>
                  <a:schemeClr val="tx1"/>
                </a:solidFill>
                <a:ea typeface="黑体" panose="02010609060101010101" pitchFamily="2" charset="-122"/>
              </a:rPr>
              <a:t>");break;</a:t>
            </a:r>
            <a:endParaRPr lang="en-US" altLang="zh-CN" sz="2000" b="1" dirty="0">
              <a:solidFill>
                <a:schemeClr val="tx1"/>
              </a:solidFill>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黑体" panose="02010609060101010101" pitchFamily="2" charset="-122"/>
              </a:rPr>
              <a:t>            case 2:</a:t>
            </a:r>
            <a:endParaRPr lang="en-US" altLang="zh-CN" sz="2000" b="1" dirty="0">
              <a:solidFill>
                <a:schemeClr val="tx1"/>
              </a:solidFill>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黑体" panose="02010609060101010101" pitchFamily="2" charset="-122"/>
              </a:rPr>
              <a:t>                System.out.println("</a:t>
            </a:r>
            <a:r>
              <a:rPr lang="zh-CN" altLang="en-US" sz="2000" b="1" dirty="0">
                <a:solidFill>
                  <a:schemeClr val="tx1"/>
                </a:solidFill>
                <a:ea typeface="黑体" panose="02010609060101010101" pitchFamily="2" charset="-122"/>
              </a:rPr>
              <a:t>出任峨嵋掌门</a:t>
            </a:r>
            <a:r>
              <a:rPr lang="en-US" altLang="zh-CN" sz="2000" b="1" dirty="0">
                <a:solidFill>
                  <a:schemeClr val="tx1"/>
                </a:solidFill>
                <a:ea typeface="黑体" panose="02010609060101010101" pitchFamily="2" charset="-122"/>
              </a:rPr>
              <a:t>");break;</a:t>
            </a:r>
            <a:endParaRPr lang="en-US" altLang="zh-CN" sz="2000" b="1" dirty="0">
              <a:solidFill>
                <a:schemeClr val="tx1"/>
              </a:solidFill>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黑体" panose="02010609060101010101" pitchFamily="2" charset="-122"/>
              </a:rPr>
              <a:t>            default:</a:t>
            </a:r>
            <a:endParaRPr lang="en-US" altLang="zh-CN" sz="2000" b="1" dirty="0">
              <a:solidFill>
                <a:schemeClr val="tx1"/>
              </a:solidFill>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黑体" panose="02010609060101010101" pitchFamily="2" charset="-122"/>
              </a:rPr>
              <a:t>                System.out.println("</a:t>
            </a:r>
            <a:r>
              <a:rPr lang="zh-CN" altLang="en-US" sz="2000" b="1" dirty="0">
                <a:solidFill>
                  <a:schemeClr val="tx1"/>
                </a:solidFill>
                <a:ea typeface="黑体" panose="02010609060101010101" pitchFamily="2" charset="-122"/>
              </a:rPr>
              <a:t>被逐出师门</a:t>
            </a:r>
            <a:r>
              <a:rPr lang="en-US" altLang="zh-CN" sz="2000" b="1" dirty="0">
                <a:solidFill>
                  <a:schemeClr val="tx1"/>
                </a:solidFill>
                <a:ea typeface="黑体" panose="02010609060101010101" pitchFamily="2" charset="-122"/>
              </a:rPr>
              <a:t>");break;</a:t>
            </a:r>
            <a:endParaRPr lang="en-US" altLang="zh-CN" sz="2000" b="1" dirty="0">
              <a:solidFill>
                <a:schemeClr val="tx1"/>
              </a:solidFill>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黑体" panose="02010609060101010101" pitchFamily="2" charset="-122"/>
              </a:rPr>
              <a:t>}</a:t>
            </a:r>
            <a:endParaRPr lang="en-US" altLang="zh-CN" sz="2000" b="1" dirty="0">
              <a:solidFill>
                <a:schemeClr val="tx1"/>
              </a:solidFill>
              <a:ea typeface="黑体" panose="02010609060101010101" pitchFamily="2" charset="-122"/>
            </a:endParaRPr>
          </a:p>
        </p:txBody>
      </p:sp>
      <p:sp>
        <p:nvSpPr>
          <p:cNvPr id="48132" name="Rectangle 5"/>
          <p:cNvSpPr/>
          <p:nvPr/>
        </p:nvSpPr>
        <p:spPr>
          <a:xfrm>
            <a:off x="3967163" y="3916521"/>
            <a:ext cx="309880" cy="521970"/>
          </a:xfrm>
          <a:prstGeom prst="rect">
            <a:avLst/>
          </a:prstGeom>
          <a:noFill/>
          <a:ln w="28575" cap="flat" cmpd="sng">
            <a:solidFill>
              <a:srgbClr val="FF0000"/>
            </a:solidFill>
            <a:prstDash val="solid"/>
            <a:miter/>
            <a:headEnd type="none" w="med" len="med"/>
            <a:tailEnd type="none" w="med" len="med"/>
          </a:ln>
        </p:spPr>
        <p:txBody>
          <a:bodyPr wrap="none" anchor="ctr">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endParaRPr lang="zh-CN" altLang="en-US" sz="2800" dirty="0">
              <a:solidFill>
                <a:schemeClr val="tx1"/>
              </a:solidFill>
            </a:endParaRPr>
          </a:p>
        </p:txBody>
      </p:sp>
      <p:sp>
        <p:nvSpPr>
          <p:cNvPr id="48133" name="Rectangle 6"/>
          <p:cNvSpPr/>
          <p:nvPr/>
        </p:nvSpPr>
        <p:spPr>
          <a:xfrm>
            <a:off x="3951288" y="3023553"/>
            <a:ext cx="309880" cy="521970"/>
          </a:xfrm>
          <a:prstGeom prst="rect">
            <a:avLst/>
          </a:prstGeom>
          <a:noFill/>
          <a:ln w="28575" cap="flat" cmpd="sng">
            <a:solidFill>
              <a:srgbClr val="FF0000"/>
            </a:solidFill>
            <a:prstDash val="solid"/>
            <a:miter/>
            <a:headEnd type="none" w="med" len="med"/>
            <a:tailEnd type="none" w="med" len="med"/>
          </a:ln>
        </p:spPr>
        <p:txBody>
          <a:bodyPr wrap="none" anchor="ctr">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endParaRPr lang="zh-CN" altLang="en-US" sz="2800" dirty="0">
              <a:solidFill>
                <a:schemeClr val="tx1"/>
              </a:solidFill>
            </a:endParaRPr>
          </a:p>
        </p:txBody>
      </p:sp>
      <p:sp>
        <p:nvSpPr>
          <p:cNvPr id="48134" name="AutoShape 8"/>
          <p:cNvSpPr/>
          <p:nvPr/>
        </p:nvSpPr>
        <p:spPr>
          <a:xfrm>
            <a:off x="5375275" y="1693863"/>
            <a:ext cx="4714875" cy="510281"/>
          </a:xfrm>
          <a:prstGeom prst="roundRect">
            <a:avLst>
              <a:gd name="adj" fmla="val 16667"/>
            </a:avLst>
          </a:prstGeom>
          <a:gradFill rotWithShape="1">
            <a:gsLst>
              <a:gs pos="0">
                <a:srgbClr val="FFFF99"/>
              </a:gs>
              <a:gs pos="100000">
                <a:srgbClr val="FFFFFF"/>
              </a:gs>
            </a:gsLst>
            <a:lin ang="5400000" scaled="1"/>
            <a:tileRect/>
          </a:gradFill>
          <a:ln w="9525" cap="flat" cmpd="sng">
            <a:solidFill>
              <a:srgbClr val="FF9900"/>
            </a:solidFill>
            <a:prstDash val="solid"/>
            <a:headEnd type="none" w="med" len="med"/>
            <a:tailEnd type="none" w="med" len="med"/>
          </a:ln>
          <a:effectLst>
            <a:outerShdw dist="53882" dir="2699999" algn="ctr" rotWithShape="0">
              <a:schemeClr val="bg2">
                <a:alpha val="50000"/>
              </a:schemeClr>
            </a:outerShdw>
          </a:effectLst>
        </p:spPr>
        <p:txBody>
          <a:bodyPr anchor="t" anchorCtr="1">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r>
              <a:rPr lang="en-US" altLang="zh-CN" sz="2400" b="1" dirty="0">
                <a:solidFill>
                  <a:schemeClr val="tx1"/>
                </a:solidFill>
                <a:ea typeface="黑体" panose="02010609060101010101" pitchFamily="2" charset="-122"/>
              </a:rPr>
              <a:t>case</a:t>
            </a:r>
            <a:r>
              <a:rPr lang="zh-CN" altLang="en-US" sz="2400" b="1" dirty="0">
                <a:solidFill>
                  <a:schemeClr val="tx1"/>
                </a:solidFill>
                <a:ea typeface="黑体" panose="02010609060101010101" pitchFamily="2" charset="-122"/>
              </a:rPr>
              <a:t>后面的常量必须各不相同</a:t>
            </a:r>
            <a:endParaRPr lang="zh-CN" altLang="en-US" sz="2400" b="1" dirty="0">
              <a:solidFill>
                <a:schemeClr val="tx1"/>
              </a:solidFill>
              <a:ea typeface="黑体" panose="02010609060101010101" pitchFamily="2" charset="-122"/>
            </a:endParaRPr>
          </a:p>
        </p:txBody>
      </p:sp>
      <p:sp>
        <p:nvSpPr>
          <p:cNvPr id="48135" name="Line 9"/>
          <p:cNvSpPr/>
          <p:nvPr/>
        </p:nvSpPr>
        <p:spPr>
          <a:xfrm flipV="1">
            <a:off x="4367213" y="2276475"/>
            <a:ext cx="1368425" cy="1008063"/>
          </a:xfrm>
          <a:prstGeom prst="line">
            <a:avLst/>
          </a:prstGeom>
          <a:ln w="38100" cap="flat" cmpd="sng">
            <a:solidFill>
              <a:srgbClr val="800080"/>
            </a:solidFill>
            <a:prstDash val="solid"/>
            <a:headEnd type="none" w="med" len="med"/>
            <a:tailEnd type="triangle" w="med" len="med"/>
          </a:ln>
        </p:spPr>
      </p:sp>
      <p:sp>
        <p:nvSpPr>
          <p:cNvPr id="48136" name="Line 10"/>
          <p:cNvSpPr/>
          <p:nvPr/>
        </p:nvSpPr>
        <p:spPr>
          <a:xfrm flipV="1">
            <a:off x="4295775" y="2205038"/>
            <a:ext cx="1655763" cy="2016125"/>
          </a:xfrm>
          <a:prstGeom prst="line">
            <a:avLst/>
          </a:prstGeom>
          <a:ln w="38100" cap="flat" cmpd="sng">
            <a:solidFill>
              <a:srgbClr val="800080"/>
            </a:solidFill>
            <a:prstDash val="solid"/>
            <a:headEnd type="none" w="med" len="med"/>
            <a:tailEnd type="triangle" w="med" len="med"/>
          </a:ln>
        </p:spPr>
      </p:sp>
      <p:pic>
        <p:nvPicPr>
          <p:cNvPr id="48137" name="Picture 14" descr="代码改错"/>
          <p:cNvPicPr>
            <a:picLocks noChangeAspect="1"/>
          </p:cNvPicPr>
          <p:nvPr/>
        </p:nvPicPr>
        <p:blipFill>
          <a:blip r:embed="rId1"/>
          <a:stretch>
            <a:fillRect/>
          </a:stretch>
        </p:blipFill>
        <p:spPr>
          <a:xfrm>
            <a:off x="1919288" y="836613"/>
            <a:ext cx="792162" cy="792162"/>
          </a:xfrm>
          <a:prstGeom prst="rect">
            <a:avLst/>
          </a:prstGeom>
          <a:noFill/>
          <a:ln w="9525">
            <a:noFill/>
          </a:ln>
        </p:spPr>
      </p:pic>
      <p:sp>
        <p:nvSpPr>
          <p:cNvPr id="48138" name="AutoShape 15"/>
          <p:cNvSpPr/>
          <p:nvPr/>
        </p:nvSpPr>
        <p:spPr>
          <a:xfrm>
            <a:off x="1919288" y="3789363"/>
            <a:ext cx="1511300" cy="442018"/>
          </a:xfrm>
          <a:prstGeom prst="wedgeRoundRectCallout">
            <a:avLst>
              <a:gd name="adj1" fmla="val 77204"/>
              <a:gd name="adj2" fmla="val -65139"/>
              <a:gd name="adj3" fmla="val 16667"/>
            </a:avLst>
          </a:prstGeom>
          <a:gradFill rotWithShape="1">
            <a:gsLst>
              <a:gs pos="0">
                <a:srgbClr val="FF3300"/>
              </a:gs>
              <a:gs pos="100000">
                <a:srgbClr val="FFFFFF"/>
              </a:gs>
            </a:gsLst>
            <a:lin ang="5400000" scaled="1"/>
            <a:tileRect/>
          </a:gradFill>
          <a:ln w="9525" cap="flat" cmpd="sng">
            <a:solidFill>
              <a:srgbClr val="FF0000"/>
            </a:solidFill>
            <a:prstDash val="solid"/>
            <a:miter/>
            <a:headEnd type="none" w="med" len="med"/>
            <a:tailEnd type="none" w="med" len="med"/>
          </a:ln>
          <a:effectLst>
            <a:outerShdw dist="53882" dir="2699999" algn="ctr" rotWithShape="0">
              <a:schemeClr val="bg2">
                <a:alpha val="50000"/>
              </a:schemeClr>
            </a:outerShdw>
          </a:effectLst>
        </p:spPr>
        <p:txBody>
          <a:bodyPr anchor="t" anchorCtr="1">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r>
              <a:rPr lang="zh-CN" altLang="en-US" sz="2000" b="1" dirty="0">
                <a:solidFill>
                  <a:schemeClr val="tx1"/>
                </a:solidFill>
                <a:ea typeface="黑体" panose="02010609060101010101" pitchFamily="2" charset="-122"/>
              </a:rPr>
              <a:t>代码错误</a:t>
            </a:r>
            <a:endParaRPr lang="zh-CN" altLang="en-US" sz="2000" b="1" dirty="0">
              <a:solidFill>
                <a:schemeClr val="tx1"/>
              </a:solidFill>
              <a:ea typeface="黑体" panose="02010609060101010101" pitchFamily="2" charset="-122"/>
            </a:endParaRPr>
          </a:p>
        </p:txBody>
      </p:sp>
      <p:sp>
        <p:nvSpPr>
          <p:cNvPr id="40971" name="灯片编号占位符 4"/>
          <p:cNvSpPr txBox="1">
            <a:spLocks noGrp="1"/>
          </p:cNvSpPr>
          <p:nvPr>
            <p:ph type="sldNum" sz="quarter" idx="4"/>
          </p:nvPr>
        </p:nvSpPr>
        <p:spPr/>
        <p:txBody>
          <a:bodyPr/>
          <a:p>
            <a:pPr marL="0" indent="0" algn="r" eaLnBrk="1" hangingPunct="1">
              <a:spcBef>
                <a:spcPct val="0"/>
              </a:spcBef>
              <a:buSzTx/>
              <a:buFontTx/>
              <a:buNone/>
            </a:pPr>
            <a:fld id="{9A0DB2DC-4C9A-4742-B13C-FB6460FD3503}" type="slidenum">
              <a:rPr lang="en-US" altLang="zh-CN" dirty="0">
                <a:solidFill>
                  <a:srgbClr val="1C1C1C"/>
                </a:solidFill>
                <a:latin typeface="+mn-lt"/>
                <a:ea typeface="+mn-ea"/>
                <a:cs typeface="+mn-cs"/>
              </a:rPr>
            </a:fld>
            <a:endParaRPr lang="en-US" altLang="zh-CN" dirty="0">
              <a:solidFill>
                <a:srgbClr val="1C1C1C"/>
              </a:solidFill>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48137"/>
                                        </p:tgtEl>
                                        <p:attrNameLst>
                                          <p:attrName>style.visibility</p:attrName>
                                        </p:attrNameLst>
                                      </p:cBhvr>
                                      <p:to>
                                        <p:strVal val="visible"/>
                                      </p:to>
                                    </p:set>
                                    <p:anim calcmode="lin" valueType="num">
                                      <p:cBhvr additive="base">
                                        <p:cTn id="7" dur="500" fill="hold"/>
                                        <p:tgtEl>
                                          <p:spTgt spid="48137"/>
                                        </p:tgtEl>
                                        <p:attrNameLst>
                                          <p:attrName>ppt_x</p:attrName>
                                        </p:attrNameLst>
                                      </p:cBhvr>
                                      <p:tavLst>
                                        <p:tav tm="0">
                                          <p:val>
                                            <p:strVal val="1+#ppt_w/2"/>
                                          </p:val>
                                        </p:tav>
                                        <p:tav tm="100000">
                                          <p:val>
                                            <p:strVal val="#ppt_x"/>
                                          </p:val>
                                        </p:tav>
                                      </p:tavLst>
                                    </p:anim>
                                    <p:anim calcmode="lin" valueType="num">
                                      <p:cBhvr additive="base">
                                        <p:cTn id="8" dur="500" fill="hold"/>
                                        <p:tgtEl>
                                          <p:spTgt spid="4813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48131"/>
                                        </p:tgtEl>
                                        <p:attrNameLst>
                                          <p:attrName>style.visibility</p:attrName>
                                        </p:attrNameLst>
                                      </p:cBhvr>
                                      <p:to>
                                        <p:strVal val="visible"/>
                                      </p:to>
                                    </p:set>
                                    <p:animEffect transition="in" filter="blinds(horizontal)">
                                      <p:cBhvr>
                                        <p:cTn id="12" dur="500"/>
                                        <p:tgtEl>
                                          <p:spTgt spid="4813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8133"/>
                                        </p:tgtEl>
                                        <p:attrNameLst>
                                          <p:attrName>style.visibility</p:attrName>
                                        </p:attrNameLst>
                                      </p:cBhvr>
                                      <p:to>
                                        <p:strVal val="visible"/>
                                      </p:to>
                                    </p:set>
                                    <p:animEffect transition="in" filter="checkerboard(across)">
                                      <p:cBhvr>
                                        <p:cTn id="17" dur="500"/>
                                        <p:tgtEl>
                                          <p:spTgt spid="48133"/>
                                        </p:tgtEl>
                                      </p:cBhvr>
                                    </p:animEffect>
                                  </p:childTnLst>
                                </p:cTn>
                              </p:par>
                            </p:childTnLst>
                          </p:cTn>
                        </p:par>
                        <p:par>
                          <p:cTn id="18" fill="hold">
                            <p:stCondLst>
                              <p:cond delay="500"/>
                            </p:stCondLst>
                            <p:childTnLst>
                              <p:par>
                                <p:cTn id="19" presetID="5" presetClass="entr" presetSubtype="10" fill="hold" grpId="0" nodeType="afterEffect">
                                  <p:stCondLst>
                                    <p:cond delay="0"/>
                                  </p:stCondLst>
                                  <p:childTnLst>
                                    <p:set>
                                      <p:cBhvr>
                                        <p:cTn id="20" dur="1" fill="hold">
                                          <p:stCondLst>
                                            <p:cond delay="0"/>
                                          </p:stCondLst>
                                        </p:cTn>
                                        <p:tgtEl>
                                          <p:spTgt spid="48132"/>
                                        </p:tgtEl>
                                        <p:attrNameLst>
                                          <p:attrName>style.visibility</p:attrName>
                                        </p:attrNameLst>
                                      </p:cBhvr>
                                      <p:to>
                                        <p:strVal val="visible"/>
                                      </p:to>
                                    </p:set>
                                    <p:animEffect transition="in" filter="checkerboard(across)">
                                      <p:cBhvr>
                                        <p:cTn id="21" dur="500"/>
                                        <p:tgtEl>
                                          <p:spTgt spid="48132"/>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48138"/>
                                        </p:tgtEl>
                                        <p:attrNameLst>
                                          <p:attrName>style.visibility</p:attrName>
                                        </p:attrNameLst>
                                      </p:cBhvr>
                                      <p:to>
                                        <p:strVal val="visible"/>
                                      </p:to>
                                    </p:set>
                                    <p:animEffect transition="in" filter="wipe(left)">
                                      <p:cBhvr>
                                        <p:cTn id="25" dur="500"/>
                                        <p:tgtEl>
                                          <p:spTgt spid="48138"/>
                                        </p:tgtEl>
                                      </p:cBhvr>
                                    </p:animEffect>
                                  </p:childTnLst>
                                </p:cTn>
                              </p:par>
                            </p:childTnLst>
                          </p:cTn>
                        </p:par>
                        <p:par>
                          <p:cTn id="26" fill="hold">
                            <p:stCondLst>
                              <p:cond delay="1500"/>
                            </p:stCondLst>
                            <p:childTnLst>
                              <p:par>
                                <p:cTn id="27" presetID="22" presetClass="entr" presetSubtype="4" fill="hold" nodeType="afterEffect">
                                  <p:stCondLst>
                                    <p:cond delay="0"/>
                                  </p:stCondLst>
                                  <p:childTnLst>
                                    <p:set>
                                      <p:cBhvr>
                                        <p:cTn id="28" dur="1" fill="hold">
                                          <p:stCondLst>
                                            <p:cond delay="0"/>
                                          </p:stCondLst>
                                        </p:cTn>
                                        <p:tgtEl>
                                          <p:spTgt spid="48135"/>
                                        </p:tgtEl>
                                        <p:attrNameLst>
                                          <p:attrName>style.visibility</p:attrName>
                                        </p:attrNameLst>
                                      </p:cBhvr>
                                      <p:to>
                                        <p:strVal val="visible"/>
                                      </p:to>
                                    </p:set>
                                    <p:animEffect transition="in" filter="wipe(down)">
                                      <p:cBhvr>
                                        <p:cTn id="29" dur="500"/>
                                        <p:tgtEl>
                                          <p:spTgt spid="48135"/>
                                        </p:tgtEl>
                                      </p:cBhvr>
                                    </p:animEffect>
                                  </p:childTnLst>
                                </p:cTn>
                              </p:par>
                              <p:par>
                                <p:cTn id="30" presetID="22" presetClass="entr" presetSubtype="4" fill="hold" nodeType="withEffect">
                                  <p:stCondLst>
                                    <p:cond delay="0"/>
                                  </p:stCondLst>
                                  <p:childTnLst>
                                    <p:set>
                                      <p:cBhvr>
                                        <p:cTn id="31" dur="1" fill="hold">
                                          <p:stCondLst>
                                            <p:cond delay="0"/>
                                          </p:stCondLst>
                                        </p:cTn>
                                        <p:tgtEl>
                                          <p:spTgt spid="48136"/>
                                        </p:tgtEl>
                                        <p:attrNameLst>
                                          <p:attrName>style.visibility</p:attrName>
                                        </p:attrNameLst>
                                      </p:cBhvr>
                                      <p:to>
                                        <p:strVal val="visible"/>
                                      </p:to>
                                    </p:set>
                                    <p:animEffect transition="in" filter="wipe(down)">
                                      <p:cBhvr>
                                        <p:cTn id="32" dur="500"/>
                                        <p:tgtEl>
                                          <p:spTgt spid="48136"/>
                                        </p:tgtEl>
                                      </p:cBhvr>
                                    </p:animEffect>
                                  </p:childTnLst>
                                </p:cTn>
                              </p:par>
                            </p:childTnLst>
                          </p:cTn>
                        </p:par>
                        <p:par>
                          <p:cTn id="33" fill="hold">
                            <p:stCondLst>
                              <p:cond delay="2000"/>
                            </p:stCondLst>
                            <p:childTnLst>
                              <p:par>
                                <p:cTn id="34" presetID="22" presetClass="entr" presetSubtype="8" fill="hold" grpId="0" nodeType="afterEffect">
                                  <p:stCondLst>
                                    <p:cond delay="0"/>
                                  </p:stCondLst>
                                  <p:childTnLst>
                                    <p:set>
                                      <p:cBhvr>
                                        <p:cTn id="35" dur="1" fill="hold">
                                          <p:stCondLst>
                                            <p:cond delay="0"/>
                                          </p:stCondLst>
                                        </p:cTn>
                                        <p:tgtEl>
                                          <p:spTgt spid="48134"/>
                                        </p:tgtEl>
                                        <p:attrNameLst>
                                          <p:attrName>style.visibility</p:attrName>
                                        </p:attrNameLst>
                                      </p:cBhvr>
                                      <p:to>
                                        <p:strVal val="visible"/>
                                      </p:to>
                                    </p:set>
                                    <p:animEffect transition="in" filter="wipe(left)">
                                      <p:cBhvr>
                                        <p:cTn id="36" dur="500"/>
                                        <p:tgtEl>
                                          <p:spTgt spid="48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ldLvl="0" animBg="1"/>
      <p:bldP spid="48132" grpId="0" bldLvl="0" animBg="1"/>
      <p:bldP spid="48133" grpId="0" bldLvl="0" animBg="1"/>
      <p:bldP spid="48134" grpId="0" bldLvl="0" animBg="1"/>
      <p:bldP spid="48138"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idx="4294967295"/>
          </p:nvPr>
        </p:nvSpPr>
        <p:spPr/>
        <p:txBody>
          <a:bodyPr vert="horz" wrap="square" lIns="91440" tIns="45720" rIns="91440" bIns="45720" anchor="ctr"/>
          <a:p>
            <a:pPr algn="l" eaLnBrk="1" hangingPunct="1"/>
            <a:r>
              <a:rPr lang="zh-CN" altLang="en-US" sz="2400" dirty="0">
                <a:solidFill>
                  <a:schemeClr val="tx1"/>
                </a:solidFill>
              </a:rPr>
              <a:t>常见错误</a:t>
            </a:r>
            <a:endParaRPr lang="en-US" altLang="zh-CN" sz="2400" dirty="0">
              <a:solidFill>
                <a:schemeClr val="tx1"/>
              </a:solidFill>
            </a:endParaRPr>
          </a:p>
        </p:txBody>
      </p:sp>
      <p:sp>
        <p:nvSpPr>
          <p:cNvPr id="49155" name="AutoShape 4"/>
          <p:cNvSpPr/>
          <p:nvPr/>
        </p:nvSpPr>
        <p:spPr>
          <a:xfrm>
            <a:off x="2135188" y="1100138"/>
            <a:ext cx="8139112" cy="5332375"/>
          </a:xfrm>
          <a:prstGeom prst="roundRect">
            <a:avLst>
              <a:gd name="adj" fmla="val 10218"/>
            </a:avLst>
          </a:prstGeom>
          <a:gradFill rotWithShape="1">
            <a:gsLst>
              <a:gs pos="0">
                <a:srgbClr val="CCFFFF"/>
              </a:gs>
              <a:gs pos="100000">
                <a:schemeClr val="bg1"/>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457200" lvl="1" indent="0" eaLnBrk="1" hangingPunct="1">
              <a:spcBef>
                <a:spcPct val="50000"/>
              </a:spcBef>
              <a:buClrTx/>
              <a:buSzTx/>
              <a:buFontTx/>
              <a:buNone/>
            </a:pPr>
            <a:r>
              <a:rPr lang="en-US" altLang="zh-CN" sz="2000" b="1" dirty="0">
                <a:solidFill>
                  <a:schemeClr val="tx1"/>
                </a:solidFill>
                <a:ea typeface="楷体_GB2312" pitchFamily="1" charset="-122"/>
              </a:rPr>
              <a:t>String day = "</a:t>
            </a:r>
            <a:r>
              <a:rPr lang="zh-CN" altLang="en-US" sz="2000" b="1" dirty="0">
                <a:solidFill>
                  <a:schemeClr val="tx1"/>
                </a:solidFill>
                <a:latin typeface="黑体" panose="02010609060101010101" pitchFamily="2" charset="-122"/>
                <a:ea typeface="黑体" panose="02010609060101010101" pitchFamily="2" charset="-122"/>
              </a:rPr>
              <a:t>星期一</a:t>
            </a:r>
            <a:r>
              <a:rPr lang="en-US" altLang="zh-CN" sz="2000" b="1" dirty="0">
                <a:solidFill>
                  <a:schemeClr val="tx1"/>
                </a:solidFill>
                <a:latin typeface="黑体" panose="02010609060101010101" pitchFamily="2" charset="-122"/>
                <a:ea typeface="黑体" panose="02010609060101010101" pitchFamily="2" charset="-122"/>
              </a:rPr>
              <a:t>";</a:t>
            </a:r>
            <a:endParaRPr lang="en-US" altLang="zh-CN" sz="2000" b="1" dirty="0">
              <a:solidFill>
                <a:schemeClr val="tx1"/>
              </a:solidFill>
              <a:latin typeface="黑体" panose="02010609060101010101" pitchFamily="2" charset="-122"/>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楷体_GB2312" pitchFamily="1" charset="-122"/>
              </a:rPr>
              <a:t>switch (day){</a:t>
            </a:r>
            <a:endParaRPr lang="en-US" altLang="zh-CN" sz="2000" b="1" dirty="0">
              <a:solidFill>
                <a:schemeClr val="tx1"/>
              </a:solidFill>
              <a:ea typeface="楷体_GB2312" pitchFamily="1" charset="-122"/>
            </a:endParaRPr>
          </a:p>
          <a:p>
            <a:pPr marL="457200" lvl="1" indent="0" eaLnBrk="1" hangingPunct="1">
              <a:spcBef>
                <a:spcPct val="50000"/>
              </a:spcBef>
              <a:buClrTx/>
              <a:buSzTx/>
              <a:buFontTx/>
              <a:buNone/>
            </a:pPr>
            <a:r>
              <a:rPr lang="en-US" altLang="zh-CN" sz="2000" b="1" dirty="0">
                <a:solidFill>
                  <a:schemeClr val="tx1"/>
                </a:solidFill>
                <a:ea typeface="楷体_GB2312" pitchFamily="1" charset="-122"/>
              </a:rPr>
              <a:t>            case "</a:t>
            </a:r>
            <a:r>
              <a:rPr lang="zh-CN" altLang="en-US" sz="2000" b="1" dirty="0">
                <a:solidFill>
                  <a:schemeClr val="tx1"/>
                </a:solidFill>
                <a:latin typeface="黑体" panose="02010609060101010101" pitchFamily="2" charset="-122"/>
                <a:ea typeface="黑体" panose="02010609060101010101" pitchFamily="2" charset="-122"/>
              </a:rPr>
              <a:t>星期一</a:t>
            </a:r>
            <a:r>
              <a:rPr lang="en-US" altLang="zh-CN" sz="2000" b="1" dirty="0">
                <a:solidFill>
                  <a:schemeClr val="tx1"/>
                </a:solidFill>
                <a:latin typeface="黑体" panose="02010609060101010101" pitchFamily="2" charset="-122"/>
                <a:ea typeface="黑体" panose="02010609060101010101" pitchFamily="2" charset="-122"/>
              </a:rPr>
              <a:t>":</a:t>
            </a:r>
            <a:endParaRPr lang="en-US" altLang="zh-CN" sz="2000" b="1" dirty="0">
              <a:solidFill>
                <a:schemeClr val="tx1"/>
              </a:solidFill>
              <a:latin typeface="黑体" panose="02010609060101010101" pitchFamily="2" charset="-122"/>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楷体_GB2312" pitchFamily="1" charset="-122"/>
              </a:rPr>
              <a:t>                System.out.println("</a:t>
            </a:r>
            <a:r>
              <a:rPr lang="zh-CN" altLang="en-US" sz="2000" b="1" dirty="0">
                <a:solidFill>
                  <a:schemeClr val="tx1"/>
                </a:solidFill>
                <a:latin typeface="黑体" panose="02010609060101010101" pitchFamily="2" charset="-122"/>
                <a:ea typeface="黑体" panose="02010609060101010101" pitchFamily="2" charset="-122"/>
              </a:rPr>
              <a:t>星期一：青菜  </a:t>
            </a:r>
            <a:r>
              <a:rPr lang="en-US" altLang="zh-CN" sz="2000" b="1" dirty="0">
                <a:solidFill>
                  <a:schemeClr val="tx1"/>
                </a:solidFill>
                <a:latin typeface="黑体" panose="02010609060101010101" pitchFamily="2" charset="-122"/>
                <a:ea typeface="黑体" panose="02010609060101010101" pitchFamily="2" charset="-122"/>
              </a:rPr>
              <a:t>");</a:t>
            </a:r>
            <a:endParaRPr lang="en-US" altLang="zh-CN" sz="2000" b="1" dirty="0">
              <a:solidFill>
                <a:schemeClr val="tx1"/>
              </a:solidFill>
              <a:latin typeface="黑体" panose="02010609060101010101" pitchFamily="2" charset="-122"/>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楷体_GB2312" pitchFamily="1" charset="-122"/>
              </a:rPr>
              <a:t>               break;</a:t>
            </a:r>
            <a:endParaRPr lang="en-US" altLang="zh-CN" sz="2000" b="1" dirty="0">
              <a:solidFill>
                <a:schemeClr val="tx1"/>
              </a:solidFill>
              <a:ea typeface="楷体_GB2312" pitchFamily="1" charset="-122"/>
            </a:endParaRPr>
          </a:p>
          <a:p>
            <a:pPr marL="457200" lvl="1" indent="0" eaLnBrk="1" hangingPunct="1">
              <a:spcBef>
                <a:spcPct val="50000"/>
              </a:spcBef>
              <a:buClrTx/>
              <a:buSzTx/>
              <a:buFontTx/>
              <a:buNone/>
            </a:pPr>
            <a:r>
              <a:rPr lang="en-US" altLang="zh-CN" sz="2000" b="1" dirty="0">
                <a:solidFill>
                  <a:schemeClr val="tx1"/>
                </a:solidFill>
                <a:ea typeface="楷体_GB2312" pitchFamily="1" charset="-122"/>
              </a:rPr>
              <a:t>            case </a:t>
            </a:r>
            <a:r>
              <a:rPr lang="en-US" altLang="zh-CN" sz="2000" b="1" dirty="0">
                <a:solidFill>
                  <a:schemeClr val="tx1"/>
                </a:solidFill>
                <a:latin typeface="黑体" panose="02010609060101010101" pitchFamily="2" charset="-122"/>
                <a:ea typeface="黑体" panose="02010609060101010101" pitchFamily="2" charset="-122"/>
              </a:rPr>
              <a:t>"</a:t>
            </a:r>
            <a:r>
              <a:rPr lang="zh-CN" altLang="en-US" sz="2000" b="1" dirty="0">
                <a:solidFill>
                  <a:schemeClr val="tx1"/>
                </a:solidFill>
                <a:latin typeface="黑体" panose="02010609060101010101" pitchFamily="2" charset="-122"/>
                <a:ea typeface="黑体" panose="02010609060101010101" pitchFamily="2" charset="-122"/>
              </a:rPr>
              <a:t>星期二</a:t>
            </a:r>
            <a:r>
              <a:rPr lang="en-US" altLang="zh-CN" sz="2000" b="1" dirty="0">
                <a:solidFill>
                  <a:schemeClr val="tx1"/>
                </a:solidFill>
                <a:latin typeface="黑体" panose="02010609060101010101" pitchFamily="2" charset="-122"/>
                <a:ea typeface="黑体" panose="02010609060101010101" pitchFamily="2" charset="-122"/>
              </a:rPr>
              <a:t>":</a:t>
            </a:r>
            <a:endParaRPr lang="en-US" altLang="zh-CN" sz="2000" b="1" dirty="0">
              <a:solidFill>
                <a:schemeClr val="tx1"/>
              </a:solidFill>
              <a:latin typeface="黑体" panose="02010609060101010101" pitchFamily="2" charset="-122"/>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楷体_GB2312" pitchFamily="1" charset="-122"/>
              </a:rPr>
              <a:t>                System.out.println</a:t>
            </a:r>
            <a:r>
              <a:rPr lang="en-US" altLang="zh-CN" sz="2000" b="1" dirty="0">
                <a:solidFill>
                  <a:schemeClr val="tx1"/>
                </a:solidFill>
                <a:latin typeface="黑体" panose="02010609060101010101" pitchFamily="2" charset="-122"/>
                <a:ea typeface="黑体" panose="02010609060101010101" pitchFamily="2" charset="-122"/>
              </a:rPr>
              <a:t>("</a:t>
            </a:r>
            <a:r>
              <a:rPr lang="zh-CN" altLang="en-US" sz="2000" b="1" dirty="0">
                <a:solidFill>
                  <a:schemeClr val="tx1"/>
                </a:solidFill>
                <a:latin typeface="黑体" panose="02010609060101010101" pitchFamily="2" charset="-122"/>
                <a:ea typeface="黑体" panose="02010609060101010101" pitchFamily="2" charset="-122"/>
              </a:rPr>
              <a:t>星期二：鱼  </a:t>
            </a:r>
            <a:r>
              <a:rPr lang="en-US" altLang="zh-CN" sz="2000" b="1" dirty="0">
                <a:solidFill>
                  <a:schemeClr val="tx1"/>
                </a:solidFill>
                <a:latin typeface="黑体" panose="02010609060101010101" pitchFamily="2" charset="-122"/>
                <a:ea typeface="黑体" panose="02010609060101010101" pitchFamily="2" charset="-122"/>
              </a:rPr>
              <a:t>");</a:t>
            </a:r>
            <a:endParaRPr lang="en-US" altLang="zh-CN" sz="2000" b="1" dirty="0">
              <a:solidFill>
                <a:schemeClr val="tx1"/>
              </a:solidFill>
              <a:latin typeface="黑体" panose="02010609060101010101" pitchFamily="2" charset="-122"/>
              <a:ea typeface="黑体" panose="02010609060101010101" pitchFamily="2" charset="-122"/>
            </a:endParaRPr>
          </a:p>
          <a:p>
            <a:pPr marL="457200" lvl="1" indent="0" eaLnBrk="1" hangingPunct="1">
              <a:spcBef>
                <a:spcPct val="50000"/>
              </a:spcBef>
              <a:buClrTx/>
              <a:buSzTx/>
              <a:buFontTx/>
              <a:buNone/>
            </a:pPr>
            <a:r>
              <a:rPr lang="en-US" altLang="zh-CN" sz="2000" b="1" dirty="0">
                <a:solidFill>
                  <a:schemeClr val="tx1"/>
                </a:solidFill>
                <a:ea typeface="楷体_GB2312" pitchFamily="1" charset="-122"/>
              </a:rPr>
              <a:t>                break;</a:t>
            </a:r>
            <a:endParaRPr lang="en-US" altLang="zh-CN" sz="2000" b="1" dirty="0">
              <a:solidFill>
                <a:schemeClr val="tx1"/>
              </a:solidFill>
              <a:ea typeface="楷体_GB2312" pitchFamily="1" charset="-122"/>
            </a:endParaRPr>
          </a:p>
          <a:p>
            <a:pPr marL="457200" lvl="1" indent="0" eaLnBrk="1" hangingPunct="1">
              <a:spcBef>
                <a:spcPct val="50000"/>
              </a:spcBef>
              <a:buClrTx/>
              <a:buSzTx/>
              <a:buFontTx/>
              <a:buNone/>
            </a:pPr>
            <a:r>
              <a:rPr lang="en-US" altLang="zh-CN" sz="2000" b="1" dirty="0">
                <a:solidFill>
                  <a:schemeClr val="tx1"/>
                </a:solidFill>
                <a:ea typeface="楷体_GB2312" pitchFamily="1" charset="-122"/>
              </a:rPr>
              <a:t>            ……</a:t>
            </a:r>
            <a:endParaRPr lang="en-US" altLang="zh-CN" sz="2000" b="1" dirty="0">
              <a:solidFill>
                <a:schemeClr val="tx1"/>
              </a:solidFill>
              <a:ea typeface="楷体_GB2312" pitchFamily="1" charset="-122"/>
            </a:endParaRPr>
          </a:p>
          <a:p>
            <a:pPr marL="457200" lvl="1" indent="0" eaLnBrk="1" hangingPunct="1">
              <a:spcBef>
                <a:spcPct val="50000"/>
              </a:spcBef>
              <a:buClrTx/>
              <a:buSzTx/>
              <a:buFontTx/>
              <a:buNone/>
            </a:pPr>
            <a:r>
              <a:rPr lang="en-US" altLang="zh-CN" sz="2000" b="1" dirty="0">
                <a:solidFill>
                  <a:schemeClr val="tx1"/>
                </a:solidFill>
                <a:ea typeface="楷体_GB2312" pitchFamily="1" charset="-122"/>
              </a:rPr>
              <a:t>            default:</a:t>
            </a:r>
            <a:endParaRPr lang="en-US" altLang="zh-CN" sz="2000" b="1" dirty="0">
              <a:solidFill>
                <a:schemeClr val="tx1"/>
              </a:solidFill>
              <a:ea typeface="楷体_GB2312" pitchFamily="1" charset="-122"/>
            </a:endParaRPr>
          </a:p>
          <a:p>
            <a:pPr marL="457200" lvl="1" indent="0" eaLnBrk="1" hangingPunct="1">
              <a:spcBef>
                <a:spcPct val="50000"/>
              </a:spcBef>
              <a:buClrTx/>
              <a:buSzTx/>
              <a:buFontTx/>
              <a:buNone/>
            </a:pPr>
            <a:r>
              <a:rPr lang="en-US" altLang="zh-CN" sz="2000" b="1" dirty="0">
                <a:solidFill>
                  <a:schemeClr val="tx1"/>
                </a:solidFill>
                <a:ea typeface="楷体_GB2312" pitchFamily="1" charset="-122"/>
              </a:rPr>
              <a:t>}</a:t>
            </a:r>
            <a:endParaRPr lang="en-US" altLang="zh-CN" sz="2000" b="1" dirty="0">
              <a:solidFill>
                <a:schemeClr val="tx1"/>
              </a:solidFill>
              <a:ea typeface="楷体_GB2312" pitchFamily="1" charset="-122"/>
            </a:endParaRPr>
          </a:p>
        </p:txBody>
      </p:sp>
      <p:sp>
        <p:nvSpPr>
          <p:cNvPr id="49156" name="AutoShape 6"/>
          <p:cNvSpPr/>
          <p:nvPr/>
        </p:nvSpPr>
        <p:spPr>
          <a:xfrm>
            <a:off x="6107113" y="1104900"/>
            <a:ext cx="3816350" cy="780835"/>
          </a:xfrm>
          <a:prstGeom prst="wedgeRoundRectCallout">
            <a:avLst>
              <a:gd name="adj1" fmla="val -95597"/>
              <a:gd name="adj2" fmla="val 49333"/>
              <a:gd name="adj3" fmla="val 16667"/>
            </a:avLst>
          </a:prstGeom>
          <a:gradFill rotWithShape="1">
            <a:gsLst>
              <a:gs pos="0">
                <a:srgbClr val="FFFF99"/>
              </a:gs>
              <a:gs pos="100000">
                <a:srgbClr val="FFFFFF"/>
              </a:gs>
            </a:gsLst>
            <a:lin ang="5400000" scaled="1"/>
            <a:tileRect/>
          </a:gradFill>
          <a:ln w="9525" cap="flat" cmpd="sng">
            <a:solidFill>
              <a:srgbClr val="FF9900"/>
            </a:solidFill>
            <a:prstDash val="solid"/>
            <a:miter/>
            <a:headEnd type="none" w="med" len="med"/>
            <a:tailEnd type="none" w="med" len="med"/>
          </a:ln>
          <a:effectLst>
            <a:outerShdw dist="53882" dir="2699999" algn="ctr" rotWithShape="0">
              <a:schemeClr val="bg2">
                <a:alpha val="50000"/>
              </a:schemeClr>
            </a:outerShdw>
          </a:effectLst>
        </p:spPr>
        <p:txBody>
          <a:bodyPr anchor="t" anchorCtr="1">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r>
              <a:rPr lang="en-US" altLang="zh-CN" sz="2000" b="1" dirty="0">
                <a:solidFill>
                  <a:schemeClr val="tx1"/>
                </a:solidFill>
                <a:latin typeface="黑体" panose="02010609060101010101" pitchFamily="2" charset="-122"/>
                <a:ea typeface="黑体" panose="02010609060101010101" pitchFamily="2" charset="-122"/>
              </a:rPr>
              <a:t>switch</a:t>
            </a:r>
            <a:r>
              <a:rPr lang="zh-CN" altLang="en-US" sz="2000" b="1" dirty="0">
                <a:solidFill>
                  <a:schemeClr val="tx1"/>
                </a:solidFill>
                <a:latin typeface="黑体" panose="02010609060101010101" pitchFamily="2" charset="-122"/>
                <a:ea typeface="黑体" panose="02010609060101010101" pitchFamily="2" charset="-122"/>
              </a:rPr>
              <a:t>后面小括号中表达式的值必须是整型或字符型</a:t>
            </a:r>
            <a:endParaRPr lang="zh-CN" altLang="en-US" sz="2000" b="1" dirty="0">
              <a:solidFill>
                <a:schemeClr val="tx1"/>
              </a:solidFill>
              <a:latin typeface="黑体" panose="02010609060101010101" pitchFamily="2" charset="-122"/>
              <a:ea typeface="黑体" panose="02010609060101010101" pitchFamily="2" charset="-122"/>
            </a:endParaRPr>
          </a:p>
        </p:txBody>
      </p:sp>
      <p:sp>
        <p:nvSpPr>
          <p:cNvPr id="49157" name="Rectangle 7"/>
          <p:cNvSpPr/>
          <p:nvPr/>
        </p:nvSpPr>
        <p:spPr>
          <a:xfrm>
            <a:off x="3578225" y="1718469"/>
            <a:ext cx="606425" cy="352425"/>
          </a:xfrm>
          <a:prstGeom prst="rect">
            <a:avLst/>
          </a:prstGeom>
          <a:noFill/>
          <a:ln w="28575" cap="flat" cmpd="sng">
            <a:solidFill>
              <a:srgbClr val="FF0000"/>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endParaRPr lang="zh-CN" altLang="en-US" sz="1700" dirty="0">
              <a:solidFill>
                <a:schemeClr val="tx1"/>
              </a:solidFill>
              <a:ea typeface="楷体_GB2312" pitchFamily="1" charset="-122"/>
            </a:endParaRPr>
          </a:p>
        </p:txBody>
      </p:sp>
      <p:sp>
        <p:nvSpPr>
          <p:cNvPr id="49158" name="Rectangle 8"/>
          <p:cNvSpPr/>
          <p:nvPr/>
        </p:nvSpPr>
        <p:spPr>
          <a:xfrm>
            <a:off x="4119563" y="2205038"/>
            <a:ext cx="1119187" cy="352425"/>
          </a:xfrm>
          <a:prstGeom prst="rect">
            <a:avLst/>
          </a:prstGeom>
          <a:noFill/>
          <a:ln w="28575" cap="flat" cmpd="sng">
            <a:solidFill>
              <a:srgbClr val="FF0000"/>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endParaRPr lang="zh-CN" altLang="en-US" sz="1700" dirty="0">
              <a:solidFill>
                <a:schemeClr val="tx1"/>
              </a:solidFill>
              <a:ea typeface="楷体_GB2312" pitchFamily="1" charset="-122"/>
            </a:endParaRPr>
          </a:p>
        </p:txBody>
      </p:sp>
      <p:pic>
        <p:nvPicPr>
          <p:cNvPr id="49160" name="Picture 16" descr="代码改错"/>
          <p:cNvPicPr>
            <a:picLocks noChangeAspect="1"/>
          </p:cNvPicPr>
          <p:nvPr/>
        </p:nvPicPr>
        <p:blipFill>
          <a:blip r:embed="rId1"/>
          <a:stretch>
            <a:fillRect/>
          </a:stretch>
        </p:blipFill>
        <p:spPr>
          <a:xfrm>
            <a:off x="2135188" y="908050"/>
            <a:ext cx="792162" cy="792163"/>
          </a:xfrm>
          <a:prstGeom prst="rect">
            <a:avLst/>
          </a:prstGeom>
          <a:noFill/>
          <a:ln w="9525">
            <a:noFill/>
          </a:ln>
        </p:spPr>
      </p:pic>
      <p:sp>
        <p:nvSpPr>
          <p:cNvPr id="49161" name="AutoShape 18"/>
          <p:cNvSpPr/>
          <p:nvPr/>
        </p:nvSpPr>
        <p:spPr>
          <a:xfrm>
            <a:off x="2063750" y="2851150"/>
            <a:ext cx="1511300" cy="440780"/>
          </a:xfrm>
          <a:prstGeom prst="wedgeRoundRectCallout">
            <a:avLst>
              <a:gd name="adj1" fmla="val 77204"/>
              <a:gd name="adj2" fmla="val -65139"/>
              <a:gd name="adj3" fmla="val 16667"/>
            </a:avLst>
          </a:prstGeom>
          <a:gradFill rotWithShape="1">
            <a:gsLst>
              <a:gs pos="0">
                <a:srgbClr val="FF3300"/>
              </a:gs>
              <a:gs pos="100000">
                <a:srgbClr val="FFFFFF"/>
              </a:gs>
            </a:gsLst>
            <a:lin ang="5400000" scaled="1"/>
            <a:tileRect/>
          </a:gradFill>
          <a:ln w="9525" cap="flat" cmpd="sng">
            <a:solidFill>
              <a:srgbClr val="FF0000"/>
            </a:solidFill>
            <a:prstDash val="solid"/>
            <a:miter/>
            <a:headEnd type="none" w="med" len="med"/>
            <a:tailEnd type="none" w="med" len="med"/>
          </a:ln>
          <a:effectLst>
            <a:outerShdw dist="53882" dir="2699999" algn="ctr" rotWithShape="0">
              <a:schemeClr val="bg2">
                <a:alpha val="50000"/>
              </a:schemeClr>
            </a:outerShdw>
          </a:effectLst>
        </p:spPr>
        <p:txBody>
          <a:bodyPr anchor="t" anchorCtr="1">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r>
              <a:rPr lang="zh-CN" altLang="en-US" sz="2000" b="1" dirty="0">
                <a:solidFill>
                  <a:schemeClr val="tx1"/>
                </a:solidFill>
                <a:latin typeface="黑体" panose="02010609060101010101" pitchFamily="2" charset="-122"/>
                <a:ea typeface="黑体" panose="02010609060101010101" pitchFamily="2" charset="-122"/>
              </a:rPr>
              <a:t>代码错误</a:t>
            </a:r>
            <a:endParaRPr lang="zh-CN" altLang="en-US" sz="2000" b="1" dirty="0">
              <a:solidFill>
                <a:schemeClr val="tx1"/>
              </a:solidFill>
              <a:latin typeface="黑体" panose="02010609060101010101" pitchFamily="2" charset="-122"/>
              <a:ea typeface="黑体" panose="02010609060101010101" pitchFamily="2" charset="-122"/>
            </a:endParaRPr>
          </a:p>
        </p:txBody>
      </p:sp>
      <p:sp>
        <p:nvSpPr>
          <p:cNvPr id="41993" name="灯片编号占位符 4"/>
          <p:cNvSpPr txBox="1">
            <a:spLocks noGrp="1"/>
          </p:cNvSpPr>
          <p:nvPr>
            <p:ph type="sldNum" sz="quarter" idx="4"/>
          </p:nvPr>
        </p:nvSpPr>
        <p:spPr/>
        <p:txBody>
          <a:bodyPr/>
          <a:p>
            <a:pPr marL="0" indent="0" algn="r" eaLnBrk="1" hangingPunct="1">
              <a:spcBef>
                <a:spcPct val="0"/>
              </a:spcBef>
              <a:buSzTx/>
              <a:buFontTx/>
              <a:buNone/>
            </a:pPr>
            <a:fld id="{9A0DB2DC-4C9A-4742-B13C-FB6460FD3503}" type="slidenum">
              <a:rPr lang="en-US" altLang="zh-CN" dirty="0">
                <a:solidFill>
                  <a:srgbClr val="1C1C1C"/>
                </a:solidFill>
                <a:latin typeface="+mn-lt"/>
                <a:ea typeface="+mn-ea"/>
                <a:cs typeface="+mn-cs"/>
              </a:rPr>
            </a:fld>
            <a:endParaRPr lang="en-US" altLang="zh-CN" dirty="0">
              <a:solidFill>
                <a:srgbClr val="1C1C1C"/>
              </a:solidFill>
              <a:latin typeface="+mn-lt"/>
              <a:ea typeface="+mn-ea"/>
              <a:cs typeface="+mn-cs"/>
            </a:endParaRPr>
          </a:p>
        </p:txBody>
      </p:sp>
      <p:sp>
        <p:nvSpPr>
          <p:cNvPr id="11" name="Rectangle 8"/>
          <p:cNvSpPr/>
          <p:nvPr/>
        </p:nvSpPr>
        <p:spPr>
          <a:xfrm>
            <a:off x="4121150" y="3578226"/>
            <a:ext cx="1119188" cy="352425"/>
          </a:xfrm>
          <a:prstGeom prst="rect">
            <a:avLst/>
          </a:prstGeom>
          <a:noFill/>
          <a:ln w="28575" cap="flat" cmpd="sng">
            <a:solidFill>
              <a:srgbClr val="FF0000"/>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endParaRPr lang="zh-CN" altLang="en-US" sz="1700" dirty="0">
              <a:solidFill>
                <a:schemeClr val="tx1"/>
              </a:solidFill>
              <a:ea typeface="楷体_GB2312" pitchFamily="1"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49160"/>
                                        </p:tgtEl>
                                        <p:attrNameLst>
                                          <p:attrName>style.visibility</p:attrName>
                                        </p:attrNameLst>
                                      </p:cBhvr>
                                      <p:to>
                                        <p:strVal val="visible"/>
                                      </p:to>
                                    </p:set>
                                    <p:anim calcmode="lin" valueType="num">
                                      <p:cBhvr additive="base">
                                        <p:cTn id="7" dur="500" fill="hold"/>
                                        <p:tgtEl>
                                          <p:spTgt spid="49160"/>
                                        </p:tgtEl>
                                        <p:attrNameLst>
                                          <p:attrName>ppt_x</p:attrName>
                                        </p:attrNameLst>
                                      </p:cBhvr>
                                      <p:tavLst>
                                        <p:tav tm="0">
                                          <p:val>
                                            <p:strVal val="1+#ppt_w/2"/>
                                          </p:val>
                                        </p:tav>
                                        <p:tav tm="100000">
                                          <p:val>
                                            <p:strVal val="#ppt_x"/>
                                          </p:val>
                                        </p:tav>
                                      </p:tavLst>
                                    </p:anim>
                                    <p:anim calcmode="lin" valueType="num">
                                      <p:cBhvr additive="base">
                                        <p:cTn id="8" dur="500" fill="hold"/>
                                        <p:tgtEl>
                                          <p:spTgt spid="4916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49155"/>
                                        </p:tgtEl>
                                        <p:attrNameLst>
                                          <p:attrName>style.visibility</p:attrName>
                                        </p:attrNameLst>
                                      </p:cBhvr>
                                      <p:to>
                                        <p:strVal val="visible"/>
                                      </p:to>
                                    </p:set>
                                    <p:animEffect transition="in" filter="blinds(horizontal)">
                                      <p:cBhvr>
                                        <p:cTn id="12" dur="500"/>
                                        <p:tgtEl>
                                          <p:spTgt spid="4915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9157"/>
                                        </p:tgtEl>
                                        <p:attrNameLst>
                                          <p:attrName>style.visibility</p:attrName>
                                        </p:attrNameLst>
                                      </p:cBhvr>
                                      <p:to>
                                        <p:strVal val="visible"/>
                                      </p:to>
                                    </p:set>
                                    <p:animEffect transition="in" filter="checkerboard(across)">
                                      <p:cBhvr>
                                        <p:cTn id="17" dur="500"/>
                                        <p:tgtEl>
                                          <p:spTgt spid="49157"/>
                                        </p:tgtEl>
                                      </p:cBhvr>
                                    </p:animEffect>
                                  </p:childTnLst>
                                </p:cTn>
                              </p:par>
                            </p:childTnLst>
                          </p:cTn>
                        </p:par>
                        <p:par>
                          <p:cTn id="18" fill="hold">
                            <p:stCondLst>
                              <p:cond delay="500"/>
                            </p:stCondLst>
                            <p:childTnLst>
                              <p:par>
                                <p:cTn id="19" presetID="5" presetClass="entr" presetSubtype="10" fill="hold" grpId="0" nodeType="afterEffect">
                                  <p:stCondLst>
                                    <p:cond delay="0"/>
                                  </p:stCondLst>
                                  <p:childTnLst>
                                    <p:set>
                                      <p:cBhvr>
                                        <p:cTn id="20" dur="1" fill="hold">
                                          <p:stCondLst>
                                            <p:cond delay="0"/>
                                          </p:stCondLst>
                                        </p:cTn>
                                        <p:tgtEl>
                                          <p:spTgt spid="49158"/>
                                        </p:tgtEl>
                                        <p:attrNameLst>
                                          <p:attrName>style.visibility</p:attrName>
                                        </p:attrNameLst>
                                      </p:cBhvr>
                                      <p:to>
                                        <p:strVal val="visible"/>
                                      </p:to>
                                    </p:set>
                                    <p:animEffect transition="in" filter="checkerboard(across)">
                                      <p:cBhvr>
                                        <p:cTn id="21" dur="500"/>
                                        <p:tgtEl>
                                          <p:spTgt spid="49158"/>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49161"/>
                                        </p:tgtEl>
                                        <p:attrNameLst>
                                          <p:attrName>style.visibility</p:attrName>
                                        </p:attrNameLst>
                                      </p:cBhvr>
                                      <p:to>
                                        <p:strVal val="visible"/>
                                      </p:to>
                                    </p:set>
                                    <p:animEffect transition="in" filter="wipe(left)">
                                      <p:cBhvr>
                                        <p:cTn id="25" dur="500"/>
                                        <p:tgtEl>
                                          <p:spTgt spid="49161"/>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49156"/>
                                        </p:tgtEl>
                                        <p:attrNameLst>
                                          <p:attrName>style.visibility</p:attrName>
                                        </p:attrNameLst>
                                      </p:cBhvr>
                                      <p:to>
                                        <p:strVal val="visible"/>
                                      </p:to>
                                    </p:set>
                                    <p:animEffect transition="in" filter="wipe(left)">
                                      <p:cBhvr>
                                        <p:cTn id="29" dur="500"/>
                                        <p:tgtEl>
                                          <p:spTgt spid="49156"/>
                                        </p:tgtEl>
                                      </p:cBhvr>
                                    </p:animEffect>
                                  </p:childTnLst>
                                </p:cTn>
                              </p:par>
                            </p:childTnLst>
                          </p:cTn>
                        </p:par>
                        <p:par>
                          <p:cTn id="30" fill="hold">
                            <p:stCondLst>
                              <p:cond delay="2000"/>
                            </p:stCondLst>
                            <p:childTnLst>
                              <p:par>
                                <p:cTn id="31" presetID="5" presetClass="entr" presetSubtype="10"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checkerboard(across)">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ldLvl="0" animBg="1"/>
      <p:bldP spid="49156" grpId="0" bldLvl="0" animBg="1"/>
      <p:bldP spid="49157" grpId="0" bldLvl="0" animBg="1"/>
      <p:bldP spid="49158" grpId="0" bldLvl="0" animBg="1"/>
      <p:bldP spid="49161" grpId="0" bldLvl="0" animBg="1"/>
      <p:bldP spid="11"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r" eaLnBrk="1" hangingPunct="1">
              <a:lnSpc>
                <a:spcPct val="100000"/>
              </a:lnSpc>
              <a:spcBef>
                <a:spcPct val="50000"/>
              </a:spcBef>
            </a:pPr>
            <a:fld id="{640F3AD4-8515-47EC-A303-4C4C01E867E5}"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44035" name="Rectangle 3"/>
          <p:cNvSpPr>
            <a:spLocks noGrp="1" noChangeArrowheads="1"/>
          </p:cNvSpPr>
          <p:nvPr>
            <p:ph type="body" idx="4294967295"/>
          </p:nvPr>
        </p:nvSpPr>
        <p:spPr>
          <a:xfrm>
            <a:off x="348868" y="238871"/>
            <a:ext cx="11633582" cy="5580732"/>
          </a:xfrm>
        </p:spPr>
        <p:txBody>
          <a:bodyPr>
            <a:normAutofit/>
          </a:bodyPr>
          <a:lstStyle/>
          <a:p>
            <a:pPr marL="624840" indent="-624840">
              <a:buNone/>
            </a:pPr>
            <a:r>
              <a:rPr lang="zh-CN" altLang="en-US" sz="2800" b="1" dirty="0">
                <a:latin typeface="宋体" panose="02010600030101010101" pitchFamily="2" charset="-122"/>
                <a:ea typeface="宋体" panose="02010600030101010101" pitchFamily="2" charset="-122"/>
              </a:rPr>
              <a:t>练习：</a:t>
            </a:r>
            <a:endParaRPr lang="zh-CN" altLang="en-US" sz="2800" b="1" dirty="0">
              <a:latin typeface="宋体" panose="02010600030101010101" pitchFamily="2" charset="-122"/>
              <a:ea typeface="宋体" panose="02010600030101010101" pitchFamily="2" charset="-122"/>
            </a:endParaRPr>
          </a:p>
          <a:p>
            <a:pPr marL="624840" indent="-624840">
              <a:buNone/>
            </a:pP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 模拟计算器，利用</a:t>
            </a:r>
            <a:r>
              <a:rPr lang="en-US" altLang="zh-CN" sz="2800" b="1" dirty="0">
                <a:latin typeface="宋体" panose="02010600030101010101" pitchFamily="2" charset="-122"/>
                <a:ea typeface="宋体" panose="02010600030101010101" pitchFamily="2" charset="-122"/>
              </a:rPr>
              <a:t>switch</a:t>
            </a:r>
            <a:r>
              <a:rPr lang="zh-CN" altLang="en-US" sz="2800" b="1" dirty="0">
                <a:latin typeface="宋体" panose="02010600030101010101" pitchFamily="2" charset="-122"/>
                <a:ea typeface="宋体" panose="02010600030101010101" pitchFamily="2" charset="-122"/>
              </a:rPr>
              <a:t>语句来判断要进行的运算，输入运算数，再输出计算后的结果。</a:t>
            </a:r>
            <a:endParaRPr lang="en-US" altLang="zh-CN" sz="2800" b="1" dirty="0">
              <a:latin typeface="宋体" panose="02010600030101010101" pitchFamily="2" charset="-122"/>
              <a:ea typeface="宋体" panose="02010600030101010101" pitchFamily="2" charset="-122"/>
            </a:endParaRPr>
          </a:p>
          <a:p>
            <a:pPr marL="624840" indent="-624840">
              <a:buNone/>
            </a:pPr>
            <a:r>
              <a:rPr lang="en-US" altLang="zh-CN" sz="2800" b="1" dirty="0">
                <a:latin typeface="宋体" panose="02010600030101010101" pitchFamily="2" charset="-122"/>
                <a:ea typeface="宋体" panose="02010600030101010101" pitchFamily="2" charset="-122"/>
              </a:rPr>
              <a:t>2. </a:t>
            </a:r>
            <a:r>
              <a:rPr lang="zh-CN" altLang="en-US" sz="2800" b="1" dirty="0">
                <a:latin typeface="宋体" panose="02010600030101010101" pitchFamily="2" charset="-122"/>
                <a:ea typeface="宋体" panose="02010600030101010101" pitchFamily="2" charset="-122"/>
              </a:rPr>
              <a:t>输入一个年份和月份，打印该年该月的天数。规定平年</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月</a:t>
            </a:r>
            <a:r>
              <a:rPr lang="en-US" altLang="zh-CN" sz="2800" b="1" dirty="0">
                <a:latin typeface="宋体" panose="02010600030101010101" pitchFamily="2" charset="-122"/>
                <a:ea typeface="宋体" panose="02010600030101010101" pitchFamily="2" charset="-122"/>
              </a:rPr>
              <a:t>28</a:t>
            </a:r>
            <a:r>
              <a:rPr lang="zh-CN" altLang="en-US" sz="2800" b="1" dirty="0">
                <a:latin typeface="宋体" panose="02010600030101010101" pitchFamily="2" charset="-122"/>
                <a:ea typeface="宋体" panose="02010600030101010101" pitchFamily="2" charset="-122"/>
              </a:rPr>
              <a:t>天，闰年</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月</a:t>
            </a:r>
            <a:r>
              <a:rPr lang="en-US" altLang="zh-CN" sz="2800" b="1" dirty="0">
                <a:latin typeface="宋体" panose="02010600030101010101" pitchFamily="2" charset="-122"/>
                <a:ea typeface="宋体" panose="02010600030101010101" pitchFamily="2" charset="-122"/>
              </a:rPr>
              <a:t>29</a:t>
            </a:r>
            <a:r>
              <a:rPr lang="zh-CN" altLang="en-US" sz="2800" b="1" dirty="0">
                <a:latin typeface="宋体" panose="02010600030101010101" pitchFamily="2" charset="-122"/>
                <a:ea typeface="宋体" panose="02010600030101010101" pitchFamily="2" charset="-122"/>
              </a:rPr>
              <a:t>天；年份能被</a:t>
            </a:r>
            <a:r>
              <a:rPr lang="en-US" altLang="zh-CN" sz="2800" b="1" dirty="0">
                <a:latin typeface="宋体" panose="02010600030101010101" pitchFamily="2" charset="-122"/>
                <a:ea typeface="宋体" panose="02010600030101010101" pitchFamily="2" charset="-122"/>
              </a:rPr>
              <a:t>4</a:t>
            </a:r>
            <a:r>
              <a:rPr lang="zh-CN" altLang="en-US" sz="2800" b="1" dirty="0">
                <a:latin typeface="宋体" panose="02010600030101010101" pitchFamily="2" charset="-122"/>
                <a:ea typeface="宋体" panose="02010600030101010101" pitchFamily="2" charset="-122"/>
              </a:rPr>
              <a:t>整除却不能被</a:t>
            </a:r>
            <a:r>
              <a:rPr lang="en-US" altLang="zh-CN" sz="2800" b="1" dirty="0">
                <a:latin typeface="宋体" panose="02010600030101010101" pitchFamily="2" charset="-122"/>
                <a:ea typeface="宋体" panose="02010600030101010101" pitchFamily="2" charset="-122"/>
              </a:rPr>
              <a:t>100</a:t>
            </a:r>
            <a:r>
              <a:rPr lang="zh-CN" altLang="en-US" sz="2800" b="1" dirty="0">
                <a:latin typeface="宋体" panose="02010600030101010101" pitchFamily="2" charset="-122"/>
                <a:ea typeface="宋体" panose="02010600030101010101" pitchFamily="2" charset="-122"/>
              </a:rPr>
              <a:t>整除为闰年，能被</a:t>
            </a:r>
            <a:r>
              <a:rPr lang="en-US" altLang="zh-CN" sz="2800" b="1" dirty="0">
                <a:latin typeface="宋体" panose="02010600030101010101" pitchFamily="2" charset="-122"/>
                <a:ea typeface="宋体" panose="02010600030101010101" pitchFamily="2" charset="-122"/>
              </a:rPr>
              <a:t>400</a:t>
            </a:r>
            <a:r>
              <a:rPr lang="zh-CN" altLang="en-US" sz="2800" b="1" dirty="0">
                <a:latin typeface="宋体" panose="02010600030101010101" pitchFamily="2" charset="-122"/>
                <a:ea typeface="宋体" panose="02010600030101010101" pitchFamily="2" charset="-122"/>
              </a:rPr>
              <a:t>整除的年份也是闰年。</a:t>
            </a:r>
            <a:endParaRPr lang="zh-CN" altLang="en-US" sz="2800" b="1" dirty="0">
              <a:latin typeface="宋体" panose="02010600030101010101" pitchFamily="2" charset="-122"/>
              <a:ea typeface="宋体" panose="02010600030101010101" pitchFamily="2" charset="-122"/>
            </a:endParaRPr>
          </a:p>
          <a:p>
            <a:pPr marL="624840" indent="-624840">
              <a:buNone/>
            </a:pPr>
            <a:endParaRPr lang="en-US" altLang="zh-CN" sz="28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idx="4294967295"/>
          </p:nvPr>
        </p:nvSpPr>
        <p:spPr>
          <a:xfrm>
            <a:off x="427363" y="256489"/>
            <a:ext cx="8147318" cy="914055"/>
          </a:xfrm>
        </p:spPr>
        <p:txBody>
          <a:bodyPr/>
          <a:lstStyle/>
          <a:p>
            <a:r>
              <a:rPr lang="en-US" altLang="zh-CN" dirty="0"/>
              <a:t>2.7.3 </a:t>
            </a:r>
            <a:r>
              <a:rPr lang="zh-CN" altLang="en-US" dirty="0"/>
              <a:t>循环结构</a:t>
            </a:r>
            <a:endParaRPr lang="zh-CN" altLang="en-US" dirty="0"/>
          </a:p>
        </p:txBody>
      </p:sp>
      <p:sp>
        <p:nvSpPr>
          <p:cNvPr id="45059" name="内容占位符 2"/>
          <p:cNvSpPr>
            <a:spLocks noGrp="1"/>
          </p:cNvSpPr>
          <p:nvPr>
            <p:ph idx="4294967295"/>
          </p:nvPr>
        </p:nvSpPr>
        <p:spPr>
          <a:xfrm>
            <a:off x="1053202" y="1481655"/>
            <a:ext cx="10586348" cy="4570279"/>
          </a:xfrm>
        </p:spPr>
        <p:txBody>
          <a:bodyPr>
            <a:noAutofit/>
          </a:bodyPr>
          <a:lstStyle/>
          <a:p>
            <a:pPr marL="0" indent="353060">
              <a:buNone/>
            </a:pPr>
            <a:r>
              <a:rPr lang="zh-CN" altLang="en-US" sz="2800" b="1">
                <a:latin typeface="宋体" panose="02010600030101010101" pitchFamily="2" charset="-122"/>
                <a:ea typeface="宋体" panose="02010600030101010101" pitchFamily="2" charset="-122"/>
              </a:rPr>
              <a:t>练习：从键盘上输入一个数</a:t>
            </a:r>
            <a:r>
              <a:rPr lang="en-US" altLang="zh-CN" sz="2800" b="1">
                <a:latin typeface="宋体" panose="02010600030101010101" pitchFamily="2" charset="-122"/>
                <a:ea typeface="宋体" panose="02010600030101010101" pitchFamily="2" charset="-122"/>
              </a:rPr>
              <a:t>n</a:t>
            </a:r>
            <a:r>
              <a:rPr lang="zh-CN" altLang="en-US" sz="2800" b="1">
                <a:latin typeface="宋体" panose="02010600030101010101" pitchFamily="2" charset="-122"/>
                <a:ea typeface="宋体" panose="02010600030101010101" pitchFamily="2" charset="-122"/>
              </a:rPr>
              <a:t>，然后计算</a:t>
            </a:r>
            <a:r>
              <a:rPr lang="en-US" altLang="zh-CN" sz="2800" b="1">
                <a:latin typeface="宋体" panose="02010600030101010101" pitchFamily="2" charset="-122"/>
                <a:ea typeface="宋体" panose="02010600030101010101" pitchFamily="2" charset="-122"/>
              </a:rPr>
              <a:t>1+2+…+n</a:t>
            </a:r>
            <a:r>
              <a:rPr lang="zh-CN" altLang="en-US" sz="2800" b="1">
                <a:latin typeface="宋体" panose="02010600030101010101" pitchFamily="2" charset="-122"/>
                <a:ea typeface="宋体" panose="02010600030101010101" pitchFamily="2" charset="-122"/>
              </a:rPr>
              <a:t>的和。</a:t>
            </a:r>
            <a:endParaRPr lang="zh-CN" altLang="en-US" sz="2800" b="1">
              <a:latin typeface="宋体" panose="02010600030101010101" pitchFamily="2" charset="-122"/>
              <a:ea typeface="宋体" panose="02010600030101010101" pitchFamily="2" charset="-122"/>
            </a:endParaRPr>
          </a:p>
          <a:p>
            <a:pPr marL="0" indent="353060">
              <a:buNone/>
            </a:pPr>
            <a:endParaRPr lang="zh-CN" altLang="en-US" sz="2800" b="1">
              <a:latin typeface="宋体" panose="02010600030101010101" pitchFamily="2" charset="-122"/>
              <a:ea typeface="宋体" panose="02010600030101010101" pitchFamily="2" charset="-122"/>
            </a:endParaRPr>
          </a:p>
          <a:p>
            <a:pPr marL="0" indent="353060">
              <a:buNone/>
            </a:pPr>
            <a:r>
              <a:rPr lang="zh-CN" altLang="en-US" sz="2800" b="1">
                <a:latin typeface="宋体" panose="02010600030101010101" pitchFamily="2" charset="-122"/>
                <a:ea typeface="宋体" panose="02010600030101010101" pitchFamily="2" charset="-122"/>
              </a:rPr>
              <a:t>int sum=0;</a:t>
            </a:r>
            <a:endParaRPr lang="zh-CN" altLang="en-US" sz="2800" b="1">
              <a:latin typeface="宋体" panose="02010600030101010101" pitchFamily="2" charset="-122"/>
              <a:ea typeface="宋体" panose="02010600030101010101" pitchFamily="2" charset="-122"/>
            </a:endParaRPr>
          </a:p>
          <a:p>
            <a:pPr marL="0" indent="353060">
              <a:buNone/>
            </a:pPr>
            <a:endParaRPr lang="zh-CN" altLang="en-US" sz="2800" b="1">
              <a:latin typeface="宋体" panose="02010600030101010101" pitchFamily="2" charset="-122"/>
              <a:ea typeface="宋体" panose="02010600030101010101" pitchFamily="2" charset="-122"/>
            </a:endParaRPr>
          </a:p>
          <a:p>
            <a:pPr marL="0" indent="353060">
              <a:buNone/>
            </a:pPr>
            <a:r>
              <a:rPr lang="zh-CN" altLang="en-US" sz="2800" b="1">
                <a:latin typeface="宋体" panose="02010600030101010101" pitchFamily="2" charset="-122"/>
                <a:ea typeface="宋体" panose="02010600030101010101" pitchFamily="2" charset="-122"/>
              </a:rPr>
              <a:t>sum+1  sum+2</a:t>
            </a:r>
            <a:endParaRPr lang="zh-CN" altLang="en-US" sz="2800" b="1">
              <a:latin typeface="宋体" panose="02010600030101010101" pitchFamily="2" charset="-122"/>
              <a:ea typeface="宋体" panose="02010600030101010101" pitchFamily="2" charset="-122"/>
            </a:endParaRPr>
          </a:p>
          <a:p>
            <a:pPr marL="0" indent="353060">
              <a:buNone/>
            </a:pPr>
            <a:r>
              <a:rPr lang="zh-CN" altLang="en-US" sz="2800" b="1">
                <a:latin typeface="宋体" panose="02010600030101010101" pitchFamily="2" charset="-122"/>
                <a:ea typeface="宋体" panose="02010600030101010101" pitchFamily="2" charset="-122"/>
              </a:rPr>
              <a:t>i=1</a:t>
            </a:r>
            <a:endParaRPr lang="zh-CN" altLang="en-US" sz="2800" b="1">
              <a:latin typeface="宋体" panose="02010600030101010101" pitchFamily="2" charset="-122"/>
              <a:ea typeface="宋体" panose="02010600030101010101" pitchFamily="2" charset="-122"/>
            </a:endParaRPr>
          </a:p>
          <a:p>
            <a:pPr marL="0" indent="353060">
              <a:buNone/>
            </a:pPr>
            <a:r>
              <a:rPr lang="zh-CN" altLang="en-US" sz="2800" b="1">
                <a:latin typeface="宋体" panose="02010600030101010101" pitchFamily="2" charset="-122"/>
                <a:ea typeface="宋体" panose="02010600030101010101" pitchFamily="2" charset="-122"/>
              </a:rPr>
              <a:t>i&lt;=n</a:t>
            </a:r>
            <a:endParaRPr lang="zh-CN" altLang="en-US" sz="2800" b="1">
              <a:latin typeface="宋体" panose="02010600030101010101" pitchFamily="2" charset="-122"/>
              <a:ea typeface="宋体" panose="02010600030101010101" pitchFamily="2" charset="-122"/>
            </a:endParaRPr>
          </a:p>
          <a:p>
            <a:pPr marL="0" indent="353060">
              <a:buNone/>
            </a:pPr>
            <a:r>
              <a:rPr lang="zh-CN" altLang="en-US" sz="2800" b="1">
                <a:latin typeface="宋体" panose="02010600030101010101" pitchFamily="2" charset="-122"/>
                <a:ea typeface="宋体" panose="02010600030101010101" pitchFamily="2" charset="-122"/>
              </a:rPr>
              <a:t>sum+i  i+1</a:t>
            </a:r>
            <a:endParaRPr lang="zh-CN" altLang="en-US" sz="2800" b="1">
              <a:latin typeface="宋体" panose="02010600030101010101" pitchFamily="2" charset="-122"/>
              <a:ea typeface="宋体" panose="02010600030101010101" pitchFamily="2" charset="-122"/>
            </a:endParaRPr>
          </a:p>
        </p:txBody>
      </p:sp>
      <p:sp>
        <p:nvSpPr>
          <p:cNvPr id="45060"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r" eaLnBrk="1" hangingPunct="1">
              <a:lnSpc>
                <a:spcPct val="100000"/>
              </a:lnSpc>
              <a:spcBef>
                <a:spcPct val="50000"/>
              </a:spcBef>
            </a:pPr>
            <a:fld id="{1527497C-582A-4981-9BD4-99E2B604E5F2}"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059">
                                            <p:txEl>
                                              <p:pRg st="2" end="2"/>
                                            </p:txEl>
                                          </p:spTgt>
                                        </p:tgtEl>
                                        <p:attrNameLst>
                                          <p:attrName>style.visibility</p:attrName>
                                        </p:attrNameLst>
                                      </p:cBhvr>
                                      <p:to>
                                        <p:strVal val="visible"/>
                                      </p:to>
                                    </p:set>
                                    <p:animEffect transition="in" filter="blinds(horizontal)">
                                      <p:cBhvr>
                                        <p:cTn id="7" dur="500"/>
                                        <p:tgtEl>
                                          <p:spTgt spid="450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12" dur="500"/>
                                        <p:tgtEl>
                                          <p:spTgt spid="45059">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5059">
                                            <p:txEl>
                                              <p:pRg st="5" end="5"/>
                                            </p:txEl>
                                          </p:spTgt>
                                        </p:tgtEl>
                                        <p:attrNameLst>
                                          <p:attrName>style.visibility</p:attrName>
                                        </p:attrNameLst>
                                      </p:cBhvr>
                                      <p:to>
                                        <p:strVal val="visible"/>
                                      </p:to>
                                    </p:set>
                                    <p:animEffect transition="in" filter="blinds(horizontal)">
                                      <p:cBhvr>
                                        <p:cTn id="17" dur="500"/>
                                        <p:tgtEl>
                                          <p:spTgt spid="45059">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5059">
                                            <p:txEl>
                                              <p:pRg st="6" end="6"/>
                                            </p:txEl>
                                          </p:spTgt>
                                        </p:tgtEl>
                                        <p:attrNameLst>
                                          <p:attrName>style.visibility</p:attrName>
                                        </p:attrNameLst>
                                      </p:cBhvr>
                                      <p:to>
                                        <p:strVal val="visible"/>
                                      </p:to>
                                    </p:set>
                                    <p:animEffect transition="in" filter="blinds(horizontal)">
                                      <p:cBhvr>
                                        <p:cTn id="22" dur="500"/>
                                        <p:tgtEl>
                                          <p:spTgt spid="45059">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5059">
                                            <p:txEl>
                                              <p:pRg st="7" end="7"/>
                                            </p:txEl>
                                          </p:spTgt>
                                        </p:tgtEl>
                                        <p:attrNameLst>
                                          <p:attrName>style.visibility</p:attrName>
                                        </p:attrNameLst>
                                      </p:cBhvr>
                                      <p:to>
                                        <p:strVal val="visible"/>
                                      </p:to>
                                    </p:set>
                                    <p:animEffect transition="in" filter="blinds(horizontal)">
                                      <p:cBhvr>
                                        <p:cTn id="27" dur="500"/>
                                        <p:tgtEl>
                                          <p:spTgt spid="450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内容占位符 1"/>
          <p:cNvSpPr>
            <a:spLocks noGrp="1"/>
          </p:cNvSpPr>
          <p:nvPr>
            <p:ph idx="4294967295"/>
          </p:nvPr>
        </p:nvSpPr>
        <p:spPr>
          <a:xfrm>
            <a:off x="921495" y="1545710"/>
            <a:ext cx="4623642" cy="4525522"/>
          </a:xfrm>
        </p:spPr>
        <p:txBody>
          <a:bodyPr/>
          <a:lstStyle/>
          <a:p>
            <a:pPr marL="0" indent="353060">
              <a:buNone/>
            </a:pPr>
            <a:r>
              <a:rPr lang="en-US" altLang="zh-CN" sz="2820" b="1" dirty="0">
                <a:latin typeface="宋体" panose="02010600030101010101" pitchFamily="2" charset="-122"/>
                <a:ea typeface="宋体" panose="02010600030101010101" pitchFamily="2" charset="-122"/>
              </a:rPr>
              <a:t>while</a:t>
            </a:r>
            <a:r>
              <a:rPr lang="zh-CN" altLang="en-US" sz="2820" b="1" dirty="0">
                <a:latin typeface="宋体" panose="02010600030101010101" pitchFamily="2" charset="-122"/>
                <a:ea typeface="宋体" panose="02010600030101010101" pitchFamily="2" charset="-122"/>
              </a:rPr>
              <a:t>语句是</a:t>
            </a:r>
            <a:r>
              <a:rPr lang="en-US" altLang="zh-CN" sz="2820" b="1" dirty="0">
                <a:latin typeface="宋体" panose="02010600030101010101" pitchFamily="2" charset="-122"/>
                <a:ea typeface="宋体" panose="02010600030101010101" pitchFamily="2" charset="-122"/>
              </a:rPr>
              <a:t>Java</a:t>
            </a:r>
            <a:r>
              <a:rPr lang="zh-CN" altLang="en-US" sz="2820" b="1" dirty="0">
                <a:latin typeface="宋体" panose="02010600030101010101" pitchFamily="2" charset="-122"/>
                <a:ea typeface="宋体" panose="02010600030101010101" pitchFamily="2" charset="-122"/>
              </a:rPr>
              <a:t>中最简单、最直接的循环语句。</a:t>
            </a:r>
            <a:endParaRPr lang="zh-CN" altLang="en-US" sz="2820" b="1" dirty="0">
              <a:latin typeface="宋体" panose="02010600030101010101" pitchFamily="2" charset="-122"/>
              <a:ea typeface="宋体" panose="02010600030101010101" pitchFamily="2" charset="-122"/>
            </a:endParaRPr>
          </a:p>
          <a:p>
            <a:pPr marL="0" indent="353060">
              <a:buNone/>
            </a:pPr>
            <a:r>
              <a:rPr lang="zh-CN" altLang="en-US" sz="2820" b="1" dirty="0">
                <a:latin typeface="宋体" panose="02010600030101010101" pitchFamily="2" charset="-122"/>
                <a:ea typeface="宋体" panose="02010600030101010101" pitchFamily="2" charset="-122"/>
              </a:rPr>
              <a:t>语法结构如下：</a:t>
            </a:r>
            <a:endParaRPr lang="zh-CN" altLang="en-US" sz="2820" b="1" dirty="0">
              <a:latin typeface="宋体" panose="02010600030101010101" pitchFamily="2" charset="-122"/>
              <a:ea typeface="宋体" panose="02010600030101010101" pitchFamily="2" charset="-122"/>
            </a:endParaRPr>
          </a:p>
          <a:p>
            <a:pPr marL="0" indent="353060">
              <a:buNone/>
            </a:pPr>
            <a:r>
              <a:rPr lang="en-US" altLang="zh-CN" sz="2820" b="1" dirty="0">
                <a:solidFill>
                  <a:srgbClr val="FF3300"/>
                </a:solidFill>
                <a:latin typeface="宋体" panose="02010600030101010101" pitchFamily="2" charset="-122"/>
                <a:ea typeface="宋体" panose="02010600030101010101" pitchFamily="2" charset="-122"/>
              </a:rPr>
              <a:t>while</a:t>
            </a:r>
            <a:r>
              <a:rPr lang="zh-CN" altLang="en-US" sz="2820" b="1" dirty="0">
                <a:solidFill>
                  <a:srgbClr val="FF3300"/>
                </a:solidFill>
                <a:latin typeface="宋体" panose="02010600030101010101" pitchFamily="2" charset="-122"/>
                <a:ea typeface="宋体" panose="02010600030101010101" pitchFamily="2" charset="-122"/>
              </a:rPr>
              <a:t>（布尔表达式）</a:t>
            </a:r>
            <a:endParaRPr lang="zh-CN" altLang="en-US" sz="2820" b="1" dirty="0">
              <a:solidFill>
                <a:srgbClr val="FF3300"/>
              </a:solidFill>
              <a:latin typeface="宋体" panose="02010600030101010101" pitchFamily="2" charset="-122"/>
              <a:ea typeface="宋体" panose="02010600030101010101" pitchFamily="2" charset="-122"/>
            </a:endParaRPr>
          </a:p>
          <a:p>
            <a:pPr marL="0" indent="353060">
              <a:buNone/>
            </a:pPr>
            <a:r>
              <a:rPr lang="en-US" altLang="zh-CN" sz="2820" b="1" dirty="0">
                <a:solidFill>
                  <a:srgbClr val="FF3300"/>
                </a:solidFill>
                <a:latin typeface="宋体" panose="02010600030101010101" pitchFamily="2" charset="-122"/>
                <a:ea typeface="宋体" panose="02010600030101010101" pitchFamily="2" charset="-122"/>
              </a:rPr>
              <a:t>{</a:t>
            </a:r>
            <a:endParaRPr lang="zh-CN" altLang="en-US" sz="2820" b="1" dirty="0">
              <a:solidFill>
                <a:srgbClr val="FF3300"/>
              </a:solidFill>
              <a:latin typeface="宋体" panose="02010600030101010101" pitchFamily="2" charset="-122"/>
              <a:ea typeface="宋体" panose="02010600030101010101" pitchFamily="2" charset="-122"/>
            </a:endParaRPr>
          </a:p>
          <a:p>
            <a:pPr marL="0" indent="353060">
              <a:buNone/>
            </a:pPr>
            <a:r>
              <a:rPr lang="zh-CN" altLang="en-US" sz="2820" b="1" dirty="0">
                <a:solidFill>
                  <a:srgbClr val="FF3300"/>
                </a:solidFill>
                <a:latin typeface="宋体" panose="02010600030101010101" pitchFamily="2" charset="-122"/>
                <a:ea typeface="宋体" panose="02010600030101010101" pitchFamily="2" charset="-122"/>
              </a:rPr>
              <a:t>    语句序列</a:t>
            </a:r>
            <a:endParaRPr lang="zh-CN" altLang="en-US" sz="2820" b="1" dirty="0">
              <a:solidFill>
                <a:srgbClr val="FF3300"/>
              </a:solidFill>
              <a:latin typeface="宋体" panose="02010600030101010101" pitchFamily="2" charset="-122"/>
              <a:ea typeface="宋体" panose="02010600030101010101" pitchFamily="2" charset="-122"/>
            </a:endParaRPr>
          </a:p>
          <a:p>
            <a:pPr marL="0" indent="353060">
              <a:buNone/>
            </a:pPr>
            <a:r>
              <a:rPr lang="en-US" altLang="zh-CN" sz="2820" b="1" dirty="0">
                <a:solidFill>
                  <a:srgbClr val="FF3300"/>
                </a:solidFill>
                <a:latin typeface="宋体" panose="02010600030101010101" pitchFamily="2" charset="-122"/>
                <a:ea typeface="宋体" panose="02010600030101010101" pitchFamily="2" charset="-122"/>
              </a:rPr>
              <a:t>}</a:t>
            </a:r>
            <a:endParaRPr lang="zh-CN" altLang="en-US" sz="2820" b="1" dirty="0">
              <a:solidFill>
                <a:srgbClr val="FF3300"/>
              </a:solidFill>
              <a:latin typeface="宋体" panose="02010600030101010101" pitchFamily="2" charset="-122"/>
              <a:ea typeface="宋体" panose="02010600030101010101" pitchFamily="2" charset="-122"/>
            </a:endParaRPr>
          </a:p>
          <a:p>
            <a:pPr marL="0" indent="353060">
              <a:buNone/>
            </a:pPr>
            <a:endParaRPr lang="zh-CN" altLang="en-US" sz="2820" b="1" dirty="0">
              <a:latin typeface="宋体" panose="02010600030101010101" pitchFamily="2" charset="-122"/>
              <a:ea typeface="宋体" panose="02010600030101010101" pitchFamily="2" charset="-122"/>
            </a:endParaRPr>
          </a:p>
        </p:txBody>
      </p:sp>
      <p:sp>
        <p:nvSpPr>
          <p:cNvPr id="46083" name="标题 2"/>
          <p:cNvSpPr>
            <a:spLocks noGrp="1"/>
          </p:cNvSpPr>
          <p:nvPr>
            <p:ph type="title" idx="4294967295"/>
          </p:nvPr>
        </p:nvSpPr>
        <p:spPr>
          <a:xfrm>
            <a:off x="281160" y="324113"/>
            <a:ext cx="8147318" cy="914056"/>
          </a:xfrm>
        </p:spPr>
        <p:txBody>
          <a:bodyPr>
            <a:normAutofit fontScale="90000"/>
          </a:bodyPr>
          <a:lstStyle/>
          <a:p>
            <a:br>
              <a:rPr lang="en-US" altLang="zh-CN" sz="3685" dirty="0">
                <a:latin typeface="宋体" panose="02010600030101010101" pitchFamily="2" charset="-122"/>
                <a:ea typeface="宋体" panose="02010600030101010101" pitchFamily="2" charset="-122"/>
              </a:rPr>
            </a:br>
            <a:r>
              <a:rPr lang="en-US" altLang="zh-CN" sz="3685" dirty="0">
                <a:latin typeface="宋体" panose="02010600030101010101" pitchFamily="2" charset="-122"/>
                <a:ea typeface="宋体" panose="02010600030101010101" pitchFamily="2" charset="-122"/>
              </a:rPr>
              <a:t>1</a:t>
            </a:r>
            <a:r>
              <a:rPr lang="zh-CN" altLang="en-US" sz="3685" dirty="0">
                <a:latin typeface="宋体" panose="02010600030101010101" pitchFamily="2" charset="-122"/>
                <a:ea typeface="宋体" panose="02010600030101010101" pitchFamily="2" charset="-122"/>
              </a:rPr>
              <a:t>、</a:t>
            </a:r>
            <a:r>
              <a:rPr lang="en-US" altLang="zh-CN" sz="3685" dirty="0">
                <a:latin typeface="宋体" panose="02010600030101010101" pitchFamily="2" charset="-122"/>
                <a:ea typeface="宋体" panose="02010600030101010101" pitchFamily="2" charset="-122"/>
              </a:rPr>
              <a:t> while</a:t>
            </a:r>
            <a:r>
              <a:rPr lang="zh-CN" altLang="en-US" sz="3685" dirty="0">
                <a:latin typeface="宋体" panose="02010600030101010101" pitchFamily="2" charset="-122"/>
                <a:ea typeface="宋体" panose="02010600030101010101" pitchFamily="2" charset="-122"/>
              </a:rPr>
              <a:t>语句</a:t>
            </a:r>
            <a:endParaRPr lang="zh-CN" altLang="en-US" sz="3685" dirty="0">
              <a:latin typeface="宋体" panose="02010600030101010101" pitchFamily="2" charset="-122"/>
              <a:ea typeface="宋体" panose="02010600030101010101" pitchFamily="2" charset="-122"/>
            </a:endParaRPr>
          </a:p>
        </p:txBody>
      </p:sp>
      <p:sp>
        <p:nvSpPr>
          <p:cNvPr id="46084" name="Rectangle 17"/>
          <p:cNvSpPr>
            <a:spLocks noChangeArrowheads="1"/>
          </p:cNvSpPr>
          <p:nvPr/>
        </p:nvSpPr>
        <p:spPr bwMode="auto">
          <a:xfrm>
            <a:off x="1303663" y="49733"/>
            <a:ext cx="159456" cy="41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8925" tIns="39462" rIns="78925" bIns="39462" anchor="ct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2170"/>
          </a:p>
        </p:txBody>
      </p:sp>
      <p:grpSp>
        <p:nvGrpSpPr>
          <p:cNvPr id="46085" name="Group 5"/>
          <p:cNvGrpSpPr/>
          <p:nvPr/>
        </p:nvGrpSpPr>
        <p:grpSpPr bwMode="auto">
          <a:xfrm>
            <a:off x="6318863" y="1027667"/>
            <a:ext cx="3938530" cy="4802666"/>
            <a:chOff x="0" y="0"/>
            <a:chExt cx="2788920" cy="2377440"/>
          </a:xfrm>
        </p:grpSpPr>
        <p:sp>
          <p:nvSpPr>
            <p:cNvPr id="46087" name="AutoShape 16"/>
            <p:cNvSpPr>
              <a:spLocks noRot="1" noChangeAspect="1" noChangeArrowheads="1"/>
            </p:cNvSpPr>
            <p:nvPr/>
          </p:nvSpPr>
          <p:spPr bwMode="auto">
            <a:xfrm>
              <a:off x="0" y="0"/>
              <a:ext cx="2788920" cy="2377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1195"/>
            </a:p>
          </p:txBody>
        </p:sp>
        <p:sp>
          <p:nvSpPr>
            <p:cNvPr id="46088" name="Rectangle 117"/>
            <p:cNvSpPr>
              <a:spLocks noChangeArrowheads="1"/>
            </p:cNvSpPr>
            <p:nvPr/>
          </p:nvSpPr>
          <p:spPr bwMode="auto">
            <a:xfrm>
              <a:off x="845658" y="1188720"/>
              <a:ext cx="915035" cy="299003"/>
            </a:xfrm>
            <a:prstGeom prst="rect">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1195">
                  <a:latin typeface="Calibri" panose="020F0502020204030204" pitchFamily="34" charset="0"/>
                  <a:cs typeface="Times New Roman" panose="02020603050405020304" pitchFamily="18" charset="0"/>
                </a:rPr>
                <a:t>语句序列</a:t>
              </a:r>
              <a:endParaRPr lang="zh-CN" altLang="en-US" sz="1195">
                <a:latin typeface="Arial" panose="020B0604020202020204" pitchFamily="34" charset="0"/>
              </a:endParaRPr>
            </a:p>
          </p:txBody>
        </p:sp>
        <p:sp>
          <p:nvSpPr>
            <p:cNvPr id="46089" name="AutoShape 118"/>
            <p:cNvSpPr>
              <a:spLocks noChangeArrowheads="1"/>
            </p:cNvSpPr>
            <p:nvPr/>
          </p:nvSpPr>
          <p:spPr bwMode="auto">
            <a:xfrm>
              <a:off x="617082" y="495178"/>
              <a:ext cx="1372187" cy="396726"/>
            </a:xfrm>
            <a:prstGeom prst="diamond">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1195">
                  <a:latin typeface="Calibri" panose="020F0502020204030204" pitchFamily="34" charset="0"/>
                  <a:cs typeface="Times New Roman" panose="02020603050405020304" pitchFamily="18" charset="0"/>
                </a:rPr>
                <a:t>布尔表达式</a:t>
              </a:r>
              <a:endParaRPr lang="zh-CN" altLang="en-US" sz="1195">
                <a:latin typeface="Arial" panose="020B0604020202020204" pitchFamily="34" charset="0"/>
              </a:endParaRPr>
            </a:p>
          </p:txBody>
        </p:sp>
        <p:sp>
          <p:nvSpPr>
            <p:cNvPr id="46090" name="Rectangle 119"/>
            <p:cNvSpPr>
              <a:spLocks noChangeArrowheads="1"/>
            </p:cNvSpPr>
            <p:nvPr/>
          </p:nvSpPr>
          <p:spPr bwMode="auto">
            <a:xfrm>
              <a:off x="845658" y="891905"/>
              <a:ext cx="569614" cy="296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1195">
                  <a:latin typeface="Calibri" panose="020F0502020204030204" pitchFamily="34" charset="0"/>
                  <a:cs typeface="Times New Roman" panose="02020603050405020304" pitchFamily="18" charset="0"/>
                </a:rPr>
                <a:t>true</a:t>
              </a:r>
              <a:endParaRPr lang="en-US" altLang="zh-CN" sz="1195">
                <a:latin typeface="Arial" panose="020B0604020202020204" pitchFamily="34" charset="0"/>
              </a:endParaRPr>
            </a:p>
          </p:txBody>
        </p:sp>
        <p:sp>
          <p:nvSpPr>
            <p:cNvPr id="46091" name="Line 120"/>
            <p:cNvSpPr>
              <a:spLocks noChangeShapeType="1"/>
            </p:cNvSpPr>
            <p:nvPr/>
          </p:nvSpPr>
          <p:spPr bwMode="auto">
            <a:xfrm>
              <a:off x="1302810" y="198363"/>
              <a:ext cx="730" cy="29608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6092" name="Line 121"/>
            <p:cNvSpPr>
              <a:spLocks noChangeShapeType="1"/>
            </p:cNvSpPr>
            <p:nvPr/>
          </p:nvSpPr>
          <p:spPr bwMode="auto">
            <a:xfrm>
              <a:off x="1943262" y="693542"/>
              <a:ext cx="617082" cy="72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46093" name="Line 122"/>
            <p:cNvSpPr>
              <a:spLocks noChangeShapeType="1"/>
            </p:cNvSpPr>
            <p:nvPr/>
          </p:nvSpPr>
          <p:spPr bwMode="auto">
            <a:xfrm>
              <a:off x="2560344" y="693542"/>
              <a:ext cx="730" cy="118872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6094" name="Line 123"/>
            <p:cNvSpPr>
              <a:spLocks noChangeShapeType="1"/>
            </p:cNvSpPr>
            <p:nvPr/>
          </p:nvSpPr>
          <p:spPr bwMode="auto">
            <a:xfrm>
              <a:off x="1302810" y="891905"/>
              <a:ext cx="730" cy="29608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6095" name="Rectangle 124"/>
            <p:cNvSpPr>
              <a:spLocks noChangeArrowheads="1"/>
            </p:cNvSpPr>
            <p:nvPr/>
          </p:nvSpPr>
          <p:spPr bwMode="auto">
            <a:xfrm>
              <a:off x="1982061" y="472399"/>
              <a:ext cx="569614" cy="296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1195">
                  <a:latin typeface="Calibri" panose="020F0502020204030204" pitchFamily="34" charset="0"/>
                  <a:cs typeface="Times New Roman" panose="02020603050405020304" pitchFamily="18" charset="0"/>
                </a:rPr>
                <a:t>false</a:t>
              </a:r>
              <a:endParaRPr lang="en-US" altLang="zh-CN" sz="1195">
                <a:latin typeface="Arial" panose="020B0604020202020204" pitchFamily="34" charset="0"/>
              </a:endParaRPr>
            </a:p>
          </p:txBody>
        </p:sp>
        <p:sp>
          <p:nvSpPr>
            <p:cNvPr id="46096" name="Line 125"/>
            <p:cNvSpPr>
              <a:spLocks noChangeShapeType="1"/>
            </p:cNvSpPr>
            <p:nvPr/>
          </p:nvSpPr>
          <p:spPr bwMode="auto">
            <a:xfrm>
              <a:off x="1302810" y="1486265"/>
              <a:ext cx="730" cy="19836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6097" name="Line 126"/>
            <p:cNvSpPr>
              <a:spLocks noChangeShapeType="1"/>
            </p:cNvSpPr>
            <p:nvPr/>
          </p:nvSpPr>
          <p:spPr bwMode="auto">
            <a:xfrm flipH="1">
              <a:off x="1302810" y="1882262"/>
              <a:ext cx="1257533" cy="72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6098" name="Line 127"/>
            <p:cNvSpPr>
              <a:spLocks noChangeShapeType="1"/>
            </p:cNvSpPr>
            <p:nvPr/>
          </p:nvSpPr>
          <p:spPr bwMode="auto">
            <a:xfrm>
              <a:off x="1302810" y="1882262"/>
              <a:ext cx="730" cy="19836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6099" name="Line 128"/>
            <p:cNvSpPr>
              <a:spLocks noChangeShapeType="1"/>
            </p:cNvSpPr>
            <p:nvPr/>
          </p:nvSpPr>
          <p:spPr bwMode="auto">
            <a:xfrm flipH="1">
              <a:off x="159930" y="1684628"/>
              <a:ext cx="114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46100" name="Line 129"/>
            <p:cNvSpPr>
              <a:spLocks noChangeShapeType="1"/>
            </p:cNvSpPr>
            <p:nvPr/>
          </p:nvSpPr>
          <p:spPr bwMode="auto">
            <a:xfrm flipV="1">
              <a:off x="159930" y="693542"/>
              <a:ext cx="0" cy="99108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6101" name="Line 130"/>
            <p:cNvSpPr>
              <a:spLocks noChangeShapeType="1"/>
            </p:cNvSpPr>
            <p:nvPr/>
          </p:nvSpPr>
          <p:spPr bwMode="auto">
            <a:xfrm>
              <a:off x="159930" y="693542"/>
              <a:ext cx="457152"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grpSp>
      <p:sp>
        <p:nvSpPr>
          <p:cNvPr id="46086" name="Rectangle 22"/>
          <p:cNvSpPr>
            <a:spLocks noChangeArrowheads="1"/>
          </p:cNvSpPr>
          <p:nvPr/>
        </p:nvSpPr>
        <p:spPr bwMode="auto">
          <a:xfrm>
            <a:off x="6870624" y="5442835"/>
            <a:ext cx="3115708" cy="41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925" tIns="39462" rIns="78925" bIns="39462" anchor="ctr">
            <a:spAutoFit/>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2170">
                <a:cs typeface="Times New Roman" panose="02020603050405020304" pitchFamily="18" charset="0"/>
              </a:rPr>
              <a:t>图</a:t>
            </a:r>
            <a:r>
              <a:rPr lang="en-US" altLang="zh-CN" sz="2170">
                <a:cs typeface="Times New Roman" panose="02020603050405020304" pitchFamily="18" charset="0"/>
              </a:rPr>
              <a:t>2-6  while</a:t>
            </a:r>
            <a:r>
              <a:rPr lang="zh-CN" altLang="en-US" sz="2170">
                <a:cs typeface="Times New Roman" panose="02020603050405020304" pitchFamily="18" charset="0"/>
              </a:rPr>
              <a:t>语句流程</a:t>
            </a:r>
            <a:endParaRPr lang="zh-CN" altLang="en-US" sz="217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内容占位符 1"/>
          <p:cNvSpPr>
            <a:spLocks noGrp="1"/>
          </p:cNvSpPr>
          <p:nvPr>
            <p:ph idx="4294967295"/>
          </p:nvPr>
        </p:nvSpPr>
        <p:spPr>
          <a:xfrm>
            <a:off x="538279" y="635797"/>
            <a:ext cx="6229506" cy="4525523"/>
          </a:xfrm>
        </p:spPr>
        <p:txBody>
          <a:bodyPr>
            <a:noAutofit/>
          </a:bodyPr>
          <a:lstStyle/>
          <a:p>
            <a:pPr marL="0" indent="353060">
              <a:buNone/>
            </a:pP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do…while</a:t>
            </a:r>
            <a:r>
              <a:rPr lang="zh-CN" altLang="en-US" sz="2800" b="1" dirty="0">
                <a:latin typeface="宋体" panose="02010600030101010101" pitchFamily="2" charset="-122"/>
                <a:ea typeface="宋体" panose="02010600030101010101" pitchFamily="2" charset="-122"/>
              </a:rPr>
              <a:t>结构是一种</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直到型</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循环，与</a:t>
            </a:r>
            <a:r>
              <a:rPr lang="en-US" altLang="zh-CN" sz="2800" b="1" dirty="0">
                <a:latin typeface="宋体" panose="02010600030101010101" pitchFamily="2" charset="-122"/>
                <a:ea typeface="宋体" panose="02010600030101010101" pitchFamily="2" charset="-122"/>
              </a:rPr>
              <a:t>while</a:t>
            </a:r>
            <a:r>
              <a:rPr lang="zh-CN" altLang="en-US" sz="2800" b="1" dirty="0">
                <a:latin typeface="宋体" panose="02010600030101010101" pitchFamily="2" charset="-122"/>
                <a:ea typeface="宋体" panose="02010600030101010101" pitchFamily="2" charset="-122"/>
              </a:rPr>
              <a:t>结构正好相反，它是先执行循环体，再进行条件判断。</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语法结构如下：</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solidFill>
                  <a:srgbClr val="FF3300"/>
                </a:solidFill>
                <a:latin typeface="宋体" panose="02010600030101010101" pitchFamily="2" charset="-122"/>
                <a:ea typeface="宋体" panose="02010600030101010101" pitchFamily="2" charset="-122"/>
              </a:rPr>
              <a:t>do</a:t>
            </a:r>
            <a:endParaRPr lang="zh-CN" altLang="en-US" sz="2800" b="1" dirty="0">
              <a:solidFill>
                <a:srgbClr val="FF3300"/>
              </a:solidFill>
              <a:latin typeface="宋体" panose="02010600030101010101" pitchFamily="2" charset="-122"/>
              <a:ea typeface="宋体" panose="02010600030101010101" pitchFamily="2" charset="-122"/>
            </a:endParaRPr>
          </a:p>
          <a:p>
            <a:pPr marL="0" indent="353060">
              <a:buNone/>
            </a:pPr>
            <a:r>
              <a:rPr lang="en-US" altLang="zh-CN" sz="2800" b="1" dirty="0">
                <a:solidFill>
                  <a:srgbClr val="FF3300"/>
                </a:solidFill>
                <a:latin typeface="宋体" panose="02010600030101010101" pitchFamily="2" charset="-122"/>
                <a:ea typeface="宋体" panose="02010600030101010101" pitchFamily="2" charset="-122"/>
              </a:rPr>
              <a:t>{</a:t>
            </a:r>
            <a:endParaRPr lang="zh-CN" altLang="en-US" sz="2800" b="1" dirty="0">
              <a:solidFill>
                <a:srgbClr val="FF3300"/>
              </a:solidFill>
              <a:latin typeface="宋体" panose="02010600030101010101" pitchFamily="2" charset="-122"/>
              <a:ea typeface="宋体" panose="02010600030101010101" pitchFamily="2" charset="-122"/>
            </a:endParaRPr>
          </a:p>
          <a:p>
            <a:pPr marL="0" indent="353060">
              <a:buNone/>
            </a:pPr>
            <a:r>
              <a:rPr lang="zh-CN" altLang="en-US" sz="2800" b="1" dirty="0">
                <a:solidFill>
                  <a:srgbClr val="FF3300"/>
                </a:solidFill>
                <a:latin typeface="宋体" panose="02010600030101010101" pitchFamily="2" charset="-122"/>
                <a:ea typeface="宋体" panose="02010600030101010101" pitchFamily="2" charset="-122"/>
              </a:rPr>
              <a:t>     语句序列</a:t>
            </a:r>
            <a:endParaRPr lang="zh-CN" altLang="en-US" sz="2800" b="1" dirty="0">
              <a:solidFill>
                <a:srgbClr val="FF3300"/>
              </a:solidFill>
              <a:latin typeface="宋体" panose="02010600030101010101" pitchFamily="2" charset="-122"/>
              <a:ea typeface="宋体" panose="02010600030101010101" pitchFamily="2" charset="-122"/>
            </a:endParaRPr>
          </a:p>
          <a:p>
            <a:pPr marL="0" indent="353060">
              <a:buNone/>
            </a:pPr>
            <a:r>
              <a:rPr lang="en-US" altLang="zh-CN" sz="2800" b="1" dirty="0">
                <a:solidFill>
                  <a:srgbClr val="FF3300"/>
                </a:solidFill>
                <a:latin typeface="宋体" panose="02010600030101010101" pitchFamily="2" charset="-122"/>
                <a:ea typeface="宋体" panose="02010600030101010101" pitchFamily="2" charset="-122"/>
              </a:rPr>
              <a:t>}while</a:t>
            </a:r>
            <a:r>
              <a:rPr lang="zh-CN" altLang="en-US" sz="2800" b="1" dirty="0">
                <a:solidFill>
                  <a:srgbClr val="FF3300"/>
                </a:solidFill>
                <a:latin typeface="宋体" panose="02010600030101010101" pitchFamily="2" charset="-122"/>
                <a:ea typeface="宋体" panose="02010600030101010101" pitchFamily="2" charset="-122"/>
              </a:rPr>
              <a:t>（布尔表达式）；</a:t>
            </a:r>
            <a:endParaRPr lang="zh-CN" altLang="en-US" sz="2800" b="1" dirty="0">
              <a:solidFill>
                <a:srgbClr val="FF3300"/>
              </a:solidFill>
              <a:latin typeface="宋体" panose="02010600030101010101" pitchFamily="2" charset="-122"/>
              <a:ea typeface="宋体" panose="02010600030101010101" pitchFamily="2" charset="-122"/>
            </a:endParaRPr>
          </a:p>
        </p:txBody>
      </p:sp>
      <p:sp>
        <p:nvSpPr>
          <p:cNvPr id="47110" name="标题 2"/>
          <p:cNvSpPr>
            <a:spLocks noGrp="1"/>
          </p:cNvSpPr>
          <p:nvPr>
            <p:ph type="title" idx="4294967295"/>
          </p:nvPr>
        </p:nvSpPr>
        <p:spPr>
          <a:xfrm>
            <a:off x="455938" y="357415"/>
            <a:ext cx="8147318" cy="914055"/>
          </a:xfrm>
        </p:spPr>
        <p:txBody>
          <a:bodyPr/>
          <a:lstStyle/>
          <a:p>
            <a:r>
              <a:rPr lang="en-US" altLang="zh-CN" sz="4335" dirty="0">
                <a:latin typeface="宋体" panose="02010600030101010101" pitchFamily="2" charset="-122"/>
                <a:ea typeface="宋体" panose="02010600030101010101" pitchFamily="2" charset="-122"/>
              </a:rPr>
              <a:t>2</a:t>
            </a:r>
            <a:r>
              <a:rPr lang="zh-CN" altLang="en-US" sz="4335" dirty="0">
                <a:latin typeface="宋体" panose="02010600030101010101" pitchFamily="2" charset="-122"/>
                <a:ea typeface="宋体" panose="02010600030101010101" pitchFamily="2" charset="-122"/>
              </a:rPr>
              <a:t>、</a:t>
            </a:r>
            <a:r>
              <a:rPr lang="en-US" altLang="zh-CN" sz="3905" dirty="0">
                <a:latin typeface="宋体" panose="02010600030101010101" pitchFamily="2" charset="-122"/>
                <a:ea typeface="宋体" panose="02010600030101010101" pitchFamily="2" charset="-122"/>
              </a:rPr>
              <a:t>do…while</a:t>
            </a:r>
            <a:r>
              <a:rPr lang="zh-CN" altLang="en-US" sz="4335" dirty="0">
                <a:latin typeface="宋体" panose="02010600030101010101" pitchFamily="2" charset="-122"/>
                <a:ea typeface="宋体" panose="02010600030101010101" pitchFamily="2" charset="-122"/>
              </a:rPr>
              <a:t>语句</a:t>
            </a:r>
            <a:endParaRPr lang="en-US" altLang="zh-CN" sz="4335" dirty="0">
              <a:latin typeface="宋体" panose="02010600030101010101" pitchFamily="2" charset="-122"/>
              <a:ea typeface="宋体" panose="02010600030101010101" pitchFamily="2" charset="-122"/>
            </a:endParaRPr>
          </a:p>
        </p:txBody>
      </p:sp>
      <p:sp>
        <p:nvSpPr>
          <p:cNvPr id="47107" name="Rectangle 13"/>
          <p:cNvSpPr>
            <a:spLocks noChangeArrowheads="1"/>
          </p:cNvSpPr>
          <p:nvPr/>
        </p:nvSpPr>
        <p:spPr bwMode="auto">
          <a:xfrm>
            <a:off x="1303663" y="49733"/>
            <a:ext cx="159456" cy="41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8925" tIns="39462" rIns="78925" bIns="39462" anchor="ct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2170"/>
          </a:p>
        </p:txBody>
      </p:sp>
      <p:grpSp>
        <p:nvGrpSpPr>
          <p:cNvPr id="47108" name="Group 4"/>
          <p:cNvGrpSpPr/>
          <p:nvPr/>
        </p:nvGrpSpPr>
        <p:grpSpPr bwMode="auto">
          <a:xfrm>
            <a:off x="6405849" y="1492443"/>
            <a:ext cx="4103783" cy="3513347"/>
            <a:chOff x="0" y="0"/>
            <a:chExt cx="2743200" cy="1981200"/>
          </a:xfrm>
        </p:grpSpPr>
        <p:sp>
          <p:nvSpPr>
            <p:cNvPr id="47111" name="AutoShape 12"/>
            <p:cNvSpPr>
              <a:spLocks noRot="1" noChangeAspect="1" noChangeArrowheads="1"/>
            </p:cNvSpPr>
            <p:nvPr/>
          </p:nvSpPr>
          <p:spPr bwMode="auto">
            <a:xfrm>
              <a:off x="0" y="0"/>
              <a:ext cx="27432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1195"/>
            </a:p>
          </p:txBody>
        </p:sp>
        <p:sp>
          <p:nvSpPr>
            <p:cNvPr id="47112" name="Rectangle 105"/>
            <p:cNvSpPr>
              <a:spLocks noChangeArrowheads="1"/>
            </p:cNvSpPr>
            <p:nvPr/>
          </p:nvSpPr>
          <p:spPr bwMode="auto">
            <a:xfrm>
              <a:off x="1143000" y="495300"/>
              <a:ext cx="915861" cy="299077"/>
            </a:xfrm>
            <a:prstGeom prst="rect">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1195">
                  <a:latin typeface="Calibri" panose="020F0502020204030204" pitchFamily="34" charset="0"/>
                  <a:cs typeface="Times New Roman" panose="02020603050405020304" pitchFamily="18" charset="0"/>
                </a:rPr>
                <a:t>语句序列</a:t>
              </a:r>
              <a:endParaRPr lang="zh-CN" altLang="en-US" sz="1195">
                <a:latin typeface="Arial" panose="020B0604020202020204" pitchFamily="34" charset="0"/>
              </a:endParaRPr>
            </a:p>
          </p:txBody>
        </p:sp>
        <p:sp>
          <p:nvSpPr>
            <p:cNvPr id="47113" name="AutoShape 106"/>
            <p:cNvSpPr>
              <a:spLocks noChangeArrowheads="1"/>
            </p:cNvSpPr>
            <p:nvPr/>
          </p:nvSpPr>
          <p:spPr bwMode="auto">
            <a:xfrm>
              <a:off x="914400" y="1089806"/>
              <a:ext cx="1373061" cy="396824"/>
            </a:xfrm>
            <a:prstGeom prst="diamond">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1195">
                  <a:latin typeface="Calibri" panose="020F0502020204030204" pitchFamily="34" charset="0"/>
                  <a:cs typeface="Times New Roman" panose="02020603050405020304" pitchFamily="18" charset="0"/>
                </a:rPr>
                <a:t>布尔表达式</a:t>
              </a:r>
              <a:endParaRPr lang="zh-CN" altLang="en-US" sz="1195">
                <a:latin typeface="Arial" panose="020B0604020202020204" pitchFamily="34" charset="0"/>
              </a:endParaRPr>
            </a:p>
          </p:txBody>
        </p:sp>
        <p:sp>
          <p:nvSpPr>
            <p:cNvPr id="47114" name="Line 107"/>
            <p:cNvSpPr>
              <a:spLocks noChangeShapeType="1"/>
            </p:cNvSpPr>
            <p:nvPr/>
          </p:nvSpPr>
          <p:spPr bwMode="auto">
            <a:xfrm>
              <a:off x="1600200" y="198412"/>
              <a:ext cx="1461" cy="29615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7115" name="Line 108"/>
            <p:cNvSpPr>
              <a:spLocks noChangeShapeType="1"/>
            </p:cNvSpPr>
            <p:nvPr/>
          </p:nvSpPr>
          <p:spPr bwMode="auto">
            <a:xfrm>
              <a:off x="1600200" y="792918"/>
              <a:ext cx="1461" cy="29615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7116" name="Rectangle 109"/>
            <p:cNvSpPr>
              <a:spLocks noChangeArrowheads="1"/>
            </p:cNvSpPr>
            <p:nvPr/>
          </p:nvSpPr>
          <p:spPr bwMode="auto">
            <a:xfrm>
              <a:off x="1029065" y="1485900"/>
              <a:ext cx="568944" cy="2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1195">
                  <a:latin typeface="Calibri" panose="020F0502020204030204" pitchFamily="34" charset="0"/>
                  <a:cs typeface="Times New Roman" panose="02020603050405020304" pitchFamily="18" charset="0"/>
                </a:rPr>
                <a:t>false</a:t>
              </a:r>
              <a:endParaRPr lang="en-US" altLang="zh-CN" sz="1195">
                <a:latin typeface="Arial" panose="020B0604020202020204" pitchFamily="34" charset="0"/>
              </a:endParaRPr>
            </a:p>
          </p:txBody>
        </p:sp>
        <p:sp>
          <p:nvSpPr>
            <p:cNvPr id="47117" name="Line 110"/>
            <p:cNvSpPr>
              <a:spLocks noChangeShapeType="1"/>
            </p:cNvSpPr>
            <p:nvPr/>
          </p:nvSpPr>
          <p:spPr bwMode="auto">
            <a:xfrm>
              <a:off x="1600200" y="1485900"/>
              <a:ext cx="730" cy="3968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7118" name="Line 111"/>
            <p:cNvSpPr>
              <a:spLocks noChangeShapeType="1"/>
            </p:cNvSpPr>
            <p:nvPr/>
          </p:nvSpPr>
          <p:spPr bwMode="auto">
            <a:xfrm flipH="1">
              <a:off x="571865" y="1288218"/>
              <a:ext cx="342535" cy="72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47119" name="Line 112"/>
            <p:cNvSpPr>
              <a:spLocks noChangeShapeType="1"/>
            </p:cNvSpPr>
            <p:nvPr/>
          </p:nvSpPr>
          <p:spPr bwMode="auto">
            <a:xfrm flipH="1" flipV="1">
              <a:off x="571865" y="594506"/>
              <a:ext cx="730" cy="6937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7120" name="Line 113"/>
            <p:cNvSpPr>
              <a:spLocks noChangeShapeType="1"/>
            </p:cNvSpPr>
            <p:nvPr/>
          </p:nvSpPr>
          <p:spPr bwMode="auto">
            <a:xfrm>
              <a:off x="571865" y="594506"/>
              <a:ext cx="571135" cy="72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7121" name="Rectangle 114"/>
            <p:cNvSpPr>
              <a:spLocks noChangeArrowheads="1"/>
            </p:cNvSpPr>
            <p:nvPr/>
          </p:nvSpPr>
          <p:spPr bwMode="auto">
            <a:xfrm>
              <a:off x="114665" y="792918"/>
              <a:ext cx="568944" cy="29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1195">
                  <a:latin typeface="Calibri" panose="020F0502020204030204" pitchFamily="34" charset="0"/>
                  <a:cs typeface="Times New Roman" panose="02020603050405020304" pitchFamily="18" charset="0"/>
                </a:rPr>
                <a:t>true</a:t>
              </a:r>
              <a:endParaRPr lang="en-US" altLang="zh-CN" sz="1195">
                <a:latin typeface="Arial" panose="020B0604020202020204" pitchFamily="34" charset="0"/>
              </a:endParaRPr>
            </a:p>
          </p:txBody>
        </p:sp>
      </p:grpSp>
      <p:sp>
        <p:nvSpPr>
          <p:cNvPr id="47109" name="Rectangle 18"/>
          <p:cNvSpPr>
            <a:spLocks noChangeArrowheads="1"/>
          </p:cNvSpPr>
          <p:nvPr/>
        </p:nvSpPr>
        <p:spPr bwMode="auto">
          <a:xfrm>
            <a:off x="7103011" y="5365373"/>
            <a:ext cx="3253419" cy="41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925" tIns="39462" rIns="78925" bIns="39462" anchor="ctr">
            <a:spAutoFit/>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2170">
                <a:cs typeface="Times New Roman" panose="02020603050405020304" pitchFamily="18" charset="0"/>
              </a:rPr>
              <a:t>图</a:t>
            </a:r>
            <a:r>
              <a:rPr lang="en-US" altLang="zh-CN" sz="2170">
                <a:cs typeface="Times New Roman" panose="02020603050405020304" pitchFamily="18" charset="0"/>
              </a:rPr>
              <a:t>2-7  do</a:t>
            </a:r>
            <a:r>
              <a:rPr lang="en-US" altLang="zh-CN" sz="2170">
                <a:latin typeface="Arial" panose="020B0604020202020204" pitchFamily="34" charset="0"/>
                <a:cs typeface="Times New Roman" panose="02020603050405020304" pitchFamily="18" charset="0"/>
              </a:rPr>
              <a:t>…</a:t>
            </a:r>
            <a:r>
              <a:rPr lang="en-US" altLang="zh-CN" sz="2170">
                <a:cs typeface="Times New Roman" panose="02020603050405020304" pitchFamily="18" charset="0"/>
              </a:rPr>
              <a:t>while</a:t>
            </a:r>
            <a:r>
              <a:rPr lang="zh-CN" altLang="en-US" sz="2170">
                <a:cs typeface="Times New Roman" panose="02020603050405020304" pitchFamily="18" charset="0"/>
              </a:rPr>
              <a:t>流程</a:t>
            </a:r>
            <a:endParaRPr lang="zh-CN" altLang="en-US" sz="217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内容占位符 1"/>
          <p:cNvSpPr>
            <a:spLocks noGrp="1"/>
          </p:cNvSpPr>
          <p:nvPr>
            <p:ph idx="4294967295"/>
          </p:nvPr>
        </p:nvSpPr>
        <p:spPr>
          <a:xfrm>
            <a:off x="779787" y="1178724"/>
            <a:ext cx="11152893" cy="2662984"/>
          </a:xfrm>
        </p:spPr>
        <p:txBody>
          <a:bodyPr>
            <a:noAutofit/>
          </a:bodyPr>
          <a:lstStyle/>
          <a:p>
            <a:pPr marL="0" indent="353060">
              <a:buNone/>
            </a:pPr>
            <a:r>
              <a:rPr lang="zh-CN" altLang="en-US" sz="2800" b="1" dirty="0">
                <a:latin typeface="宋体" panose="02010600030101010101" pitchFamily="2" charset="-122"/>
                <a:ea typeface="宋体" panose="02010600030101010101" pitchFamily="2" charset="-122"/>
              </a:rPr>
              <a:t>语法结构如下：</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solidFill>
                  <a:srgbClr val="FF3300"/>
                </a:solidFill>
                <a:latin typeface="宋体" panose="02010600030101010101" pitchFamily="2" charset="-122"/>
                <a:ea typeface="宋体" panose="02010600030101010101" pitchFamily="2" charset="-122"/>
              </a:rPr>
              <a:t>for</a:t>
            </a:r>
            <a:r>
              <a:rPr lang="zh-CN" altLang="en-US" sz="2800" b="1" dirty="0">
                <a:solidFill>
                  <a:srgbClr val="FF3300"/>
                </a:solidFill>
                <a:latin typeface="宋体" panose="02010600030101010101" pitchFamily="2" charset="-122"/>
                <a:ea typeface="宋体" panose="02010600030101010101" pitchFamily="2" charset="-122"/>
              </a:rPr>
              <a:t>（</a:t>
            </a:r>
            <a:r>
              <a:rPr lang="en-US" altLang="zh-CN" sz="2800" b="1" dirty="0">
                <a:solidFill>
                  <a:srgbClr val="FF3300"/>
                </a:solidFill>
                <a:latin typeface="宋体" panose="02010600030101010101" pitchFamily="2" charset="-122"/>
                <a:ea typeface="宋体" panose="02010600030101010101" pitchFamily="2" charset="-122"/>
              </a:rPr>
              <a:t>[</a:t>
            </a:r>
            <a:r>
              <a:rPr lang="zh-CN" altLang="en-US" sz="2800" b="1" dirty="0">
                <a:solidFill>
                  <a:srgbClr val="FF3300"/>
                </a:solidFill>
                <a:latin typeface="宋体" panose="02010600030101010101" pitchFamily="2" charset="-122"/>
                <a:ea typeface="宋体" panose="02010600030101010101" pitchFamily="2" charset="-122"/>
              </a:rPr>
              <a:t>初始化表达式</a:t>
            </a:r>
            <a:r>
              <a:rPr lang="en-US" altLang="zh-CN" sz="2800" b="1" dirty="0">
                <a:solidFill>
                  <a:srgbClr val="FF3300"/>
                </a:solidFill>
                <a:latin typeface="宋体" panose="02010600030101010101" pitchFamily="2" charset="-122"/>
                <a:ea typeface="宋体" panose="02010600030101010101" pitchFamily="2" charset="-122"/>
              </a:rPr>
              <a:t>]</a:t>
            </a:r>
            <a:r>
              <a:rPr lang="zh-CN" altLang="en-US" sz="2800" b="1" dirty="0">
                <a:solidFill>
                  <a:srgbClr val="FF3300"/>
                </a:solidFill>
                <a:latin typeface="宋体" panose="02010600030101010101" pitchFamily="2" charset="-122"/>
                <a:ea typeface="宋体" panose="02010600030101010101" pitchFamily="2" charset="-122"/>
              </a:rPr>
              <a:t>；</a:t>
            </a:r>
            <a:r>
              <a:rPr lang="en-US" altLang="zh-CN" sz="2800" b="1" dirty="0">
                <a:solidFill>
                  <a:srgbClr val="FF3300"/>
                </a:solidFill>
                <a:latin typeface="宋体" panose="02010600030101010101" pitchFamily="2" charset="-122"/>
                <a:ea typeface="宋体" panose="02010600030101010101" pitchFamily="2" charset="-122"/>
              </a:rPr>
              <a:t>[</a:t>
            </a:r>
            <a:r>
              <a:rPr lang="zh-CN" altLang="en-US" sz="2800" b="1" dirty="0">
                <a:solidFill>
                  <a:srgbClr val="FF3300"/>
                </a:solidFill>
                <a:latin typeface="宋体" panose="02010600030101010101" pitchFamily="2" charset="-122"/>
                <a:ea typeface="宋体" panose="02010600030101010101" pitchFamily="2" charset="-122"/>
              </a:rPr>
              <a:t>循环条件表达式</a:t>
            </a:r>
            <a:r>
              <a:rPr lang="en-US" altLang="zh-CN" sz="2800" b="1" dirty="0">
                <a:solidFill>
                  <a:srgbClr val="FF3300"/>
                </a:solidFill>
                <a:latin typeface="宋体" panose="02010600030101010101" pitchFamily="2" charset="-122"/>
                <a:ea typeface="宋体" panose="02010600030101010101" pitchFamily="2" charset="-122"/>
              </a:rPr>
              <a:t>]</a:t>
            </a:r>
            <a:r>
              <a:rPr lang="zh-CN" altLang="en-US" sz="2800" b="1" dirty="0">
                <a:solidFill>
                  <a:srgbClr val="FF3300"/>
                </a:solidFill>
                <a:latin typeface="宋体" panose="02010600030101010101" pitchFamily="2" charset="-122"/>
                <a:ea typeface="宋体" panose="02010600030101010101" pitchFamily="2" charset="-122"/>
              </a:rPr>
              <a:t>；</a:t>
            </a:r>
            <a:r>
              <a:rPr lang="en-US" altLang="zh-CN" sz="2800" b="1" dirty="0">
                <a:solidFill>
                  <a:srgbClr val="FF3300"/>
                </a:solidFill>
                <a:latin typeface="宋体" panose="02010600030101010101" pitchFamily="2" charset="-122"/>
                <a:ea typeface="宋体" panose="02010600030101010101" pitchFamily="2" charset="-122"/>
              </a:rPr>
              <a:t>[</a:t>
            </a:r>
            <a:r>
              <a:rPr lang="zh-CN" altLang="en-US" sz="2800" b="1" dirty="0">
                <a:solidFill>
                  <a:srgbClr val="FF3300"/>
                </a:solidFill>
                <a:latin typeface="宋体" panose="02010600030101010101" pitchFamily="2" charset="-122"/>
                <a:ea typeface="宋体" panose="02010600030101010101" pitchFamily="2" charset="-122"/>
              </a:rPr>
              <a:t>循环后操作表达式</a:t>
            </a:r>
            <a:r>
              <a:rPr lang="en-US" altLang="zh-CN" sz="2800" b="1" dirty="0">
                <a:solidFill>
                  <a:srgbClr val="FF3300"/>
                </a:solidFill>
                <a:latin typeface="宋体" panose="02010600030101010101" pitchFamily="2" charset="-122"/>
                <a:ea typeface="宋体" panose="02010600030101010101" pitchFamily="2" charset="-122"/>
              </a:rPr>
              <a:t>]</a:t>
            </a:r>
            <a:r>
              <a:rPr lang="zh-CN" altLang="en-US" sz="2800" b="1" dirty="0">
                <a:solidFill>
                  <a:srgbClr val="FF3300"/>
                </a:solidFill>
                <a:latin typeface="宋体" panose="02010600030101010101" pitchFamily="2" charset="-122"/>
                <a:ea typeface="宋体" panose="02010600030101010101" pitchFamily="2" charset="-122"/>
              </a:rPr>
              <a:t>）</a:t>
            </a:r>
            <a:endParaRPr lang="zh-CN" altLang="en-US" sz="2800" b="1" dirty="0">
              <a:solidFill>
                <a:srgbClr val="FF3300"/>
              </a:solidFill>
              <a:latin typeface="宋体" panose="02010600030101010101" pitchFamily="2" charset="-122"/>
              <a:ea typeface="宋体" panose="02010600030101010101" pitchFamily="2" charset="-122"/>
            </a:endParaRPr>
          </a:p>
          <a:p>
            <a:pPr marL="0" indent="353060">
              <a:buNone/>
            </a:pPr>
            <a:r>
              <a:rPr lang="en-US" altLang="zh-CN" sz="2800" b="1" dirty="0">
                <a:solidFill>
                  <a:srgbClr val="FF3300"/>
                </a:solidFill>
                <a:latin typeface="宋体" panose="02010600030101010101" pitchFamily="2" charset="-122"/>
                <a:ea typeface="宋体" panose="02010600030101010101" pitchFamily="2" charset="-122"/>
              </a:rPr>
              <a:t>{</a:t>
            </a:r>
            <a:endParaRPr lang="zh-CN" altLang="en-US" sz="2800" b="1" dirty="0">
              <a:solidFill>
                <a:srgbClr val="FF3300"/>
              </a:solidFill>
              <a:latin typeface="宋体" panose="02010600030101010101" pitchFamily="2" charset="-122"/>
              <a:ea typeface="宋体" panose="02010600030101010101" pitchFamily="2" charset="-122"/>
            </a:endParaRPr>
          </a:p>
          <a:p>
            <a:pPr marL="0" indent="353060">
              <a:buNone/>
            </a:pPr>
            <a:r>
              <a:rPr lang="zh-CN" altLang="en-US" sz="2800" b="1" dirty="0">
                <a:solidFill>
                  <a:srgbClr val="FF3300"/>
                </a:solidFill>
                <a:latin typeface="宋体" panose="02010600030101010101" pitchFamily="2" charset="-122"/>
                <a:ea typeface="宋体" panose="02010600030101010101" pitchFamily="2" charset="-122"/>
              </a:rPr>
              <a:t>    语句序列</a:t>
            </a:r>
            <a:endParaRPr lang="zh-CN" altLang="en-US" sz="2800" b="1" dirty="0">
              <a:solidFill>
                <a:srgbClr val="FF3300"/>
              </a:solidFill>
              <a:latin typeface="宋体" panose="02010600030101010101" pitchFamily="2" charset="-122"/>
              <a:ea typeface="宋体" panose="02010600030101010101" pitchFamily="2" charset="-122"/>
            </a:endParaRPr>
          </a:p>
          <a:p>
            <a:pPr marL="0" indent="353060">
              <a:buNone/>
            </a:pPr>
            <a:r>
              <a:rPr lang="en-US" altLang="zh-CN" sz="2800" b="1" dirty="0">
                <a:solidFill>
                  <a:srgbClr val="FF3300"/>
                </a:solidFill>
                <a:latin typeface="宋体" panose="02010600030101010101" pitchFamily="2" charset="-122"/>
                <a:ea typeface="宋体" panose="02010600030101010101" pitchFamily="2" charset="-122"/>
              </a:rPr>
              <a:t>}</a:t>
            </a:r>
            <a:endParaRPr lang="zh-CN" altLang="en-US" sz="2800" b="1" dirty="0">
              <a:solidFill>
                <a:srgbClr val="FF3300"/>
              </a:solidFill>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48131" name="标题 2"/>
          <p:cNvSpPr>
            <a:spLocks noGrp="1"/>
          </p:cNvSpPr>
          <p:nvPr>
            <p:ph type="title" idx="4294967295"/>
          </p:nvPr>
        </p:nvSpPr>
        <p:spPr>
          <a:xfrm>
            <a:off x="263877" y="151667"/>
            <a:ext cx="8147318" cy="914055"/>
          </a:xfrm>
        </p:spPr>
        <p:txBody>
          <a:bodyPr/>
          <a:lstStyle/>
          <a:p>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for</a:t>
            </a:r>
            <a:r>
              <a:rPr lang="zh-CN" altLang="en-US" dirty="0">
                <a:latin typeface="宋体" panose="02010600030101010101" pitchFamily="2" charset="-122"/>
                <a:ea typeface="宋体" panose="02010600030101010101" pitchFamily="2" charset="-122"/>
              </a:rPr>
              <a:t>语句</a:t>
            </a:r>
            <a:endParaRPr lang="zh-CN" altLang="en-US" dirty="0">
              <a:latin typeface="宋体" panose="02010600030101010101" pitchFamily="2" charset="-122"/>
              <a:ea typeface="宋体" panose="02010600030101010101" pitchFamily="2" charset="-122"/>
            </a:endParaRPr>
          </a:p>
        </p:txBody>
      </p:sp>
      <p:sp>
        <p:nvSpPr>
          <p:cNvPr id="48132" name="Rectangle 17"/>
          <p:cNvSpPr>
            <a:spLocks noChangeArrowheads="1"/>
          </p:cNvSpPr>
          <p:nvPr/>
        </p:nvSpPr>
        <p:spPr bwMode="auto">
          <a:xfrm>
            <a:off x="1303663" y="49733"/>
            <a:ext cx="159456" cy="41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8925" tIns="39462" rIns="78925" bIns="39462" anchor="ctr">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2170"/>
          </a:p>
        </p:txBody>
      </p:sp>
      <p:grpSp>
        <p:nvGrpSpPr>
          <p:cNvPr id="48133" name="Group 5"/>
          <p:cNvGrpSpPr/>
          <p:nvPr/>
        </p:nvGrpSpPr>
        <p:grpSpPr bwMode="auto">
          <a:xfrm>
            <a:off x="3117545" y="3429000"/>
            <a:ext cx="7443271" cy="3578761"/>
            <a:chOff x="0" y="0"/>
            <a:chExt cx="5074920" cy="1981200"/>
          </a:xfrm>
        </p:grpSpPr>
        <p:sp>
          <p:nvSpPr>
            <p:cNvPr id="48135" name="AutoShape 16"/>
            <p:cNvSpPr>
              <a:spLocks noRot="1" noChangeAspect="1" noChangeArrowheads="1"/>
            </p:cNvSpPr>
            <p:nvPr/>
          </p:nvSpPr>
          <p:spPr bwMode="auto">
            <a:xfrm>
              <a:off x="0" y="0"/>
              <a:ext cx="507492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1195"/>
            </a:p>
          </p:txBody>
        </p:sp>
        <p:sp>
          <p:nvSpPr>
            <p:cNvPr id="48136" name="Rectangle 90"/>
            <p:cNvSpPr>
              <a:spLocks noChangeArrowheads="1"/>
            </p:cNvSpPr>
            <p:nvPr/>
          </p:nvSpPr>
          <p:spPr bwMode="auto">
            <a:xfrm>
              <a:off x="503183" y="396094"/>
              <a:ext cx="915078" cy="299077"/>
            </a:xfrm>
            <a:prstGeom prst="rect">
              <a:avLst/>
            </a:prstGeom>
            <a:solidFill>
              <a:srgbClr val="FFFFFF"/>
            </a:solidFill>
            <a:ln w="9525">
              <a:solidFill>
                <a:srgbClr val="000000"/>
              </a:solidFill>
              <a:miter lim="800000"/>
            </a:ln>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1195">
                  <a:latin typeface="Calibri" panose="020F0502020204030204" pitchFamily="34" charset="0"/>
                  <a:cs typeface="Times New Roman" panose="02020603050405020304" pitchFamily="18" charset="0"/>
                </a:rPr>
                <a:t>初始化表达式</a:t>
              </a:r>
              <a:endParaRPr lang="zh-CN" altLang="en-US" sz="1195">
                <a:latin typeface="Arial" panose="020B0604020202020204" pitchFamily="34" charset="0"/>
              </a:endParaRPr>
            </a:p>
          </p:txBody>
        </p:sp>
        <p:sp>
          <p:nvSpPr>
            <p:cNvPr id="48137" name="AutoShape 91"/>
            <p:cNvSpPr>
              <a:spLocks noChangeArrowheads="1"/>
            </p:cNvSpPr>
            <p:nvPr/>
          </p:nvSpPr>
          <p:spPr bwMode="auto">
            <a:xfrm>
              <a:off x="274596" y="990600"/>
              <a:ext cx="1371521" cy="396094"/>
            </a:xfrm>
            <a:prstGeom prst="diamond">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pPr>
              <a:endParaRPr lang="zh-CN" altLang="en-US" sz="1195">
                <a:latin typeface="Arial" panose="020B0604020202020204" pitchFamily="34" charset="0"/>
              </a:endParaRPr>
            </a:p>
          </p:txBody>
        </p:sp>
        <p:sp>
          <p:nvSpPr>
            <p:cNvPr id="48138" name="Line 92"/>
            <p:cNvSpPr>
              <a:spLocks noChangeShapeType="1"/>
            </p:cNvSpPr>
            <p:nvPr/>
          </p:nvSpPr>
          <p:spPr bwMode="auto">
            <a:xfrm>
              <a:off x="960357" y="99206"/>
              <a:ext cx="730" cy="29615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8139" name="Line 93"/>
            <p:cNvSpPr>
              <a:spLocks noChangeShapeType="1"/>
            </p:cNvSpPr>
            <p:nvPr/>
          </p:nvSpPr>
          <p:spPr bwMode="auto">
            <a:xfrm>
              <a:off x="960357" y="692982"/>
              <a:ext cx="730" cy="29615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8140" name="Rectangle 94"/>
            <p:cNvSpPr>
              <a:spLocks noChangeArrowheads="1"/>
            </p:cNvSpPr>
            <p:nvPr/>
          </p:nvSpPr>
          <p:spPr bwMode="auto">
            <a:xfrm>
              <a:off x="503183" y="1386694"/>
              <a:ext cx="568911" cy="2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1195">
                  <a:latin typeface="Calibri" panose="020F0502020204030204" pitchFamily="34" charset="0"/>
                  <a:cs typeface="Times New Roman" panose="02020603050405020304" pitchFamily="18" charset="0"/>
                </a:rPr>
                <a:t>false</a:t>
              </a:r>
              <a:endParaRPr lang="en-US" altLang="zh-CN" sz="1195">
                <a:latin typeface="Arial" panose="020B0604020202020204" pitchFamily="34" charset="0"/>
              </a:endParaRPr>
            </a:p>
          </p:txBody>
        </p:sp>
        <p:sp>
          <p:nvSpPr>
            <p:cNvPr id="48141" name="Line 95"/>
            <p:cNvSpPr>
              <a:spLocks noChangeShapeType="1"/>
            </p:cNvSpPr>
            <p:nvPr/>
          </p:nvSpPr>
          <p:spPr bwMode="auto">
            <a:xfrm>
              <a:off x="960357" y="1386694"/>
              <a:ext cx="730" cy="3968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8142" name="Rectangle 96"/>
            <p:cNvSpPr>
              <a:spLocks noChangeArrowheads="1"/>
            </p:cNvSpPr>
            <p:nvPr/>
          </p:nvSpPr>
          <p:spPr bwMode="auto">
            <a:xfrm>
              <a:off x="1646117" y="891394"/>
              <a:ext cx="568911" cy="29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en-US" altLang="zh-CN" sz="1195">
                  <a:latin typeface="Calibri" panose="020F0502020204030204" pitchFamily="34" charset="0"/>
                  <a:cs typeface="Times New Roman" panose="02020603050405020304" pitchFamily="18" charset="0"/>
                </a:rPr>
                <a:t>true</a:t>
              </a:r>
              <a:endParaRPr lang="en-US" altLang="zh-CN" sz="1195">
                <a:latin typeface="Arial" panose="020B0604020202020204" pitchFamily="34" charset="0"/>
              </a:endParaRPr>
            </a:p>
          </p:txBody>
        </p:sp>
        <p:sp>
          <p:nvSpPr>
            <p:cNvPr id="48143" name="Rectangle 97"/>
            <p:cNvSpPr>
              <a:spLocks noChangeArrowheads="1"/>
            </p:cNvSpPr>
            <p:nvPr/>
          </p:nvSpPr>
          <p:spPr bwMode="auto">
            <a:xfrm>
              <a:off x="503183" y="1089806"/>
              <a:ext cx="1029006" cy="398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pPr>
              <a:r>
                <a:rPr lang="zh-CN" altLang="en-US" sz="1195">
                  <a:latin typeface="Calibri" panose="020F0502020204030204" pitchFamily="34" charset="0"/>
                  <a:cs typeface="Times New Roman" panose="02020603050405020304" pitchFamily="18" charset="0"/>
                </a:rPr>
                <a:t>循环条件表达式</a:t>
              </a:r>
              <a:endParaRPr lang="zh-CN" altLang="en-US" sz="1195">
                <a:latin typeface="Arial" panose="020B0604020202020204" pitchFamily="34" charset="0"/>
              </a:endParaRPr>
            </a:p>
          </p:txBody>
        </p:sp>
        <p:sp>
          <p:nvSpPr>
            <p:cNvPr id="48144" name="Line 98"/>
            <p:cNvSpPr>
              <a:spLocks noChangeShapeType="1"/>
            </p:cNvSpPr>
            <p:nvPr/>
          </p:nvSpPr>
          <p:spPr bwMode="auto">
            <a:xfrm>
              <a:off x="1646117" y="1188282"/>
              <a:ext cx="571102" cy="72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8145" name="Rectangle 99"/>
            <p:cNvSpPr>
              <a:spLocks noChangeArrowheads="1"/>
            </p:cNvSpPr>
            <p:nvPr/>
          </p:nvSpPr>
          <p:spPr bwMode="auto">
            <a:xfrm>
              <a:off x="2217219" y="1089806"/>
              <a:ext cx="915808" cy="197682"/>
            </a:xfrm>
            <a:prstGeom prst="rect">
              <a:avLst/>
            </a:prstGeom>
            <a:solidFill>
              <a:srgbClr val="FFFFFF"/>
            </a:solidFill>
            <a:ln w="9525">
              <a:solidFill>
                <a:srgbClr val="000000"/>
              </a:solidFill>
              <a:miter lim="800000"/>
            </a:ln>
          </p:spPr>
          <p:txBody>
            <a:bodyPr tIns="0" b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1195">
                  <a:latin typeface="Calibri" panose="020F0502020204030204" pitchFamily="34" charset="0"/>
                  <a:cs typeface="Times New Roman" panose="02020603050405020304" pitchFamily="18" charset="0"/>
                </a:rPr>
                <a:t>循环体部分</a:t>
              </a:r>
              <a:endParaRPr lang="zh-CN" altLang="en-US" sz="1195">
                <a:latin typeface="Arial" panose="020B0604020202020204" pitchFamily="34" charset="0"/>
              </a:endParaRPr>
            </a:p>
          </p:txBody>
        </p:sp>
        <p:sp>
          <p:nvSpPr>
            <p:cNvPr id="48146" name="Rectangle 100"/>
            <p:cNvSpPr>
              <a:spLocks noChangeArrowheads="1"/>
            </p:cNvSpPr>
            <p:nvPr/>
          </p:nvSpPr>
          <p:spPr bwMode="auto">
            <a:xfrm>
              <a:off x="3588740" y="1089806"/>
              <a:ext cx="1142934" cy="196223"/>
            </a:xfrm>
            <a:prstGeom prst="rect">
              <a:avLst/>
            </a:prstGeom>
            <a:solidFill>
              <a:srgbClr val="FFFFFF"/>
            </a:solidFill>
            <a:ln w="9525">
              <a:solidFill>
                <a:srgbClr val="000000"/>
              </a:solidFill>
              <a:miter lim="800000"/>
            </a:ln>
          </p:spPr>
          <p:txBody>
            <a:bodyPr tIns="0" bIns="0"/>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1195">
                  <a:latin typeface="Calibri" panose="020F0502020204030204" pitchFamily="34" charset="0"/>
                  <a:cs typeface="Times New Roman" panose="02020603050405020304" pitchFamily="18" charset="0"/>
                </a:rPr>
                <a:t>循环后操作表达式</a:t>
              </a:r>
              <a:endParaRPr lang="zh-CN" altLang="en-US" sz="1195">
                <a:latin typeface="Arial" panose="020B0604020202020204" pitchFamily="34" charset="0"/>
              </a:endParaRPr>
            </a:p>
          </p:txBody>
        </p:sp>
        <p:sp>
          <p:nvSpPr>
            <p:cNvPr id="48147" name="Line 101"/>
            <p:cNvSpPr>
              <a:spLocks noChangeShapeType="1"/>
            </p:cNvSpPr>
            <p:nvPr/>
          </p:nvSpPr>
          <p:spPr bwMode="auto">
            <a:xfrm flipH="1">
              <a:off x="960357" y="792188"/>
              <a:ext cx="3200216"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48148" name="Line 102"/>
            <p:cNvSpPr>
              <a:spLocks noChangeShapeType="1"/>
            </p:cNvSpPr>
            <p:nvPr/>
          </p:nvSpPr>
          <p:spPr bwMode="auto">
            <a:xfrm flipH="1" flipV="1">
              <a:off x="4160573" y="792188"/>
              <a:ext cx="730" cy="29761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48149" name="Line 98"/>
            <p:cNvSpPr>
              <a:spLocks noChangeShapeType="1"/>
            </p:cNvSpPr>
            <p:nvPr/>
          </p:nvSpPr>
          <p:spPr bwMode="auto">
            <a:xfrm>
              <a:off x="3133027" y="1189011"/>
              <a:ext cx="465392" cy="63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grpSp>
      <p:sp>
        <p:nvSpPr>
          <p:cNvPr id="48134" name="Rectangle 25"/>
          <p:cNvSpPr>
            <a:spLocks noChangeArrowheads="1"/>
          </p:cNvSpPr>
          <p:nvPr/>
        </p:nvSpPr>
        <p:spPr bwMode="auto">
          <a:xfrm>
            <a:off x="4004517" y="5907609"/>
            <a:ext cx="3924759" cy="41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925" tIns="39462" rIns="78925" bIns="39462" anchor="ctr">
            <a:spAutoFit/>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2170">
                <a:cs typeface="Times New Roman" panose="02020603050405020304" pitchFamily="18" charset="0"/>
              </a:rPr>
              <a:t>图</a:t>
            </a:r>
            <a:r>
              <a:rPr lang="en-US" altLang="zh-CN" sz="2170">
                <a:cs typeface="Times New Roman" panose="02020603050405020304" pitchFamily="18" charset="0"/>
              </a:rPr>
              <a:t>2-8  for</a:t>
            </a:r>
            <a:r>
              <a:rPr lang="zh-CN" altLang="en-US" sz="2170">
                <a:cs typeface="Times New Roman" panose="02020603050405020304" pitchFamily="18" charset="0"/>
              </a:rPr>
              <a:t>循环流程</a:t>
            </a:r>
            <a:endParaRPr lang="zh-CN" altLang="en-US" sz="217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idx="4294967295"/>
          </p:nvPr>
        </p:nvSpPr>
        <p:spPr/>
        <p:txBody>
          <a:bodyPr vert="horz" wrap="square" lIns="91440" tIns="45720" rIns="91440" bIns="45720" anchor="ctr"/>
          <a:p>
            <a:pPr algn="l" eaLnBrk="1" hangingPunct="1"/>
            <a:r>
              <a:rPr lang="en-US" altLang="zh-CN" sz="2800" dirty="0">
                <a:solidFill>
                  <a:schemeClr val="tx1"/>
                </a:solidFill>
              </a:rPr>
              <a:t>for</a:t>
            </a:r>
            <a:r>
              <a:rPr lang="zh-CN" altLang="en-US" sz="2800" dirty="0">
                <a:solidFill>
                  <a:schemeClr val="tx1"/>
                </a:solidFill>
              </a:rPr>
              <a:t>循环常见问题</a:t>
            </a:r>
            <a:endParaRPr lang="en-US" altLang="zh-CN" sz="2800" dirty="0">
              <a:solidFill>
                <a:schemeClr val="tx1"/>
              </a:solidFill>
            </a:endParaRPr>
          </a:p>
        </p:txBody>
      </p:sp>
      <p:sp>
        <p:nvSpPr>
          <p:cNvPr id="54275" name="AutoShape 4"/>
          <p:cNvSpPr/>
          <p:nvPr/>
        </p:nvSpPr>
        <p:spPr>
          <a:xfrm>
            <a:off x="2363788" y="1935163"/>
            <a:ext cx="7610475" cy="1923426"/>
          </a:xfrm>
          <a:prstGeom prst="roundRect">
            <a:avLst>
              <a:gd name="adj" fmla="val 11968"/>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fontAlgn="b" hangingPunct="1">
              <a:buClr>
                <a:schemeClr val="folHlink"/>
              </a:buClr>
              <a:buSzPct val="60000"/>
              <a:buNone/>
            </a:pPr>
            <a:endParaRPr lang="en-US" altLang="zh-CN" sz="2400" b="1" dirty="0">
              <a:solidFill>
                <a:schemeClr val="tx1"/>
              </a:solidFill>
              <a:ea typeface="楷体_GB2312" pitchFamily="1" charset="-122"/>
            </a:endParaRPr>
          </a:p>
          <a:p>
            <a:pPr marL="0" lvl="0" indent="0" eaLnBrk="1" fontAlgn="b" hangingPunct="1">
              <a:buClr>
                <a:schemeClr val="folHlink"/>
              </a:buClr>
              <a:buSzPct val="60000"/>
              <a:buNone/>
            </a:pPr>
            <a:r>
              <a:rPr lang="en-US" altLang="zh-CN" sz="2400" b="1" dirty="0">
                <a:solidFill>
                  <a:schemeClr val="tx1"/>
                </a:solidFill>
                <a:ea typeface="楷体_GB2312" pitchFamily="1" charset="-122"/>
              </a:rPr>
              <a:t>for(;i&lt;10;i++){</a:t>
            </a:r>
            <a:endParaRPr lang="en-US" altLang="zh-CN" sz="2400" b="1" dirty="0">
              <a:solidFill>
                <a:schemeClr val="tx1"/>
              </a:solidFill>
              <a:ea typeface="楷体_GB2312" pitchFamily="1" charset="-122"/>
            </a:endParaRPr>
          </a:p>
          <a:p>
            <a:pPr marL="0" lvl="0" indent="0" eaLnBrk="1" fontAlgn="b" hangingPunct="1">
              <a:buClr>
                <a:schemeClr val="folHlink"/>
              </a:buClr>
              <a:buSzPct val="60000"/>
              <a:buNone/>
            </a:pPr>
            <a:r>
              <a:rPr lang="en-US" altLang="zh-CN" sz="2400" b="1" dirty="0">
                <a:solidFill>
                  <a:schemeClr val="tx1"/>
                </a:solidFill>
                <a:ea typeface="楷体_GB2312" pitchFamily="1" charset="-122"/>
              </a:rPr>
              <a:t>     System.out.println(</a:t>
            </a:r>
            <a:r>
              <a:rPr lang="zh-CN" altLang="en-US" sz="2400" b="1" dirty="0">
                <a:solidFill>
                  <a:schemeClr val="tx1"/>
                </a:solidFill>
                <a:ea typeface="楷体_GB2312" pitchFamily="1" charset="-122"/>
              </a:rPr>
              <a:t>"这是</a:t>
            </a:r>
            <a:r>
              <a:rPr lang="en-US" altLang="zh-CN" sz="2400" b="1" dirty="0">
                <a:solidFill>
                  <a:schemeClr val="tx1"/>
                </a:solidFill>
                <a:ea typeface="楷体_GB2312" pitchFamily="1" charset="-122"/>
              </a:rPr>
              <a:t> "+i);</a:t>
            </a:r>
            <a:endParaRPr lang="en-US" altLang="zh-CN" sz="2400" b="1" dirty="0">
              <a:solidFill>
                <a:schemeClr val="tx1"/>
              </a:solidFill>
              <a:ea typeface="楷体_GB2312" pitchFamily="1" charset="-122"/>
            </a:endParaRPr>
          </a:p>
          <a:p>
            <a:pPr marL="0" lvl="0" indent="0" eaLnBrk="1" fontAlgn="b" hangingPunct="1">
              <a:buClr>
                <a:schemeClr val="folHlink"/>
              </a:buClr>
              <a:buSzPct val="60000"/>
              <a:buNone/>
            </a:pPr>
            <a:r>
              <a:rPr lang="en-US" altLang="zh-CN" sz="2400" b="1" dirty="0">
                <a:solidFill>
                  <a:schemeClr val="tx1"/>
                </a:solidFill>
                <a:ea typeface="楷体_GB2312" pitchFamily="1" charset="-122"/>
              </a:rPr>
              <a:t>}</a:t>
            </a:r>
            <a:endParaRPr lang="en-US" altLang="zh-CN" sz="2400" b="1" dirty="0">
              <a:solidFill>
                <a:schemeClr val="tx1"/>
              </a:solidFill>
              <a:ea typeface="楷体_GB2312" pitchFamily="1" charset="-122"/>
            </a:endParaRPr>
          </a:p>
        </p:txBody>
      </p:sp>
      <p:sp>
        <p:nvSpPr>
          <p:cNvPr id="60420" name="AutoShape 5"/>
          <p:cNvSpPr/>
          <p:nvPr/>
        </p:nvSpPr>
        <p:spPr>
          <a:xfrm>
            <a:off x="2711450" y="1916113"/>
            <a:ext cx="1368425" cy="439737"/>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800080"/>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a:spcBef>
                <a:spcPct val="0"/>
              </a:spcBef>
              <a:buSzTx/>
              <a:buFontTx/>
              <a:buNone/>
            </a:pPr>
            <a:r>
              <a:rPr lang="en-US" altLang="zh-CN" sz="2400" b="1" dirty="0">
                <a:solidFill>
                  <a:schemeClr val="tx1"/>
                </a:solidFill>
                <a:ea typeface="楷体_GB2312" pitchFamily="1" charset="-122"/>
              </a:rPr>
              <a:t>int i=0;</a:t>
            </a:r>
            <a:endParaRPr lang="en-US" altLang="zh-CN" sz="2400" b="1" dirty="0">
              <a:solidFill>
                <a:schemeClr val="tx1"/>
              </a:solidFill>
              <a:ea typeface="楷体_GB2312" pitchFamily="1" charset="-122"/>
            </a:endParaRPr>
          </a:p>
        </p:txBody>
      </p:sp>
      <p:sp>
        <p:nvSpPr>
          <p:cNvPr id="60421" name="AutoShape 6"/>
          <p:cNvSpPr/>
          <p:nvPr/>
        </p:nvSpPr>
        <p:spPr>
          <a:xfrm>
            <a:off x="4821238" y="1006475"/>
            <a:ext cx="2879725" cy="919679"/>
          </a:xfrm>
          <a:prstGeom prst="wedgeRoundRectCallout">
            <a:avLst>
              <a:gd name="adj1" fmla="val -58324"/>
              <a:gd name="adj2" fmla="val 122083"/>
              <a:gd name="adj3" fmla="val 16667"/>
            </a:avLst>
          </a:prstGeom>
          <a:gradFill rotWithShape="1">
            <a:gsLst>
              <a:gs pos="0">
                <a:srgbClr val="FFFF99"/>
              </a:gs>
              <a:gs pos="100000">
                <a:srgbClr val="FFFFFF"/>
              </a:gs>
            </a:gsLst>
            <a:lin ang="5400000" scaled="1"/>
            <a:tileRect/>
          </a:gradFill>
          <a:ln w="9525" cap="flat" cmpd="sng">
            <a:solidFill>
              <a:srgbClr val="FF9900"/>
            </a:solidFill>
            <a:prstDash val="solid"/>
            <a:miter/>
            <a:headEnd type="none" w="med" len="med"/>
            <a:tailEnd type="none" w="med" len="med"/>
          </a:ln>
          <a:effectLst>
            <a:outerShdw dist="53882" dir="2699999" algn="ctr" rotWithShape="0">
              <a:schemeClr val="bg2">
                <a:alpha val="50000"/>
              </a:schemeClr>
            </a:outerShdw>
          </a:effectLst>
        </p:spPr>
        <p:txBody>
          <a:bodyPr anchor="t" anchorCtr="1">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r>
              <a:rPr lang="zh-CN" altLang="en-US" sz="2400" b="1" dirty="0">
                <a:solidFill>
                  <a:schemeClr val="tx1"/>
                </a:solidFill>
                <a:ea typeface="楷体_GB2312" pitchFamily="1" charset="-122"/>
              </a:rPr>
              <a:t>编译错误：</a:t>
            </a:r>
            <a:endParaRPr lang="zh-CN" altLang="en-US" sz="2400" b="1" dirty="0">
              <a:solidFill>
                <a:schemeClr val="tx1"/>
              </a:solidFill>
              <a:ea typeface="楷体_GB2312" pitchFamily="1" charset="-122"/>
            </a:endParaRPr>
          </a:p>
          <a:p>
            <a:pPr marL="0" lvl="0" indent="0" eaLnBrk="1" hangingPunct="1">
              <a:spcBef>
                <a:spcPct val="0"/>
              </a:spcBef>
              <a:buSzTx/>
              <a:buFontTx/>
              <a:buNone/>
            </a:pPr>
            <a:r>
              <a:rPr lang="zh-CN" altLang="en-US" sz="2400" b="1" dirty="0">
                <a:solidFill>
                  <a:schemeClr val="tx1"/>
                </a:solidFill>
                <a:ea typeface="楷体_GB2312" pitchFamily="1" charset="-122"/>
              </a:rPr>
              <a:t>变量 </a:t>
            </a:r>
            <a:r>
              <a:rPr lang="en-US" altLang="zh-CN" sz="2400" b="1" dirty="0">
                <a:solidFill>
                  <a:schemeClr val="tx1"/>
                </a:solidFill>
                <a:ea typeface="楷体_GB2312" pitchFamily="1" charset="-122"/>
              </a:rPr>
              <a:t>i </a:t>
            </a:r>
            <a:r>
              <a:rPr lang="zh-CN" altLang="en-US" sz="2400" b="1" dirty="0">
                <a:solidFill>
                  <a:schemeClr val="tx1"/>
                </a:solidFill>
                <a:ea typeface="楷体_GB2312" pitchFamily="1" charset="-122"/>
              </a:rPr>
              <a:t>没有初始化</a:t>
            </a:r>
            <a:endParaRPr lang="zh-CN" altLang="en-US" sz="2400" b="1" dirty="0">
              <a:solidFill>
                <a:schemeClr val="tx1"/>
              </a:solidFill>
              <a:ea typeface="楷体_GB2312" pitchFamily="1" charset="-122"/>
            </a:endParaRPr>
          </a:p>
        </p:txBody>
      </p:sp>
      <p:sp>
        <p:nvSpPr>
          <p:cNvPr id="60422" name="AutoShape 12"/>
          <p:cNvSpPr/>
          <p:nvPr/>
        </p:nvSpPr>
        <p:spPr>
          <a:xfrm>
            <a:off x="1860550" y="4532313"/>
            <a:ext cx="8593138" cy="1901292"/>
          </a:xfrm>
          <a:prstGeom prst="roundRect">
            <a:avLst>
              <a:gd name="adj" fmla="val 16667"/>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fontAlgn="b" hangingPunct="1">
              <a:buClr>
                <a:schemeClr val="folHlink"/>
              </a:buClr>
              <a:buSzPct val="60000"/>
              <a:buNone/>
            </a:pPr>
            <a:r>
              <a:rPr lang="en-US" altLang="zh-CN" sz="2400" b="1" dirty="0">
                <a:solidFill>
                  <a:schemeClr val="tx1"/>
                </a:solidFill>
                <a:ea typeface="楷体_GB2312" pitchFamily="1" charset="-122"/>
              </a:rPr>
              <a:t>for(&lt;</a:t>
            </a:r>
            <a:r>
              <a:rPr lang="zh-CN" altLang="en-US" sz="2400" b="1" dirty="0">
                <a:solidFill>
                  <a:schemeClr val="tx1"/>
                </a:solidFill>
                <a:ea typeface="楷体_GB2312" pitchFamily="1" charset="-122"/>
              </a:rPr>
              <a:t>初始化循环变量</a:t>
            </a:r>
            <a:r>
              <a:rPr lang="en-US" altLang="zh-CN" sz="2400" b="1" dirty="0">
                <a:solidFill>
                  <a:schemeClr val="tx1"/>
                </a:solidFill>
                <a:ea typeface="楷体_GB2312" pitchFamily="1" charset="-122"/>
              </a:rPr>
              <a:t>&gt; ; &lt;</a:t>
            </a:r>
            <a:r>
              <a:rPr lang="zh-CN" altLang="en-US" sz="2400" b="1" dirty="0">
                <a:solidFill>
                  <a:schemeClr val="tx1"/>
                </a:solidFill>
                <a:ea typeface="楷体_GB2312" pitchFamily="1" charset="-122"/>
              </a:rPr>
              <a:t>循环条件</a:t>
            </a:r>
            <a:r>
              <a:rPr lang="en-US" altLang="zh-CN" sz="2400" b="1" dirty="0">
                <a:solidFill>
                  <a:schemeClr val="tx1"/>
                </a:solidFill>
                <a:ea typeface="楷体_GB2312" pitchFamily="1" charset="-122"/>
              </a:rPr>
              <a:t>&gt;  ; &lt;</a:t>
            </a:r>
            <a:r>
              <a:rPr lang="zh-CN" altLang="en-US" sz="2400" b="1" dirty="0">
                <a:solidFill>
                  <a:schemeClr val="tx1"/>
                </a:solidFill>
                <a:ea typeface="楷体_GB2312" pitchFamily="1" charset="-122"/>
              </a:rPr>
              <a:t>修改循环变量的值</a:t>
            </a:r>
            <a:r>
              <a:rPr lang="en-US" altLang="zh-CN" sz="2400" b="1" dirty="0">
                <a:solidFill>
                  <a:schemeClr val="tx1"/>
                </a:solidFill>
                <a:ea typeface="楷体_GB2312" pitchFamily="1" charset="-122"/>
              </a:rPr>
              <a:t>&gt;) {</a:t>
            </a:r>
            <a:endParaRPr lang="en-US" altLang="zh-CN" sz="2400" b="1" dirty="0">
              <a:solidFill>
                <a:schemeClr val="tx1"/>
              </a:solidFill>
              <a:ea typeface="楷体_GB2312" pitchFamily="1" charset="-122"/>
            </a:endParaRPr>
          </a:p>
          <a:p>
            <a:pPr marL="0" lvl="0" indent="0" eaLnBrk="1" fontAlgn="b" hangingPunct="1">
              <a:buClr>
                <a:schemeClr val="folHlink"/>
              </a:buClr>
              <a:buSzPct val="60000"/>
              <a:buNone/>
            </a:pPr>
            <a:r>
              <a:rPr lang="en-US" altLang="zh-CN" sz="2400" b="1" dirty="0">
                <a:solidFill>
                  <a:schemeClr val="tx1"/>
                </a:solidFill>
                <a:ea typeface="楷体_GB2312" pitchFamily="1" charset="-122"/>
              </a:rPr>
              <a:t>         &lt;</a:t>
            </a:r>
            <a:r>
              <a:rPr lang="zh-CN" altLang="en-US" sz="2400" b="1" dirty="0">
                <a:solidFill>
                  <a:schemeClr val="tx1"/>
                </a:solidFill>
                <a:ea typeface="楷体_GB2312" pitchFamily="1" charset="-122"/>
              </a:rPr>
              <a:t>循环体语句</a:t>
            </a:r>
            <a:r>
              <a:rPr lang="en-US" altLang="zh-CN" sz="2400" b="1" dirty="0">
                <a:solidFill>
                  <a:schemeClr val="tx1"/>
                </a:solidFill>
                <a:ea typeface="楷体_GB2312" pitchFamily="1" charset="-122"/>
              </a:rPr>
              <a:t>&gt;;</a:t>
            </a:r>
            <a:endParaRPr lang="en-US" altLang="zh-CN" sz="2400" b="1" dirty="0">
              <a:solidFill>
                <a:schemeClr val="tx1"/>
              </a:solidFill>
              <a:ea typeface="楷体_GB2312" pitchFamily="1" charset="-122"/>
            </a:endParaRPr>
          </a:p>
          <a:p>
            <a:pPr marL="0" lvl="0" indent="0" eaLnBrk="1" fontAlgn="b" hangingPunct="1">
              <a:buClr>
                <a:schemeClr val="folHlink"/>
              </a:buClr>
              <a:buSzPct val="60000"/>
              <a:buNone/>
            </a:pPr>
            <a:r>
              <a:rPr lang="en-US" altLang="zh-CN" sz="2400" b="1" dirty="0">
                <a:solidFill>
                  <a:schemeClr val="tx1"/>
                </a:solidFill>
                <a:ea typeface="楷体_GB2312" pitchFamily="1" charset="-122"/>
              </a:rPr>
              <a:t>}</a:t>
            </a:r>
            <a:endParaRPr lang="en-US" altLang="zh-CN" sz="2400" b="1" dirty="0">
              <a:solidFill>
                <a:schemeClr val="tx1"/>
              </a:solidFill>
              <a:ea typeface="楷体_GB2312" pitchFamily="1" charset="-122"/>
            </a:endParaRPr>
          </a:p>
        </p:txBody>
      </p:sp>
      <p:sp>
        <p:nvSpPr>
          <p:cNvPr id="60423" name="Rectangle 14"/>
          <p:cNvSpPr/>
          <p:nvPr/>
        </p:nvSpPr>
        <p:spPr>
          <a:xfrm>
            <a:off x="5087938" y="4824413"/>
            <a:ext cx="215900" cy="285750"/>
          </a:xfrm>
          <a:prstGeom prst="rect">
            <a:avLst/>
          </a:prstGeom>
          <a:solidFill>
            <a:schemeClr val="accent1">
              <a:alpha val="0"/>
            </a:schemeClr>
          </a:solidFill>
          <a:ln w="254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endParaRPr lang="zh-CN" altLang="en-US" sz="1700" dirty="0">
              <a:solidFill>
                <a:schemeClr val="tx1"/>
              </a:solidFill>
              <a:ea typeface="楷体_GB2312" pitchFamily="1" charset="-122"/>
            </a:endParaRPr>
          </a:p>
        </p:txBody>
      </p:sp>
      <p:sp>
        <p:nvSpPr>
          <p:cNvPr id="60424" name="Rectangle 15"/>
          <p:cNvSpPr/>
          <p:nvPr/>
        </p:nvSpPr>
        <p:spPr>
          <a:xfrm>
            <a:off x="7011988" y="4795838"/>
            <a:ext cx="215900" cy="288925"/>
          </a:xfrm>
          <a:prstGeom prst="rect">
            <a:avLst/>
          </a:prstGeom>
          <a:solidFill>
            <a:schemeClr val="accent1">
              <a:alpha val="0"/>
            </a:schemeClr>
          </a:solidFill>
          <a:ln w="254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endParaRPr lang="zh-CN" altLang="en-US" sz="1700" dirty="0">
              <a:solidFill>
                <a:schemeClr val="tx1"/>
              </a:solidFill>
              <a:ea typeface="楷体_GB2312" pitchFamily="1" charset="-122"/>
            </a:endParaRPr>
          </a:p>
        </p:txBody>
      </p:sp>
      <p:sp>
        <p:nvSpPr>
          <p:cNvPr id="60425" name="AutoShape 16"/>
          <p:cNvSpPr/>
          <p:nvPr/>
        </p:nvSpPr>
        <p:spPr>
          <a:xfrm>
            <a:off x="5507038" y="5459413"/>
            <a:ext cx="1838325" cy="510281"/>
          </a:xfrm>
          <a:prstGeom prst="roundRect">
            <a:avLst>
              <a:gd name="adj" fmla="val 16667"/>
            </a:avLst>
          </a:prstGeom>
          <a:gradFill rotWithShape="1">
            <a:gsLst>
              <a:gs pos="0">
                <a:srgbClr val="FFFF99"/>
              </a:gs>
              <a:gs pos="100000">
                <a:srgbClr val="FFFFFF"/>
              </a:gs>
            </a:gsLst>
            <a:lin ang="5400000" scaled="1"/>
            <a:tileRect/>
          </a:gradFill>
          <a:ln w="9525" cap="flat" cmpd="sng">
            <a:solidFill>
              <a:srgbClr val="FF9900"/>
            </a:solidFill>
            <a:prstDash val="solid"/>
            <a:headEnd type="none" w="med" len="med"/>
            <a:tailEnd type="none" w="med" len="med"/>
          </a:ln>
          <a:effectLst>
            <a:outerShdw dist="53882" dir="2699999" algn="ctr" rotWithShape="0">
              <a:schemeClr val="bg2">
                <a:alpha val="50000"/>
              </a:schemeClr>
            </a:outerShdw>
          </a:effectLst>
        </p:spPr>
        <p:txBody>
          <a:bodyPr anchor="t" anchorCtr="1">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r>
              <a:rPr lang="en-US" altLang="zh-CN" sz="1700" b="1" dirty="0">
                <a:solidFill>
                  <a:schemeClr val="tx1"/>
                </a:solidFill>
                <a:ea typeface="楷体_GB2312" pitchFamily="1" charset="-122"/>
              </a:rPr>
              <a:t> </a:t>
            </a:r>
            <a:r>
              <a:rPr lang="zh-CN" altLang="en-US" sz="2400" b="1" dirty="0">
                <a:solidFill>
                  <a:schemeClr val="tx1"/>
                </a:solidFill>
                <a:ea typeface="楷体_GB2312" pitchFamily="1" charset="-122"/>
              </a:rPr>
              <a:t>不能省略</a:t>
            </a:r>
            <a:endParaRPr lang="zh-CN" altLang="en-US" sz="2400" b="1" dirty="0">
              <a:solidFill>
                <a:schemeClr val="tx1"/>
              </a:solidFill>
              <a:ea typeface="楷体_GB2312" pitchFamily="1" charset="-122"/>
            </a:endParaRPr>
          </a:p>
        </p:txBody>
      </p:sp>
      <p:sp>
        <p:nvSpPr>
          <p:cNvPr id="60426" name="AutoShape 21"/>
          <p:cNvSpPr/>
          <p:nvPr/>
        </p:nvSpPr>
        <p:spPr>
          <a:xfrm>
            <a:off x="5249863" y="3797300"/>
            <a:ext cx="1830387" cy="510281"/>
          </a:xfrm>
          <a:prstGeom prst="roundRect">
            <a:avLst>
              <a:gd name="adj" fmla="val 16667"/>
            </a:avLst>
          </a:prstGeom>
          <a:gradFill rotWithShape="1">
            <a:gsLst>
              <a:gs pos="0">
                <a:srgbClr val="FFFF99"/>
              </a:gs>
              <a:gs pos="100000">
                <a:srgbClr val="FFFFFF"/>
              </a:gs>
            </a:gsLst>
            <a:lin ang="5400000" scaled="1"/>
            <a:tileRect/>
          </a:gradFill>
          <a:ln w="9525" cap="flat" cmpd="sng">
            <a:solidFill>
              <a:srgbClr val="FF9900"/>
            </a:solidFill>
            <a:prstDash val="solid"/>
            <a:headEnd type="none" w="med" len="med"/>
            <a:tailEnd type="none" w="med" len="med"/>
          </a:ln>
          <a:effectLst>
            <a:outerShdw dist="53882" dir="2699999" algn="ctr" rotWithShape="0">
              <a:schemeClr val="bg2">
                <a:alpha val="50000"/>
              </a:schemeClr>
            </a:outerShdw>
          </a:effectLst>
        </p:spPr>
        <p:txBody>
          <a:bodyPr anchor="t" anchorCtr="1">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r>
              <a:rPr lang="en-US" altLang="zh-CN" sz="2400" b="1" dirty="0">
                <a:solidFill>
                  <a:schemeClr val="tx1"/>
                </a:solidFill>
                <a:ea typeface="楷体_GB2312" pitchFamily="1" charset="-122"/>
              </a:rPr>
              <a:t> </a:t>
            </a:r>
            <a:r>
              <a:rPr lang="zh-CN" altLang="en-US" sz="2400" b="1" dirty="0">
                <a:solidFill>
                  <a:schemeClr val="tx1"/>
                </a:solidFill>
                <a:ea typeface="楷体_GB2312" pitchFamily="1" charset="-122"/>
              </a:rPr>
              <a:t>可省略</a:t>
            </a:r>
            <a:endParaRPr lang="zh-CN" altLang="en-US" sz="2400" b="1" dirty="0">
              <a:solidFill>
                <a:schemeClr val="tx1"/>
              </a:solidFill>
              <a:ea typeface="楷体_GB2312" pitchFamily="1" charset="-122"/>
            </a:endParaRPr>
          </a:p>
        </p:txBody>
      </p:sp>
      <p:grpSp>
        <p:nvGrpSpPr>
          <p:cNvPr id="2" name="Group 11"/>
          <p:cNvGrpSpPr/>
          <p:nvPr/>
        </p:nvGrpSpPr>
        <p:grpSpPr>
          <a:xfrm>
            <a:off x="4800600" y="4083050"/>
            <a:ext cx="2782888" cy="576263"/>
            <a:chOff x="0" y="0"/>
            <a:chExt cx="1753" cy="363"/>
          </a:xfrm>
        </p:grpSpPr>
        <p:sp>
          <p:nvSpPr>
            <p:cNvPr id="54290" name="Arc 23"/>
            <p:cNvSpPr/>
            <p:nvPr/>
          </p:nvSpPr>
          <p:spPr>
            <a:xfrm flipH="1">
              <a:off x="0" y="0"/>
              <a:ext cx="291" cy="363"/>
            </a:xfrm>
            <a:custGeom>
              <a:avLst/>
              <a:gdLst>
                <a:gd name="txL" fmla="*/ 0 w 21603"/>
                <a:gd name="txT" fmla="*/ 0 h 21600"/>
                <a:gd name="txR" fmla="*/ 21603 w 21603"/>
                <a:gd name="txB" fmla="*/ 21600 h 21600"/>
              </a:gdLst>
              <a:ahLst/>
              <a:cxnLst>
                <a:cxn ang="0">
                  <a:pos x="0" y="0"/>
                </a:cxn>
                <a:cxn ang="0">
                  <a:pos x="0" y="0"/>
                </a:cxn>
                <a:cxn ang="0">
                  <a:pos x="0" y="0"/>
                </a:cxn>
              </a:cxnLst>
              <a:rect l="txL" t="txT" r="txR" b="txB"/>
              <a:pathLst>
                <a:path w="21603" h="21600" fill="none">
                  <a:moveTo>
                    <a:pt x="0" y="0"/>
                  </a:moveTo>
                  <a:cubicBezTo>
                    <a:pt x="1" y="0"/>
                    <a:pt x="2" y="-1"/>
                    <a:pt x="3" y="0"/>
                  </a:cubicBezTo>
                  <a:cubicBezTo>
                    <a:pt x="11932" y="0"/>
                    <a:pt x="21603" y="9670"/>
                    <a:pt x="21603" y="21600"/>
                  </a:cubicBezTo>
                </a:path>
                <a:path w="21603" h="21600" stroke="0">
                  <a:moveTo>
                    <a:pt x="0" y="0"/>
                  </a:moveTo>
                  <a:cubicBezTo>
                    <a:pt x="1" y="0"/>
                    <a:pt x="2" y="-1"/>
                    <a:pt x="3" y="0"/>
                  </a:cubicBezTo>
                  <a:cubicBezTo>
                    <a:pt x="11932" y="0"/>
                    <a:pt x="21603" y="9670"/>
                    <a:pt x="21603" y="21600"/>
                  </a:cubicBezTo>
                  <a:lnTo>
                    <a:pt x="3" y="21600"/>
                  </a:lnTo>
                  <a:lnTo>
                    <a:pt x="0" y="0"/>
                  </a:lnTo>
                  <a:close/>
                </a:path>
              </a:pathLst>
            </a:custGeom>
            <a:noFill/>
            <a:ln w="38100" cap="flat" cmpd="sng">
              <a:solidFill>
                <a:srgbClr val="800080">
                  <a:alpha val="100000"/>
                </a:srgbClr>
              </a:solidFill>
              <a:prstDash val="solid"/>
              <a:miter lim="800000"/>
              <a:headEnd type="none" w="med" len="med"/>
              <a:tailEnd type="triangle" w="med" len="med"/>
            </a:ln>
          </p:spPr>
          <p:txBody>
            <a:bodyPr/>
            <a:p>
              <a:endParaRPr lang="zh-CN" altLang="en-US"/>
            </a:p>
          </p:txBody>
        </p:sp>
        <p:sp>
          <p:nvSpPr>
            <p:cNvPr id="54291" name="Arc 24"/>
            <p:cNvSpPr/>
            <p:nvPr/>
          </p:nvSpPr>
          <p:spPr>
            <a:xfrm>
              <a:off x="1452" y="0"/>
              <a:ext cx="301" cy="363"/>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800080">
                  <a:alpha val="100000"/>
                </a:srgbClr>
              </a:solidFill>
              <a:prstDash val="solid"/>
              <a:miter lim="800000"/>
              <a:headEnd type="none" w="med" len="med"/>
              <a:tailEnd type="triangle" w="med" len="med"/>
            </a:ln>
          </p:spPr>
          <p:txBody>
            <a:bodyPr/>
            <a:p>
              <a:endParaRPr lang="zh-CN" altLang="en-US"/>
            </a:p>
          </p:txBody>
        </p:sp>
        <p:sp>
          <p:nvSpPr>
            <p:cNvPr id="54292" name="Line 25"/>
            <p:cNvSpPr/>
            <p:nvPr/>
          </p:nvSpPr>
          <p:spPr>
            <a:xfrm>
              <a:off x="862" y="102"/>
              <a:ext cx="0" cy="261"/>
            </a:xfrm>
            <a:prstGeom prst="line">
              <a:avLst/>
            </a:prstGeom>
            <a:ln w="38100" cap="flat" cmpd="sng">
              <a:solidFill>
                <a:srgbClr val="800080"/>
              </a:solidFill>
              <a:prstDash val="solid"/>
              <a:headEnd type="none" w="med" len="med"/>
              <a:tailEnd type="triangle" w="med" len="med"/>
            </a:ln>
          </p:spPr>
        </p:sp>
      </p:grpSp>
      <p:sp>
        <p:nvSpPr>
          <p:cNvPr id="60431" name="AutoShape 27"/>
          <p:cNvSpPr/>
          <p:nvPr/>
        </p:nvSpPr>
        <p:spPr>
          <a:xfrm>
            <a:off x="6626225" y="2565400"/>
            <a:ext cx="3646488" cy="1427163"/>
          </a:xfrm>
          <a:prstGeom prst="wedgeRoundRectCallout">
            <a:avLst>
              <a:gd name="adj1" fmla="val -138611"/>
              <a:gd name="adj2" fmla="val 100981"/>
              <a:gd name="adj3" fmla="val 16667"/>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107763" dir="8100000" algn="ctr" rotWithShape="0">
              <a:schemeClr val="bg2">
                <a:alpha val="50000"/>
              </a:schemeClr>
            </a:outerShdw>
          </a:effectLst>
        </p:spPr>
        <p:txBody>
          <a:bodyPr wrap="none" anchor="ct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a:spcBef>
                <a:spcPct val="0"/>
              </a:spcBef>
              <a:buSzTx/>
              <a:buFontTx/>
              <a:buNone/>
            </a:pPr>
            <a:r>
              <a:rPr lang="zh-CN" altLang="en-US" sz="2400" b="1" dirty="0">
                <a:solidFill>
                  <a:schemeClr val="tx1"/>
                </a:solidFill>
                <a:ea typeface="楷体_GB2312" pitchFamily="1" charset="-122"/>
              </a:rPr>
              <a:t>表达式</a:t>
            </a:r>
            <a:r>
              <a:rPr lang="en-US" altLang="zh-CN" sz="2400" b="1" dirty="0">
                <a:solidFill>
                  <a:schemeClr val="tx1"/>
                </a:solidFill>
                <a:ea typeface="楷体_GB2312" pitchFamily="1" charset="-122"/>
              </a:rPr>
              <a:t>1</a:t>
            </a:r>
            <a:r>
              <a:rPr lang="zh-CN" altLang="en-US" sz="2400" b="1" dirty="0">
                <a:solidFill>
                  <a:schemeClr val="tx1"/>
                </a:solidFill>
                <a:ea typeface="楷体_GB2312" pitchFamily="1" charset="-122"/>
              </a:rPr>
              <a:t>省略，循环变量</a:t>
            </a:r>
            <a:endParaRPr lang="zh-CN" altLang="en-US" sz="2400" b="1" dirty="0">
              <a:solidFill>
                <a:schemeClr val="tx1"/>
              </a:solidFill>
              <a:ea typeface="楷体_GB2312" pitchFamily="1" charset="-122"/>
            </a:endParaRPr>
          </a:p>
          <a:p>
            <a:pPr marL="0" lvl="0" indent="0">
              <a:spcBef>
                <a:spcPct val="0"/>
              </a:spcBef>
              <a:buSzTx/>
              <a:buFontTx/>
              <a:buNone/>
            </a:pPr>
            <a:r>
              <a:rPr lang="zh-CN" altLang="en-US" sz="2400" b="1" dirty="0">
                <a:solidFill>
                  <a:schemeClr val="tx1"/>
                </a:solidFill>
                <a:ea typeface="楷体_GB2312" pitchFamily="1" charset="-122"/>
              </a:rPr>
              <a:t>的初始值在</a:t>
            </a:r>
            <a:r>
              <a:rPr lang="en-US" altLang="zh-CN" sz="2400" b="1" dirty="0">
                <a:solidFill>
                  <a:schemeClr val="tx1"/>
                </a:solidFill>
                <a:ea typeface="楷体_GB2312" pitchFamily="1" charset="-122"/>
              </a:rPr>
              <a:t>for</a:t>
            </a:r>
            <a:r>
              <a:rPr lang="zh-CN" altLang="en-US" sz="2400" b="1" dirty="0">
                <a:solidFill>
                  <a:schemeClr val="tx1"/>
                </a:solidFill>
                <a:ea typeface="楷体_GB2312" pitchFamily="1" charset="-122"/>
              </a:rPr>
              <a:t>语句之前</a:t>
            </a:r>
            <a:endParaRPr lang="zh-CN" altLang="en-US" sz="2400" b="1" dirty="0">
              <a:solidFill>
                <a:schemeClr val="tx1"/>
              </a:solidFill>
              <a:ea typeface="楷体_GB2312" pitchFamily="1" charset="-122"/>
            </a:endParaRPr>
          </a:p>
          <a:p>
            <a:pPr marL="0" lvl="0" indent="0">
              <a:spcBef>
                <a:spcPct val="0"/>
              </a:spcBef>
              <a:buSzTx/>
              <a:buFontTx/>
              <a:buNone/>
            </a:pPr>
            <a:r>
              <a:rPr lang="zh-CN" altLang="en-US" sz="2400" b="1" dirty="0">
                <a:solidFill>
                  <a:schemeClr val="tx1"/>
                </a:solidFill>
                <a:ea typeface="楷体_GB2312" pitchFamily="1" charset="-122"/>
              </a:rPr>
              <a:t>由赋值语句取得</a:t>
            </a:r>
            <a:endParaRPr lang="zh-CN" altLang="en-US" sz="2400" b="1" dirty="0">
              <a:solidFill>
                <a:schemeClr val="tx1"/>
              </a:solidFill>
              <a:ea typeface="楷体_GB2312" pitchFamily="1" charset="-122"/>
            </a:endParaRPr>
          </a:p>
        </p:txBody>
      </p:sp>
      <p:sp>
        <p:nvSpPr>
          <p:cNvPr id="60432" name="Line 35"/>
          <p:cNvSpPr/>
          <p:nvPr/>
        </p:nvSpPr>
        <p:spPr>
          <a:xfrm flipH="1" flipV="1">
            <a:off x="5232400" y="5140325"/>
            <a:ext cx="936625" cy="288925"/>
          </a:xfrm>
          <a:prstGeom prst="line">
            <a:avLst/>
          </a:prstGeom>
          <a:ln w="38100" cap="flat" cmpd="sng">
            <a:solidFill>
              <a:srgbClr val="800080"/>
            </a:solidFill>
            <a:prstDash val="solid"/>
            <a:headEnd type="none" w="med" len="med"/>
            <a:tailEnd type="triangle" w="med" len="med"/>
          </a:ln>
        </p:spPr>
      </p:sp>
      <p:sp>
        <p:nvSpPr>
          <p:cNvPr id="60433" name="Line 36"/>
          <p:cNvSpPr/>
          <p:nvPr/>
        </p:nvSpPr>
        <p:spPr>
          <a:xfrm flipV="1">
            <a:off x="6240463" y="5140325"/>
            <a:ext cx="771525" cy="288925"/>
          </a:xfrm>
          <a:prstGeom prst="line">
            <a:avLst/>
          </a:prstGeom>
          <a:ln w="38100" cap="flat" cmpd="sng">
            <a:solidFill>
              <a:srgbClr val="800080"/>
            </a:solidFill>
            <a:prstDash val="solid"/>
            <a:headEnd type="none" w="med" len="med"/>
            <a:tailEnd type="triangle" w="med" len="med"/>
          </a:ln>
        </p:spPr>
      </p:sp>
      <p:pic>
        <p:nvPicPr>
          <p:cNvPr id="54287" name="Picture 37" descr="代码改错"/>
          <p:cNvPicPr>
            <a:picLocks noChangeAspect="1"/>
          </p:cNvPicPr>
          <p:nvPr/>
        </p:nvPicPr>
        <p:blipFill>
          <a:blip r:embed="rId1"/>
          <a:stretch>
            <a:fillRect/>
          </a:stretch>
        </p:blipFill>
        <p:spPr>
          <a:xfrm>
            <a:off x="2208213" y="981075"/>
            <a:ext cx="792162" cy="792163"/>
          </a:xfrm>
          <a:prstGeom prst="rect">
            <a:avLst/>
          </a:prstGeom>
          <a:noFill/>
          <a:ln w="9525">
            <a:noFill/>
          </a:ln>
        </p:spPr>
      </p:pic>
      <p:pic>
        <p:nvPicPr>
          <p:cNvPr id="60435" name="Picture 38" descr="语法"/>
          <p:cNvPicPr>
            <a:picLocks noChangeAspect="1"/>
          </p:cNvPicPr>
          <p:nvPr/>
        </p:nvPicPr>
        <p:blipFill>
          <a:blip r:embed="rId2"/>
          <a:stretch>
            <a:fillRect/>
          </a:stretch>
        </p:blipFill>
        <p:spPr>
          <a:xfrm>
            <a:off x="1919288" y="3762375"/>
            <a:ext cx="1081087" cy="979488"/>
          </a:xfrm>
          <a:prstGeom prst="rect">
            <a:avLst/>
          </a:prstGeom>
          <a:noFill/>
          <a:ln w="9525">
            <a:noFill/>
          </a:ln>
        </p:spPr>
      </p:pic>
      <p:sp>
        <p:nvSpPr>
          <p:cNvPr id="54289" name="灯片编号占位符 4"/>
          <p:cNvSpPr txBox="1">
            <a:spLocks noGrp="1"/>
          </p:cNvSpPr>
          <p:nvPr>
            <p:ph type="sldNum" sz="quarter" idx="4"/>
          </p:nvPr>
        </p:nvSpPr>
        <p:spPr/>
        <p:txBody>
          <a:bodyPr/>
          <a:p>
            <a:pPr marL="0" indent="0" algn="r" eaLnBrk="1" hangingPunct="1">
              <a:spcBef>
                <a:spcPct val="0"/>
              </a:spcBef>
              <a:buSzTx/>
              <a:buFontTx/>
              <a:buNone/>
            </a:pPr>
            <a:fld id="{9A0DB2DC-4C9A-4742-B13C-FB6460FD3503}" type="slidenum">
              <a:rPr lang="en-US" altLang="zh-CN" dirty="0">
                <a:solidFill>
                  <a:srgbClr val="1C1C1C"/>
                </a:solidFill>
                <a:latin typeface="+mn-lt"/>
                <a:ea typeface="+mn-ea"/>
                <a:cs typeface="+mn-cs"/>
              </a:rPr>
            </a:fld>
            <a:endParaRPr lang="en-US" altLang="zh-CN" dirty="0">
              <a:solidFill>
                <a:srgbClr val="1C1C1C"/>
              </a:solidFill>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0435"/>
                                        </p:tgtEl>
                                        <p:attrNameLst>
                                          <p:attrName>style.visibility</p:attrName>
                                        </p:attrNameLst>
                                      </p:cBhvr>
                                      <p:to>
                                        <p:strVal val="visible"/>
                                      </p:to>
                                    </p:set>
                                    <p:anim calcmode="lin" valueType="num">
                                      <p:cBhvr additive="base">
                                        <p:cTn id="7" dur="500" fill="hold"/>
                                        <p:tgtEl>
                                          <p:spTgt spid="60435"/>
                                        </p:tgtEl>
                                        <p:attrNameLst>
                                          <p:attrName>ppt_x</p:attrName>
                                        </p:attrNameLst>
                                      </p:cBhvr>
                                      <p:tavLst>
                                        <p:tav tm="0">
                                          <p:val>
                                            <p:strVal val="1+#ppt_w/2"/>
                                          </p:val>
                                        </p:tav>
                                        <p:tav tm="100000">
                                          <p:val>
                                            <p:strVal val="#ppt_x"/>
                                          </p:val>
                                        </p:tav>
                                      </p:tavLst>
                                    </p:anim>
                                    <p:anim calcmode="lin" valueType="num">
                                      <p:cBhvr additive="base">
                                        <p:cTn id="8" dur="500" fill="hold"/>
                                        <p:tgtEl>
                                          <p:spTgt spid="6043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60422"/>
                                        </p:tgtEl>
                                        <p:attrNameLst>
                                          <p:attrName>style.visibility</p:attrName>
                                        </p:attrNameLst>
                                      </p:cBhvr>
                                      <p:to>
                                        <p:strVal val="visible"/>
                                      </p:to>
                                    </p:set>
                                    <p:animEffect transition="in" filter="blinds(horizontal)">
                                      <p:cBhvr>
                                        <p:cTn id="12" dur="500"/>
                                        <p:tgtEl>
                                          <p:spTgt spid="604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0426"/>
                                        </p:tgtEl>
                                        <p:attrNameLst>
                                          <p:attrName>style.visibility</p:attrName>
                                        </p:attrNameLst>
                                      </p:cBhvr>
                                      <p:to>
                                        <p:strVal val="visible"/>
                                      </p:to>
                                    </p:set>
                                    <p:animEffect transition="in" filter="wipe(left)">
                                      <p:cBhvr>
                                        <p:cTn id="17" dur="500"/>
                                        <p:tgtEl>
                                          <p:spTgt spid="60426"/>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par>
                          <p:cTn id="22" fill="hold">
                            <p:stCondLst>
                              <p:cond delay="1000"/>
                            </p:stCondLst>
                            <p:childTnLst>
                              <p:par>
                                <p:cTn id="23" presetID="5" presetClass="entr" presetSubtype="10" fill="hold" grpId="0" nodeType="afterEffect">
                                  <p:stCondLst>
                                    <p:cond delay="0"/>
                                  </p:stCondLst>
                                  <p:childTnLst>
                                    <p:set>
                                      <p:cBhvr>
                                        <p:cTn id="24" dur="1" fill="hold">
                                          <p:stCondLst>
                                            <p:cond delay="0"/>
                                          </p:stCondLst>
                                        </p:cTn>
                                        <p:tgtEl>
                                          <p:spTgt spid="60423"/>
                                        </p:tgtEl>
                                        <p:attrNameLst>
                                          <p:attrName>style.visibility</p:attrName>
                                        </p:attrNameLst>
                                      </p:cBhvr>
                                      <p:to>
                                        <p:strVal val="visible"/>
                                      </p:to>
                                    </p:set>
                                    <p:animEffect transition="in" filter="checkerboard(across)">
                                      <p:cBhvr>
                                        <p:cTn id="25" dur="500"/>
                                        <p:tgtEl>
                                          <p:spTgt spid="60423"/>
                                        </p:tgtEl>
                                      </p:cBhvr>
                                    </p:animEffect>
                                  </p:childTnLst>
                                </p:cTn>
                              </p:par>
                            </p:childTnLst>
                          </p:cTn>
                        </p:par>
                        <p:par>
                          <p:cTn id="26" fill="hold">
                            <p:stCondLst>
                              <p:cond delay="1500"/>
                            </p:stCondLst>
                            <p:childTnLst>
                              <p:par>
                                <p:cTn id="27" presetID="5" presetClass="entr" presetSubtype="10" fill="hold" grpId="0" nodeType="afterEffect">
                                  <p:stCondLst>
                                    <p:cond delay="0"/>
                                  </p:stCondLst>
                                  <p:childTnLst>
                                    <p:set>
                                      <p:cBhvr>
                                        <p:cTn id="28" dur="1" fill="hold">
                                          <p:stCondLst>
                                            <p:cond delay="0"/>
                                          </p:stCondLst>
                                        </p:cTn>
                                        <p:tgtEl>
                                          <p:spTgt spid="60424"/>
                                        </p:tgtEl>
                                        <p:attrNameLst>
                                          <p:attrName>style.visibility</p:attrName>
                                        </p:attrNameLst>
                                      </p:cBhvr>
                                      <p:to>
                                        <p:strVal val="visible"/>
                                      </p:to>
                                    </p:set>
                                    <p:animEffect transition="in" filter="checkerboard(across)">
                                      <p:cBhvr>
                                        <p:cTn id="29" dur="500"/>
                                        <p:tgtEl>
                                          <p:spTgt spid="60424"/>
                                        </p:tgtEl>
                                      </p:cBhvr>
                                    </p:animEffect>
                                  </p:childTnLst>
                                </p:cTn>
                              </p:par>
                            </p:childTnLst>
                          </p:cTn>
                        </p:par>
                        <p:par>
                          <p:cTn id="30" fill="hold">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60425"/>
                                        </p:tgtEl>
                                        <p:attrNameLst>
                                          <p:attrName>style.visibility</p:attrName>
                                        </p:attrNameLst>
                                      </p:cBhvr>
                                      <p:to>
                                        <p:strVal val="visible"/>
                                      </p:to>
                                    </p:set>
                                    <p:animEffect transition="in" filter="wipe(left)">
                                      <p:cBhvr>
                                        <p:cTn id="33" dur="500"/>
                                        <p:tgtEl>
                                          <p:spTgt spid="60425"/>
                                        </p:tgtEl>
                                      </p:cBhvr>
                                    </p:animEffect>
                                  </p:childTnLst>
                                </p:cTn>
                              </p:par>
                            </p:childTnLst>
                          </p:cTn>
                        </p:par>
                        <p:par>
                          <p:cTn id="34" fill="hold">
                            <p:stCondLst>
                              <p:cond delay="2500"/>
                            </p:stCondLst>
                            <p:childTnLst>
                              <p:par>
                                <p:cTn id="35" presetID="22" presetClass="entr" presetSubtype="4" fill="hold" nodeType="afterEffect">
                                  <p:stCondLst>
                                    <p:cond delay="0"/>
                                  </p:stCondLst>
                                  <p:childTnLst>
                                    <p:set>
                                      <p:cBhvr>
                                        <p:cTn id="36" dur="1" fill="hold">
                                          <p:stCondLst>
                                            <p:cond delay="0"/>
                                          </p:stCondLst>
                                        </p:cTn>
                                        <p:tgtEl>
                                          <p:spTgt spid="60432"/>
                                        </p:tgtEl>
                                        <p:attrNameLst>
                                          <p:attrName>style.visibility</p:attrName>
                                        </p:attrNameLst>
                                      </p:cBhvr>
                                      <p:to>
                                        <p:strVal val="visible"/>
                                      </p:to>
                                    </p:set>
                                    <p:animEffect transition="in" filter="wipe(down)">
                                      <p:cBhvr>
                                        <p:cTn id="37" dur="500"/>
                                        <p:tgtEl>
                                          <p:spTgt spid="60432"/>
                                        </p:tgtEl>
                                      </p:cBhvr>
                                    </p:animEffect>
                                  </p:childTnLst>
                                </p:cTn>
                              </p:par>
                              <p:par>
                                <p:cTn id="38" presetID="22" presetClass="entr" presetSubtype="4" fill="hold" nodeType="withEffect">
                                  <p:stCondLst>
                                    <p:cond delay="0"/>
                                  </p:stCondLst>
                                  <p:childTnLst>
                                    <p:set>
                                      <p:cBhvr>
                                        <p:cTn id="39" dur="1" fill="hold">
                                          <p:stCondLst>
                                            <p:cond delay="0"/>
                                          </p:stCondLst>
                                        </p:cTn>
                                        <p:tgtEl>
                                          <p:spTgt spid="60433"/>
                                        </p:tgtEl>
                                        <p:attrNameLst>
                                          <p:attrName>style.visibility</p:attrName>
                                        </p:attrNameLst>
                                      </p:cBhvr>
                                      <p:to>
                                        <p:strVal val="visible"/>
                                      </p:to>
                                    </p:set>
                                    <p:animEffect transition="in" filter="wipe(down)">
                                      <p:cBhvr>
                                        <p:cTn id="40" dur="500"/>
                                        <p:tgtEl>
                                          <p:spTgt spid="6043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0421"/>
                                        </p:tgtEl>
                                        <p:attrNameLst>
                                          <p:attrName>style.visibility</p:attrName>
                                        </p:attrNameLst>
                                      </p:cBhvr>
                                      <p:to>
                                        <p:strVal val="visible"/>
                                      </p:to>
                                    </p:set>
                                    <p:animEffect transition="in" filter="wipe(left)">
                                      <p:cBhvr>
                                        <p:cTn id="45" dur="500"/>
                                        <p:tgtEl>
                                          <p:spTgt spid="6042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0420"/>
                                        </p:tgtEl>
                                        <p:attrNameLst>
                                          <p:attrName>style.visibility</p:attrName>
                                        </p:attrNameLst>
                                      </p:cBhvr>
                                      <p:to>
                                        <p:strVal val="visible"/>
                                      </p:to>
                                    </p:set>
                                    <p:animEffect transition="in" filter="wipe(left)">
                                      <p:cBhvr>
                                        <p:cTn id="50" dur="500"/>
                                        <p:tgtEl>
                                          <p:spTgt spid="60420"/>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xit" presetSubtype="10" fill="hold" grpId="1" nodeType="clickEffect">
                                  <p:stCondLst>
                                    <p:cond delay="0"/>
                                  </p:stCondLst>
                                  <p:childTnLst>
                                    <p:animEffect transition="out" filter="checkerboard(across)">
                                      <p:cBhvr>
                                        <p:cTn id="54" dur="500"/>
                                        <p:tgtEl>
                                          <p:spTgt spid="60425"/>
                                        </p:tgtEl>
                                      </p:cBhvr>
                                    </p:animEffect>
                                    <p:set>
                                      <p:cBhvr>
                                        <p:cTn id="55" dur="1" fill="hold">
                                          <p:stCondLst>
                                            <p:cond delay="499"/>
                                          </p:stCondLst>
                                        </p:cTn>
                                        <p:tgtEl>
                                          <p:spTgt spid="60425"/>
                                        </p:tgtEl>
                                        <p:attrNameLst>
                                          <p:attrName>style.visibility</p:attrName>
                                        </p:attrNameLst>
                                      </p:cBhvr>
                                      <p:to>
                                        <p:strVal val="hidden"/>
                                      </p:to>
                                    </p:set>
                                  </p:childTnLst>
                                </p:cTn>
                              </p:par>
                              <p:par>
                                <p:cTn id="56" presetID="5" presetClass="exit" presetSubtype="10" fill="hold" nodeType="withEffect">
                                  <p:stCondLst>
                                    <p:cond delay="0"/>
                                  </p:stCondLst>
                                  <p:childTnLst>
                                    <p:animEffect transition="out" filter="checkerboard(across)">
                                      <p:cBhvr>
                                        <p:cTn id="57" dur="500"/>
                                        <p:tgtEl>
                                          <p:spTgt spid="60432"/>
                                        </p:tgtEl>
                                      </p:cBhvr>
                                    </p:animEffect>
                                    <p:set>
                                      <p:cBhvr>
                                        <p:cTn id="58" dur="1" fill="hold">
                                          <p:stCondLst>
                                            <p:cond delay="499"/>
                                          </p:stCondLst>
                                        </p:cTn>
                                        <p:tgtEl>
                                          <p:spTgt spid="60432"/>
                                        </p:tgtEl>
                                        <p:attrNameLst>
                                          <p:attrName>style.visibility</p:attrName>
                                        </p:attrNameLst>
                                      </p:cBhvr>
                                      <p:to>
                                        <p:strVal val="hidden"/>
                                      </p:to>
                                    </p:set>
                                  </p:childTnLst>
                                </p:cTn>
                              </p:par>
                              <p:par>
                                <p:cTn id="59" presetID="5" presetClass="exit" presetSubtype="10" fill="hold" grpId="1" nodeType="withEffect">
                                  <p:stCondLst>
                                    <p:cond delay="0"/>
                                  </p:stCondLst>
                                  <p:childTnLst>
                                    <p:animEffect transition="out" filter="checkerboard(across)">
                                      <p:cBhvr>
                                        <p:cTn id="60" dur="500"/>
                                        <p:tgtEl>
                                          <p:spTgt spid="60423"/>
                                        </p:tgtEl>
                                      </p:cBhvr>
                                    </p:animEffect>
                                    <p:set>
                                      <p:cBhvr>
                                        <p:cTn id="61" dur="1" fill="hold">
                                          <p:stCondLst>
                                            <p:cond delay="499"/>
                                          </p:stCondLst>
                                        </p:cTn>
                                        <p:tgtEl>
                                          <p:spTgt spid="60423"/>
                                        </p:tgtEl>
                                        <p:attrNameLst>
                                          <p:attrName>style.visibility</p:attrName>
                                        </p:attrNameLst>
                                      </p:cBhvr>
                                      <p:to>
                                        <p:strVal val="hidden"/>
                                      </p:to>
                                    </p:set>
                                  </p:childTnLst>
                                </p:cTn>
                              </p:par>
                              <p:par>
                                <p:cTn id="62" presetID="5" presetClass="exit" presetSubtype="10" fill="hold" grpId="1" nodeType="withEffect">
                                  <p:stCondLst>
                                    <p:cond delay="0"/>
                                  </p:stCondLst>
                                  <p:childTnLst>
                                    <p:animEffect transition="out" filter="checkerboard(across)">
                                      <p:cBhvr>
                                        <p:cTn id="63" dur="500"/>
                                        <p:tgtEl>
                                          <p:spTgt spid="60424"/>
                                        </p:tgtEl>
                                      </p:cBhvr>
                                    </p:animEffect>
                                    <p:set>
                                      <p:cBhvr>
                                        <p:cTn id="64" dur="1" fill="hold">
                                          <p:stCondLst>
                                            <p:cond delay="499"/>
                                          </p:stCondLst>
                                        </p:cTn>
                                        <p:tgtEl>
                                          <p:spTgt spid="60424"/>
                                        </p:tgtEl>
                                        <p:attrNameLst>
                                          <p:attrName>style.visibility</p:attrName>
                                        </p:attrNameLst>
                                      </p:cBhvr>
                                      <p:to>
                                        <p:strVal val="hidden"/>
                                      </p:to>
                                    </p:set>
                                  </p:childTnLst>
                                </p:cTn>
                              </p:par>
                              <p:par>
                                <p:cTn id="65" presetID="5" presetClass="exit" presetSubtype="10" fill="hold" nodeType="withEffect">
                                  <p:stCondLst>
                                    <p:cond delay="0"/>
                                  </p:stCondLst>
                                  <p:childTnLst>
                                    <p:animEffect transition="out" filter="checkerboard(across)">
                                      <p:cBhvr>
                                        <p:cTn id="66" dur="500"/>
                                        <p:tgtEl>
                                          <p:spTgt spid="2"/>
                                        </p:tgtEl>
                                      </p:cBhvr>
                                    </p:animEffect>
                                    <p:set>
                                      <p:cBhvr>
                                        <p:cTn id="67" dur="1" fill="hold">
                                          <p:stCondLst>
                                            <p:cond delay="499"/>
                                          </p:stCondLst>
                                        </p:cTn>
                                        <p:tgtEl>
                                          <p:spTgt spid="2"/>
                                        </p:tgtEl>
                                        <p:attrNameLst>
                                          <p:attrName>style.visibility</p:attrName>
                                        </p:attrNameLst>
                                      </p:cBhvr>
                                      <p:to>
                                        <p:strVal val="hidden"/>
                                      </p:to>
                                    </p:set>
                                  </p:childTnLst>
                                </p:cTn>
                              </p:par>
                              <p:par>
                                <p:cTn id="68" presetID="5" presetClass="exit" presetSubtype="10" fill="hold" grpId="1" nodeType="withEffect">
                                  <p:stCondLst>
                                    <p:cond delay="0"/>
                                  </p:stCondLst>
                                  <p:childTnLst>
                                    <p:animEffect transition="out" filter="checkerboard(across)">
                                      <p:cBhvr>
                                        <p:cTn id="69" dur="500"/>
                                        <p:tgtEl>
                                          <p:spTgt spid="60426"/>
                                        </p:tgtEl>
                                      </p:cBhvr>
                                    </p:animEffect>
                                    <p:set>
                                      <p:cBhvr>
                                        <p:cTn id="70" dur="1" fill="hold">
                                          <p:stCondLst>
                                            <p:cond delay="499"/>
                                          </p:stCondLst>
                                        </p:cTn>
                                        <p:tgtEl>
                                          <p:spTgt spid="60426"/>
                                        </p:tgtEl>
                                        <p:attrNameLst>
                                          <p:attrName>style.visibility</p:attrName>
                                        </p:attrNameLst>
                                      </p:cBhvr>
                                      <p:to>
                                        <p:strVal val="hidden"/>
                                      </p:to>
                                    </p:set>
                                  </p:childTnLst>
                                </p:cTn>
                              </p:par>
                            </p:childTnLst>
                          </p:cTn>
                        </p:par>
                        <p:par>
                          <p:cTn id="71" fill="hold">
                            <p:stCondLst>
                              <p:cond delay="500"/>
                            </p:stCondLst>
                            <p:childTnLst>
                              <p:par>
                                <p:cTn id="72" presetID="22" presetClass="entr" presetSubtype="8" fill="hold" grpId="0" nodeType="afterEffect">
                                  <p:stCondLst>
                                    <p:cond delay="0"/>
                                  </p:stCondLst>
                                  <p:childTnLst>
                                    <p:set>
                                      <p:cBhvr>
                                        <p:cTn id="73" dur="1" fill="hold">
                                          <p:stCondLst>
                                            <p:cond delay="0"/>
                                          </p:stCondLst>
                                        </p:cTn>
                                        <p:tgtEl>
                                          <p:spTgt spid="60431"/>
                                        </p:tgtEl>
                                        <p:attrNameLst>
                                          <p:attrName>style.visibility</p:attrName>
                                        </p:attrNameLst>
                                      </p:cBhvr>
                                      <p:to>
                                        <p:strVal val="visible"/>
                                      </p:to>
                                    </p:set>
                                    <p:animEffect transition="in" filter="wipe(left)">
                                      <p:cBhvr>
                                        <p:cTn id="74" dur="500"/>
                                        <p:tgtEl>
                                          <p:spTgt spid="60431"/>
                                        </p:tgtEl>
                                      </p:cBhvr>
                                    </p:animEffect>
                                  </p:childTnLst>
                                </p:cTn>
                              </p:par>
                              <p:par>
                                <p:cTn id="75" presetID="5" presetClass="exit" presetSubtype="10" fill="hold" nodeType="withEffect">
                                  <p:stCondLst>
                                    <p:cond delay="0"/>
                                  </p:stCondLst>
                                  <p:childTnLst>
                                    <p:animEffect transition="out" filter="checkerboard(across)">
                                      <p:cBhvr>
                                        <p:cTn id="76" dur="500"/>
                                        <p:tgtEl>
                                          <p:spTgt spid="60433"/>
                                        </p:tgtEl>
                                      </p:cBhvr>
                                    </p:animEffect>
                                    <p:set>
                                      <p:cBhvr>
                                        <p:cTn id="77" dur="1" fill="hold">
                                          <p:stCondLst>
                                            <p:cond delay="499"/>
                                          </p:stCondLst>
                                        </p:cTn>
                                        <p:tgtEl>
                                          <p:spTgt spid="604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bldLvl="0" animBg="1"/>
      <p:bldP spid="60421" grpId="0" bldLvl="0" animBg="1"/>
      <p:bldP spid="60422" grpId="0" bldLvl="0" animBg="1"/>
      <p:bldP spid="60423" grpId="0" bldLvl="0" animBg="1"/>
      <p:bldP spid="60423" grpId="1" bldLvl="0" animBg="1"/>
      <p:bldP spid="60424" grpId="0" bldLvl="0" animBg="1"/>
      <p:bldP spid="60424" grpId="1" bldLvl="0" animBg="1"/>
      <p:bldP spid="60425" grpId="0" bldLvl="0" animBg="1"/>
      <p:bldP spid="60425" grpId="1" bldLvl="0" animBg="1"/>
      <p:bldP spid="60426" grpId="0" bldLvl="0" animBg="1"/>
      <p:bldP spid="60426" grpId="1" bldLvl="0" animBg="1"/>
      <p:bldP spid="60431"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idx="4294967295"/>
          </p:nvPr>
        </p:nvSpPr>
        <p:spPr/>
        <p:txBody>
          <a:bodyPr vert="horz" wrap="square" lIns="91440" tIns="45720" rIns="91440" bIns="45720" anchor="ctr"/>
          <a:p>
            <a:pPr algn="l" eaLnBrk="1" hangingPunct="1"/>
            <a:r>
              <a:rPr lang="en-US" altLang="zh-CN" sz="2800" dirty="0">
                <a:solidFill>
                  <a:schemeClr val="tx1"/>
                </a:solidFill>
              </a:rPr>
              <a:t>for</a:t>
            </a:r>
            <a:r>
              <a:rPr lang="zh-CN" altLang="en-US" sz="2800" dirty="0">
                <a:solidFill>
                  <a:schemeClr val="tx1"/>
                </a:solidFill>
              </a:rPr>
              <a:t>循环常见问题</a:t>
            </a:r>
            <a:endParaRPr lang="en-US" altLang="zh-CN" sz="2800" dirty="0">
              <a:solidFill>
                <a:schemeClr val="tx1"/>
              </a:solidFill>
            </a:endParaRPr>
          </a:p>
        </p:txBody>
      </p:sp>
      <p:sp>
        <p:nvSpPr>
          <p:cNvPr id="55299" name="AutoShape 7"/>
          <p:cNvSpPr/>
          <p:nvPr/>
        </p:nvSpPr>
        <p:spPr>
          <a:xfrm>
            <a:off x="2279650" y="2060575"/>
            <a:ext cx="7300913" cy="1983012"/>
          </a:xfrm>
          <a:prstGeom prst="roundRect">
            <a:avLst>
              <a:gd name="adj" fmla="val 16667"/>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fontAlgn="b" hangingPunct="1">
              <a:buClr>
                <a:schemeClr val="folHlink"/>
              </a:buClr>
              <a:buSzPct val="60000"/>
              <a:buNone/>
            </a:pPr>
            <a:r>
              <a:rPr lang="en-US" altLang="zh-CN" sz="2400" b="1" dirty="0">
                <a:solidFill>
                  <a:schemeClr val="tx1"/>
                </a:solidFill>
                <a:ea typeface="黑体" panose="02010609060101010101" pitchFamily="2" charset="-122"/>
              </a:rPr>
              <a:t>for(int i=0;i&lt;10;i++);</a:t>
            </a:r>
            <a:endParaRPr lang="en-US" altLang="zh-CN" sz="2400" b="1" dirty="0">
              <a:solidFill>
                <a:schemeClr val="tx1"/>
              </a:solidFill>
              <a:ea typeface="黑体" panose="02010609060101010101" pitchFamily="2" charset="-122"/>
            </a:endParaRPr>
          </a:p>
          <a:p>
            <a:pPr marL="0" lvl="0" indent="0" eaLnBrk="1" fontAlgn="b" hangingPunct="1">
              <a:buClr>
                <a:schemeClr val="folHlink"/>
              </a:buClr>
              <a:buSzPct val="60000"/>
              <a:buNone/>
            </a:pPr>
            <a:r>
              <a:rPr lang="en-US" altLang="zh-CN" sz="2400" b="1" dirty="0">
                <a:solidFill>
                  <a:schemeClr val="tx1"/>
                </a:solidFill>
                <a:ea typeface="黑体" panose="02010609060101010101" pitchFamily="2" charset="-122"/>
              </a:rPr>
              <a:t>{</a:t>
            </a:r>
            <a:endParaRPr lang="en-US" altLang="zh-CN" sz="2400" b="1" dirty="0">
              <a:solidFill>
                <a:schemeClr val="tx1"/>
              </a:solidFill>
              <a:ea typeface="黑体" panose="02010609060101010101" pitchFamily="2" charset="-122"/>
            </a:endParaRPr>
          </a:p>
          <a:p>
            <a:pPr marL="0" lvl="0" indent="0" eaLnBrk="1" fontAlgn="b" hangingPunct="1">
              <a:buClr>
                <a:schemeClr val="folHlink"/>
              </a:buClr>
              <a:buSzPct val="60000"/>
              <a:buNone/>
            </a:pPr>
            <a:r>
              <a:rPr lang="en-US" altLang="zh-CN" sz="2400" b="1" dirty="0">
                <a:solidFill>
                  <a:schemeClr val="tx1"/>
                </a:solidFill>
                <a:ea typeface="黑体" panose="02010609060101010101" pitchFamily="2" charset="-122"/>
              </a:rPr>
              <a:t>      System.out.println(</a:t>
            </a:r>
            <a:r>
              <a:rPr lang="zh-CN" altLang="en-US" sz="2400" b="1" dirty="0">
                <a:solidFill>
                  <a:schemeClr val="tx1"/>
                </a:solidFill>
                <a:ea typeface="黑体" panose="02010609060101010101" pitchFamily="2" charset="-122"/>
              </a:rPr>
              <a:t>"这是</a:t>
            </a:r>
            <a:r>
              <a:rPr lang="en-US" altLang="zh-CN" sz="2400" b="1" dirty="0">
                <a:solidFill>
                  <a:schemeClr val="tx1"/>
                </a:solidFill>
                <a:ea typeface="黑体" panose="02010609060101010101" pitchFamily="2" charset="-122"/>
              </a:rPr>
              <a:t> "+i);</a:t>
            </a:r>
            <a:endParaRPr lang="en-US" altLang="zh-CN" sz="2400" b="1" dirty="0">
              <a:solidFill>
                <a:schemeClr val="tx1"/>
              </a:solidFill>
              <a:ea typeface="黑体" panose="02010609060101010101" pitchFamily="2" charset="-122"/>
            </a:endParaRPr>
          </a:p>
          <a:p>
            <a:pPr marL="0" lvl="0" indent="0" eaLnBrk="1" fontAlgn="b" hangingPunct="1">
              <a:buClr>
                <a:schemeClr val="folHlink"/>
              </a:buClr>
              <a:buSzPct val="60000"/>
              <a:buNone/>
            </a:pPr>
            <a:r>
              <a:rPr lang="en-US" altLang="zh-CN" sz="2400" b="1" dirty="0">
                <a:solidFill>
                  <a:schemeClr val="tx1"/>
                </a:solidFill>
                <a:ea typeface="黑体" panose="02010609060101010101" pitchFamily="2" charset="-122"/>
              </a:rPr>
              <a:t>}</a:t>
            </a:r>
            <a:endParaRPr lang="en-US" altLang="zh-CN" sz="2400" b="1" dirty="0">
              <a:solidFill>
                <a:schemeClr val="tx1"/>
              </a:solidFill>
              <a:ea typeface="黑体" panose="02010609060101010101" pitchFamily="2" charset="-122"/>
            </a:endParaRPr>
          </a:p>
        </p:txBody>
      </p:sp>
      <p:sp>
        <p:nvSpPr>
          <p:cNvPr id="61445" name="AutoShape 17"/>
          <p:cNvSpPr/>
          <p:nvPr/>
        </p:nvSpPr>
        <p:spPr>
          <a:xfrm>
            <a:off x="5903913" y="989013"/>
            <a:ext cx="3073400" cy="919679"/>
          </a:xfrm>
          <a:prstGeom prst="wedgeRoundRectCallout">
            <a:avLst>
              <a:gd name="adj1" fmla="val -58764"/>
              <a:gd name="adj2" fmla="val 114264"/>
              <a:gd name="adj3" fmla="val 16667"/>
            </a:avLst>
          </a:prstGeom>
          <a:gradFill rotWithShape="1">
            <a:gsLst>
              <a:gs pos="0">
                <a:srgbClr val="FFFF99"/>
              </a:gs>
              <a:gs pos="100000">
                <a:srgbClr val="FFFFFF"/>
              </a:gs>
            </a:gsLst>
            <a:lin ang="5400000" scaled="1"/>
            <a:tileRect/>
          </a:gradFill>
          <a:ln w="9525" cap="flat" cmpd="sng">
            <a:solidFill>
              <a:srgbClr val="FF9900"/>
            </a:solidFill>
            <a:prstDash val="solid"/>
            <a:miter/>
            <a:headEnd type="none" w="med" len="med"/>
            <a:tailEnd type="none" w="med" len="med"/>
          </a:ln>
          <a:effectLst>
            <a:outerShdw dist="53882" dir="2699999" algn="ctr" rotWithShape="0">
              <a:schemeClr val="bg2">
                <a:alpha val="50000"/>
              </a:schemeClr>
            </a:outerShdw>
          </a:effectLst>
        </p:spPr>
        <p:txBody>
          <a:bodyPr anchor="t" anchorCtr="1">
            <a:spAutoFit/>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r>
              <a:rPr lang="zh-CN" altLang="en-US" sz="2400" b="1" dirty="0">
                <a:solidFill>
                  <a:schemeClr val="tx1"/>
                </a:solidFill>
                <a:ea typeface="黑体" panose="02010609060101010101" pitchFamily="2" charset="-122"/>
              </a:rPr>
              <a:t>编译正确，但是循环没有被执行</a:t>
            </a:r>
            <a:endParaRPr lang="zh-CN" altLang="en-US" sz="2400" b="1" dirty="0">
              <a:solidFill>
                <a:schemeClr val="tx1"/>
              </a:solidFill>
              <a:ea typeface="黑体" panose="02010609060101010101" pitchFamily="2" charset="-122"/>
            </a:endParaRPr>
          </a:p>
        </p:txBody>
      </p:sp>
      <p:pic>
        <p:nvPicPr>
          <p:cNvPr id="55301" name="Picture 18" descr="代码改错"/>
          <p:cNvPicPr>
            <a:picLocks noChangeAspect="1"/>
          </p:cNvPicPr>
          <p:nvPr/>
        </p:nvPicPr>
        <p:blipFill>
          <a:blip r:embed="rId1"/>
          <a:stretch>
            <a:fillRect/>
          </a:stretch>
        </p:blipFill>
        <p:spPr>
          <a:xfrm>
            <a:off x="2351088" y="981075"/>
            <a:ext cx="792162" cy="792163"/>
          </a:xfrm>
          <a:prstGeom prst="rect">
            <a:avLst/>
          </a:prstGeom>
          <a:noFill/>
          <a:ln w="9525">
            <a:noFill/>
          </a:ln>
        </p:spPr>
      </p:pic>
      <p:sp>
        <p:nvSpPr>
          <p:cNvPr id="7" name="AutoShape 25"/>
          <p:cNvSpPr/>
          <p:nvPr/>
        </p:nvSpPr>
        <p:spPr>
          <a:xfrm>
            <a:off x="2279650" y="4652963"/>
            <a:ext cx="7300913" cy="695325"/>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800080"/>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a:spcBef>
                <a:spcPct val="0"/>
              </a:spcBef>
              <a:buSzTx/>
              <a:buFontTx/>
              <a:buNone/>
            </a:pPr>
            <a:r>
              <a:rPr lang="en-US" altLang="zh-CN" sz="2800" b="1" dirty="0">
                <a:solidFill>
                  <a:schemeClr val="tx1"/>
                </a:solidFill>
                <a:ea typeface="楷体_GB2312" pitchFamily="1" charset="-122"/>
              </a:rPr>
              <a:t> </a:t>
            </a:r>
            <a:r>
              <a:rPr lang="zh-CN" altLang="en-US" sz="2800" b="1" dirty="0">
                <a:solidFill>
                  <a:schemeClr val="tx1"/>
                </a:solidFill>
                <a:ea typeface="楷体_GB2312" pitchFamily="1" charset="-122"/>
              </a:rPr>
              <a:t>提示：</a:t>
            </a:r>
            <a:r>
              <a:rPr lang="en-US" altLang="zh-CN" sz="2800" b="1" dirty="0">
                <a:solidFill>
                  <a:schemeClr val="tx1"/>
                </a:solidFill>
                <a:ea typeface="楷体_GB2312" pitchFamily="1" charset="-122"/>
              </a:rPr>
              <a:t>for</a:t>
            </a:r>
            <a:r>
              <a:rPr lang="zh-CN" altLang="en-US" sz="2800" b="1" dirty="0">
                <a:solidFill>
                  <a:schemeClr val="tx1"/>
                </a:solidFill>
                <a:ea typeface="楷体_GB2312" pitchFamily="1" charset="-122"/>
              </a:rPr>
              <a:t>循环适用于已知循环次数的场景！</a:t>
            </a:r>
            <a:endParaRPr lang="zh-CN" altLang="en-US" sz="2800" b="1" dirty="0">
              <a:solidFill>
                <a:schemeClr val="tx1"/>
              </a:solidFill>
              <a:ea typeface="楷体_GB2312" pitchFamily="1" charset="-122"/>
            </a:endParaRPr>
          </a:p>
        </p:txBody>
      </p:sp>
      <p:sp>
        <p:nvSpPr>
          <p:cNvPr id="55303" name="灯片编号占位符 4"/>
          <p:cNvSpPr txBox="1">
            <a:spLocks noGrp="1"/>
          </p:cNvSpPr>
          <p:nvPr>
            <p:ph type="sldNum" sz="quarter" idx="4"/>
          </p:nvPr>
        </p:nvSpPr>
        <p:spPr/>
        <p:txBody>
          <a:bodyPr/>
          <a:p>
            <a:pPr marL="0" indent="0" algn="r" eaLnBrk="1" hangingPunct="1">
              <a:spcBef>
                <a:spcPct val="0"/>
              </a:spcBef>
              <a:buSzTx/>
              <a:buFontTx/>
              <a:buNone/>
            </a:pPr>
            <a:fld id="{9A0DB2DC-4C9A-4742-B13C-FB6460FD3503}" type="slidenum">
              <a:rPr lang="en-US" altLang="zh-CN" dirty="0">
                <a:solidFill>
                  <a:srgbClr val="1C1C1C"/>
                </a:solidFill>
                <a:latin typeface="+mn-lt"/>
                <a:ea typeface="+mn-ea"/>
                <a:cs typeface="+mn-cs"/>
              </a:rPr>
            </a:fld>
            <a:endParaRPr lang="en-US" altLang="zh-CN" dirty="0">
              <a:solidFill>
                <a:srgbClr val="1C1C1C"/>
              </a:solidFill>
              <a:latin typeface="+mn-lt"/>
              <a:ea typeface="+mn-ea"/>
              <a:cs typeface="+mn-cs"/>
            </a:endParaRPr>
          </a:p>
        </p:txBody>
      </p:sp>
      <p:sp>
        <p:nvSpPr>
          <p:cNvPr id="2" name="椭圆 1"/>
          <p:cNvSpPr/>
          <p:nvPr/>
        </p:nvSpPr>
        <p:spPr>
          <a:xfrm>
            <a:off x="5016500" y="2060575"/>
            <a:ext cx="358775" cy="720725"/>
          </a:xfrm>
          <a:prstGeom prst="ellipse">
            <a:avLst/>
          </a:prstGeom>
          <a:noFill/>
          <a:ln w="38100" cap="sq" cmpd="sng">
            <a:solidFill>
              <a:srgbClr val="FF0000"/>
            </a:solidFill>
            <a:prstDash val="solid"/>
            <a:headEnd type="none" w="sm" len="sm"/>
            <a:tailEnd type="none" w="sm" len="sm"/>
          </a:ln>
        </p:spPr>
        <p:txBody>
          <a:bodyPr/>
          <a:lstStyle>
            <a:lvl1pPr marL="342900" indent="-342900" algn="l" rtl="0" eaLnBrk="0" fontAlgn="base" hangingPunct="0">
              <a:spcBef>
                <a:spcPct val="20000"/>
              </a:spcBef>
              <a:spcAft>
                <a:spcPct val="0"/>
              </a:spcAft>
              <a:buSzPct val="80000"/>
              <a:buFont typeface="Wingdings" panose="05000000000000000000" pitchFamily="2" charset="2"/>
              <a:buChar char="l"/>
              <a:defRPr sz="3200">
                <a:solidFill>
                  <a:schemeClr val="bg2"/>
                </a:solidFill>
                <a:latin typeface="+mn-lt"/>
                <a:ea typeface="+mn-ea"/>
                <a:cs typeface="+mn-cs"/>
              </a:defRPr>
            </a:lvl1pPr>
            <a:lvl2pPr marL="835025" indent="-377825" algn="l" rtl="0" eaLnBrk="0" fontAlgn="base" hangingPunct="0">
              <a:spcBef>
                <a:spcPct val="20000"/>
              </a:spcBef>
              <a:spcAft>
                <a:spcPct val="0"/>
              </a:spcAft>
              <a:buClr>
                <a:srgbClr val="FF0000"/>
              </a:buClr>
              <a:buSzPct val="90000"/>
              <a:buFont typeface="Wingdings 3" panose="05040102010807070707" pitchFamily="18" charset="2"/>
              <a:buChar char="u"/>
              <a:defRPr sz="2800">
                <a:solidFill>
                  <a:schemeClr val="bg2"/>
                </a:solidFill>
                <a:latin typeface="+mn-lt"/>
                <a:ea typeface="+mn-ea"/>
              </a:defRPr>
            </a:lvl2pPr>
            <a:lvl3pPr marL="1393825" indent="-339725" algn="l" rtl="0" eaLnBrk="0" fontAlgn="base" hangingPunct="0">
              <a:spcBef>
                <a:spcPct val="20000"/>
              </a:spcBef>
              <a:spcAft>
                <a:spcPct val="0"/>
              </a:spcAft>
              <a:buClr>
                <a:srgbClr val="0033CC"/>
              </a:buClr>
              <a:buSzPct val="65000"/>
              <a:buFont typeface="Wingdings" panose="05000000000000000000" pitchFamily="2" charset="2"/>
              <a:buChar char="]"/>
              <a:defRPr sz="2400">
                <a:solidFill>
                  <a:schemeClr val="bg2"/>
                </a:solidFill>
                <a:latin typeface="+mn-lt"/>
                <a:ea typeface="+mn-ea"/>
              </a:defRPr>
            </a:lvl3pPr>
            <a:lvl4pPr marL="1812925" indent="-228600" algn="l" rtl="0" eaLnBrk="0" fontAlgn="base" hangingPunct="0">
              <a:spcBef>
                <a:spcPct val="20000"/>
              </a:spcBef>
              <a:spcAft>
                <a:spcPct val="0"/>
              </a:spcAft>
              <a:buSzPct val="75000"/>
              <a:buFont typeface="Wingdings 2" panose="05020102010507070707" pitchFamily="18" charset="2"/>
              <a:buChar char="¿"/>
              <a:defRPr sz="2000">
                <a:solidFill>
                  <a:schemeClr val="bg2"/>
                </a:solidFill>
                <a:latin typeface="+mn-lt"/>
                <a:ea typeface="+mn-ea"/>
              </a:defRPr>
            </a:lvl4pPr>
            <a:lvl5pPr marL="2232025" indent="-228600" algn="l" rtl="0" eaLnBrk="0" fontAlgn="base" hangingPunct="0">
              <a:spcBef>
                <a:spcPct val="20000"/>
              </a:spcBef>
              <a:spcAft>
                <a:spcPct val="0"/>
              </a:spcAft>
              <a:buChar char="»"/>
              <a:defRPr sz="2000">
                <a:solidFill>
                  <a:schemeClr val="bg2"/>
                </a:solidFill>
                <a:latin typeface="+mn-lt"/>
                <a:ea typeface="+mn-ea"/>
              </a:defRPr>
            </a:lvl5pPr>
          </a:lstStyle>
          <a:p>
            <a:pPr marL="0" lvl="0" indent="0" eaLnBrk="1" hangingPunct="1">
              <a:spcBef>
                <a:spcPct val="0"/>
              </a:spcBef>
              <a:buSzTx/>
              <a:buFontTx/>
              <a:buNone/>
            </a:pPr>
            <a:endParaRPr lang="zh-CN" altLang="en-US" sz="28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445"/>
                                        </p:tgtEl>
                                        <p:attrNameLst>
                                          <p:attrName>style.visibility</p:attrName>
                                        </p:attrNameLst>
                                      </p:cBhvr>
                                      <p:to>
                                        <p:strVal val="visible"/>
                                      </p:to>
                                    </p:set>
                                    <p:animEffect transition="in" filter="wipe(left)">
                                      <p:cBhvr>
                                        <p:cTn id="7" dur="500"/>
                                        <p:tgtEl>
                                          <p:spTgt spid="6144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bldLvl="0" animBg="1"/>
      <p:bldP spid="7" grpId="0" bldLvl="0" animBg="1"/>
      <p:bldP spid="2"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9277" y="210777"/>
            <a:ext cx="9601200" cy="1142385"/>
          </a:xfrm>
        </p:spPr>
        <p:txBody>
          <a:bodyPr/>
          <a:lstStyle/>
          <a:p>
            <a:r>
              <a:rPr lang="zh-CN" altLang="en-US" dirty="0"/>
              <a:t>练习：</a:t>
            </a:r>
            <a:endParaRPr lang="zh-CN" altLang="en-US" dirty="0"/>
          </a:p>
        </p:txBody>
      </p:sp>
      <p:sp>
        <p:nvSpPr>
          <p:cNvPr id="3" name="内容占位符 2"/>
          <p:cNvSpPr>
            <a:spLocks noGrp="1"/>
          </p:cNvSpPr>
          <p:nvPr>
            <p:ph idx="1"/>
          </p:nvPr>
        </p:nvSpPr>
        <p:spPr>
          <a:xfrm>
            <a:off x="568569" y="1465385"/>
            <a:ext cx="10720753" cy="3809999"/>
          </a:xfrm>
        </p:spPr>
        <p:txBody>
          <a:bodyPr>
            <a:normAutofit/>
          </a:bodyPr>
          <a:lstStyle/>
          <a:p>
            <a:pPr marL="0" lvl="0" indent="0">
              <a:buNone/>
            </a:pP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a:t>
            </a:r>
            <a:r>
              <a:rPr lang="zh-CN" altLang="zh-CN" sz="2800" dirty="0">
                <a:latin typeface="宋体" panose="02010600030101010101" pitchFamily="2" charset="-122"/>
                <a:ea typeface="宋体" panose="02010600030101010101" pitchFamily="2" charset="-122"/>
              </a:rPr>
              <a:t>输出</a:t>
            </a:r>
            <a:r>
              <a:rPr lang="en-US" altLang="zh-CN" sz="2800" dirty="0">
                <a:latin typeface="宋体" panose="02010600030101010101" pitchFamily="2" charset="-122"/>
                <a:ea typeface="宋体" panose="02010600030101010101" pitchFamily="2" charset="-122"/>
              </a:rPr>
              <a:t>1-100</a:t>
            </a:r>
            <a:r>
              <a:rPr lang="zh-CN" altLang="zh-CN" sz="2800" dirty="0">
                <a:latin typeface="宋体" panose="02010600030101010101" pitchFamily="2" charset="-122"/>
                <a:ea typeface="宋体" panose="02010600030101010101" pitchFamily="2" charset="-122"/>
              </a:rPr>
              <a:t>之间既能被</a:t>
            </a:r>
            <a:r>
              <a:rPr lang="en-US" altLang="zh-CN" sz="2800" dirty="0">
                <a:latin typeface="宋体" panose="02010600030101010101" pitchFamily="2" charset="-122"/>
                <a:ea typeface="宋体" panose="02010600030101010101" pitchFamily="2" charset="-122"/>
              </a:rPr>
              <a:t>3</a:t>
            </a:r>
            <a:r>
              <a:rPr lang="zh-CN" altLang="zh-CN" sz="2800" dirty="0">
                <a:latin typeface="宋体" panose="02010600030101010101" pitchFamily="2" charset="-122"/>
                <a:ea typeface="宋体" panose="02010600030101010101" pitchFamily="2" charset="-122"/>
              </a:rPr>
              <a:t>整除又能被</a:t>
            </a:r>
            <a:r>
              <a:rPr lang="en-US" altLang="zh-CN" sz="2800" dirty="0">
                <a:latin typeface="宋体" panose="02010600030101010101" pitchFamily="2" charset="-122"/>
                <a:ea typeface="宋体" panose="02010600030101010101" pitchFamily="2" charset="-122"/>
              </a:rPr>
              <a:t>7</a:t>
            </a:r>
            <a:r>
              <a:rPr lang="zh-CN" altLang="zh-CN" sz="2800" dirty="0">
                <a:latin typeface="宋体" panose="02010600030101010101" pitchFamily="2" charset="-122"/>
                <a:ea typeface="宋体" panose="02010600030101010101" pitchFamily="2" charset="-122"/>
              </a:rPr>
              <a:t>整除的数。</a:t>
            </a:r>
            <a:endParaRPr lang="zh-CN" altLang="zh-CN"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a:t>
            </a:r>
            <a:r>
              <a:rPr lang="zh-CN" altLang="zh-CN" sz="2800" dirty="0">
                <a:latin typeface="宋体" panose="02010600030101010101" pitchFamily="2" charset="-122"/>
                <a:ea typeface="宋体" panose="02010600030101010101" pitchFamily="2" charset="-122"/>
              </a:rPr>
              <a:t>输出</a:t>
            </a:r>
            <a:r>
              <a:rPr lang="en-US" altLang="zh-CN" sz="2800" dirty="0">
                <a:latin typeface="宋体" panose="02010600030101010101" pitchFamily="2" charset="-122"/>
                <a:ea typeface="宋体" panose="02010600030101010101" pitchFamily="2" charset="-122"/>
              </a:rPr>
              <a:t>9*9</a:t>
            </a:r>
            <a:r>
              <a:rPr lang="zh-CN" altLang="zh-CN" sz="2800" dirty="0">
                <a:latin typeface="宋体" panose="02010600030101010101" pitchFamily="2" charset="-122"/>
                <a:ea typeface="宋体" panose="02010600030101010101" pitchFamily="2" charset="-122"/>
              </a:rPr>
              <a:t>口诀。</a:t>
            </a:r>
            <a:r>
              <a:rPr lang="en-US" altLang="zh-CN" sz="2800" dirty="0">
                <a:latin typeface="宋体" panose="02010600030101010101" pitchFamily="2" charset="-122"/>
                <a:ea typeface="宋体" panose="02010600030101010101" pitchFamily="2" charset="-122"/>
              </a:rPr>
              <a:t> </a:t>
            </a:r>
            <a:r>
              <a:rPr lang="zh-CN" altLang="zh-CN" sz="2800" dirty="0">
                <a:latin typeface="宋体" panose="02010600030101010101" pitchFamily="2" charset="-122"/>
                <a:ea typeface="宋体" panose="02010600030101010101" pitchFamily="2" charset="-122"/>
              </a:rPr>
              <a:t>程序分析：分行与列考虑，共</a:t>
            </a:r>
            <a:r>
              <a:rPr lang="en-US" altLang="zh-CN" sz="2800" dirty="0">
                <a:latin typeface="宋体" panose="02010600030101010101" pitchFamily="2" charset="-122"/>
                <a:ea typeface="宋体" panose="02010600030101010101" pitchFamily="2" charset="-122"/>
              </a:rPr>
              <a:t>9</a:t>
            </a:r>
            <a:r>
              <a:rPr lang="zh-CN" altLang="zh-CN" sz="2800" dirty="0">
                <a:latin typeface="宋体" panose="02010600030101010101" pitchFamily="2" charset="-122"/>
                <a:ea typeface="宋体" panose="02010600030101010101" pitchFamily="2" charset="-122"/>
              </a:rPr>
              <a:t>行</a:t>
            </a:r>
            <a:r>
              <a:rPr lang="en-US" altLang="zh-CN" sz="2800" dirty="0">
                <a:latin typeface="宋体" panose="02010600030101010101" pitchFamily="2" charset="-122"/>
                <a:ea typeface="宋体" panose="02010600030101010101" pitchFamily="2" charset="-122"/>
              </a:rPr>
              <a:t>9</a:t>
            </a:r>
            <a:r>
              <a:rPr lang="zh-CN" altLang="zh-CN" sz="2800" dirty="0">
                <a:latin typeface="宋体" panose="02010600030101010101" pitchFamily="2" charset="-122"/>
                <a:ea typeface="宋体" panose="02010600030101010101" pitchFamily="2" charset="-122"/>
              </a:rPr>
              <a:t>列，</a:t>
            </a:r>
            <a:r>
              <a:rPr lang="en-US" altLang="zh-CN" sz="2800" dirty="0" err="1">
                <a:latin typeface="宋体" panose="02010600030101010101" pitchFamily="2" charset="-122"/>
                <a:ea typeface="宋体" panose="02010600030101010101" pitchFamily="2" charset="-122"/>
              </a:rPr>
              <a:t>i</a:t>
            </a:r>
            <a:r>
              <a:rPr lang="zh-CN" altLang="zh-CN" sz="2800" dirty="0">
                <a:latin typeface="宋体" panose="02010600030101010101" pitchFamily="2" charset="-122"/>
                <a:ea typeface="宋体" panose="02010600030101010101" pitchFamily="2" charset="-122"/>
              </a:rPr>
              <a:t>控制行，</a:t>
            </a:r>
            <a:r>
              <a:rPr lang="en-US" altLang="zh-CN" sz="2800" dirty="0">
                <a:latin typeface="宋体" panose="02010600030101010101" pitchFamily="2" charset="-122"/>
                <a:ea typeface="宋体" panose="02010600030101010101" pitchFamily="2" charset="-122"/>
              </a:rPr>
              <a:t>j</a:t>
            </a:r>
            <a:r>
              <a:rPr lang="zh-CN" altLang="zh-CN" sz="2800" dirty="0">
                <a:latin typeface="宋体" panose="02010600030101010101" pitchFamily="2" charset="-122"/>
                <a:ea typeface="宋体" panose="02010600030101010101" pitchFamily="2" charset="-122"/>
              </a:rPr>
              <a:t>控制列。</a:t>
            </a:r>
            <a:endParaRPr lang="en-US" altLang="zh-CN" sz="2800" dirty="0">
              <a:latin typeface="宋体" panose="02010600030101010101" pitchFamily="2" charset="-122"/>
              <a:ea typeface="宋体" panose="02010600030101010101" pitchFamily="2" charset="-122"/>
            </a:endParaRPr>
          </a:p>
          <a:p>
            <a:pPr marL="0" indent="0">
              <a:buNone/>
            </a:pPr>
            <a:r>
              <a:rPr lang="en-US" altLang="zh-CN" sz="2800" dirty="0">
                <a:solidFill>
                  <a:srgbClr val="000000"/>
                </a:solidFill>
                <a:latin typeface="宋体" panose="02010600030101010101" pitchFamily="2" charset="-122"/>
                <a:ea typeface="宋体" panose="02010600030101010101" pitchFamily="2" charset="-122"/>
                <a:sym typeface="微软雅黑" panose="020B0503020204020204" pitchFamily="34" charset="-122"/>
              </a:rPr>
              <a:t>3</a:t>
            </a:r>
            <a:r>
              <a:rPr lang="zh-CN" altLang="en-US" sz="2800" dirty="0">
                <a:solidFill>
                  <a:srgbClr val="000000"/>
                </a:solidFill>
                <a:latin typeface="宋体" panose="02010600030101010101" pitchFamily="2" charset="-122"/>
                <a:ea typeface="宋体" panose="02010600030101010101" pitchFamily="2" charset="-122"/>
                <a:sym typeface="微软雅黑" panose="020B0503020204020204" pitchFamily="34" charset="-122"/>
              </a:rPr>
              <a:t>、打印</a:t>
            </a:r>
            <a:r>
              <a:rPr lang="en-US" altLang="zh-CN" sz="2800" dirty="0">
                <a:solidFill>
                  <a:srgbClr val="000000"/>
                </a:solidFill>
                <a:latin typeface="宋体" panose="02010600030101010101" pitchFamily="2" charset="-122"/>
                <a:ea typeface="宋体" panose="02010600030101010101" pitchFamily="2" charset="-122"/>
                <a:sym typeface="微软雅黑" panose="020B0503020204020204" pitchFamily="34" charset="-122"/>
              </a:rPr>
              <a:t>0~127</a:t>
            </a:r>
            <a:r>
              <a:rPr lang="zh-CN" altLang="en-US" sz="2800" dirty="0">
                <a:solidFill>
                  <a:srgbClr val="000000"/>
                </a:solidFill>
                <a:latin typeface="宋体" panose="02010600030101010101" pitchFamily="2" charset="-122"/>
                <a:ea typeface="宋体" panose="02010600030101010101" pitchFamily="2" charset="-122"/>
                <a:sym typeface="微软雅黑" panose="020B0503020204020204" pitchFamily="34" charset="-122"/>
              </a:rPr>
              <a:t>各个数字对应的字符，每</a:t>
            </a:r>
            <a:r>
              <a:rPr lang="en-US" altLang="zh-CN" sz="2800" dirty="0">
                <a:solidFill>
                  <a:srgbClr val="000000"/>
                </a:solidFill>
                <a:latin typeface="宋体" panose="02010600030101010101" pitchFamily="2" charset="-122"/>
                <a:ea typeface="宋体" panose="02010600030101010101" pitchFamily="2" charset="-122"/>
                <a:sym typeface="微软雅黑" panose="020B0503020204020204" pitchFamily="34" charset="-122"/>
              </a:rPr>
              <a:t>8</a:t>
            </a:r>
            <a:r>
              <a:rPr lang="zh-CN" altLang="en-US" sz="2800" dirty="0">
                <a:solidFill>
                  <a:srgbClr val="000000"/>
                </a:solidFill>
                <a:latin typeface="宋体" panose="02010600030101010101" pitchFamily="2" charset="-122"/>
                <a:ea typeface="宋体" panose="02010600030101010101" pitchFamily="2" charset="-122"/>
                <a:sym typeface="微软雅黑" panose="020B0503020204020204" pitchFamily="34" charset="-122"/>
              </a:rPr>
              <a:t>个打印一行。</a:t>
            </a:r>
            <a:endParaRPr lang="zh-CN" altLang="en-US" sz="2800" dirty="0">
              <a:solidFill>
                <a:srgbClr val="000000"/>
              </a:solidFill>
              <a:latin typeface="宋体" panose="02010600030101010101" pitchFamily="2" charset="-122"/>
              <a:ea typeface="宋体" panose="02010600030101010101" pitchFamily="2" charset="-122"/>
              <a:sym typeface="微软雅黑" panose="020B0503020204020204" pitchFamily="34" charset="-122"/>
            </a:endParaRPr>
          </a:p>
          <a:p>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内容占位符 1"/>
          <p:cNvSpPr>
            <a:spLocks noGrp="1"/>
          </p:cNvSpPr>
          <p:nvPr>
            <p:ph idx="4294967295"/>
          </p:nvPr>
        </p:nvSpPr>
        <p:spPr>
          <a:xfrm>
            <a:off x="952042" y="1461342"/>
            <a:ext cx="10458908" cy="4170917"/>
          </a:xfrm>
        </p:spPr>
        <p:txBody>
          <a:bodyPr/>
          <a:lstStyle/>
          <a:p>
            <a:pPr marL="0" indent="353060">
              <a:buNone/>
            </a:pPr>
            <a:r>
              <a:rPr lang="en-US" altLang="zh-CN" sz="2820" b="1" dirty="0">
                <a:latin typeface="宋体" panose="02010600030101010101" pitchFamily="2" charset="-122"/>
                <a:ea typeface="宋体" panose="02010600030101010101" pitchFamily="2" charset="-122"/>
              </a:rPr>
              <a:t>Java</a:t>
            </a:r>
            <a:r>
              <a:rPr lang="zh-CN" altLang="en-US" sz="2820" b="1" dirty="0">
                <a:latin typeface="宋体" panose="02010600030101010101" pitchFamily="2" charset="-122"/>
                <a:ea typeface="宋体" panose="02010600030101010101" pitchFamily="2" charset="-122"/>
              </a:rPr>
              <a:t>提供了</a:t>
            </a:r>
            <a:r>
              <a:rPr lang="en-US" altLang="zh-CN" sz="2820" b="1" dirty="0">
                <a:latin typeface="宋体" panose="02010600030101010101" pitchFamily="2" charset="-122"/>
                <a:ea typeface="宋体" panose="02010600030101010101" pitchFamily="2" charset="-122"/>
              </a:rPr>
              <a:t>break</a:t>
            </a:r>
            <a:r>
              <a:rPr lang="zh-CN" altLang="en-US" sz="2820" b="1" dirty="0">
                <a:latin typeface="宋体" panose="02010600030101010101" pitchFamily="2" charset="-122"/>
                <a:ea typeface="宋体" panose="02010600030101010101" pitchFamily="2" charset="-122"/>
              </a:rPr>
              <a:t>、</a:t>
            </a:r>
            <a:r>
              <a:rPr lang="en-US" altLang="zh-CN" sz="2820" b="1" dirty="0">
                <a:latin typeface="宋体" panose="02010600030101010101" pitchFamily="2" charset="-122"/>
                <a:ea typeface="宋体" panose="02010600030101010101" pitchFamily="2" charset="-122"/>
              </a:rPr>
              <a:t>continue</a:t>
            </a:r>
            <a:r>
              <a:rPr lang="zh-CN" altLang="en-US" sz="2820" b="1" dirty="0">
                <a:latin typeface="宋体" panose="02010600030101010101" pitchFamily="2" charset="-122"/>
                <a:ea typeface="宋体" panose="02010600030101010101" pitchFamily="2" charset="-122"/>
              </a:rPr>
              <a:t>和</a:t>
            </a:r>
            <a:r>
              <a:rPr lang="en-US" altLang="zh-CN" sz="2820" b="1" dirty="0">
                <a:latin typeface="宋体" panose="02010600030101010101" pitchFamily="2" charset="-122"/>
                <a:ea typeface="宋体" panose="02010600030101010101" pitchFamily="2" charset="-122"/>
              </a:rPr>
              <a:t> return</a:t>
            </a:r>
            <a:r>
              <a:rPr lang="zh-CN" altLang="en-US" sz="2820" b="1" dirty="0">
                <a:latin typeface="宋体" panose="02010600030101010101" pitchFamily="2" charset="-122"/>
                <a:ea typeface="宋体" panose="02010600030101010101" pitchFamily="2" charset="-122"/>
              </a:rPr>
              <a:t>语句来控制循环过程。跳转操作主要是指结束当前循环流程，进入其他操作。</a:t>
            </a:r>
            <a:endParaRPr lang="en-US" altLang="zh-CN" sz="2820" b="1" dirty="0">
              <a:latin typeface="宋体" panose="02010600030101010101" pitchFamily="2" charset="-122"/>
              <a:ea typeface="宋体" panose="02010600030101010101" pitchFamily="2" charset="-122"/>
            </a:endParaRPr>
          </a:p>
        </p:txBody>
      </p:sp>
      <p:sp>
        <p:nvSpPr>
          <p:cNvPr id="49155" name="标题 2"/>
          <p:cNvSpPr>
            <a:spLocks noGrp="1"/>
          </p:cNvSpPr>
          <p:nvPr>
            <p:ph type="title" idx="4294967295"/>
          </p:nvPr>
        </p:nvSpPr>
        <p:spPr>
          <a:xfrm>
            <a:off x="522613" y="314211"/>
            <a:ext cx="8147318" cy="914055"/>
          </a:xfrm>
        </p:spPr>
        <p:txBody>
          <a:bodyPr/>
          <a:lstStyle/>
          <a:p>
            <a:r>
              <a:rPr lang="en-US" altLang="zh-CN" dirty="0"/>
              <a:t>2.7.4 </a:t>
            </a:r>
            <a:r>
              <a:rPr lang="zh-CN" altLang="en-US" dirty="0"/>
              <a:t>跳转语句</a:t>
            </a:r>
            <a:endParaRPr lang="zh-CN" altLang="en-US" dirty="0"/>
          </a:p>
        </p:txBody>
      </p:sp>
      <p:sp>
        <p:nvSpPr>
          <p:cNvPr id="4" name="标题 1"/>
          <p:cNvSpPr txBox="1"/>
          <p:nvPr/>
        </p:nvSpPr>
        <p:spPr>
          <a:xfrm>
            <a:off x="629586" y="2455530"/>
            <a:ext cx="8147318" cy="6862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 break</a:t>
            </a:r>
            <a:r>
              <a:rPr lang="zh-CN" altLang="en-US" dirty="0">
                <a:latin typeface="宋体" panose="02010600030101010101" pitchFamily="2" charset="-122"/>
                <a:ea typeface="宋体" panose="02010600030101010101" pitchFamily="2" charset="-122"/>
              </a:rPr>
              <a:t>语句</a:t>
            </a:r>
            <a:endParaRPr lang="zh-CN" altLang="en-US" dirty="0">
              <a:latin typeface="宋体" panose="02010600030101010101" pitchFamily="2" charset="-122"/>
              <a:ea typeface="宋体" panose="02010600030101010101" pitchFamily="2" charset="-122"/>
            </a:endParaRPr>
          </a:p>
        </p:txBody>
      </p:sp>
      <p:sp>
        <p:nvSpPr>
          <p:cNvPr id="5" name="内容占位符 2"/>
          <p:cNvSpPr txBox="1"/>
          <p:nvPr/>
        </p:nvSpPr>
        <p:spPr>
          <a:xfrm>
            <a:off x="793710" y="3189365"/>
            <a:ext cx="10306050" cy="22851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685800" indent="-179705"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11430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6pPr>
            <a:lvl7pPr marL="1600200" indent="-179705"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Char char="▪"/>
              <a:defRPr sz="1400" kern="1200">
                <a:solidFill>
                  <a:schemeClr val="tx1"/>
                </a:solidFill>
                <a:latin typeface="+mn-lt"/>
                <a:ea typeface="+mn-ea"/>
                <a:cs typeface="+mn-cs"/>
              </a:defRPr>
            </a:lvl8pPr>
            <a:lvl9pPr marL="1877695" indent="0" algn="l" defTabSz="914400" rtl="0" eaLnBrk="1" latinLnBrk="0" hangingPunct="1">
              <a:lnSpc>
                <a:spcPct val="90000"/>
              </a:lnSpc>
              <a:spcBef>
                <a:spcPts val="600"/>
              </a:spcBef>
              <a:buClr>
                <a:schemeClr val="accent1">
                  <a:lumMod val="75000"/>
                </a:schemeClr>
              </a:buClr>
              <a:buSzPct val="100000"/>
              <a:buFont typeface="Arial" panose="020B0604020202020204" pitchFamily="34" charset="0"/>
              <a:buNone/>
              <a:defRPr sz="1400" kern="1200">
                <a:solidFill>
                  <a:schemeClr val="tx1"/>
                </a:solidFill>
                <a:latin typeface="+mn-lt"/>
                <a:ea typeface="+mn-ea"/>
                <a:cs typeface="+mn-cs"/>
              </a:defRPr>
            </a:lvl9pPr>
          </a:lstStyle>
          <a:p>
            <a:pPr marL="0" indent="353060">
              <a:buFont typeface="Arial" panose="020B0604020202020204" pitchFamily="34" charset="0"/>
              <a:buNone/>
            </a:pPr>
            <a:r>
              <a:rPr lang="en-US" altLang="zh-CN" sz="2820" b="1" dirty="0">
                <a:latin typeface="宋体" panose="02010600030101010101" pitchFamily="2" charset="-122"/>
                <a:ea typeface="宋体" panose="02010600030101010101" pitchFamily="2" charset="-122"/>
              </a:rPr>
              <a:t>break</a:t>
            </a:r>
            <a:r>
              <a:rPr lang="zh-CN" altLang="en-US" sz="2820" b="1" dirty="0">
                <a:latin typeface="宋体" panose="02010600030101010101" pitchFamily="2" charset="-122"/>
                <a:ea typeface="宋体" panose="02010600030101010101" pitchFamily="2" charset="-122"/>
              </a:rPr>
              <a:t>语句可以</a:t>
            </a:r>
            <a:r>
              <a:rPr lang="zh-CN" altLang="en-US" sz="2820" b="1" dirty="0">
                <a:solidFill>
                  <a:srgbClr val="FF0000"/>
                </a:solidFill>
                <a:latin typeface="宋体" panose="02010600030101010101" pitchFamily="2" charset="-122"/>
                <a:ea typeface="宋体" panose="02010600030101010101" pitchFamily="2" charset="-122"/>
              </a:rPr>
              <a:t>终止当前循环，跳出循环外</a:t>
            </a:r>
            <a:r>
              <a:rPr lang="zh-CN" altLang="en-US" sz="2820" b="1" dirty="0">
                <a:latin typeface="宋体" panose="02010600030101010101" pitchFamily="2" charset="-122"/>
                <a:ea typeface="宋体" panose="02010600030101010101" pitchFamily="2" charset="-122"/>
              </a:rPr>
              <a:t>。常用于包括</a:t>
            </a:r>
            <a:r>
              <a:rPr lang="en-US" altLang="zh-CN" sz="2820" b="1" dirty="0">
                <a:latin typeface="宋体" panose="02010600030101010101" pitchFamily="2" charset="-122"/>
                <a:ea typeface="宋体" panose="02010600030101010101" pitchFamily="2" charset="-122"/>
              </a:rPr>
              <a:t>while</a:t>
            </a:r>
            <a:r>
              <a:rPr lang="zh-CN" altLang="en-US" sz="2820" b="1" dirty="0">
                <a:latin typeface="宋体" panose="02010600030101010101" pitchFamily="2" charset="-122"/>
                <a:ea typeface="宋体" panose="02010600030101010101" pitchFamily="2" charset="-122"/>
              </a:rPr>
              <a:t>、</a:t>
            </a:r>
            <a:r>
              <a:rPr lang="en-US" altLang="zh-CN" sz="2820" b="1" dirty="0">
                <a:latin typeface="宋体" panose="02010600030101010101" pitchFamily="2" charset="-122"/>
                <a:ea typeface="宋体" panose="02010600030101010101" pitchFamily="2" charset="-122"/>
              </a:rPr>
              <a:t>do…while</a:t>
            </a:r>
            <a:r>
              <a:rPr lang="zh-CN" altLang="en-US" sz="2820" b="1" dirty="0">
                <a:latin typeface="宋体" panose="02010600030101010101" pitchFamily="2" charset="-122"/>
                <a:ea typeface="宋体" panose="02010600030101010101" pitchFamily="2" charset="-122"/>
              </a:rPr>
              <a:t>、</a:t>
            </a:r>
            <a:r>
              <a:rPr lang="en-US" altLang="zh-CN" sz="2820" b="1" dirty="0">
                <a:latin typeface="宋体" panose="02010600030101010101" pitchFamily="2" charset="-122"/>
                <a:ea typeface="宋体" panose="02010600030101010101" pitchFamily="2" charset="-122"/>
              </a:rPr>
              <a:t>for</a:t>
            </a:r>
            <a:r>
              <a:rPr lang="zh-CN" altLang="en-US" sz="2820" b="1" dirty="0">
                <a:latin typeface="宋体" panose="02010600030101010101" pitchFamily="2" charset="-122"/>
                <a:ea typeface="宋体" panose="02010600030101010101" pitchFamily="2" charset="-122"/>
              </a:rPr>
              <a:t>以及</a:t>
            </a:r>
            <a:r>
              <a:rPr lang="en-US" altLang="zh-CN" sz="2820" b="1" dirty="0">
                <a:latin typeface="宋体" panose="02010600030101010101" pitchFamily="2" charset="-122"/>
                <a:ea typeface="宋体" panose="02010600030101010101" pitchFamily="2" charset="-122"/>
              </a:rPr>
              <a:t>switch</a:t>
            </a:r>
            <a:r>
              <a:rPr lang="zh-CN" altLang="en-US" sz="2820" b="1" dirty="0">
                <a:latin typeface="宋体" panose="02010600030101010101" pitchFamily="2" charset="-122"/>
                <a:ea typeface="宋体" panose="02010600030101010101" pitchFamily="2" charset="-122"/>
              </a:rPr>
              <a:t>语句中。其中使用在</a:t>
            </a:r>
            <a:r>
              <a:rPr lang="en-US" altLang="zh-CN" sz="2820" b="1" dirty="0">
                <a:latin typeface="宋体" panose="02010600030101010101" pitchFamily="2" charset="-122"/>
                <a:ea typeface="宋体" panose="02010600030101010101" pitchFamily="2" charset="-122"/>
              </a:rPr>
              <a:t>while</a:t>
            </a:r>
            <a:r>
              <a:rPr lang="zh-CN" altLang="en-US" sz="2820" b="1" dirty="0">
                <a:latin typeface="宋体" panose="02010600030101010101" pitchFamily="2" charset="-122"/>
                <a:ea typeface="宋体" panose="02010600030101010101" pitchFamily="2" charset="-122"/>
              </a:rPr>
              <a:t>、</a:t>
            </a:r>
            <a:r>
              <a:rPr lang="en-US" altLang="zh-CN" sz="2820" b="1" dirty="0">
                <a:latin typeface="宋体" panose="02010600030101010101" pitchFamily="2" charset="-122"/>
                <a:ea typeface="宋体" panose="02010600030101010101" pitchFamily="2" charset="-122"/>
              </a:rPr>
              <a:t>do…while</a:t>
            </a:r>
            <a:r>
              <a:rPr lang="zh-CN" altLang="en-US" sz="2820" b="1" dirty="0">
                <a:latin typeface="宋体" panose="02010600030101010101" pitchFamily="2" charset="-122"/>
                <a:ea typeface="宋体" panose="02010600030101010101" pitchFamily="2" charset="-122"/>
              </a:rPr>
              <a:t>、</a:t>
            </a:r>
            <a:r>
              <a:rPr lang="en-US" altLang="zh-CN" sz="2820" b="1" dirty="0">
                <a:latin typeface="宋体" panose="02010600030101010101" pitchFamily="2" charset="-122"/>
                <a:ea typeface="宋体" panose="02010600030101010101" pitchFamily="2" charset="-122"/>
              </a:rPr>
              <a:t>for</a:t>
            </a:r>
            <a:r>
              <a:rPr lang="zh-CN" altLang="en-US" sz="2820" b="1" dirty="0">
                <a:latin typeface="宋体" panose="02010600030101010101" pitchFamily="2" charset="-122"/>
                <a:ea typeface="宋体" panose="02010600030101010101" pitchFamily="2" charset="-122"/>
              </a:rPr>
              <a:t>结构中都是结束循环，然后执行循环体外面的代码；在</a:t>
            </a:r>
            <a:r>
              <a:rPr lang="en-US" altLang="zh-CN" sz="2820" b="1" dirty="0">
                <a:latin typeface="宋体" panose="02010600030101010101" pitchFamily="2" charset="-122"/>
                <a:ea typeface="宋体" panose="02010600030101010101" pitchFamily="2" charset="-122"/>
              </a:rPr>
              <a:t>switch</a:t>
            </a:r>
            <a:r>
              <a:rPr lang="zh-CN" altLang="en-US" sz="2820" b="1" dirty="0">
                <a:latin typeface="宋体" panose="02010600030101010101" pitchFamily="2" charset="-122"/>
                <a:ea typeface="宋体" panose="02010600030101010101" pitchFamily="2" charset="-122"/>
              </a:rPr>
              <a:t>语句中则是结束比较分支，跳出</a:t>
            </a:r>
            <a:r>
              <a:rPr lang="en-US" altLang="zh-CN" sz="2820" b="1" dirty="0">
                <a:latin typeface="宋体" panose="02010600030101010101" pitchFamily="2" charset="-122"/>
                <a:ea typeface="宋体" panose="02010600030101010101" pitchFamily="2" charset="-122"/>
              </a:rPr>
              <a:t>switch</a:t>
            </a:r>
            <a:r>
              <a:rPr lang="zh-CN" altLang="en-US" sz="2820" b="1" dirty="0">
                <a:latin typeface="宋体" panose="02010600030101010101" pitchFamily="2" charset="-122"/>
                <a:ea typeface="宋体" panose="02010600030101010101" pitchFamily="2" charset="-122"/>
              </a:rPr>
              <a:t>语句。</a:t>
            </a:r>
            <a:endParaRPr lang="zh-CN" altLang="en-US" sz="2820" b="1" dirty="0">
              <a:latin typeface="宋体" panose="02010600030101010101" pitchFamily="2" charset="-122"/>
              <a:ea typeface="宋体" panose="02010600030101010101" pitchFamily="2" charset="-122"/>
            </a:endParaRPr>
          </a:p>
          <a:p>
            <a:pPr marL="0" indent="353060">
              <a:buFont typeface="Arial" panose="020B0604020202020204" pitchFamily="34" charset="0"/>
              <a:buNone/>
            </a:pPr>
            <a:endParaRPr lang="zh-CN" altLang="en-US" sz="282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内容占位符 1"/>
          <p:cNvSpPr>
            <a:spLocks noGrp="1"/>
          </p:cNvSpPr>
          <p:nvPr>
            <p:ph idx="4294967295"/>
          </p:nvPr>
        </p:nvSpPr>
        <p:spPr>
          <a:xfrm>
            <a:off x="459600" y="215799"/>
            <a:ext cx="10864891" cy="5887139"/>
          </a:xfrm>
        </p:spPr>
        <p:txBody>
          <a:bodyPr>
            <a:noAutofit/>
          </a:bodyPr>
          <a:lstStyle/>
          <a:p>
            <a:pPr marL="0" indent="353060">
              <a:lnSpc>
                <a:spcPct val="80000"/>
              </a:lnSpc>
              <a:buNone/>
            </a:pP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例</a:t>
            </a:r>
            <a:r>
              <a:rPr lang="en-US" altLang="zh-CN" sz="2800" b="1" dirty="0">
                <a:latin typeface="宋体" panose="02010600030101010101" pitchFamily="2" charset="-122"/>
                <a:ea typeface="宋体" panose="02010600030101010101" pitchFamily="2" charset="-122"/>
              </a:rPr>
              <a:t>2.20】</a:t>
            </a:r>
            <a:r>
              <a:rPr lang="zh-CN" altLang="en-US" sz="2800" b="1" dirty="0">
                <a:latin typeface="宋体" panose="02010600030101010101" pitchFamily="2" charset="-122"/>
                <a:ea typeface="宋体" panose="02010600030101010101" pitchFamily="2" charset="-122"/>
              </a:rPr>
              <a:t>利用</a:t>
            </a:r>
            <a:r>
              <a:rPr lang="en-US" altLang="zh-CN" sz="2800" b="1" dirty="0">
                <a:latin typeface="宋体" panose="02010600030101010101" pitchFamily="2" charset="-122"/>
                <a:ea typeface="宋体" panose="02010600030101010101" pitchFamily="2" charset="-122"/>
              </a:rPr>
              <a:t>break</a:t>
            </a:r>
            <a:r>
              <a:rPr lang="zh-CN" altLang="en-US" sz="2800" b="1" dirty="0">
                <a:latin typeface="宋体" panose="02010600030101010101" pitchFamily="2" charset="-122"/>
                <a:ea typeface="宋体" panose="02010600030101010101" pitchFamily="2" charset="-122"/>
              </a:rPr>
              <a:t>跳出</a:t>
            </a:r>
            <a:r>
              <a:rPr lang="en-US" altLang="zh-CN" sz="2800" b="1" dirty="0">
                <a:latin typeface="宋体" panose="02010600030101010101" pitchFamily="2" charset="-122"/>
                <a:ea typeface="宋体" panose="02010600030101010101" pitchFamily="2" charset="-122"/>
              </a:rPr>
              <a:t>while</a:t>
            </a:r>
            <a:r>
              <a:rPr lang="zh-CN" altLang="en-US" sz="2800" b="1" dirty="0">
                <a:latin typeface="宋体" panose="02010600030101010101" pitchFamily="2" charset="-122"/>
                <a:ea typeface="宋体" panose="02010600030101010101" pitchFamily="2" charset="-122"/>
              </a:rPr>
              <a:t>循环。代码如下。</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 k=0; //</a:t>
            </a:r>
            <a:r>
              <a:rPr lang="zh-CN" altLang="en-US" sz="2800" b="1" dirty="0">
                <a:latin typeface="宋体" panose="02010600030101010101" pitchFamily="2" charset="-122"/>
                <a:ea typeface="宋体" panose="02010600030101010101" pitchFamily="2" charset="-122"/>
              </a:rPr>
              <a:t>声明变量</a:t>
            </a:r>
            <a:r>
              <a:rPr lang="en-US" altLang="zh-CN" sz="2800" b="1" dirty="0">
                <a:latin typeface="宋体" panose="02010600030101010101" pitchFamily="2" charset="-122"/>
                <a:ea typeface="宋体" panose="02010600030101010101" pitchFamily="2" charset="-122"/>
              </a:rPr>
              <a:t>k</a:t>
            </a:r>
            <a:r>
              <a:rPr lang="zh-CN" altLang="en-US" sz="2800" b="1" dirty="0">
                <a:latin typeface="宋体" panose="02010600030101010101" pitchFamily="2" charset="-122"/>
                <a:ea typeface="宋体" panose="02010600030101010101" pitchFamily="2" charset="-122"/>
              </a:rPr>
              <a:t>初始值</a:t>
            </a:r>
            <a:r>
              <a:rPr lang="en-US" altLang="zh-CN" sz="2800" b="1" dirty="0">
                <a:latin typeface="宋体" panose="02010600030101010101" pitchFamily="2" charset="-122"/>
                <a:ea typeface="宋体" panose="02010600030101010101" pitchFamily="2" charset="-122"/>
              </a:rPr>
              <a:t>0</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i</a:t>
            </a:r>
            <a:r>
              <a:rPr lang="en-US" altLang="zh-CN" sz="2800" b="1" dirty="0">
                <a:latin typeface="宋体" panose="02010600030101010101" pitchFamily="2" charset="-122"/>
                <a:ea typeface="宋体" panose="02010600030101010101" pitchFamily="2" charset="-122"/>
              </a:rPr>
              <a:t>=0;						</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while (true) </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	//</a:t>
            </a:r>
            <a:r>
              <a:rPr lang="zh-CN" altLang="en-US" sz="2800" b="1" dirty="0">
                <a:latin typeface="宋体" panose="02010600030101010101" pitchFamily="2" charset="-122"/>
                <a:ea typeface="宋体" panose="02010600030101010101" pitchFamily="2" charset="-122"/>
              </a:rPr>
              <a:t>设置死循环</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if (k&gt;100){	//</a:t>
            </a:r>
            <a:r>
              <a:rPr lang="zh-CN" altLang="en-US" sz="2800" b="1" dirty="0">
                <a:latin typeface="宋体" panose="02010600030101010101" pitchFamily="2" charset="-122"/>
                <a:ea typeface="宋体" panose="02010600030101010101" pitchFamily="2" charset="-122"/>
              </a:rPr>
              <a:t>当</a:t>
            </a:r>
            <a:r>
              <a:rPr lang="en-US" altLang="zh-CN" sz="2800" b="1" dirty="0">
                <a:latin typeface="宋体" panose="02010600030101010101" pitchFamily="2" charset="-122"/>
                <a:ea typeface="宋体" panose="02010600030101010101" pitchFamily="2" charset="-122"/>
              </a:rPr>
              <a:t>k</a:t>
            </a:r>
            <a:r>
              <a:rPr lang="zh-CN" altLang="en-US" sz="2800" b="1" dirty="0">
                <a:latin typeface="宋体" panose="02010600030101010101" pitchFamily="2" charset="-122"/>
                <a:ea typeface="宋体" panose="02010600030101010101" pitchFamily="2" charset="-122"/>
              </a:rPr>
              <a:t>的值大于</a:t>
            </a:r>
            <a:r>
              <a:rPr lang="en-US" altLang="zh-CN" sz="2800" b="1" dirty="0">
                <a:latin typeface="宋体" panose="02010600030101010101" pitchFamily="2" charset="-122"/>
                <a:ea typeface="宋体" panose="02010600030101010101" pitchFamily="2" charset="-122"/>
              </a:rPr>
              <a:t>100</a:t>
            </a:r>
            <a:r>
              <a:rPr lang="zh-CN" altLang="en-US" sz="2800" b="1" dirty="0">
                <a:latin typeface="宋体" panose="02010600030101010101" pitchFamily="2" charset="-122"/>
                <a:ea typeface="宋体" panose="02010600030101010101" pitchFamily="2" charset="-122"/>
              </a:rPr>
              <a:t>时，跳出循环</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break;	//</a:t>
            </a:r>
            <a:r>
              <a:rPr lang="zh-CN" altLang="en-US" sz="2800" b="1" dirty="0">
                <a:latin typeface="宋体" panose="02010600030101010101" pitchFamily="2" charset="-122"/>
                <a:ea typeface="宋体" panose="02010600030101010101" pitchFamily="2" charset="-122"/>
              </a:rPr>
              <a:t>跳出循环操作</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k=</a:t>
            </a:r>
            <a:r>
              <a:rPr lang="en-US" altLang="zh-CN" sz="2800" b="1" dirty="0" err="1">
                <a:latin typeface="宋体" panose="02010600030101010101" pitchFamily="2" charset="-122"/>
                <a:ea typeface="宋体" panose="02010600030101010101" pitchFamily="2" charset="-122"/>
              </a:rPr>
              <a:t>k+i</a:t>
            </a: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计算</a:t>
            </a:r>
            <a:r>
              <a:rPr lang="en-US" altLang="zh-CN" sz="2800" b="1" dirty="0" err="1">
                <a:latin typeface="宋体" panose="02010600030101010101" pitchFamily="2" charset="-122"/>
                <a:ea typeface="宋体" panose="02010600030101010101" pitchFamily="2" charset="-122"/>
              </a:rPr>
              <a:t>k+i</a:t>
            </a:r>
            <a:r>
              <a:rPr lang="zh-CN" altLang="en-US" sz="2800" b="1" dirty="0">
                <a:latin typeface="宋体" panose="02010600030101010101" pitchFamily="2" charset="-122"/>
                <a:ea typeface="宋体" panose="02010600030101010101" pitchFamily="2" charset="-122"/>
              </a:rPr>
              <a:t>的和，并赋值给</a:t>
            </a:r>
            <a:r>
              <a:rPr lang="en-US" altLang="zh-CN" sz="2800" b="1" dirty="0">
                <a:latin typeface="宋体" panose="02010600030101010101" pitchFamily="2" charset="-122"/>
                <a:ea typeface="宋体" panose="02010600030101010101" pitchFamily="2" charset="-122"/>
              </a:rPr>
              <a:t>k</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i</a:t>
            </a: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每次循环</a:t>
            </a:r>
            <a:r>
              <a:rPr lang="en-US" altLang="zh-CN" sz="2800" b="1" dirty="0" err="1">
                <a:latin typeface="宋体" panose="02010600030101010101" pitchFamily="2" charset="-122"/>
                <a:ea typeface="宋体" panose="02010600030101010101" pitchFamily="2" charset="-122"/>
              </a:rPr>
              <a:t>i</a:t>
            </a:r>
            <a:r>
              <a:rPr lang="zh-CN" altLang="en-US" sz="2800" b="1" dirty="0">
                <a:latin typeface="宋体" panose="02010600030101010101" pitchFamily="2" charset="-122"/>
                <a:ea typeface="宋体" panose="02010600030101010101" pitchFamily="2" charset="-122"/>
              </a:rPr>
              <a:t>都加</a:t>
            </a:r>
            <a:r>
              <a:rPr lang="en-US" altLang="zh-CN" sz="2800" b="1" dirty="0">
                <a:latin typeface="宋体" panose="02010600030101010101" pitchFamily="2" charset="-122"/>
                <a:ea typeface="宋体" panose="02010600030101010101" pitchFamily="2" charset="-122"/>
              </a:rPr>
              <a:t>1</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endParaRPr lang="zh-CN" altLang="en-US" sz="28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1"/>
          <p:cNvSpPr>
            <a:spLocks noGrp="1"/>
          </p:cNvSpPr>
          <p:nvPr>
            <p:ph idx="4294967295"/>
          </p:nvPr>
        </p:nvSpPr>
        <p:spPr>
          <a:xfrm>
            <a:off x="351693" y="936408"/>
            <a:ext cx="11195538" cy="5035052"/>
          </a:xfrm>
        </p:spPr>
        <p:txBody>
          <a:bodyPr>
            <a:noAutofit/>
          </a:bodyPr>
          <a:lstStyle/>
          <a:p>
            <a:pPr marL="0" indent="353060">
              <a:lnSpc>
                <a:spcPct val="80000"/>
              </a:lnSpc>
              <a:buNone/>
            </a:pPr>
            <a:r>
              <a:rPr lang="en-US" altLang="zh-CN" sz="2800" b="1" dirty="0">
                <a:latin typeface="宋体" panose="02010600030101010101" pitchFamily="2" charset="-122"/>
                <a:ea typeface="宋体" panose="02010600030101010101" pitchFamily="2" charset="-122"/>
              </a:rPr>
              <a:t>continue</a:t>
            </a:r>
            <a:r>
              <a:rPr lang="zh-CN" altLang="en-US" sz="2800" b="1" dirty="0">
                <a:latin typeface="宋体" panose="02010600030101010101" pitchFamily="2" charset="-122"/>
                <a:ea typeface="宋体" panose="02010600030101010101" pitchFamily="2" charset="-122"/>
              </a:rPr>
              <a:t>语句可以终止本次循环，继续执行下一次循环操作。它和</a:t>
            </a:r>
            <a:r>
              <a:rPr lang="en-US" altLang="zh-CN" sz="2800" b="1" dirty="0">
                <a:latin typeface="宋体" panose="02010600030101010101" pitchFamily="2" charset="-122"/>
                <a:ea typeface="宋体" panose="02010600030101010101" pitchFamily="2" charset="-122"/>
              </a:rPr>
              <a:t>break</a:t>
            </a:r>
            <a:r>
              <a:rPr lang="zh-CN" altLang="en-US" sz="2800" b="1" dirty="0">
                <a:latin typeface="宋体" panose="02010600030101010101" pitchFamily="2" charset="-122"/>
                <a:ea typeface="宋体" panose="02010600030101010101" pitchFamily="2" charset="-122"/>
              </a:rPr>
              <a:t>不同，只是终止了循环中的一次，常用来过滤不符合要求的数据。</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例</a:t>
            </a:r>
            <a:r>
              <a:rPr lang="en-US" altLang="zh-CN" sz="2800" b="1" dirty="0">
                <a:latin typeface="宋体" panose="02010600030101010101" pitchFamily="2" charset="-122"/>
                <a:ea typeface="宋体" panose="02010600030101010101" pitchFamily="2" charset="-122"/>
              </a:rPr>
              <a:t>2.21】</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for(</a:t>
            </a: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i</a:t>
            </a:r>
            <a:r>
              <a:rPr lang="en-US" altLang="zh-CN" sz="2800" b="1" dirty="0">
                <a:latin typeface="宋体" panose="02010600030101010101" pitchFamily="2" charset="-122"/>
                <a:ea typeface="宋体" panose="02010600030101010101" pitchFamily="2" charset="-122"/>
              </a:rPr>
              <a:t> =0;i&lt;4;i++){	 </a:t>
            </a:r>
            <a:endParaRPr lang="en-US" altLang="zh-CN"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if(</a:t>
            </a:r>
            <a:r>
              <a:rPr lang="en-US" altLang="zh-CN" sz="2800" b="1" dirty="0" err="1">
                <a:latin typeface="宋体" panose="02010600030101010101" pitchFamily="2" charset="-122"/>
                <a:ea typeface="宋体" panose="02010600030101010101" pitchFamily="2" charset="-122"/>
              </a:rPr>
              <a:t>i</a:t>
            </a:r>
            <a:r>
              <a:rPr lang="en-US" altLang="zh-CN" sz="2800" b="1" dirty="0">
                <a:latin typeface="宋体" panose="02010600030101010101" pitchFamily="2" charset="-122"/>
                <a:ea typeface="宋体" panose="02010600030101010101" pitchFamily="2" charset="-122"/>
              </a:rPr>
              <a:t>==2){</a:t>
            </a:r>
            <a:endParaRPr lang="en-US" altLang="zh-CN"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continue;</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System. out. </a:t>
            </a:r>
            <a:r>
              <a:rPr lang="en-US" altLang="zh-CN" sz="2800" b="1" dirty="0" err="1">
                <a:latin typeface="宋体" panose="02010600030101010101" pitchFamily="2" charset="-122"/>
                <a:ea typeface="宋体" panose="02010600030101010101" pitchFamily="2" charset="-122"/>
              </a:rPr>
              <a:t>println</a:t>
            </a:r>
            <a:r>
              <a:rPr lang="en-US" altLang="zh-CN" sz="2800" b="1" dirty="0">
                <a:latin typeface="宋体" panose="02010600030101010101" pitchFamily="2" charset="-122"/>
                <a:ea typeface="宋体" panose="02010600030101010101" pitchFamily="2" charset="-122"/>
              </a:rPr>
              <a:t>( " I</a:t>
            </a:r>
            <a:r>
              <a:rPr lang="zh-CN" altLang="en-US" sz="2800" b="1" dirty="0">
                <a:latin typeface="宋体" panose="02010600030101010101" pitchFamily="2" charset="-122"/>
                <a:ea typeface="宋体" panose="02010600030101010101" pitchFamily="2" charset="-122"/>
              </a:rPr>
              <a:t>的值</a:t>
            </a:r>
            <a:r>
              <a:rPr lang="en-US" altLang="zh-CN" sz="2800" b="1" dirty="0">
                <a:latin typeface="宋体" panose="02010600030101010101" pitchFamily="2" charset="-122"/>
                <a:ea typeface="宋体" panose="02010600030101010101" pitchFamily="2" charset="-122"/>
              </a:rPr>
              <a:t> = "+ </a:t>
            </a:r>
            <a:r>
              <a:rPr lang="en-US" altLang="zh-CN" sz="2800" b="1" dirty="0" err="1">
                <a:latin typeface="宋体" panose="02010600030101010101" pitchFamily="2" charset="-122"/>
                <a:ea typeface="宋体" panose="02010600030101010101" pitchFamily="2" charset="-122"/>
              </a:rPr>
              <a:t>i</a:t>
            </a:r>
            <a:r>
              <a:rPr lang="en-US" altLang="zh-CN" sz="2800" b="1" dirty="0">
                <a:latin typeface="宋体" panose="02010600030101010101" pitchFamily="2" charset="-122"/>
                <a:ea typeface="宋体" panose="02010600030101010101" pitchFamily="2" charset="-122"/>
              </a:rPr>
              <a:t>) ;</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	    }</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endParaRPr lang="zh-CN" altLang="en-US" sz="2800" b="1" dirty="0">
              <a:latin typeface="宋体" panose="02010600030101010101" pitchFamily="2" charset="-122"/>
              <a:ea typeface="宋体" panose="02010600030101010101" pitchFamily="2" charset="-122"/>
            </a:endParaRPr>
          </a:p>
        </p:txBody>
      </p:sp>
      <p:sp>
        <p:nvSpPr>
          <p:cNvPr id="52227" name="标题 2"/>
          <p:cNvSpPr>
            <a:spLocks noGrp="1"/>
          </p:cNvSpPr>
          <p:nvPr>
            <p:ph type="title" idx="4294967295"/>
          </p:nvPr>
        </p:nvSpPr>
        <p:spPr>
          <a:xfrm>
            <a:off x="0" y="1"/>
            <a:ext cx="8147318" cy="762000"/>
          </a:xfrm>
        </p:spPr>
        <p:txBody>
          <a:bodyPr/>
          <a:lstStyle/>
          <a:p>
            <a:r>
              <a:rPr lang="en-US" altLang="zh-CN" dirty="0"/>
              <a:t>2</a:t>
            </a:r>
            <a:r>
              <a:rPr lang="zh-CN" altLang="en-US" dirty="0"/>
              <a:t>、</a:t>
            </a:r>
            <a:r>
              <a:rPr lang="en-US" altLang="zh-CN" dirty="0"/>
              <a:t> continue</a:t>
            </a:r>
            <a:r>
              <a:rPr lang="zh-CN" altLang="en-US" dirty="0"/>
              <a:t>语句</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2226">
                                            <p:txEl>
                                              <p:pRg st="1" end="1"/>
                                            </p:txEl>
                                          </p:spTgt>
                                        </p:tgtEl>
                                        <p:attrNameLst>
                                          <p:attrName>style.visibility</p:attrName>
                                        </p:attrNameLst>
                                      </p:cBhvr>
                                      <p:to>
                                        <p:strVal val="visible"/>
                                      </p:to>
                                    </p:set>
                                    <p:animEffect transition="in" filter="blinds(horizontal)">
                                      <p:cBhvr>
                                        <p:cTn id="7" dur="500"/>
                                        <p:tgtEl>
                                          <p:spTgt spid="52226">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2226">
                                            <p:txEl>
                                              <p:pRg st="2" end="2"/>
                                            </p:txEl>
                                          </p:spTgt>
                                        </p:tgtEl>
                                        <p:attrNameLst>
                                          <p:attrName>style.visibility</p:attrName>
                                        </p:attrNameLst>
                                      </p:cBhvr>
                                      <p:to>
                                        <p:strVal val="visible"/>
                                      </p:to>
                                    </p:set>
                                    <p:animEffect transition="in" filter="blinds(horizontal)">
                                      <p:cBhvr>
                                        <p:cTn id="10" dur="500"/>
                                        <p:tgtEl>
                                          <p:spTgt spid="52226">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2226">
                                            <p:txEl>
                                              <p:pRg st="3" end="3"/>
                                            </p:txEl>
                                          </p:spTgt>
                                        </p:tgtEl>
                                        <p:attrNameLst>
                                          <p:attrName>style.visibility</p:attrName>
                                        </p:attrNameLst>
                                      </p:cBhvr>
                                      <p:to>
                                        <p:strVal val="visible"/>
                                      </p:to>
                                    </p:set>
                                    <p:animEffect transition="in" filter="blinds(horizontal)">
                                      <p:cBhvr>
                                        <p:cTn id="13" dur="500"/>
                                        <p:tgtEl>
                                          <p:spTgt spid="52226">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2226">
                                            <p:txEl>
                                              <p:pRg st="4" end="4"/>
                                            </p:txEl>
                                          </p:spTgt>
                                        </p:tgtEl>
                                        <p:attrNameLst>
                                          <p:attrName>style.visibility</p:attrName>
                                        </p:attrNameLst>
                                      </p:cBhvr>
                                      <p:to>
                                        <p:strVal val="visible"/>
                                      </p:to>
                                    </p:set>
                                    <p:animEffect transition="in" filter="blinds(horizontal)">
                                      <p:cBhvr>
                                        <p:cTn id="16" dur="500"/>
                                        <p:tgtEl>
                                          <p:spTgt spid="52226">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2226">
                                            <p:txEl>
                                              <p:pRg st="5" end="5"/>
                                            </p:txEl>
                                          </p:spTgt>
                                        </p:tgtEl>
                                        <p:attrNameLst>
                                          <p:attrName>style.visibility</p:attrName>
                                        </p:attrNameLst>
                                      </p:cBhvr>
                                      <p:to>
                                        <p:strVal val="visible"/>
                                      </p:to>
                                    </p:set>
                                    <p:animEffect transition="in" filter="blinds(horizontal)">
                                      <p:cBhvr>
                                        <p:cTn id="19" dur="500"/>
                                        <p:tgtEl>
                                          <p:spTgt spid="52226">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52226">
                                            <p:txEl>
                                              <p:pRg st="6" end="6"/>
                                            </p:txEl>
                                          </p:spTgt>
                                        </p:tgtEl>
                                        <p:attrNameLst>
                                          <p:attrName>style.visibility</p:attrName>
                                        </p:attrNameLst>
                                      </p:cBhvr>
                                      <p:to>
                                        <p:strVal val="visible"/>
                                      </p:to>
                                    </p:set>
                                    <p:animEffect transition="in" filter="blinds(horizontal)">
                                      <p:cBhvr>
                                        <p:cTn id="22" dur="500"/>
                                        <p:tgtEl>
                                          <p:spTgt spid="5222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1"/>
          <p:cNvSpPr>
            <a:spLocks noGrp="1"/>
          </p:cNvSpPr>
          <p:nvPr>
            <p:ph idx="4294967295"/>
          </p:nvPr>
        </p:nvSpPr>
        <p:spPr>
          <a:xfrm>
            <a:off x="837010" y="1541410"/>
            <a:ext cx="10077175" cy="4170918"/>
          </a:xfrm>
        </p:spPr>
        <p:txBody>
          <a:bodyPr>
            <a:normAutofit lnSpcReduction="10000"/>
          </a:bodyPr>
          <a:lstStyle/>
          <a:p>
            <a:pPr marL="0" indent="353060">
              <a:buNone/>
            </a:pPr>
            <a:r>
              <a:rPr lang="en-US" altLang="zh-CN" sz="2820" b="1" dirty="0">
                <a:latin typeface="宋体" panose="02010600030101010101" pitchFamily="2" charset="-122"/>
                <a:ea typeface="宋体" panose="02010600030101010101" pitchFamily="2" charset="-122"/>
              </a:rPr>
              <a:t>return</a:t>
            </a:r>
            <a:r>
              <a:rPr lang="zh-CN" altLang="en-US" sz="2820" b="1" dirty="0">
                <a:latin typeface="宋体" panose="02010600030101010101" pitchFamily="2" charset="-122"/>
                <a:ea typeface="宋体" panose="02010600030101010101" pitchFamily="2" charset="-122"/>
              </a:rPr>
              <a:t>的含义是返回，它可以放在方法内的任何地方，通常用来结束流程。不管是否在循环中调用</a:t>
            </a:r>
            <a:r>
              <a:rPr lang="en-US" altLang="zh-CN" sz="2820" b="1" dirty="0">
                <a:latin typeface="宋体" panose="02010600030101010101" pitchFamily="2" charset="-122"/>
                <a:ea typeface="宋体" panose="02010600030101010101" pitchFamily="2" charset="-122"/>
              </a:rPr>
              <a:t>“return”</a:t>
            </a:r>
            <a:r>
              <a:rPr lang="zh-CN" altLang="en-US" sz="2820" b="1" dirty="0">
                <a:latin typeface="宋体" panose="02010600030101010101" pitchFamily="2" charset="-122"/>
                <a:ea typeface="宋体" panose="02010600030101010101" pitchFamily="2" charset="-122"/>
              </a:rPr>
              <a:t>，流程会重新返回到调用该方法的语句处。</a:t>
            </a:r>
            <a:endParaRPr lang="zh-CN" altLang="en-US" sz="2820" b="1" dirty="0">
              <a:latin typeface="宋体" panose="02010600030101010101" pitchFamily="2" charset="-122"/>
              <a:ea typeface="宋体" panose="02010600030101010101" pitchFamily="2" charset="-122"/>
            </a:endParaRPr>
          </a:p>
          <a:p>
            <a:pPr marL="0" indent="353060">
              <a:buNone/>
            </a:pPr>
            <a:r>
              <a:rPr lang="zh-CN" altLang="en-US" sz="2820" b="1" dirty="0">
                <a:latin typeface="宋体" panose="02010600030101010101" pitchFamily="2" charset="-122"/>
                <a:ea typeface="宋体" panose="02010600030101010101" pitchFamily="2" charset="-122"/>
              </a:rPr>
              <a:t>如果被调用的方法设置了返同值的类型，则需要在</a:t>
            </a:r>
            <a:r>
              <a:rPr lang="en-US" altLang="zh-CN" sz="2820" b="1" dirty="0">
                <a:latin typeface="宋体" panose="02010600030101010101" pitchFamily="2" charset="-122"/>
                <a:ea typeface="宋体" panose="02010600030101010101" pitchFamily="2" charset="-122"/>
              </a:rPr>
              <a:t>return</a:t>
            </a:r>
            <a:r>
              <a:rPr lang="zh-CN" altLang="en-US" sz="2820" b="1" dirty="0">
                <a:latin typeface="宋体" panose="02010600030101010101" pitchFamily="2" charset="-122"/>
                <a:ea typeface="宋体" panose="02010600030101010101" pitchFamily="2" charset="-122"/>
              </a:rPr>
              <a:t>后面加上该类型的数据，格式如下所示。</a:t>
            </a:r>
            <a:endParaRPr lang="zh-CN" altLang="en-US" sz="2820" b="1" dirty="0">
              <a:latin typeface="宋体" panose="02010600030101010101" pitchFamily="2" charset="-122"/>
              <a:ea typeface="宋体" panose="02010600030101010101" pitchFamily="2" charset="-122"/>
            </a:endParaRPr>
          </a:p>
          <a:p>
            <a:pPr marL="0" indent="353060">
              <a:buNone/>
            </a:pPr>
            <a:r>
              <a:rPr lang="en-US" altLang="zh-CN" sz="2820" b="1" dirty="0">
                <a:solidFill>
                  <a:srgbClr val="FF0000"/>
                </a:solidFill>
                <a:latin typeface="宋体" panose="02010600030101010101" pitchFamily="2" charset="-122"/>
                <a:ea typeface="宋体" panose="02010600030101010101" pitchFamily="2" charset="-122"/>
              </a:rPr>
              <a:t>return [</a:t>
            </a:r>
            <a:r>
              <a:rPr lang="zh-CN" altLang="en-US" sz="2820" b="1" dirty="0">
                <a:solidFill>
                  <a:srgbClr val="FF0000"/>
                </a:solidFill>
                <a:latin typeface="宋体" panose="02010600030101010101" pitchFamily="2" charset="-122"/>
                <a:ea typeface="宋体" panose="02010600030101010101" pitchFamily="2" charset="-122"/>
              </a:rPr>
              <a:t>表达式</a:t>
            </a:r>
            <a:r>
              <a:rPr lang="en-US" altLang="zh-CN" sz="2820" b="1" dirty="0">
                <a:solidFill>
                  <a:srgbClr val="FF0000"/>
                </a:solidFill>
                <a:latin typeface="宋体" panose="02010600030101010101" pitchFamily="2" charset="-122"/>
                <a:ea typeface="宋体" panose="02010600030101010101" pitchFamily="2" charset="-122"/>
              </a:rPr>
              <a:t>]</a:t>
            </a:r>
            <a:r>
              <a:rPr lang="zh-CN" altLang="en-US" sz="2820" b="1" dirty="0">
                <a:solidFill>
                  <a:srgbClr val="FF0000"/>
                </a:solidFill>
                <a:latin typeface="宋体" panose="02010600030101010101" pitchFamily="2" charset="-122"/>
                <a:ea typeface="宋体" panose="02010600030101010101" pitchFamily="2" charset="-122"/>
              </a:rPr>
              <a:t>；</a:t>
            </a:r>
            <a:endParaRPr lang="zh-CN" altLang="en-US" sz="2820" b="1" dirty="0">
              <a:solidFill>
                <a:srgbClr val="FF0000"/>
              </a:solidFill>
              <a:latin typeface="宋体" panose="02010600030101010101" pitchFamily="2" charset="-122"/>
              <a:ea typeface="宋体" panose="02010600030101010101" pitchFamily="2" charset="-122"/>
            </a:endParaRPr>
          </a:p>
          <a:p>
            <a:pPr marL="0" indent="353060">
              <a:buNone/>
            </a:pPr>
            <a:r>
              <a:rPr lang="zh-CN" altLang="en-US" sz="2820" b="1" dirty="0">
                <a:latin typeface="宋体" panose="02010600030101010101" pitchFamily="2" charset="-122"/>
                <a:ea typeface="宋体" panose="02010600030101010101" pitchFamily="2" charset="-122"/>
              </a:rPr>
              <a:t>如果被调用的方法没有没置返同值类型，则可以直接使用</a:t>
            </a:r>
            <a:r>
              <a:rPr lang="en-US" altLang="zh-CN" sz="2820" b="1" dirty="0">
                <a:latin typeface="宋体" panose="02010600030101010101" pitchFamily="2" charset="-122"/>
                <a:ea typeface="宋体" panose="02010600030101010101" pitchFamily="2" charset="-122"/>
              </a:rPr>
              <a:t>“return”</a:t>
            </a:r>
            <a:r>
              <a:rPr lang="zh-CN" altLang="en-US" sz="2820" b="1" dirty="0">
                <a:latin typeface="宋体" panose="02010600030101010101" pitchFamily="2" charset="-122"/>
                <a:ea typeface="宋体" panose="02010600030101010101" pitchFamily="2" charset="-122"/>
              </a:rPr>
              <a:t>来终结该方法的流程，同时也返回到调用该方法的语句处。</a:t>
            </a:r>
            <a:endParaRPr lang="zh-CN" altLang="en-US" sz="2820" b="1" dirty="0">
              <a:latin typeface="宋体" panose="02010600030101010101" pitchFamily="2" charset="-122"/>
              <a:ea typeface="宋体" panose="02010600030101010101" pitchFamily="2" charset="-122"/>
            </a:endParaRPr>
          </a:p>
        </p:txBody>
      </p:sp>
      <p:sp>
        <p:nvSpPr>
          <p:cNvPr id="54275" name="标题 2"/>
          <p:cNvSpPr>
            <a:spLocks noGrp="1"/>
          </p:cNvSpPr>
          <p:nvPr>
            <p:ph type="title" idx="4294967295"/>
          </p:nvPr>
        </p:nvSpPr>
        <p:spPr>
          <a:xfrm>
            <a:off x="506494" y="421917"/>
            <a:ext cx="8147318" cy="914055"/>
          </a:xfrm>
        </p:spPr>
        <p:txBody>
          <a:bodyPr/>
          <a:lstStyle/>
          <a:p>
            <a:r>
              <a:rPr lang="en-US" altLang="zh-CN" dirty="0"/>
              <a:t>3</a:t>
            </a:r>
            <a:r>
              <a:rPr lang="zh-CN" altLang="en-US" dirty="0"/>
              <a:t>、</a:t>
            </a:r>
            <a:r>
              <a:rPr lang="en-US" altLang="zh-CN" dirty="0"/>
              <a:t>return</a:t>
            </a:r>
            <a:r>
              <a:rPr lang="zh-CN" altLang="en-US" dirty="0"/>
              <a:t>语句</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4274">
                                            <p:txEl>
                                              <p:pRg st="0" end="0"/>
                                            </p:txEl>
                                          </p:spTgt>
                                        </p:tgtEl>
                                        <p:attrNameLst>
                                          <p:attrName>style.visibility</p:attrName>
                                        </p:attrNameLst>
                                      </p:cBhvr>
                                      <p:to>
                                        <p:strVal val="visible"/>
                                      </p:to>
                                    </p:set>
                                    <p:animEffect transition="in" filter="blinds(horizontal)">
                                      <p:cBhvr>
                                        <p:cTn id="7" dur="500"/>
                                        <p:tgtEl>
                                          <p:spTgt spid="542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4274">
                                            <p:txEl>
                                              <p:pRg st="1" end="1"/>
                                            </p:txEl>
                                          </p:spTgt>
                                        </p:tgtEl>
                                        <p:attrNameLst>
                                          <p:attrName>style.visibility</p:attrName>
                                        </p:attrNameLst>
                                      </p:cBhvr>
                                      <p:to>
                                        <p:strVal val="visible"/>
                                      </p:to>
                                    </p:set>
                                    <p:animEffect transition="in" filter="blinds(horizontal)">
                                      <p:cBhvr>
                                        <p:cTn id="12" dur="500"/>
                                        <p:tgtEl>
                                          <p:spTgt spid="542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4274">
                                            <p:txEl>
                                              <p:pRg st="2" end="2"/>
                                            </p:txEl>
                                          </p:spTgt>
                                        </p:tgtEl>
                                        <p:attrNameLst>
                                          <p:attrName>style.visibility</p:attrName>
                                        </p:attrNameLst>
                                      </p:cBhvr>
                                      <p:to>
                                        <p:strVal val="visible"/>
                                      </p:to>
                                    </p:set>
                                    <p:animEffect transition="in" filter="blinds(horizontal)">
                                      <p:cBhvr>
                                        <p:cTn id="17" dur="500"/>
                                        <p:tgtEl>
                                          <p:spTgt spid="5427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4274">
                                            <p:txEl>
                                              <p:pRg st="3" end="3"/>
                                            </p:txEl>
                                          </p:spTgt>
                                        </p:tgtEl>
                                        <p:attrNameLst>
                                          <p:attrName>style.visibility</p:attrName>
                                        </p:attrNameLst>
                                      </p:cBhvr>
                                      <p:to>
                                        <p:strVal val="visible"/>
                                      </p:to>
                                    </p:set>
                                    <p:animEffect transition="in" filter="blinds(horizontal)">
                                      <p:cBhvr>
                                        <p:cTn id="22" dur="500"/>
                                        <p:tgtEl>
                                          <p:spTgt spid="5427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200" y="109537"/>
            <a:ext cx="9601200" cy="695325"/>
          </a:xfrm>
        </p:spPr>
        <p:txBody>
          <a:bodyPr/>
          <a:lstStyle/>
          <a:p>
            <a:r>
              <a:rPr lang="zh-CN" altLang="en-US" dirty="0"/>
              <a:t>练习：</a:t>
            </a:r>
            <a:endParaRPr lang="zh-CN" altLang="en-US" dirty="0"/>
          </a:p>
        </p:txBody>
      </p:sp>
      <p:sp>
        <p:nvSpPr>
          <p:cNvPr id="3" name="内容占位符 2"/>
          <p:cNvSpPr>
            <a:spLocks noGrp="1"/>
          </p:cNvSpPr>
          <p:nvPr>
            <p:ph idx="1"/>
          </p:nvPr>
        </p:nvSpPr>
        <p:spPr>
          <a:xfrm>
            <a:off x="435219" y="951885"/>
            <a:ext cx="11166231" cy="5448915"/>
          </a:xfrm>
        </p:spPr>
        <p:txBody>
          <a:bodyPr>
            <a:noAutofit/>
          </a:bodyPr>
          <a:lstStyle/>
          <a:p>
            <a:pPr marL="0" lvl="0" indent="0">
              <a:buNone/>
            </a:pP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、制作一个猜数字游戏：系统随机产生一个</a:t>
            </a:r>
            <a:r>
              <a:rPr lang="en-US" altLang="zh-CN" sz="2800" dirty="0">
                <a:latin typeface="宋体" panose="02010600030101010101" pitchFamily="2" charset="-122"/>
                <a:ea typeface="宋体" panose="02010600030101010101" pitchFamily="2" charset="-122"/>
              </a:rPr>
              <a:t>1~100</a:t>
            </a:r>
            <a:r>
              <a:rPr lang="zh-CN" altLang="en-US" sz="2800" dirty="0">
                <a:latin typeface="宋体" panose="02010600030101010101" pitchFamily="2" charset="-122"/>
                <a:ea typeface="宋体" panose="02010600030101010101" pitchFamily="2" charset="-122"/>
              </a:rPr>
              <a:t>的整数，要求用户用输入框输入一个整数，如果数字小于随机值，系统提示“小了”；如果数字大于随机值，则提示“大了”；如果猜中，提示“成功”。若</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次未猜中，则提示“游戏失败”。</a:t>
            </a:r>
            <a:endParaRPr lang="en-US" altLang="zh-CN" sz="2800" dirty="0">
              <a:latin typeface="宋体" panose="02010600030101010101" pitchFamily="2" charset="-122"/>
              <a:ea typeface="宋体" panose="02010600030101010101" pitchFamily="2" charset="-122"/>
            </a:endParaRPr>
          </a:p>
          <a:p>
            <a:pPr marL="0" lvl="0" indent="0">
              <a:buNone/>
            </a:pP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、制作一个模拟银行操作的流程。系统运行，出现输入框，让用户选择“</a:t>
            </a:r>
            <a:r>
              <a:rPr lang="en-US" altLang="zh-CN" sz="2800" dirty="0">
                <a:latin typeface="宋体" panose="02010600030101010101" pitchFamily="2" charset="-122"/>
                <a:ea typeface="宋体" panose="02010600030101010101" pitchFamily="2" charset="-122"/>
              </a:rPr>
              <a:t>0</a:t>
            </a:r>
            <a:r>
              <a:rPr lang="zh-CN" altLang="en-US" sz="2800" dirty="0">
                <a:latin typeface="宋体" panose="02010600030101010101" pitchFamily="2" charset="-122"/>
                <a:ea typeface="宋体" panose="02010600030101010101" pitchFamily="2" charset="-122"/>
              </a:rPr>
              <a:t>：退出  </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：存款  </a:t>
            </a: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：取款   </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：查询余额”。初始余额为</a:t>
            </a:r>
            <a:r>
              <a:rPr lang="en-US" altLang="zh-CN" sz="2800" dirty="0">
                <a:latin typeface="宋体" panose="02010600030101010101" pitchFamily="2" charset="-122"/>
                <a:ea typeface="宋体" panose="02010600030101010101" pitchFamily="2" charset="-122"/>
              </a:rPr>
              <a:t>0.</a:t>
            </a:r>
            <a:r>
              <a:rPr lang="zh-CN" altLang="en-US" sz="2800" dirty="0">
                <a:latin typeface="宋体" panose="02010600030101010101" pitchFamily="2" charset="-122"/>
                <a:ea typeface="宋体" panose="02010600030101010101" pitchFamily="2" charset="-122"/>
              </a:rPr>
              <a:t>用户选择</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，可以输入钱数，将款项存入余额；用户选择</a:t>
            </a: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，可以输入钱数，将款项从余额中减去，但要保证余额足够；用户选择</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，可以打印当前余额；用户选择</a:t>
            </a:r>
            <a:r>
              <a:rPr lang="en-US" altLang="zh-CN" sz="2800" dirty="0">
                <a:latin typeface="宋体" panose="02010600030101010101" pitchFamily="2" charset="-122"/>
                <a:ea typeface="宋体" panose="02010600030101010101" pitchFamily="2" charset="-122"/>
              </a:rPr>
              <a:t>0</a:t>
            </a:r>
            <a:r>
              <a:rPr lang="zh-CN" altLang="en-US" sz="2800" dirty="0">
                <a:latin typeface="宋体" panose="02010600030101010101" pitchFamily="2" charset="-122"/>
                <a:ea typeface="宋体" panose="02010600030101010101" pitchFamily="2" charset="-122"/>
              </a:rPr>
              <a:t>，程序退出。注意，只要没有退出，用户操作后选择菜单重新显示。</a:t>
            </a:r>
            <a:endParaRPr lang="en-US" altLang="zh-CN" sz="2800" dirty="0">
              <a:latin typeface="宋体" panose="02010600030101010101" pitchFamily="2" charset="-122"/>
              <a:ea typeface="宋体" panose="02010600030101010101" pitchFamily="2" charset="-122"/>
            </a:endParaRPr>
          </a:p>
          <a:p>
            <a:pPr marL="0" lvl="0" indent="0">
              <a:buNone/>
            </a:pP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、百鸡问题：公鸡一，值钱</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；母鸡一，值钱</a:t>
            </a: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；小鸡三，值钱</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，今有百鸡百钱，问公鸡、母鸡、小鸡各多少只？</a:t>
            </a: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1"/>
          <p:cNvSpPr>
            <a:spLocks noGrp="1"/>
          </p:cNvSpPr>
          <p:nvPr>
            <p:ph idx="4294967295"/>
          </p:nvPr>
        </p:nvSpPr>
        <p:spPr>
          <a:xfrm>
            <a:off x="916802" y="1461872"/>
            <a:ext cx="10313906" cy="4570279"/>
          </a:xfrm>
        </p:spPr>
        <p:txBody>
          <a:bodyPr/>
          <a:lstStyle/>
          <a:p>
            <a:pPr marL="0" indent="353060">
              <a:buNone/>
            </a:pPr>
            <a:r>
              <a:rPr lang="zh-CN" altLang="en-US" sz="2820" b="1" dirty="0">
                <a:latin typeface="宋体" panose="02010600030101010101" pitchFamily="2" charset="-122"/>
                <a:ea typeface="宋体" panose="02010600030101010101" pitchFamily="2" charset="-122"/>
              </a:rPr>
              <a:t>  数组在</a:t>
            </a:r>
            <a:r>
              <a:rPr lang="en-US" altLang="zh-CN" sz="2820" b="1" dirty="0">
                <a:latin typeface="宋体" panose="02010600030101010101" pitchFamily="2" charset="-122"/>
                <a:ea typeface="宋体" panose="02010600030101010101" pitchFamily="2" charset="-122"/>
              </a:rPr>
              <a:t>Java</a:t>
            </a:r>
            <a:r>
              <a:rPr lang="zh-CN" altLang="en-US" sz="2820" b="1" dirty="0">
                <a:latin typeface="宋体" panose="02010600030101010101" pitchFamily="2" charset="-122"/>
                <a:ea typeface="宋体" panose="02010600030101010101" pitchFamily="2" charset="-122"/>
              </a:rPr>
              <a:t>语言里是一种</a:t>
            </a:r>
            <a:r>
              <a:rPr lang="zh-CN" altLang="en-US" sz="2820" b="1" dirty="0">
                <a:solidFill>
                  <a:srgbClr val="FF0000"/>
                </a:solidFill>
                <a:latin typeface="宋体" panose="02010600030101010101" pitchFamily="2" charset="-122"/>
                <a:ea typeface="宋体" panose="02010600030101010101" pitchFamily="2" charset="-122"/>
              </a:rPr>
              <a:t>引用型</a:t>
            </a:r>
            <a:r>
              <a:rPr lang="zh-CN" altLang="en-US" sz="2820" b="1" dirty="0">
                <a:latin typeface="宋体" panose="02010600030101010101" pitchFamily="2" charset="-122"/>
                <a:ea typeface="宋体" panose="02010600030101010101" pitchFamily="2" charset="-122"/>
              </a:rPr>
              <a:t>的数据类型，数组元素通过</a:t>
            </a:r>
            <a:r>
              <a:rPr lang="zh-CN" altLang="en-US" sz="2820" b="1" dirty="0">
                <a:solidFill>
                  <a:srgbClr val="FF0000"/>
                </a:solidFill>
                <a:latin typeface="宋体" panose="02010600030101010101" pitchFamily="2" charset="-122"/>
                <a:ea typeface="宋体" panose="02010600030101010101" pitchFamily="2" charset="-122"/>
              </a:rPr>
              <a:t>数组名</a:t>
            </a:r>
            <a:r>
              <a:rPr lang="zh-CN" altLang="en-US" sz="2820" b="1" dirty="0">
                <a:latin typeface="宋体" panose="02010600030101010101" pitchFamily="2" charset="-122"/>
                <a:ea typeface="宋体" panose="02010600030101010101" pitchFamily="2" charset="-122"/>
              </a:rPr>
              <a:t>和</a:t>
            </a:r>
            <a:r>
              <a:rPr lang="zh-CN" altLang="en-US" sz="2820" b="1" dirty="0">
                <a:solidFill>
                  <a:srgbClr val="FF0000"/>
                </a:solidFill>
                <a:latin typeface="宋体" panose="02010600030101010101" pitchFamily="2" charset="-122"/>
                <a:ea typeface="宋体" panose="02010600030101010101" pitchFamily="2" charset="-122"/>
              </a:rPr>
              <a:t>下标</a:t>
            </a:r>
            <a:r>
              <a:rPr lang="zh-CN" altLang="en-US" sz="2820" b="1" dirty="0">
                <a:latin typeface="宋体" panose="02010600030101010101" pitchFamily="2" charset="-122"/>
                <a:ea typeface="宋体" panose="02010600030101010101" pitchFamily="2" charset="-122"/>
              </a:rPr>
              <a:t>来访问，下标从</a:t>
            </a:r>
            <a:r>
              <a:rPr lang="en-US" altLang="zh-CN" sz="2820" b="1" dirty="0">
                <a:latin typeface="宋体" panose="02010600030101010101" pitchFamily="2" charset="-122"/>
                <a:ea typeface="宋体" panose="02010600030101010101" pitchFamily="2" charset="-122"/>
              </a:rPr>
              <a:t>0</a:t>
            </a:r>
            <a:r>
              <a:rPr lang="zh-CN" altLang="en-US" sz="2820" b="1" dirty="0">
                <a:latin typeface="宋体" panose="02010600030101010101" pitchFamily="2" charset="-122"/>
                <a:ea typeface="宋体" panose="02010600030101010101" pitchFamily="2" charset="-122"/>
              </a:rPr>
              <a:t>开始排序，占用连续的内存空间地址。数组的下标可以是整数和整数表达式。</a:t>
            </a:r>
            <a:endParaRPr lang="en-US" altLang="zh-CN" sz="2820" b="1" dirty="0">
              <a:latin typeface="宋体" panose="02010600030101010101" pitchFamily="2" charset="-122"/>
              <a:ea typeface="宋体" panose="02010600030101010101" pitchFamily="2" charset="-122"/>
            </a:endParaRPr>
          </a:p>
        </p:txBody>
      </p:sp>
      <p:sp>
        <p:nvSpPr>
          <p:cNvPr id="55299" name="标题 2"/>
          <p:cNvSpPr>
            <a:spLocks noGrp="1"/>
          </p:cNvSpPr>
          <p:nvPr>
            <p:ph type="title" idx="4294967295"/>
          </p:nvPr>
        </p:nvSpPr>
        <p:spPr>
          <a:xfrm>
            <a:off x="400986" y="316409"/>
            <a:ext cx="8147318" cy="914055"/>
          </a:xfrm>
        </p:spPr>
        <p:txBody>
          <a:bodyPr/>
          <a:lstStyle/>
          <a:p>
            <a:r>
              <a:rPr lang="en-US" altLang="zh-CN" dirty="0"/>
              <a:t>2.8 </a:t>
            </a:r>
            <a:r>
              <a:rPr lang="zh-CN" altLang="en-US" dirty="0"/>
              <a:t>数组</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1"/>
          <p:cNvSpPr>
            <a:spLocks noGrp="1"/>
          </p:cNvSpPr>
          <p:nvPr>
            <p:ph idx="4294967295"/>
          </p:nvPr>
        </p:nvSpPr>
        <p:spPr>
          <a:xfrm>
            <a:off x="1303662" y="1633595"/>
            <a:ext cx="10020829" cy="4170917"/>
          </a:xfrm>
        </p:spPr>
        <p:txBody>
          <a:bodyPr>
            <a:normAutofit fontScale="92500" lnSpcReduction="10000"/>
          </a:bodyPr>
          <a:lstStyle/>
          <a:p>
            <a:pPr marL="0" indent="353060">
              <a:lnSpc>
                <a:spcPct val="80000"/>
              </a:lnSpc>
              <a:buNone/>
            </a:pPr>
            <a:r>
              <a:rPr lang="zh-CN" altLang="en-US" sz="3035" b="1" dirty="0">
                <a:latin typeface="宋体" panose="02010600030101010101" pitchFamily="2" charset="-122"/>
                <a:ea typeface="宋体" panose="02010600030101010101" pitchFamily="2" charset="-122"/>
              </a:rPr>
              <a:t>一维数组声明的格式有两种：</a:t>
            </a:r>
            <a:endParaRPr lang="zh-CN" altLang="en-US" sz="3035" b="1" dirty="0">
              <a:latin typeface="宋体" panose="02010600030101010101" pitchFamily="2" charset="-122"/>
              <a:ea typeface="宋体" panose="02010600030101010101" pitchFamily="2" charset="-122"/>
            </a:endParaRPr>
          </a:p>
          <a:p>
            <a:pPr marL="0" indent="353060">
              <a:lnSpc>
                <a:spcPct val="80000"/>
              </a:lnSpc>
              <a:buNone/>
            </a:pPr>
            <a:r>
              <a:rPr lang="zh-CN" altLang="en-US" sz="3035" b="1" dirty="0">
                <a:solidFill>
                  <a:srgbClr val="FF0000"/>
                </a:solidFill>
                <a:latin typeface="宋体" panose="02010600030101010101" pitchFamily="2" charset="-122"/>
                <a:ea typeface="宋体" panose="02010600030101010101" pitchFamily="2" charset="-122"/>
              </a:rPr>
              <a:t>         数组元素的数据类型</a:t>
            </a:r>
            <a:r>
              <a:rPr lang="en-US" altLang="zh-CN" sz="3035" b="1" dirty="0">
                <a:solidFill>
                  <a:srgbClr val="FF0000"/>
                </a:solidFill>
                <a:latin typeface="宋体" panose="02010600030101010101" pitchFamily="2" charset="-122"/>
                <a:ea typeface="宋体" panose="02010600030101010101" pitchFamily="2" charset="-122"/>
              </a:rPr>
              <a:t>  [ ]</a:t>
            </a:r>
            <a:r>
              <a:rPr lang="zh-CN" altLang="en-US" sz="3035" b="1" dirty="0">
                <a:solidFill>
                  <a:srgbClr val="FF0000"/>
                </a:solidFill>
                <a:latin typeface="宋体" panose="02010600030101010101" pitchFamily="2" charset="-122"/>
                <a:ea typeface="宋体" panose="02010600030101010101" pitchFamily="2" charset="-122"/>
              </a:rPr>
              <a:t>数组名；</a:t>
            </a:r>
            <a:endParaRPr lang="zh-CN" altLang="en-US" sz="3035" b="1" dirty="0">
              <a:solidFill>
                <a:srgbClr val="FF0000"/>
              </a:solidFill>
              <a:latin typeface="宋体" panose="02010600030101010101" pitchFamily="2" charset="-122"/>
              <a:ea typeface="宋体" panose="02010600030101010101" pitchFamily="2" charset="-122"/>
            </a:endParaRPr>
          </a:p>
          <a:p>
            <a:pPr marL="0" indent="353060">
              <a:lnSpc>
                <a:spcPct val="80000"/>
              </a:lnSpc>
              <a:buNone/>
            </a:pPr>
            <a:r>
              <a:rPr lang="zh-CN" altLang="en-US" sz="3035" b="1" dirty="0">
                <a:solidFill>
                  <a:srgbClr val="FF0000"/>
                </a:solidFill>
                <a:latin typeface="宋体" panose="02010600030101010101" pitchFamily="2" charset="-122"/>
                <a:ea typeface="宋体" panose="02010600030101010101" pitchFamily="2" charset="-122"/>
              </a:rPr>
              <a:t>         数组元素的数据类型</a:t>
            </a:r>
            <a:r>
              <a:rPr lang="en-US" altLang="zh-CN" sz="3035" b="1" dirty="0">
                <a:solidFill>
                  <a:srgbClr val="FF0000"/>
                </a:solidFill>
                <a:latin typeface="宋体" panose="02010600030101010101" pitchFamily="2" charset="-122"/>
                <a:ea typeface="宋体" panose="02010600030101010101" pitchFamily="2" charset="-122"/>
              </a:rPr>
              <a:t>  </a:t>
            </a:r>
            <a:r>
              <a:rPr lang="zh-CN" altLang="en-US" sz="3035" b="1" dirty="0">
                <a:solidFill>
                  <a:srgbClr val="FF0000"/>
                </a:solidFill>
                <a:latin typeface="宋体" panose="02010600030101010101" pitchFamily="2" charset="-122"/>
                <a:ea typeface="宋体" panose="02010600030101010101" pitchFamily="2" charset="-122"/>
              </a:rPr>
              <a:t>数组名</a:t>
            </a:r>
            <a:r>
              <a:rPr lang="en-US" altLang="zh-CN" sz="3035" b="1" dirty="0">
                <a:solidFill>
                  <a:srgbClr val="FF0000"/>
                </a:solidFill>
                <a:latin typeface="宋体" panose="02010600030101010101" pitchFamily="2" charset="-122"/>
                <a:ea typeface="宋体" panose="02010600030101010101" pitchFamily="2" charset="-122"/>
              </a:rPr>
              <a:t>[ ]</a:t>
            </a:r>
            <a:r>
              <a:rPr lang="zh-CN" altLang="en-US" sz="3035" b="1" dirty="0">
                <a:solidFill>
                  <a:srgbClr val="FF0000"/>
                </a:solidFill>
                <a:latin typeface="宋体" panose="02010600030101010101" pitchFamily="2" charset="-122"/>
                <a:ea typeface="宋体" panose="02010600030101010101" pitchFamily="2" charset="-122"/>
              </a:rPr>
              <a:t>；</a:t>
            </a:r>
            <a:endParaRPr lang="zh-CN" altLang="en-US" sz="3035" b="1" dirty="0">
              <a:solidFill>
                <a:srgbClr val="FF0000"/>
              </a:solidFill>
              <a:latin typeface="宋体" panose="02010600030101010101" pitchFamily="2" charset="-122"/>
              <a:ea typeface="宋体" panose="02010600030101010101" pitchFamily="2" charset="-122"/>
            </a:endParaRPr>
          </a:p>
          <a:p>
            <a:pPr marL="0" indent="353060">
              <a:lnSpc>
                <a:spcPct val="80000"/>
              </a:lnSpc>
              <a:buNone/>
            </a:pPr>
            <a:r>
              <a:rPr lang="zh-CN" altLang="en-US" sz="3035" b="1" dirty="0">
                <a:latin typeface="宋体" panose="02010600030101010101" pitchFamily="2" charset="-122"/>
                <a:ea typeface="宋体" panose="02010600030101010101" pitchFamily="2" charset="-122"/>
              </a:rPr>
              <a:t>示例：</a:t>
            </a:r>
            <a:endParaRPr lang="zh-CN" altLang="en-US" sz="3035" b="1" dirty="0">
              <a:latin typeface="宋体" panose="02010600030101010101" pitchFamily="2" charset="-122"/>
              <a:ea typeface="宋体" panose="02010600030101010101" pitchFamily="2" charset="-122"/>
            </a:endParaRPr>
          </a:p>
          <a:p>
            <a:pPr marL="0" indent="353060">
              <a:lnSpc>
                <a:spcPct val="80000"/>
              </a:lnSpc>
              <a:buNone/>
            </a:pPr>
            <a:r>
              <a:rPr lang="en-US" altLang="zh-CN" sz="3035" b="1" dirty="0" err="1">
                <a:latin typeface="宋体" panose="02010600030101010101" pitchFamily="2" charset="-122"/>
                <a:ea typeface="宋体" panose="02010600030101010101" pitchFamily="2" charset="-122"/>
              </a:rPr>
              <a:t>int</a:t>
            </a:r>
            <a:r>
              <a:rPr lang="en-US" altLang="zh-CN" sz="3035" b="1" dirty="0">
                <a:latin typeface="宋体" panose="02010600030101010101" pitchFamily="2" charset="-122"/>
                <a:ea typeface="宋体" panose="02010600030101010101" pitchFamily="2" charset="-122"/>
              </a:rPr>
              <a:t> [ ]a</a:t>
            </a:r>
            <a:r>
              <a:rPr lang="zh-CN" altLang="en-US" sz="3035" b="1" dirty="0">
                <a:latin typeface="宋体" panose="02010600030101010101" pitchFamily="2" charset="-122"/>
                <a:ea typeface="宋体" panose="02010600030101010101" pitchFamily="2" charset="-122"/>
              </a:rPr>
              <a:t>；</a:t>
            </a:r>
            <a:endParaRPr lang="zh-CN" altLang="en-US" sz="3035" b="1" dirty="0">
              <a:latin typeface="宋体" panose="02010600030101010101" pitchFamily="2" charset="-122"/>
              <a:ea typeface="宋体" panose="02010600030101010101" pitchFamily="2" charset="-122"/>
            </a:endParaRPr>
          </a:p>
          <a:p>
            <a:pPr marL="0" indent="353060">
              <a:lnSpc>
                <a:spcPct val="80000"/>
              </a:lnSpc>
              <a:buNone/>
            </a:pPr>
            <a:r>
              <a:rPr lang="en-US" altLang="zh-CN" sz="3035" b="1" dirty="0" err="1">
                <a:latin typeface="宋体" panose="02010600030101010101" pitchFamily="2" charset="-122"/>
                <a:ea typeface="宋体" panose="02010600030101010101" pitchFamily="2" charset="-122"/>
              </a:rPr>
              <a:t>int</a:t>
            </a:r>
            <a:r>
              <a:rPr lang="en-US" altLang="zh-CN" sz="3035" b="1" dirty="0">
                <a:latin typeface="宋体" panose="02010600030101010101" pitchFamily="2" charset="-122"/>
                <a:ea typeface="宋体" panose="02010600030101010101" pitchFamily="2" charset="-122"/>
              </a:rPr>
              <a:t> a[ ]</a:t>
            </a:r>
            <a:r>
              <a:rPr lang="zh-CN" altLang="en-US" sz="3035" b="1" dirty="0">
                <a:latin typeface="宋体" panose="02010600030101010101" pitchFamily="2" charset="-122"/>
                <a:ea typeface="宋体" panose="02010600030101010101" pitchFamily="2" charset="-122"/>
              </a:rPr>
              <a:t>；</a:t>
            </a:r>
            <a:endParaRPr lang="en-US" altLang="zh-CN" sz="3035" b="1" dirty="0">
              <a:latin typeface="宋体" panose="02010600030101010101" pitchFamily="2" charset="-122"/>
              <a:ea typeface="宋体" panose="02010600030101010101" pitchFamily="2" charset="-122"/>
            </a:endParaRPr>
          </a:p>
          <a:p>
            <a:pPr marL="0" indent="353060">
              <a:lnSpc>
                <a:spcPct val="80000"/>
              </a:lnSpc>
              <a:buNone/>
            </a:pPr>
            <a:endParaRPr lang="zh-CN" altLang="en-US" sz="3035" b="1" dirty="0">
              <a:latin typeface="宋体" panose="02010600030101010101" pitchFamily="2" charset="-122"/>
              <a:ea typeface="宋体" panose="02010600030101010101" pitchFamily="2" charset="-122"/>
            </a:endParaRPr>
          </a:p>
          <a:p>
            <a:pPr marL="0" indent="353060">
              <a:lnSpc>
                <a:spcPct val="80000"/>
              </a:lnSpc>
              <a:buNone/>
            </a:pPr>
            <a:r>
              <a:rPr lang="zh-CN" altLang="en-US" sz="3035" b="1" dirty="0">
                <a:solidFill>
                  <a:srgbClr val="FF0000"/>
                </a:solidFill>
                <a:latin typeface="宋体" panose="02010600030101010101" pitchFamily="2" charset="-122"/>
                <a:ea typeface="宋体" panose="02010600030101010101" pitchFamily="2" charset="-122"/>
              </a:rPr>
              <a:t>声明时不要指定数组的大小，创建时一定要给出数组长度。</a:t>
            </a:r>
            <a:endParaRPr lang="zh-CN" altLang="en-US" sz="3035" b="1" dirty="0">
              <a:solidFill>
                <a:srgbClr val="FF0000"/>
              </a:solidFill>
              <a:latin typeface="宋体" panose="02010600030101010101" pitchFamily="2" charset="-122"/>
              <a:ea typeface="宋体" panose="02010600030101010101" pitchFamily="2" charset="-122"/>
            </a:endParaRPr>
          </a:p>
          <a:p>
            <a:pPr marL="0" indent="353060">
              <a:lnSpc>
                <a:spcPct val="80000"/>
              </a:lnSpc>
              <a:buNone/>
            </a:pPr>
            <a:endParaRPr lang="zh-CN" altLang="en-US" sz="3035" b="1" dirty="0">
              <a:latin typeface="宋体" panose="02010600030101010101" pitchFamily="2" charset="-122"/>
              <a:ea typeface="宋体" panose="02010600030101010101" pitchFamily="2" charset="-122"/>
            </a:endParaRPr>
          </a:p>
          <a:p>
            <a:pPr marL="0" indent="353060">
              <a:lnSpc>
                <a:spcPct val="80000"/>
              </a:lnSpc>
              <a:buNone/>
            </a:pPr>
            <a:endParaRPr lang="zh-CN" altLang="en-US" sz="3035" b="1" dirty="0">
              <a:latin typeface="宋体" panose="02010600030101010101" pitchFamily="2" charset="-122"/>
              <a:ea typeface="宋体" panose="02010600030101010101" pitchFamily="2" charset="-122"/>
            </a:endParaRPr>
          </a:p>
        </p:txBody>
      </p:sp>
      <p:sp>
        <p:nvSpPr>
          <p:cNvPr id="56323" name="标题 2"/>
          <p:cNvSpPr>
            <a:spLocks noGrp="1"/>
          </p:cNvSpPr>
          <p:nvPr>
            <p:ph type="title" idx="4294967295"/>
          </p:nvPr>
        </p:nvSpPr>
        <p:spPr>
          <a:xfrm>
            <a:off x="424432" y="635756"/>
            <a:ext cx="8147318" cy="914055"/>
          </a:xfrm>
        </p:spPr>
        <p:txBody>
          <a:bodyPr>
            <a:normAutofit fontScale="90000"/>
          </a:bodyPr>
          <a:lstStyle/>
          <a:p>
            <a:pPr algn="l"/>
            <a:r>
              <a:rPr lang="en-US" altLang="zh-CN" sz="3470" dirty="0"/>
              <a:t>2.8.1  </a:t>
            </a:r>
            <a:r>
              <a:rPr lang="zh-CN" altLang="en-US" sz="3470" dirty="0"/>
              <a:t>一维数组</a:t>
            </a:r>
            <a:br>
              <a:rPr lang="en-US" altLang="zh-CN" sz="3470" dirty="0"/>
            </a:br>
            <a:r>
              <a:rPr lang="en-US" altLang="zh-CN" sz="3470" dirty="0">
                <a:latin typeface="宋体" panose="02010600030101010101" pitchFamily="2" charset="-122"/>
                <a:ea typeface="宋体" panose="02010600030101010101" pitchFamily="2" charset="-122"/>
              </a:rPr>
              <a:t>1</a:t>
            </a:r>
            <a:r>
              <a:rPr lang="zh-CN" altLang="en-US" sz="3470" dirty="0">
                <a:latin typeface="宋体" panose="02010600030101010101" pitchFamily="2" charset="-122"/>
                <a:ea typeface="宋体" panose="02010600030101010101" pitchFamily="2" charset="-122"/>
              </a:rPr>
              <a:t>、数组的声明和创建</a:t>
            </a:r>
            <a:endParaRPr lang="zh-CN" altLang="en-US" sz="347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322">
                                            <p:txEl>
                                              <p:pRg st="3" end="3"/>
                                            </p:txEl>
                                          </p:spTgt>
                                        </p:tgtEl>
                                        <p:attrNameLst>
                                          <p:attrName>style.visibility</p:attrName>
                                        </p:attrNameLst>
                                      </p:cBhvr>
                                      <p:to>
                                        <p:strVal val="visible"/>
                                      </p:to>
                                    </p:set>
                                    <p:animEffect transition="in" filter="blinds(horizontal)">
                                      <p:cBhvr>
                                        <p:cTn id="7" dur="500"/>
                                        <p:tgtEl>
                                          <p:spTgt spid="56322">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6322">
                                            <p:txEl>
                                              <p:pRg st="4" end="4"/>
                                            </p:txEl>
                                          </p:spTgt>
                                        </p:tgtEl>
                                        <p:attrNameLst>
                                          <p:attrName>style.visibility</p:attrName>
                                        </p:attrNameLst>
                                      </p:cBhvr>
                                      <p:to>
                                        <p:strVal val="visible"/>
                                      </p:to>
                                    </p:set>
                                    <p:animEffect transition="in" filter="blinds(horizontal)">
                                      <p:cBhvr>
                                        <p:cTn id="10" dur="500"/>
                                        <p:tgtEl>
                                          <p:spTgt spid="56322">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6322">
                                            <p:txEl>
                                              <p:pRg st="5" end="5"/>
                                            </p:txEl>
                                          </p:spTgt>
                                        </p:tgtEl>
                                        <p:attrNameLst>
                                          <p:attrName>style.visibility</p:attrName>
                                        </p:attrNameLst>
                                      </p:cBhvr>
                                      <p:to>
                                        <p:strVal val="visible"/>
                                      </p:to>
                                    </p:set>
                                    <p:animEffect transition="in" filter="blinds(horizontal)">
                                      <p:cBhvr>
                                        <p:cTn id="13" dur="500"/>
                                        <p:tgtEl>
                                          <p:spTgt spid="56322">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6322">
                                            <p:txEl>
                                              <p:pRg st="7" end="7"/>
                                            </p:txEl>
                                          </p:spTgt>
                                        </p:tgtEl>
                                        <p:attrNameLst>
                                          <p:attrName>style.visibility</p:attrName>
                                        </p:attrNameLst>
                                      </p:cBhvr>
                                      <p:to>
                                        <p:strVal val="visible"/>
                                      </p:to>
                                    </p:set>
                                    <p:animEffect transition="in" filter="blinds(horizontal)">
                                      <p:cBhvr>
                                        <p:cTn id="18" dur="500"/>
                                        <p:tgtEl>
                                          <p:spTgt spid="5632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内容占位符 1"/>
          <p:cNvSpPr>
            <a:spLocks noGrp="1"/>
          </p:cNvSpPr>
          <p:nvPr>
            <p:ph idx="4294967295"/>
          </p:nvPr>
        </p:nvSpPr>
        <p:spPr>
          <a:xfrm>
            <a:off x="683954" y="1095031"/>
            <a:ext cx="11097737" cy="5267440"/>
          </a:xfrm>
        </p:spPr>
        <p:txBody>
          <a:bodyPr>
            <a:normAutofit fontScale="92500" lnSpcReduction="10000"/>
          </a:bodyPr>
          <a:lstStyle/>
          <a:p>
            <a:pPr marL="0" indent="353060">
              <a:buNone/>
            </a:pPr>
            <a:r>
              <a:rPr lang="zh-CN" altLang="en-US" sz="3035" b="1" dirty="0">
                <a:latin typeface="宋体" panose="02010600030101010101" pitchFamily="2" charset="-122"/>
                <a:ea typeface="宋体" panose="02010600030101010101" pitchFamily="2" charset="-122"/>
              </a:rPr>
              <a:t>一维数组创建的格式如下：</a:t>
            </a:r>
            <a:endParaRPr lang="zh-CN" altLang="en-US" sz="3035" b="1" dirty="0">
              <a:latin typeface="宋体" panose="02010600030101010101" pitchFamily="2" charset="-122"/>
              <a:ea typeface="宋体" panose="02010600030101010101" pitchFamily="2" charset="-122"/>
            </a:endParaRPr>
          </a:p>
          <a:p>
            <a:pPr marL="0" indent="353060">
              <a:buNone/>
            </a:pPr>
            <a:r>
              <a:rPr lang="zh-CN" altLang="en-US" sz="3035" b="1" dirty="0">
                <a:solidFill>
                  <a:srgbClr val="FF0000"/>
                </a:solidFill>
                <a:latin typeface="宋体" panose="02010600030101010101" pitchFamily="2" charset="-122"/>
                <a:ea typeface="宋体" panose="02010600030101010101" pitchFamily="2" charset="-122"/>
              </a:rPr>
              <a:t>数组名</a:t>
            </a:r>
            <a:r>
              <a:rPr lang="en-US" altLang="zh-CN" sz="3035" b="1" dirty="0">
                <a:solidFill>
                  <a:srgbClr val="FF0000"/>
                </a:solidFill>
                <a:latin typeface="宋体" panose="02010600030101010101" pitchFamily="2" charset="-122"/>
                <a:ea typeface="宋体" panose="02010600030101010101" pitchFamily="2" charset="-122"/>
              </a:rPr>
              <a:t>=new</a:t>
            </a:r>
            <a:r>
              <a:rPr lang="zh-CN" altLang="en-US" sz="3035" b="1" dirty="0">
                <a:solidFill>
                  <a:srgbClr val="FF0000"/>
                </a:solidFill>
                <a:latin typeface="宋体" panose="02010600030101010101" pitchFamily="2" charset="-122"/>
                <a:ea typeface="宋体" panose="02010600030101010101" pitchFamily="2" charset="-122"/>
              </a:rPr>
              <a:t>数组元素的数据类型</a:t>
            </a:r>
            <a:r>
              <a:rPr lang="en-US" altLang="zh-CN" sz="3035" b="1" dirty="0">
                <a:solidFill>
                  <a:srgbClr val="FF0000"/>
                </a:solidFill>
                <a:latin typeface="宋体" panose="02010600030101010101" pitchFamily="2" charset="-122"/>
                <a:ea typeface="宋体" panose="02010600030101010101" pitchFamily="2" charset="-122"/>
              </a:rPr>
              <a:t>[</a:t>
            </a:r>
            <a:r>
              <a:rPr lang="zh-CN" altLang="en-US" sz="3035" b="1" dirty="0">
                <a:solidFill>
                  <a:srgbClr val="FF0000"/>
                </a:solidFill>
                <a:latin typeface="宋体" panose="02010600030101010101" pitchFamily="2" charset="-122"/>
                <a:ea typeface="宋体" panose="02010600030101010101" pitchFamily="2" charset="-122"/>
              </a:rPr>
              <a:t>数组长度</a:t>
            </a:r>
            <a:r>
              <a:rPr lang="en-US" altLang="zh-CN" sz="3035" b="1" dirty="0">
                <a:solidFill>
                  <a:srgbClr val="FF0000"/>
                </a:solidFill>
                <a:latin typeface="宋体" panose="02010600030101010101" pitchFamily="2" charset="-122"/>
                <a:ea typeface="宋体" panose="02010600030101010101" pitchFamily="2" charset="-122"/>
              </a:rPr>
              <a:t>]</a:t>
            </a:r>
            <a:endParaRPr lang="zh-CN" altLang="en-US" sz="3035" b="1" dirty="0">
              <a:solidFill>
                <a:srgbClr val="FF0000"/>
              </a:solidFill>
              <a:latin typeface="宋体" panose="02010600030101010101" pitchFamily="2" charset="-122"/>
              <a:ea typeface="宋体" panose="02010600030101010101" pitchFamily="2" charset="-122"/>
            </a:endParaRPr>
          </a:p>
          <a:p>
            <a:pPr marL="0" indent="353060">
              <a:buNone/>
            </a:pPr>
            <a:r>
              <a:rPr lang="zh-CN" altLang="en-US" sz="3035" b="1" dirty="0">
                <a:latin typeface="宋体" panose="02010600030101010101" pitchFamily="2" charset="-122"/>
                <a:ea typeface="宋体" panose="02010600030101010101" pitchFamily="2" charset="-122"/>
              </a:rPr>
              <a:t>示例：</a:t>
            </a:r>
            <a:endParaRPr lang="zh-CN" altLang="en-US" sz="3035" b="1" dirty="0">
              <a:latin typeface="宋体" panose="02010600030101010101" pitchFamily="2" charset="-122"/>
              <a:ea typeface="宋体" panose="02010600030101010101" pitchFamily="2" charset="-122"/>
            </a:endParaRPr>
          </a:p>
          <a:p>
            <a:pPr marL="0" indent="353060">
              <a:buNone/>
            </a:pPr>
            <a:r>
              <a:rPr lang="en-US" altLang="zh-CN" sz="3035" b="1" dirty="0" err="1">
                <a:latin typeface="宋体" panose="02010600030101010101" pitchFamily="2" charset="-122"/>
                <a:ea typeface="宋体" panose="02010600030101010101" pitchFamily="2" charset="-122"/>
              </a:rPr>
              <a:t>int</a:t>
            </a:r>
            <a:r>
              <a:rPr lang="en-US" altLang="zh-CN" sz="3035" b="1" dirty="0">
                <a:latin typeface="宋体" panose="02010600030101010101" pitchFamily="2" charset="-122"/>
                <a:ea typeface="宋体" panose="02010600030101010101" pitchFamily="2" charset="-122"/>
              </a:rPr>
              <a:t>[ ] a</a:t>
            </a:r>
            <a:r>
              <a:rPr lang="zh-CN" altLang="en-US" sz="3035" b="1" dirty="0">
                <a:latin typeface="宋体" panose="02010600030101010101" pitchFamily="2" charset="-122"/>
                <a:ea typeface="宋体" panose="02010600030101010101" pitchFamily="2" charset="-122"/>
              </a:rPr>
              <a:t>；</a:t>
            </a:r>
            <a:r>
              <a:rPr lang="en-US" altLang="zh-CN" sz="3035" b="1" dirty="0">
                <a:latin typeface="宋体" panose="02010600030101010101" pitchFamily="2" charset="-122"/>
                <a:ea typeface="宋体" panose="02010600030101010101" pitchFamily="2" charset="-122"/>
              </a:rPr>
              <a:t>			//</a:t>
            </a:r>
            <a:r>
              <a:rPr lang="zh-CN" altLang="en-US" sz="3035" b="1" dirty="0">
                <a:latin typeface="宋体" panose="02010600030101010101" pitchFamily="2" charset="-122"/>
                <a:ea typeface="宋体" panose="02010600030101010101" pitchFamily="2" charset="-122"/>
              </a:rPr>
              <a:t>声明</a:t>
            </a:r>
            <a:endParaRPr lang="zh-CN" altLang="en-US" sz="3035" b="1" dirty="0">
              <a:latin typeface="宋体" panose="02010600030101010101" pitchFamily="2" charset="-122"/>
              <a:ea typeface="宋体" panose="02010600030101010101" pitchFamily="2" charset="-122"/>
            </a:endParaRPr>
          </a:p>
          <a:p>
            <a:pPr marL="0" indent="353060">
              <a:buNone/>
            </a:pPr>
            <a:r>
              <a:rPr lang="en-US" altLang="zh-CN" sz="3035" b="1" dirty="0">
                <a:latin typeface="宋体" panose="02010600030101010101" pitchFamily="2" charset="-122"/>
                <a:ea typeface="宋体" panose="02010600030101010101" pitchFamily="2" charset="-122"/>
              </a:rPr>
              <a:t>a=new </a:t>
            </a:r>
            <a:r>
              <a:rPr lang="en-US" altLang="zh-CN" sz="3035" b="1" dirty="0" err="1">
                <a:latin typeface="宋体" panose="02010600030101010101" pitchFamily="2" charset="-122"/>
                <a:ea typeface="宋体" panose="02010600030101010101" pitchFamily="2" charset="-122"/>
              </a:rPr>
              <a:t>int</a:t>
            </a:r>
            <a:r>
              <a:rPr lang="en-US" altLang="zh-CN" sz="3035" b="1" dirty="0">
                <a:latin typeface="宋体" panose="02010600030101010101" pitchFamily="2" charset="-122"/>
                <a:ea typeface="宋体" panose="02010600030101010101" pitchFamily="2" charset="-122"/>
              </a:rPr>
              <a:t>[10]</a:t>
            </a:r>
            <a:r>
              <a:rPr lang="zh-CN" altLang="en-US" sz="3035" b="1" dirty="0">
                <a:latin typeface="宋体" panose="02010600030101010101" pitchFamily="2" charset="-122"/>
                <a:ea typeface="宋体" panose="02010600030101010101" pitchFamily="2" charset="-122"/>
              </a:rPr>
              <a:t>；</a:t>
            </a:r>
            <a:r>
              <a:rPr lang="en-US" altLang="zh-CN" sz="3035" b="1" dirty="0">
                <a:latin typeface="宋体" panose="02010600030101010101" pitchFamily="2" charset="-122"/>
                <a:ea typeface="宋体" panose="02010600030101010101" pitchFamily="2" charset="-122"/>
              </a:rPr>
              <a:t>		//</a:t>
            </a:r>
            <a:r>
              <a:rPr lang="zh-CN" altLang="en-US" sz="3035" b="1" dirty="0">
                <a:latin typeface="宋体" panose="02010600030101010101" pitchFamily="2" charset="-122"/>
                <a:ea typeface="宋体" panose="02010600030101010101" pitchFamily="2" charset="-122"/>
              </a:rPr>
              <a:t>创建对象，并分配内存</a:t>
            </a:r>
            <a:endParaRPr lang="zh-CN" altLang="en-US" sz="3035" b="1" dirty="0">
              <a:latin typeface="宋体" panose="02010600030101010101" pitchFamily="2" charset="-122"/>
              <a:ea typeface="宋体" panose="02010600030101010101" pitchFamily="2" charset="-122"/>
            </a:endParaRPr>
          </a:p>
          <a:p>
            <a:pPr marL="0" indent="353060">
              <a:buNone/>
            </a:pPr>
            <a:r>
              <a:rPr lang="zh-CN" altLang="en-US" sz="3035" b="1" dirty="0">
                <a:latin typeface="宋体" panose="02010600030101010101" pitchFamily="2" charset="-122"/>
                <a:ea typeface="宋体" panose="02010600030101010101" pitchFamily="2" charset="-122"/>
              </a:rPr>
              <a:t>或者也可采用如下格式：</a:t>
            </a:r>
            <a:endParaRPr lang="zh-CN" altLang="en-US" sz="3035" b="1" dirty="0">
              <a:latin typeface="宋体" panose="02010600030101010101" pitchFamily="2" charset="-122"/>
              <a:ea typeface="宋体" panose="02010600030101010101" pitchFamily="2" charset="-122"/>
            </a:endParaRPr>
          </a:p>
          <a:p>
            <a:pPr marL="0" indent="353060">
              <a:buNone/>
            </a:pPr>
            <a:r>
              <a:rPr lang="zh-CN" altLang="en-US" sz="3035" b="1" dirty="0">
                <a:solidFill>
                  <a:srgbClr val="FF0000"/>
                </a:solidFill>
                <a:latin typeface="宋体" panose="02010600030101010101" pitchFamily="2" charset="-122"/>
                <a:ea typeface="宋体" panose="02010600030101010101" pitchFamily="2" charset="-122"/>
              </a:rPr>
              <a:t>数组元素的数据类型</a:t>
            </a:r>
            <a:r>
              <a:rPr lang="en-US" altLang="zh-CN" sz="3035" b="1" dirty="0">
                <a:solidFill>
                  <a:srgbClr val="FF0000"/>
                </a:solidFill>
                <a:latin typeface="宋体" panose="02010600030101010101" pitchFamily="2" charset="-122"/>
                <a:ea typeface="宋体" panose="02010600030101010101" pitchFamily="2" charset="-122"/>
              </a:rPr>
              <a:t>[ ]</a:t>
            </a:r>
            <a:r>
              <a:rPr lang="zh-CN" altLang="en-US" sz="3035" b="1" dirty="0">
                <a:solidFill>
                  <a:srgbClr val="FF0000"/>
                </a:solidFill>
                <a:latin typeface="宋体" panose="02010600030101010101" pitchFamily="2" charset="-122"/>
                <a:ea typeface="宋体" panose="02010600030101010101" pitchFamily="2" charset="-122"/>
              </a:rPr>
              <a:t>数组名</a:t>
            </a:r>
            <a:r>
              <a:rPr lang="en-US" altLang="zh-CN" sz="3035" b="1" dirty="0">
                <a:solidFill>
                  <a:srgbClr val="FF0000"/>
                </a:solidFill>
                <a:latin typeface="宋体" panose="02010600030101010101" pitchFamily="2" charset="-122"/>
                <a:ea typeface="宋体" panose="02010600030101010101" pitchFamily="2" charset="-122"/>
              </a:rPr>
              <a:t>=new</a:t>
            </a:r>
            <a:r>
              <a:rPr lang="zh-CN" altLang="en-US" sz="3035" b="1" dirty="0">
                <a:solidFill>
                  <a:srgbClr val="FF0000"/>
                </a:solidFill>
                <a:latin typeface="宋体" panose="02010600030101010101" pitchFamily="2" charset="-122"/>
                <a:ea typeface="宋体" panose="02010600030101010101" pitchFamily="2" charset="-122"/>
              </a:rPr>
              <a:t>数组元素的数据类型</a:t>
            </a:r>
            <a:r>
              <a:rPr lang="en-US" altLang="zh-CN" sz="3035" b="1" dirty="0">
                <a:solidFill>
                  <a:srgbClr val="FF0000"/>
                </a:solidFill>
                <a:latin typeface="宋体" panose="02010600030101010101" pitchFamily="2" charset="-122"/>
                <a:ea typeface="宋体" panose="02010600030101010101" pitchFamily="2" charset="-122"/>
              </a:rPr>
              <a:t>[</a:t>
            </a:r>
            <a:r>
              <a:rPr lang="zh-CN" altLang="en-US" sz="3035" b="1" dirty="0">
                <a:solidFill>
                  <a:srgbClr val="FF0000"/>
                </a:solidFill>
                <a:latin typeface="宋体" panose="02010600030101010101" pitchFamily="2" charset="-122"/>
                <a:ea typeface="宋体" panose="02010600030101010101" pitchFamily="2" charset="-122"/>
              </a:rPr>
              <a:t>数组长度</a:t>
            </a:r>
            <a:r>
              <a:rPr lang="en-US" altLang="zh-CN" sz="3035" b="1" dirty="0">
                <a:solidFill>
                  <a:srgbClr val="FF0000"/>
                </a:solidFill>
                <a:latin typeface="宋体" panose="02010600030101010101" pitchFamily="2" charset="-122"/>
                <a:ea typeface="宋体" panose="02010600030101010101" pitchFamily="2" charset="-122"/>
              </a:rPr>
              <a:t>]</a:t>
            </a:r>
            <a:r>
              <a:rPr lang="zh-CN" altLang="en-US" sz="3035" b="1" dirty="0">
                <a:solidFill>
                  <a:srgbClr val="FF0000"/>
                </a:solidFill>
                <a:latin typeface="宋体" panose="02010600030101010101" pitchFamily="2" charset="-122"/>
                <a:ea typeface="宋体" panose="02010600030101010101" pitchFamily="2" charset="-122"/>
              </a:rPr>
              <a:t>；</a:t>
            </a:r>
            <a:endParaRPr lang="zh-CN" altLang="en-US" sz="3035" b="1" dirty="0">
              <a:solidFill>
                <a:srgbClr val="FF0000"/>
              </a:solidFill>
              <a:latin typeface="宋体" panose="02010600030101010101" pitchFamily="2" charset="-122"/>
              <a:ea typeface="宋体" panose="02010600030101010101" pitchFamily="2" charset="-122"/>
            </a:endParaRPr>
          </a:p>
          <a:p>
            <a:pPr marL="0" indent="353060">
              <a:buNone/>
            </a:pPr>
            <a:r>
              <a:rPr lang="zh-CN" altLang="en-US" sz="3035" b="1" dirty="0">
                <a:latin typeface="宋体" panose="02010600030101010101" pitchFamily="2" charset="-122"/>
                <a:ea typeface="宋体" panose="02010600030101010101" pitchFamily="2" charset="-122"/>
              </a:rPr>
              <a:t>示例：</a:t>
            </a:r>
            <a:endParaRPr lang="zh-CN" altLang="en-US" sz="3035" b="1" dirty="0">
              <a:latin typeface="宋体" panose="02010600030101010101" pitchFamily="2" charset="-122"/>
              <a:ea typeface="宋体" panose="02010600030101010101" pitchFamily="2" charset="-122"/>
            </a:endParaRPr>
          </a:p>
          <a:p>
            <a:pPr marL="0" indent="353060">
              <a:buNone/>
            </a:pPr>
            <a:r>
              <a:rPr lang="en-US" altLang="zh-CN" sz="3035" b="1" dirty="0" err="1">
                <a:latin typeface="宋体" panose="02010600030101010101" pitchFamily="2" charset="-122"/>
                <a:ea typeface="宋体" panose="02010600030101010101" pitchFamily="2" charset="-122"/>
              </a:rPr>
              <a:t>int</a:t>
            </a:r>
            <a:r>
              <a:rPr lang="en-US" altLang="zh-CN" sz="3035" b="1" dirty="0">
                <a:latin typeface="宋体" panose="02010600030101010101" pitchFamily="2" charset="-122"/>
                <a:ea typeface="宋体" panose="02010600030101010101" pitchFamily="2" charset="-122"/>
              </a:rPr>
              <a:t>[ ]a=new </a:t>
            </a:r>
            <a:r>
              <a:rPr lang="en-US" altLang="zh-CN" sz="3035" b="1" dirty="0" err="1">
                <a:latin typeface="宋体" panose="02010600030101010101" pitchFamily="2" charset="-122"/>
                <a:ea typeface="宋体" panose="02010600030101010101" pitchFamily="2" charset="-122"/>
              </a:rPr>
              <a:t>int</a:t>
            </a:r>
            <a:r>
              <a:rPr lang="en-US" altLang="zh-CN" sz="3035" b="1" dirty="0">
                <a:latin typeface="宋体" panose="02010600030101010101" pitchFamily="2" charset="-122"/>
                <a:ea typeface="宋体" panose="02010600030101010101" pitchFamily="2" charset="-122"/>
              </a:rPr>
              <a:t>[10]</a:t>
            </a:r>
            <a:r>
              <a:rPr lang="zh-CN" altLang="en-US" sz="3035" b="1" dirty="0">
                <a:latin typeface="宋体" panose="02010600030101010101" pitchFamily="2" charset="-122"/>
                <a:ea typeface="宋体" panose="02010600030101010101" pitchFamily="2" charset="-122"/>
              </a:rPr>
              <a:t>；</a:t>
            </a:r>
            <a:endParaRPr lang="zh-CN" altLang="en-US" sz="3035" b="1" dirty="0">
              <a:latin typeface="宋体" panose="02010600030101010101" pitchFamily="2" charset="-122"/>
              <a:ea typeface="宋体" panose="02010600030101010101" pitchFamily="2" charset="-122"/>
            </a:endParaRPr>
          </a:p>
          <a:p>
            <a:pPr marL="0" indent="353060">
              <a:buNone/>
            </a:pPr>
            <a:endParaRPr lang="zh-CN" altLang="en-US" sz="3035" b="1" dirty="0">
              <a:latin typeface="宋体" panose="02010600030101010101" pitchFamily="2" charset="-122"/>
              <a:ea typeface="宋体" panose="02010600030101010101" pitchFamily="2" charset="-122"/>
            </a:endParaRPr>
          </a:p>
        </p:txBody>
      </p:sp>
      <p:sp>
        <p:nvSpPr>
          <p:cNvPr id="3" name="标题 2"/>
          <p:cNvSpPr txBox="1"/>
          <p:nvPr/>
        </p:nvSpPr>
        <p:spPr>
          <a:xfrm>
            <a:off x="143078" y="338172"/>
            <a:ext cx="8147318" cy="595167"/>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3470" dirty="0">
                <a:latin typeface="宋体" panose="02010600030101010101" pitchFamily="2" charset="-122"/>
                <a:ea typeface="宋体" panose="02010600030101010101" pitchFamily="2" charset="-122"/>
              </a:rPr>
              <a:t>1</a:t>
            </a:r>
            <a:r>
              <a:rPr lang="zh-CN" altLang="en-US" sz="3470" dirty="0">
                <a:latin typeface="宋体" panose="02010600030101010101" pitchFamily="2" charset="-122"/>
                <a:ea typeface="宋体" panose="02010600030101010101" pitchFamily="2" charset="-122"/>
              </a:rPr>
              <a:t>、数组的声明和创建</a:t>
            </a:r>
            <a:endParaRPr lang="zh-CN" altLang="en-US" sz="347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346">
                                            <p:txEl>
                                              <p:pRg st="2" end="2"/>
                                            </p:txEl>
                                          </p:spTgt>
                                        </p:tgtEl>
                                        <p:attrNameLst>
                                          <p:attrName>style.visibility</p:attrName>
                                        </p:attrNameLst>
                                      </p:cBhvr>
                                      <p:to>
                                        <p:strVal val="visible"/>
                                      </p:to>
                                    </p:set>
                                    <p:animEffect transition="in" filter="blinds(horizontal)">
                                      <p:cBhvr>
                                        <p:cTn id="7" dur="500"/>
                                        <p:tgtEl>
                                          <p:spTgt spid="57346">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7346">
                                            <p:txEl>
                                              <p:pRg st="3" end="3"/>
                                            </p:txEl>
                                          </p:spTgt>
                                        </p:tgtEl>
                                        <p:attrNameLst>
                                          <p:attrName>style.visibility</p:attrName>
                                        </p:attrNameLst>
                                      </p:cBhvr>
                                      <p:to>
                                        <p:strVal val="visible"/>
                                      </p:to>
                                    </p:set>
                                    <p:animEffect transition="in" filter="blinds(horizontal)">
                                      <p:cBhvr>
                                        <p:cTn id="10" dur="500"/>
                                        <p:tgtEl>
                                          <p:spTgt spid="57346">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7346">
                                            <p:txEl>
                                              <p:pRg st="4" end="4"/>
                                            </p:txEl>
                                          </p:spTgt>
                                        </p:tgtEl>
                                        <p:attrNameLst>
                                          <p:attrName>style.visibility</p:attrName>
                                        </p:attrNameLst>
                                      </p:cBhvr>
                                      <p:to>
                                        <p:strVal val="visible"/>
                                      </p:to>
                                    </p:set>
                                    <p:animEffect transition="in" filter="blinds(horizontal)">
                                      <p:cBhvr>
                                        <p:cTn id="13" dur="500"/>
                                        <p:tgtEl>
                                          <p:spTgt spid="57346">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7346">
                                            <p:txEl>
                                              <p:pRg st="5" end="5"/>
                                            </p:txEl>
                                          </p:spTgt>
                                        </p:tgtEl>
                                        <p:attrNameLst>
                                          <p:attrName>style.visibility</p:attrName>
                                        </p:attrNameLst>
                                      </p:cBhvr>
                                      <p:to>
                                        <p:strVal val="visible"/>
                                      </p:to>
                                    </p:set>
                                    <p:animEffect transition="in" filter="blinds(horizontal)">
                                      <p:cBhvr>
                                        <p:cTn id="18" dur="500"/>
                                        <p:tgtEl>
                                          <p:spTgt spid="57346">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7346">
                                            <p:txEl>
                                              <p:pRg st="6" end="6"/>
                                            </p:txEl>
                                          </p:spTgt>
                                        </p:tgtEl>
                                        <p:attrNameLst>
                                          <p:attrName>style.visibility</p:attrName>
                                        </p:attrNameLst>
                                      </p:cBhvr>
                                      <p:to>
                                        <p:strVal val="visible"/>
                                      </p:to>
                                    </p:set>
                                    <p:animEffect transition="in" filter="blinds(horizontal)">
                                      <p:cBhvr>
                                        <p:cTn id="21" dur="500"/>
                                        <p:tgtEl>
                                          <p:spTgt spid="57346">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7346">
                                            <p:txEl>
                                              <p:pRg st="7" end="7"/>
                                            </p:txEl>
                                          </p:spTgt>
                                        </p:tgtEl>
                                        <p:attrNameLst>
                                          <p:attrName>style.visibility</p:attrName>
                                        </p:attrNameLst>
                                      </p:cBhvr>
                                      <p:to>
                                        <p:strVal val="visible"/>
                                      </p:to>
                                    </p:set>
                                    <p:animEffect transition="in" filter="blinds(horizontal)">
                                      <p:cBhvr>
                                        <p:cTn id="26" dur="500"/>
                                        <p:tgtEl>
                                          <p:spTgt spid="57346">
                                            <p:txEl>
                                              <p:pRg st="7" end="7"/>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57346">
                                            <p:txEl>
                                              <p:pRg st="8" end="8"/>
                                            </p:txEl>
                                          </p:spTgt>
                                        </p:tgtEl>
                                        <p:attrNameLst>
                                          <p:attrName>style.visibility</p:attrName>
                                        </p:attrNameLst>
                                      </p:cBhvr>
                                      <p:to>
                                        <p:strVal val="visible"/>
                                      </p:to>
                                    </p:set>
                                    <p:animEffect transition="in" filter="blinds(horizontal)">
                                      <p:cBhvr>
                                        <p:cTn id="29" dur="500"/>
                                        <p:tgtEl>
                                          <p:spTgt spid="5734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635446" y="1137138"/>
            <a:ext cx="10747662" cy="476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buFont typeface="Wingdings" panose="05000000000000000000" pitchFamily="2" charset="2"/>
              <a:buChar char="u"/>
            </a:pPr>
            <a:r>
              <a:rPr lang="en-US" altLang="zh-CN" sz="3035" dirty="0"/>
              <a:t>Java</a:t>
            </a:r>
            <a:r>
              <a:rPr lang="zh-CN" altLang="en-US" sz="3035" dirty="0"/>
              <a:t>内存分为两种：栈内存和堆内存。</a:t>
            </a:r>
            <a:endParaRPr lang="en-US" altLang="zh-CN" sz="3035" dirty="0"/>
          </a:p>
          <a:p>
            <a:r>
              <a:rPr lang="zh-CN" altLang="en-US" sz="3035" b="0" dirty="0"/>
              <a:t>     </a:t>
            </a:r>
            <a:r>
              <a:rPr lang="zh-CN" altLang="en-US" sz="3035" dirty="0"/>
              <a:t>栈内存：</a:t>
            </a:r>
            <a:r>
              <a:rPr lang="zh-CN" altLang="en-US" sz="3035" b="0" dirty="0"/>
              <a:t>在函数中定义的一些基本类型的变量和对象的引用变量。 </a:t>
            </a:r>
            <a:br>
              <a:rPr lang="zh-CN" altLang="en-US" sz="3035" dirty="0"/>
            </a:br>
            <a:r>
              <a:rPr lang="zh-CN" altLang="en-US" sz="3035" dirty="0"/>
              <a:t>    堆内存：</a:t>
            </a:r>
            <a:r>
              <a:rPr lang="zh-CN" altLang="en-US" sz="3035" b="0" dirty="0"/>
              <a:t>由</a:t>
            </a:r>
            <a:r>
              <a:rPr lang="en-US" altLang="zh-CN" sz="3035" b="0" dirty="0"/>
              <a:t>new</a:t>
            </a:r>
            <a:r>
              <a:rPr lang="zh-CN" altLang="en-US" sz="3035" b="0" dirty="0"/>
              <a:t>创建的对象和数组。</a:t>
            </a:r>
            <a:endParaRPr lang="en-US" altLang="zh-CN" sz="3035" b="0" dirty="0"/>
          </a:p>
          <a:p>
            <a:pPr>
              <a:buFont typeface="Wingdings" panose="05000000000000000000" pitchFamily="2" charset="2"/>
              <a:buChar char="u"/>
            </a:pPr>
            <a:r>
              <a:rPr lang="zh-CN" altLang="en-US" sz="3035" b="0" dirty="0"/>
              <a:t>在堆中产生了一个数组或者对象之后，可以在栈中定义一个特殊的变量，取值等于数组或对象在堆内存中的首地址，这个变量就成了数组或对象的引用变量，以后就可以在程序中使用引用变量来访问堆中的数组或者对象，引用变量就相当于是为数组或对象起的一个名称。</a:t>
            </a:r>
            <a:endParaRPr lang="en-US" altLang="zh-CN" sz="3035" b="0" dirty="0"/>
          </a:p>
          <a:p>
            <a:pPr>
              <a:buFont typeface="Wingdings" panose="05000000000000000000" pitchFamily="2" charset="2"/>
              <a:buChar char="u"/>
            </a:pPr>
            <a:r>
              <a:rPr lang="zh-CN" altLang="en-US" sz="3035" b="0" dirty="0"/>
              <a:t>引用变量是普通的变量，定义时在栈中分配。</a:t>
            </a:r>
            <a:endParaRPr lang="zh-CN" altLang="en-US" sz="3035" dirty="0"/>
          </a:p>
        </p:txBody>
      </p:sp>
      <p:sp>
        <p:nvSpPr>
          <p:cNvPr id="3" name="标题 2"/>
          <p:cNvSpPr txBox="1"/>
          <p:nvPr/>
        </p:nvSpPr>
        <p:spPr>
          <a:xfrm>
            <a:off x="143078" y="338172"/>
            <a:ext cx="8147318" cy="595167"/>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3470" dirty="0">
                <a:latin typeface="宋体" panose="02010600030101010101" pitchFamily="2" charset="-122"/>
                <a:ea typeface="宋体" panose="02010600030101010101" pitchFamily="2" charset="-122"/>
              </a:rPr>
              <a:t>1</a:t>
            </a:r>
            <a:r>
              <a:rPr lang="zh-CN" altLang="en-US" sz="3470" dirty="0">
                <a:latin typeface="宋体" panose="02010600030101010101" pitchFamily="2" charset="-122"/>
                <a:ea typeface="宋体" panose="02010600030101010101" pitchFamily="2" charset="-122"/>
              </a:rPr>
              <a:t>、数组的声明和创建</a:t>
            </a:r>
            <a:endParaRPr lang="zh-CN" altLang="en-US" sz="347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linds(horizontal)">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AutoShape 2"/>
          <p:cNvSpPr>
            <a:spLocks noChangeAspect="1" noChangeArrowheads="1"/>
          </p:cNvSpPr>
          <p:nvPr/>
        </p:nvSpPr>
        <p:spPr bwMode="auto">
          <a:xfrm>
            <a:off x="1372518" y="-215173"/>
            <a:ext cx="330506" cy="330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2170"/>
          </a:p>
        </p:txBody>
      </p:sp>
      <p:sp>
        <p:nvSpPr>
          <p:cNvPr id="59395" name="AutoShape 4"/>
          <p:cNvSpPr>
            <a:spLocks noChangeAspect="1" noChangeArrowheads="1"/>
          </p:cNvSpPr>
          <p:nvPr/>
        </p:nvSpPr>
        <p:spPr bwMode="auto">
          <a:xfrm>
            <a:off x="1372518" y="-215173"/>
            <a:ext cx="330506" cy="330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2170"/>
          </a:p>
        </p:txBody>
      </p:sp>
      <p:sp>
        <p:nvSpPr>
          <p:cNvPr id="59396" name="AutoShape 6"/>
          <p:cNvSpPr>
            <a:spLocks noChangeAspect="1" noChangeArrowheads="1"/>
          </p:cNvSpPr>
          <p:nvPr/>
        </p:nvSpPr>
        <p:spPr bwMode="auto">
          <a:xfrm>
            <a:off x="1372518" y="-215173"/>
            <a:ext cx="330506" cy="330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2170"/>
          </a:p>
        </p:txBody>
      </p:sp>
      <p:sp>
        <p:nvSpPr>
          <p:cNvPr id="59397" name="AutoShape 10"/>
          <p:cNvSpPr>
            <a:spLocks noChangeAspect="1" noChangeArrowheads="1"/>
          </p:cNvSpPr>
          <p:nvPr/>
        </p:nvSpPr>
        <p:spPr bwMode="auto">
          <a:xfrm>
            <a:off x="1372518" y="-215173"/>
            <a:ext cx="330506" cy="330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2170"/>
          </a:p>
        </p:txBody>
      </p:sp>
      <p:sp>
        <p:nvSpPr>
          <p:cNvPr id="59398" name="AutoShape 12"/>
          <p:cNvSpPr>
            <a:spLocks noChangeAspect="1" noChangeArrowheads="1"/>
          </p:cNvSpPr>
          <p:nvPr/>
        </p:nvSpPr>
        <p:spPr bwMode="auto">
          <a:xfrm>
            <a:off x="1372518" y="-215173"/>
            <a:ext cx="330506" cy="330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2170"/>
          </a:p>
        </p:txBody>
      </p:sp>
      <p:pic>
        <p:nvPicPr>
          <p:cNvPr id="59399" name="图片 1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369076" y="931271"/>
            <a:ext cx="9519262" cy="5353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标题 2"/>
          <p:cNvSpPr txBox="1"/>
          <p:nvPr/>
        </p:nvSpPr>
        <p:spPr>
          <a:xfrm>
            <a:off x="143078" y="338172"/>
            <a:ext cx="8147318" cy="595167"/>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3470" dirty="0">
                <a:latin typeface="宋体" panose="02010600030101010101" pitchFamily="2" charset="-122"/>
                <a:ea typeface="宋体" panose="02010600030101010101" pitchFamily="2" charset="-122"/>
              </a:rPr>
              <a:t>1</a:t>
            </a:r>
            <a:r>
              <a:rPr lang="zh-CN" altLang="en-US" sz="3470" dirty="0">
                <a:latin typeface="宋体" panose="02010600030101010101" pitchFamily="2" charset="-122"/>
                <a:ea typeface="宋体" panose="02010600030101010101" pitchFamily="2" charset="-122"/>
              </a:rPr>
              <a:t>、数组的声明和创建</a:t>
            </a:r>
            <a:endParaRPr lang="zh-CN" altLang="en-US" sz="347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46219" y="617978"/>
            <a:ext cx="8978747" cy="5308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内容占位符 1"/>
          <p:cNvSpPr>
            <a:spLocks noGrp="1"/>
          </p:cNvSpPr>
          <p:nvPr>
            <p:ph idx="4294967295"/>
          </p:nvPr>
        </p:nvSpPr>
        <p:spPr>
          <a:xfrm>
            <a:off x="691661" y="1414980"/>
            <a:ext cx="10550769" cy="4570279"/>
          </a:xfrm>
        </p:spPr>
        <p:txBody>
          <a:bodyPr>
            <a:normAutofit lnSpcReduction="10000"/>
          </a:bodyPr>
          <a:lstStyle/>
          <a:p>
            <a:pPr marL="0" indent="353060">
              <a:buNone/>
            </a:pPr>
            <a:r>
              <a:rPr lang="zh-CN" altLang="en-US" sz="2820" b="1" dirty="0">
                <a:latin typeface="宋体" panose="02010600030101010101" pitchFamily="2" charset="-122"/>
                <a:ea typeface="宋体" panose="02010600030101010101" pitchFamily="2" charset="-122"/>
              </a:rPr>
              <a:t>（</a:t>
            </a:r>
            <a:r>
              <a:rPr lang="en-US" altLang="zh-CN" sz="2820" b="1" dirty="0">
                <a:latin typeface="宋体" panose="02010600030101010101" pitchFamily="2" charset="-122"/>
                <a:ea typeface="宋体" panose="02010600030101010101" pitchFamily="2" charset="-122"/>
              </a:rPr>
              <a:t>1</a:t>
            </a:r>
            <a:r>
              <a:rPr lang="zh-CN" altLang="en-US" sz="2820" b="1" dirty="0">
                <a:latin typeface="宋体" panose="02010600030101010101" pitchFamily="2" charset="-122"/>
                <a:ea typeface="宋体" panose="02010600030101010101" pitchFamily="2" charset="-122"/>
              </a:rPr>
              <a:t>）动态初始化</a:t>
            </a:r>
            <a:endParaRPr lang="zh-CN" altLang="en-US" sz="2820" b="1" dirty="0">
              <a:latin typeface="宋体" panose="02010600030101010101" pitchFamily="2" charset="-122"/>
              <a:ea typeface="宋体" panose="02010600030101010101" pitchFamily="2" charset="-122"/>
            </a:endParaRPr>
          </a:p>
          <a:p>
            <a:pPr marL="0" indent="353060">
              <a:buNone/>
            </a:pPr>
            <a:r>
              <a:rPr lang="zh-CN" altLang="en-US" sz="2600" b="1" dirty="0">
                <a:latin typeface="宋体" panose="02010600030101010101" pitchFamily="2" charset="-122"/>
                <a:ea typeface="宋体" panose="02010600030101010101" pitchFamily="2" charset="-122"/>
              </a:rPr>
              <a:t>动态初始化是指数组定义创建与赋值操作分开进行。数组内存空间分配后，可以逐个给数组元素赋值。</a:t>
            </a:r>
            <a:endParaRPr lang="en-US" altLang="zh-CN" sz="2600" b="1" dirty="0">
              <a:latin typeface="宋体" panose="02010600030101010101" pitchFamily="2" charset="-122"/>
              <a:ea typeface="宋体" panose="02010600030101010101" pitchFamily="2" charset="-122"/>
            </a:endParaRPr>
          </a:p>
          <a:p>
            <a:pPr marL="0" indent="353060">
              <a:buNone/>
            </a:pPr>
            <a:r>
              <a:rPr lang="zh-CN" altLang="en-US" sz="2600" b="1" dirty="0">
                <a:latin typeface="宋体" panose="02010600030101010101" pitchFamily="2" charset="-122"/>
                <a:ea typeface="宋体" panose="02010600030101010101" pitchFamily="2" charset="-122"/>
              </a:rPr>
              <a:t>如果对数组进行有规律的赋值，可以使用循环语句，</a:t>
            </a:r>
            <a:r>
              <a:rPr lang="en-US" altLang="zh-CN" sz="2600" b="1" dirty="0">
                <a:latin typeface="宋体" panose="02010600030101010101" pitchFamily="2" charset="-122"/>
                <a:ea typeface="宋体" panose="02010600030101010101" pitchFamily="2" charset="-122"/>
              </a:rPr>
              <a:t>length</a:t>
            </a:r>
            <a:r>
              <a:rPr lang="zh-CN" altLang="en-US" sz="2600" b="1" dirty="0">
                <a:latin typeface="宋体" panose="02010600030101010101" pitchFamily="2" charset="-122"/>
                <a:ea typeface="宋体" panose="02010600030101010101" pitchFamily="2" charset="-122"/>
              </a:rPr>
              <a:t>能够获取数组的长度，如下程序段所示：</a:t>
            </a:r>
            <a:endParaRPr lang="zh-CN" altLang="en-US" sz="2600" b="1" dirty="0">
              <a:latin typeface="宋体" panose="02010600030101010101" pitchFamily="2" charset="-122"/>
              <a:ea typeface="宋体" panose="02010600030101010101" pitchFamily="2" charset="-122"/>
            </a:endParaRPr>
          </a:p>
          <a:p>
            <a:pPr marL="0" indent="353060">
              <a:buNone/>
            </a:pPr>
            <a:r>
              <a:rPr lang="en-US" altLang="zh-CN" sz="2600" b="1" dirty="0" err="1">
                <a:latin typeface="宋体" panose="02010600030101010101" pitchFamily="2" charset="-122"/>
                <a:ea typeface="宋体" panose="02010600030101010101" pitchFamily="2" charset="-122"/>
              </a:rPr>
              <a:t>int</a:t>
            </a:r>
            <a:r>
              <a:rPr lang="en-US" altLang="zh-CN" sz="2600" b="1" dirty="0">
                <a:latin typeface="宋体" panose="02010600030101010101" pitchFamily="2" charset="-122"/>
                <a:ea typeface="宋体" panose="02010600030101010101" pitchFamily="2" charset="-122"/>
              </a:rPr>
              <a:t>[ ]a=new </a:t>
            </a:r>
            <a:r>
              <a:rPr lang="en-US" altLang="zh-CN" sz="2600" b="1" dirty="0" err="1">
                <a:latin typeface="宋体" panose="02010600030101010101" pitchFamily="2" charset="-122"/>
                <a:ea typeface="宋体" panose="02010600030101010101" pitchFamily="2" charset="-122"/>
              </a:rPr>
              <a:t>int</a:t>
            </a:r>
            <a:r>
              <a:rPr lang="en-US" altLang="zh-CN" sz="2600" b="1" dirty="0">
                <a:latin typeface="宋体" panose="02010600030101010101" pitchFamily="2" charset="-122"/>
                <a:ea typeface="宋体" panose="02010600030101010101" pitchFamily="2" charset="-122"/>
              </a:rPr>
              <a:t>[5]</a:t>
            </a:r>
            <a:r>
              <a:rPr lang="zh-CN" altLang="en-US" sz="2600" b="1" dirty="0">
                <a:latin typeface="宋体" panose="02010600030101010101" pitchFamily="2" charset="-122"/>
                <a:ea typeface="宋体" panose="02010600030101010101" pitchFamily="2" charset="-122"/>
              </a:rPr>
              <a:t>；</a:t>
            </a:r>
            <a:endParaRPr lang="zh-CN" altLang="en-US" sz="2600" b="1" dirty="0">
              <a:latin typeface="宋体" panose="02010600030101010101" pitchFamily="2" charset="-122"/>
              <a:ea typeface="宋体" panose="02010600030101010101" pitchFamily="2" charset="-122"/>
            </a:endParaRPr>
          </a:p>
          <a:p>
            <a:pPr marL="0" indent="353060">
              <a:buNone/>
            </a:pPr>
            <a:r>
              <a:rPr lang="en-US" altLang="zh-CN" sz="2600" b="1" dirty="0">
                <a:latin typeface="宋体" panose="02010600030101010101" pitchFamily="2" charset="-122"/>
                <a:ea typeface="宋体" panose="02010600030101010101" pitchFamily="2" charset="-122"/>
              </a:rPr>
              <a:t>for(</a:t>
            </a:r>
            <a:r>
              <a:rPr lang="en-US" altLang="zh-CN" sz="2600" b="1" dirty="0" err="1">
                <a:latin typeface="宋体" panose="02010600030101010101" pitchFamily="2" charset="-122"/>
                <a:ea typeface="宋体" panose="02010600030101010101" pitchFamily="2" charset="-122"/>
              </a:rPr>
              <a:t>int</a:t>
            </a:r>
            <a:r>
              <a:rPr lang="zh-CN" altLang="en-US" sz="2600" b="1" dirty="0">
                <a:latin typeface="宋体" panose="02010600030101010101" pitchFamily="2" charset="-122"/>
                <a:ea typeface="宋体" panose="02010600030101010101" pitchFamily="2" charset="-122"/>
              </a:rPr>
              <a:t> i</a:t>
            </a:r>
            <a:r>
              <a:rPr lang="en-US" altLang="zh-CN" sz="2600" b="1" dirty="0">
                <a:latin typeface="宋体" panose="02010600030101010101" pitchFamily="2" charset="-122"/>
                <a:ea typeface="宋体" panose="02010600030101010101" pitchFamily="2" charset="-122"/>
              </a:rPr>
              <a:t>=0</a:t>
            </a:r>
            <a:r>
              <a:rPr lang="zh-CN" altLang="en-US" sz="2600" b="1" dirty="0">
                <a:latin typeface="宋体" panose="02010600030101010101" pitchFamily="2" charset="-122"/>
                <a:ea typeface="宋体" panose="02010600030101010101" pitchFamily="2" charset="-122"/>
              </a:rPr>
              <a:t>；</a:t>
            </a:r>
            <a:r>
              <a:rPr lang="en-US" altLang="zh-CN" sz="2600" b="1" dirty="0" err="1">
                <a:latin typeface="宋体" panose="02010600030101010101" pitchFamily="2" charset="-122"/>
                <a:ea typeface="宋体" panose="02010600030101010101" pitchFamily="2" charset="-122"/>
              </a:rPr>
              <a:t>i</a:t>
            </a:r>
            <a:r>
              <a:rPr lang="en-US" altLang="zh-CN" sz="2600" b="1" dirty="0">
                <a:latin typeface="宋体" panose="02010600030101010101" pitchFamily="2" charset="-122"/>
                <a:ea typeface="宋体" panose="02010600030101010101" pitchFamily="2" charset="-122"/>
              </a:rPr>
              <a:t>&lt;</a:t>
            </a:r>
            <a:r>
              <a:rPr lang="en-US" altLang="zh-CN" sz="2600" b="1" dirty="0" err="1">
                <a:latin typeface="宋体" panose="02010600030101010101" pitchFamily="2" charset="-122"/>
                <a:ea typeface="宋体" panose="02010600030101010101" pitchFamily="2" charset="-122"/>
              </a:rPr>
              <a:t>a.length</a:t>
            </a:r>
            <a:r>
              <a:rPr lang="zh-CN" altLang="en-US" sz="2600" b="1" dirty="0">
                <a:latin typeface="宋体" panose="02010600030101010101" pitchFamily="2" charset="-122"/>
                <a:ea typeface="宋体" panose="02010600030101010101" pitchFamily="2" charset="-122"/>
              </a:rPr>
              <a:t>；</a:t>
            </a:r>
            <a:r>
              <a:rPr lang="en-US" altLang="zh-CN" sz="2600" b="1" dirty="0" err="1">
                <a:latin typeface="宋体" panose="02010600030101010101" pitchFamily="2" charset="-122"/>
                <a:ea typeface="宋体" panose="02010600030101010101" pitchFamily="2" charset="-122"/>
              </a:rPr>
              <a:t>i</a:t>
            </a:r>
            <a:r>
              <a:rPr lang="en-US" altLang="zh-CN" sz="2600" b="1" dirty="0">
                <a:latin typeface="宋体" panose="02010600030101010101" pitchFamily="2" charset="-122"/>
                <a:ea typeface="宋体" panose="02010600030101010101" pitchFamily="2" charset="-122"/>
              </a:rPr>
              <a:t>++){</a:t>
            </a:r>
            <a:endParaRPr lang="zh-CN" altLang="en-US" sz="2600" b="1" dirty="0">
              <a:latin typeface="宋体" panose="02010600030101010101" pitchFamily="2" charset="-122"/>
              <a:ea typeface="宋体" panose="02010600030101010101" pitchFamily="2" charset="-122"/>
            </a:endParaRPr>
          </a:p>
          <a:p>
            <a:pPr marL="0" indent="353060">
              <a:buNone/>
            </a:pPr>
            <a:r>
              <a:rPr lang="en-US" altLang="zh-CN" sz="2600" b="1" dirty="0">
                <a:latin typeface="宋体" panose="02010600030101010101" pitchFamily="2" charset="-122"/>
                <a:ea typeface="宋体" panose="02010600030101010101" pitchFamily="2" charset="-122"/>
              </a:rPr>
              <a:t>       a[</a:t>
            </a:r>
            <a:r>
              <a:rPr lang="en-US" altLang="zh-CN" sz="2600" b="1" dirty="0" err="1">
                <a:latin typeface="宋体" panose="02010600030101010101" pitchFamily="2" charset="-122"/>
                <a:ea typeface="宋体" panose="02010600030101010101" pitchFamily="2" charset="-122"/>
              </a:rPr>
              <a:t>i</a:t>
            </a:r>
            <a:r>
              <a:rPr lang="en-US" altLang="zh-CN" sz="2600" b="1" dirty="0">
                <a:latin typeface="宋体" panose="02010600030101010101" pitchFamily="2" charset="-122"/>
                <a:ea typeface="宋体" panose="02010600030101010101" pitchFamily="2" charset="-122"/>
              </a:rPr>
              <a:t>]=i+1</a:t>
            </a:r>
            <a:r>
              <a:rPr lang="zh-CN" altLang="en-US" sz="2600" b="1" dirty="0">
                <a:latin typeface="宋体" panose="02010600030101010101" pitchFamily="2" charset="-122"/>
                <a:ea typeface="宋体" panose="02010600030101010101" pitchFamily="2" charset="-122"/>
              </a:rPr>
              <a:t>；</a:t>
            </a:r>
            <a:endParaRPr lang="zh-CN" altLang="en-US" sz="2600" b="1" dirty="0">
              <a:latin typeface="宋体" panose="02010600030101010101" pitchFamily="2" charset="-122"/>
              <a:ea typeface="宋体" panose="02010600030101010101" pitchFamily="2" charset="-122"/>
            </a:endParaRPr>
          </a:p>
          <a:p>
            <a:pPr marL="0" indent="353060">
              <a:buNone/>
            </a:pPr>
            <a:r>
              <a:rPr lang="en-US" altLang="zh-CN" sz="2600" b="1" dirty="0">
                <a:latin typeface="宋体" panose="02010600030101010101" pitchFamily="2" charset="-122"/>
                <a:ea typeface="宋体" panose="02010600030101010101" pitchFamily="2" charset="-122"/>
              </a:rPr>
              <a:t>}</a:t>
            </a:r>
            <a:endParaRPr lang="zh-CN" altLang="en-US" sz="2600" b="1" dirty="0">
              <a:latin typeface="宋体" panose="02010600030101010101" pitchFamily="2" charset="-122"/>
              <a:ea typeface="宋体" panose="02010600030101010101" pitchFamily="2" charset="-122"/>
            </a:endParaRPr>
          </a:p>
          <a:p>
            <a:pPr marL="0" indent="353060">
              <a:buNone/>
            </a:pPr>
            <a:endParaRPr lang="zh-CN" altLang="en-US" sz="2820" b="1" dirty="0">
              <a:latin typeface="宋体" panose="02010600030101010101" pitchFamily="2" charset="-122"/>
              <a:ea typeface="宋体" panose="02010600030101010101" pitchFamily="2" charset="-122"/>
            </a:endParaRPr>
          </a:p>
        </p:txBody>
      </p:sp>
      <p:sp>
        <p:nvSpPr>
          <p:cNvPr id="61443" name="标题 2"/>
          <p:cNvSpPr>
            <a:spLocks noGrp="1"/>
          </p:cNvSpPr>
          <p:nvPr>
            <p:ph type="title" idx="4294967295"/>
          </p:nvPr>
        </p:nvSpPr>
        <p:spPr>
          <a:xfrm>
            <a:off x="459601" y="304686"/>
            <a:ext cx="8147318" cy="914055"/>
          </a:xfrm>
        </p:spPr>
        <p:txBody>
          <a:bodyPr/>
          <a:lstStyle/>
          <a:p>
            <a:r>
              <a:rPr lang="en-US" altLang="zh-CN" dirty="0"/>
              <a:t>2</a:t>
            </a:r>
            <a:r>
              <a:rPr lang="zh-CN" altLang="en-US" dirty="0"/>
              <a:t>、数组的初始化</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8370">
                                            <p:txEl>
                                              <p:pRg st="1" end="1"/>
                                            </p:txEl>
                                          </p:spTgt>
                                        </p:tgtEl>
                                        <p:attrNameLst>
                                          <p:attrName>style.visibility</p:attrName>
                                        </p:attrNameLst>
                                      </p:cBhvr>
                                      <p:to>
                                        <p:strVal val="visible"/>
                                      </p:to>
                                    </p:set>
                                    <p:animEffect transition="in" filter="blinds(horizontal)">
                                      <p:cBhvr>
                                        <p:cTn id="7" dur="500"/>
                                        <p:tgtEl>
                                          <p:spTgt spid="5837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8370">
                                            <p:txEl>
                                              <p:pRg st="2" end="2"/>
                                            </p:txEl>
                                          </p:spTgt>
                                        </p:tgtEl>
                                        <p:attrNameLst>
                                          <p:attrName>style.visibility</p:attrName>
                                        </p:attrNameLst>
                                      </p:cBhvr>
                                      <p:to>
                                        <p:strVal val="visible"/>
                                      </p:to>
                                    </p:set>
                                    <p:animEffect transition="in" filter="blinds(horizontal)">
                                      <p:cBhvr>
                                        <p:cTn id="12" dur="500"/>
                                        <p:tgtEl>
                                          <p:spTgt spid="5837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8370">
                                            <p:txEl>
                                              <p:pRg st="3" end="3"/>
                                            </p:txEl>
                                          </p:spTgt>
                                        </p:tgtEl>
                                        <p:attrNameLst>
                                          <p:attrName>style.visibility</p:attrName>
                                        </p:attrNameLst>
                                      </p:cBhvr>
                                      <p:to>
                                        <p:strVal val="visible"/>
                                      </p:to>
                                    </p:set>
                                    <p:animEffect transition="in" filter="blinds(horizontal)">
                                      <p:cBhvr>
                                        <p:cTn id="17" dur="500"/>
                                        <p:tgtEl>
                                          <p:spTgt spid="58370">
                                            <p:txEl>
                                              <p:pRg st="3" end="3"/>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58370">
                                            <p:txEl>
                                              <p:pRg st="4" end="4"/>
                                            </p:txEl>
                                          </p:spTgt>
                                        </p:tgtEl>
                                        <p:attrNameLst>
                                          <p:attrName>style.visibility</p:attrName>
                                        </p:attrNameLst>
                                      </p:cBhvr>
                                      <p:to>
                                        <p:strVal val="visible"/>
                                      </p:to>
                                    </p:set>
                                    <p:animEffect transition="in" filter="blinds(horizontal)">
                                      <p:cBhvr>
                                        <p:cTn id="20" dur="500"/>
                                        <p:tgtEl>
                                          <p:spTgt spid="58370">
                                            <p:txEl>
                                              <p:pRg st="4" end="4"/>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58370">
                                            <p:txEl>
                                              <p:pRg st="5" end="5"/>
                                            </p:txEl>
                                          </p:spTgt>
                                        </p:tgtEl>
                                        <p:attrNameLst>
                                          <p:attrName>style.visibility</p:attrName>
                                        </p:attrNameLst>
                                      </p:cBhvr>
                                      <p:to>
                                        <p:strVal val="visible"/>
                                      </p:to>
                                    </p:set>
                                    <p:animEffect transition="in" filter="blinds(horizontal)">
                                      <p:cBhvr>
                                        <p:cTn id="23" dur="500"/>
                                        <p:tgtEl>
                                          <p:spTgt spid="58370">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58370">
                                            <p:txEl>
                                              <p:pRg st="6" end="6"/>
                                            </p:txEl>
                                          </p:spTgt>
                                        </p:tgtEl>
                                        <p:attrNameLst>
                                          <p:attrName>style.visibility</p:attrName>
                                        </p:attrNameLst>
                                      </p:cBhvr>
                                      <p:to>
                                        <p:strVal val="visible"/>
                                      </p:to>
                                    </p:set>
                                    <p:animEffect transition="in" filter="blinds(horizontal)">
                                      <p:cBhvr>
                                        <p:cTn id="26" dur="500"/>
                                        <p:tgtEl>
                                          <p:spTgt spid="5837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内容占位符 1"/>
          <p:cNvSpPr>
            <a:spLocks noGrp="1"/>
          </p:cNvSpPr>
          <p:nvPr>
            <p:ph idx="4294967295"/>
          </p:nvPr>
        </p:nvSpPr>
        <p:spPr>
          <a:xfrm>
            <a:off x="658894" y="1180519"/>
            <a:ext cx="10712491" cy="4570279"/>
          </a:xfrm>
        </p:spPr>
        <p:txBody>
          <a:bodyPr/>
          <a:lstStyle/>
          <a:p>
            <a:pPr marL="0" indent="353060">
              <a:buNone/>
            </a:pPr>
            <a:r>
              <a:rPr lang="zh-CN" altLang="en-US" sz="2820" b="1" dirty="0">
                <a:latin typeface="宋体" panose="02010600030101010101" pitchFamily="2" charset="-122"/>
                <a:ea typeface="宋体" panose="02010600030101010101" pitchFamily="2" charset="-122"/>
              </a:rPr>
              <a:t>（</a:t>
            </a:r>
            <a:r>
              <a:rPr lang="en-US" altLang="zh-CN" sz="2820" b="1" dirty="0">
                <a:latin typeface="宋体" panose="02010600030101010101" pitchFamily="2" charset="-122"/>
                <a:ea typeface="宋体" panose="02010600030101010101" pitchFamily="2" charset="-122"/>
              </a:rPr>
              <a:t>2</a:t>
            </a:r>
            <a:r>
              <a:rPr lang="zh-CN" altLang="en-US" sz="2820" b="1" dirty="0">
                <a:latin typeface="宋体" panose="02010600030101010101" pitchFamily="2" charset="-122"/>
                <a:ea typeface="宋体" panose="02010600030101010101" pitchFamily="2" charset="-122"/>
              </a:rPr>
              <a:t>）静态初始化</a:t>
            </a:r>
            <a:endParaRPr lang="zh-CN" altLang="en-US" sz="2820" b="1" dirty="0">
              <a:latin typeface="宋体" panose="02010600030101010101" pitchFamily="2" charset="-122"/>
              <a:ea typeface="宋体" panose="02010600030101010101" pitchFamily="2" charset="-122"/>
            </a:endParaRPr>
          </a:p>
          <a:p>
            <a:pPr marL="0" indent="353060">
              <a:buNone/>
            </a:pPr>
            <a:r>
              <a:rPr lang="zh-CN" altLang="en-US" sz="2820" b="1" dirty="0">
                <a:latin typeface="宋体" panose="02010600030101010101" pitchFamily="2" charset="-122"/>
                <a:ea typeface="宋体" panose="02010600030101010101" pitchFamily="2" charset="-122"/>
              </a:rPr>
              <a:t>静态初始化是指在定义数组的同时就为数组元素赋值并分配内存空间。</a:t>
            </a:r>
            <a:endParaRPr lang="zh-CN" altLang="en-US" sz="2820" b="1" dirty="0">
              <a:latin typeface="宋体" panose="02010600030101010101" pitchFamily="2" charset="-122"/>
              <a:ea typeface="宋体" panose="02010600030101010101" pitchFamily="2" charset="-122"/>
            </a:endParaRPr>
          </a:p>
          <a:p>
            <a:pPr marL="0" indent="353060">
              <a:buNone/>
            </a:pPr>
            <a:r>
              <a:rPr lang="en-US" altLang="zh-CN" sz="2820" b="1" dirty="0" err="1">
                <a:latin typeface="宋体" panose="02010600030101010101" pitchFamily="2" charset="-122"/>
                <a:ea typeface="宋体" panose="02010600030101010101" pitchFamily="2" charset="-122"/>
              </a:rPr>
              <a:t>int</a:t>
            </a:r>
            <a:r>
              <a:rPr lang="en-US" altLang="zh-CN" sz="2820" b="1" dirty="0">
                <a:latin typeface="宋体" panose="02010600030101010101" pitchFamily="2" charset="-122"/>
                <a:ea typeface="宋体" panose="02010600030101010101" pitchFamily="2" charset="-122"/>
              </a:rPr>
              <a:t> [ ] a={1,2,3,4,5}</a:t>
            </a:r>
            <a:r>
              <a:rPr lang="zh-CN" altLang="en-US" sz="2820" b="1" dirty="0">
                <a:latin typeface="宋体" panose="02010600030101010101" pitchFamily="2" charset="-122"/>
                <a:ea typeface="宋体" panose="02010600030101010101" pitchFamily="2" charset="-122"/>
              </a:rPr>
              <a:t>；</a:t>
            </a:r>
            <a:endParaRPr lang="zh-CN" altLang="en-US" sz="2820" b="1" dirty="0">
              <a:latin typeface="宋体" panose="02010600030101010101" pitchFamily="2" charset="-122"/>
              <a:ea typeface="宋体" panose="02010600030101010101" pitchFamily="2" charset="-122"/>
            </a:endParaRPr>
          </a:p>
          <a:p>
            <a:pPr marL="0" indent="353060">
              <a:buNone/>
            </a:pPr>
            <a:r>
              <a:rPr lang="zh-CN" altLang="en-US" sz="2820" b="1" dirty="0">
                <a:latin typeface="宋体" panose="02010600030101010101" pitchFamily="2" charset="-122"/>
                <a:ea typeface="宋体" panose="02010600030101010101" pitchFamily="2" charset="-122"/>
              </a:rPr>
              <a:t>上面的语句创建了一个含有</a:t>
            </a:r>
            <a:r>
              <a:rPr lang="en-US" altLang="zh-CN" sz="2820" b="1" dirty="0">
                <a:latin typeface="宋体" panose="02010600030101010101" pitchFamily="2" charset="-122"/>
                <a:ea typeface="宋体" panose="02010600030101010101" pitchFamily="2" charset="-122"/>
              </a:rPr>
              <a:t>5</a:t>
            </a:r>
            <a:r>
              <a:rPr lang="zh-CN" altLang="en-US" sz="2820" b="1" dirty="0">
                <a:latin typeface="宋体" panose="02010600030101010101" pitchFamily="2" charset="-122"/>
                <a:ea typeface="宋体" panose="02010600030101010101" pitchFamily="2" charset="-122"/>
              </a:rPr>
              <a:t>个元素的数组，下标值分别为</a:t>
            </a:r>
            <a:r>
              <a:rPr lang="en-US" altLang="zh-CN" sz="2820" b="1" dirty="0">
                <a:latin typeface="宋体" panose="02010600030101010101" pitchFamily="2" charset="-122"/>
                <a:ea typeface="宋体" panose="02010600030101010101" pitchFamily="2" charset="-122"/>
              </a:rPr>
              <a:t>0</a:t>
            </a:r>
            <a:r>
              <a:rPr lang="zh-CN" altLang="en-US" sz="2820" b="1" dirty="0">
                <a:latin typeface="宋体" panose="02010600030101010101" pitchFamily="2" charset="-122"/>
                <a:ea typeface="宋体" panose="02010600030101010101" pitchFamily="2" charset="-122"/>
              </a:rPr>
              <a:t>、</a:t>
            </a:r>
            <a:r>
              <a:rPr lang="en-US" altLang="zh-CN" sz="2820" b="1" dirty="0">
                <a:latin typeface="宋体" panose="02010600030101010101" pitchFamily="2" charset="-122"/>
                <a:ea typeface="宋体" panose="02010600030101010101" pitchFamily="2" charset="-122"/>
              </a:rPr>
              <a:t>1</a:t>
            </a:r>
            <a:r>
              <a:rPr lang="zh-CN" altLang="en-US" sz="2820" b="1" dirty="0">
                <a:latin typeface="宋体" panose="02010600030101010101" pitchFamily="2" charset="-122"/>
                <a:ea typeface="宋体" panose="02010600030101010101" pitchFamily="2" charset="-122"/>
              </a:rPr>
              <a:t>、</a:t>
            </a:r>
            <a:r>
              <a:rPr lang="en-US" altLang="zh-CN" sz="2820" b="1" dirty="0">
                <a:latin typeface="宋体" panose="02010600030101010101" pitchFamily="2" charset="-122"/>
                <a:ea typeface="宋体" panose="02010600030101010101" pitchFamily="2" charset="-122"/>
              </a:rPr>
              <a:t>2</a:t>
            </a:r>
            <a:r>
              <a:rPr lang="zh-CN" altLang="en-US" sz="2820" b="1" dirty="0">
                <a:latin typeface="宋体" panose="02010600030101010101" pitchFamily="2" charset="-122"/>
                <a:ea typeface="宋体" panose="02010600030101010101" pitchFamily="2" charset="-122"/>
              </a:rPr>
              <a:t>、</a:t>
            </a:r>
            <a:r>
              <a:rPr lang="en-US" altLang="zh-CN" sz="2820" b="1" dirty="0">
                <a:latin typeface="宋体" panose="02010600030101010101" pitchFamily="2" charset="-122"/>
                <a:ea typeface="宋体" panose="02010600030101010101" pitchFamily="2" charset="-122"/>
              </a:rPr>
              <a:t>3</a:t>
            </a:r>
            <a:r>
              <a:rPr lang="zh-CN" altLang="en-US" sz="2820" b="1" dirty="0">
                <a:latin typeface="宋体" panose="02010600030101010101" pitchFamily="2" charset="-122"/>
                <a:ea typeface="宋体" panose="02010600030101010101" pitchFamily="2" charset="-122"/>
              </a:rPr>
              <a:t>、</a:t>
            </a:r>
            <a:r>
              <a:rPr lang="en-US" altLang="zh-CN" sz="2820" b="1" dirty="0">
                <a:latin typeface="宋体" panose="02010600030101010101" pitchFamily="2" charset="-122"/>
                <a:ea typeface="宋体" panose="02010600030101010101" pitchFamily="2" charset="-122"/>
              </a:rPr>
              <a:t>4</a:t>
            </a:r>
            <a:r>
              <a:rPr lang="zh-CN" altLang="en-US" sz="2820" b="1" dirty="0">
                <a:latin typeface="宋体" panose="02010600030101010101" pitchFamily="2" charset="-122"/>
                <a:ea typeface="宋体" panose="02010600030101010101" pitchFamily="2" charset="-122"/>
              </a:rPr>
              <a:t>，这时不需要运算符</a:t>
            </a:r>
            <a:r>
              <a:rPr lang="en-US" altLang="zh-CN" sz="2820" b="1" dirty="0">
                <a:latin typeface="宋体" panose="02010600030101010101" pitchFamily="2" charset="-122"/>
                <a:ea typeface="宋体" panose="02010600030101010101" pitchFamily="2" charset="-122"/>
              </a:rPr>
              <a:t>new</a:t>
            </a:r>
            <a:r>
              <a:rPr lang="zh-CN" altLang="en-US" sz="2820" b="1" dirty="0">
                <a:latin typeface="宋体" panose="02010600030101010101" pitchFamily="2" charset="-122"/>
                <a:ea typeface="宋体" panose="02010600030101010101" pitchFamily="2" charset="-122"/>
              </a:rPr>
              <a:t>创建数组并给数组分配内存空间。 </a:t>
            </a:r>
            <a:endParaRPr lang="zh-CN" altLang="en-US" sz="2820" b="1" dirty="0">
              <a:latin typeface="宋体" panose="02010600030101010101" pitchFamily="2" charset="-122"/>
              <a:ea typeface="宋体" panose="02010600030101010101" pitchFamily="2" charset="-122"/>
            </a:endParaRPr>
          </a:p>
        </p:txBody>
      </p:sp>
      <p:sp>
        <p:nvSpPr>
          <p:cNvPr id="3" name="标题 2"/>
          <p:cNvSpPr txBox="1"/>
          <p:nvPr/>
        </p:nvSpPr>
        <p:spPr>
          <a:xfrm>
            <a:off x="459601" y="304686"/>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a:t>2</a:t>
            </a:r>
            <a:r>
              <a:rPr lang="zh-CN" altLang="en-US"/>
              <a:t>、数组的初始化</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394">
                                            <p:txEl>
                                              <p:pRg st="1" end="1"/>
                                            </p:txEl>
                                          </p:spTgt>
                                        </p:tgtEl>
                                        <p:attrNameLst>
                                          <p:attrName>style.visibility</p:attrName>
                                        </p:attrNameLst>
                                      </p:cBhvr>
                                      <p:to>
                                        <p:strVal val="visible"/>
                                      </p:to>
                                    </p:set>
                                    <p:animEffect transition="in" filter="blinds(horizontal)">
                                      <p:cBhvr>
                                        <p:cTn id="7" dur="500"/>
                                        <p:tgtEl>
                                          <p:spTgt spid="5939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9394">
                                            <p:txEl>
                                              <p:pRg st="2" end="2"/>
                                            </p:txEl>
                                          </p:spTgt>
                                        </p:tgtEl>
                                        <p:attrNameLst>
                                          <p:attrName>style.visibility</p:attrName>
                                        </p:attrNameLst>
                                      </p:cBhvr>
                                      <p:to>
                                        <p:strVal val="visible"/>
                                      </p:to>
                                    </p:set>
                                    <p:animEffect transition="in" filter="blinds(horizontal)">
                                      <p:cBhvr>
                                        <p:cTn id="12" dur="500"/>
                                        <p:tgtEl>
                                          <p:spTgt spid="5939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9394">
                                            <p:txEl>
                                              <p:pRg st="3" end="3"/>
                                            </p:txEl>
                                          </p:spTgt>
                                        </p:tgtEl>
                                        <p:attrNameLst>
                                          <p:attrName>style.visibility</p:attrName>
                                        </p:attrNameLst>
                                      </p:cBhvr>
                                      <p:to>
                                        <p:strVal val="visible"/>
                                      </p:to>
                                    </p:set>
                                    <p:animEffect transition="in" filter="blinds(horizontal)">
                                      <p:cBhvr>
                                        <p:cTn id="17" dur="500"/>
                                        <p:tgtEl>
                                          <p:spTgt spid="5939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内容占位符 1"/>
          <p:cNvSpPr>
            <a:spLocks noGrp="1"/>
          </p:cNvSpPr>
          <p:nvPr>
            <p:ph idx="4294967295"/>
          </p:nvPr>
        </p:nvSpPr>
        <p:spPr>
          <a:xfrm>
            <a:off x="762001" y="1414980"/>
            <a:ext cx="10879014" cy="5196835"/>
          </a:xfrm>
        </p:spPr>
        <p:txBody>
          <a:bodyPr>
            <a:noAutofit/>
          </a:bodyPr>
          <a:lstStyle/>
          <a:p>
            <a:pPr marL="0" indent="353060">
              <a:lnSpc>
                <a:spcPct val="80000"/>
              </a:lnSpc>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）默认初始化</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zh-CN" altLang="en-US" sz="2800" b="1" dirty="0">
                <a:latin typeface="宋体" panose="02010600030101010101" pitchFamily="2" charset="-122"/>
                <a:ea typeface="宋体" panose="02010600030101010101" pitchFamily="2" charset="-122"/>
              </a:rPr>
              <a:t>数组创建后，每个元素也被按照成员变量初始化。基本数据类型的整数类型元素初始值为</a:t>
            </a:r>
            <a:r>
              <a:rPr lang="en-US" altLang="zh-CN" sz="2800" b="1" dirty="0">
                <a:latin typeface="宋体" panose="02010600030101010101" pitchFamily="2" charset="-122"/>
                <a:ea typeface="宋体" panose="02010600030101010101" pitchFamily="2" charset="-122"/>
              </a:rPr>
              <a:t>0</a:t>
            </a:r>
            <a:r>
              <a:rPr lang="zh-CN" altLang="en-US" sz="2800" b="1" dirty="0">
                <a:latin typeface="宋体" panose="02010600030101010101" pitchFamily="2" charset="-122"/>
                <a:ea typeface="宋体" panose="02010600030101010101" pitchFamily="2" charset="-122"/>
              </a:rPr>
              <a:t>，布尔类型元素初始值为</a:t>
            </a:r>
            <a:r>
              <a:rPr lang="en-US" altLang="zh-CN" sz="2800" b="1" dirty="0">
                <a:latin typeface="宋体" panose="02010600030101010101" pitchFamily="2" charset="-122"/>
                <a:ea typeface="宋体" panose="02010600030101010101" pitchFamily="2" charset="-122"/>
              </a:rPr>
              <a:t>false</a:t>
            </a:r>
            <a:r>
              <a:rPr lang="zh-CN" altLang="en-US" sz="2800" b="1" dirty="0">
                <a:latin typeface="宋体" panose="02010600030101010101" pitchFamily="2" charset="-122"/>
                <a:ea typeface="宋体" panose="02010600030101010101" pitchFamily="2" charset="-122"/>
              </a:rPr>
              <a:t>，引用数据类型的元素初始值为</a:t>
            </a:r>
            <a:r>
              <a:rPr lang="en-US" altLang="zh-CN" sz="2800" b="1" dirty="0">
                <a:latin typeface="宋体" panose="02010600030101010101" pitchFamily="2" charset="-122"/>
                <a:ea typeface="宋体" panose="02010600030101010101" pitchFamily="2" charset="-122"/>
              </a:rPr>
              <a:t>null</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 ]a=new </a:t>
            </a: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[5]</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 m=</a:t>
            </a:r>
            <a:r>
              <a:rPr lang="en-US" altLang="zh-CN" sz="2800" b="1" dirty="0" err="1">
                <a:latin typeface="宋体" panose="02010600030101010101" pitchFamily="2" charset="-122"/>
                <a:ea typeface="宋体" panose="02010600030101010101" pitchFamily="2" charset="-122"/>
              </a:rPr>
              <a:t>a.length</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  	 	//m</a:t>
            </a:r>
            <a:r>
              <a:rPr lang="zh-CN" altLang="en-US" sz="2800" b="1" dirty="0">
                <a:latin typeface="宋体" panose="02010600030101010101" pitchFamily="2" charset="-122"/>
                <a:ea typeface="宋体" panose="02010600030101010101" pitchFamily="2" charset="-122"/>
              </a:rPr>
              <a:t>的值为</a:t>
            </a:r>
            <a:r>
              <a:rPr lang="en-US" altLang="zh-CN" sz="2800" b="1" dirty="0">
                <a:latin typeface="宋体" panose="02010600030101010101" pitchFamily="2" charset="-122"/>
                <a:ea typeface="宋体" panose="02010600030101010101" pitchFamily="2" charset="-122"/>
              </a:rPr>
              <a:t>5</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zh-CN" altLang="en-US" sz="2800" b="1" dirty="0">
                <a:latin typeface="宋体" panose="02010600030101010101" pitchFamily="2" charset="-122"/>
                <a:ea typeface="宋体" panose="02010600030101010101" pitchFamily="2" charset="-122"/>
              </a:rPr>
              <a:t>数组内存空间分配后，虚拟机给数组元素赋了初值</a:t>
            </a:r>
            <a:r>
              <a:rPr lang="en-US" altLang="zh-CN" sz="2800" b="1" dirty="0">
                <a:latin typeface="宋体" panose="02010600030101010101" pitchFamily="2" charset="-122"/>
                <a:ea typeface="宋体" panose="02010600030101010101" pitchFamily="2" charset="-122"/>
              </a:rPr>
              <a:t>0</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String s[ ]=new String[3]</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 m=</a:t>
            </a:r>
            <a:r>
              <a:rPr lang="en-US" altLang="zh-CN" sz="2800" b="1" dirty="0" err="1">
                <a:latin typeface="宋体" panose="02010600030101010101" pitchFamily="2" charset="-122"/>
                <a:ea typeface="宋体" panose="02010600030101010101" pitchFamily="2" charset="-122"/>
              </a:rPr>
              <a:t>s.length</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		//m</a:t>
            </a:r>
            <a:r>
              <a:rPr lang="zh-CN" altLang="en-US" sz="2800" b="1" dirty="0">
                <a:latin typeface="宋体" panose="02010600030101010101" pitchFamily="2" charset="-122"/>
                <a:ea typeface="宋体" panose="02010600030101010101" pitchFamily="2" charset="-122"/>
              </a:rPr>
              <a:t>的值为</a:t>
            </a:r>
            <a:r>
              <a:rPr lang="en-US" altLang="zh-CN" sz="2800" b="1" dirty="0">
                <a:latin typeface="宋体" panose="02010600030101010101" pitchFamily="2" charset="-122"/>
                <a:ea typeface="宋体" panose="02010600030101010101" pitchFamily="2" charset="-122"/>
              </a:rPr>
              <a:t>3</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zh-CN" altLang="en-US" sz="2800" b="1" dirty="0">
                <a:latin typeface="宋体" panose="02010600030101010101" pitchFamily="2" charset="-122"/>
                <a:ea typeface="宋体" panose="02010600030101010101" pitchFamily="2" charset="-122"/>
              </a:rPr>
              <a:t>数组内存空间分配后，虚拟机给数组元素赋了初值</a:t>
            </a:r>
            <a:r>
              <a:rPr lang="en-US" altLang="zh-CN" sz="2800" b="1" dirty="0">
                <a:latin typeface="宋体" panose="02010600030101010101" pitchFamily="2" charset="-122"/>
                <a:ea typeface="宋体" panose="02010600030101010101" pitchFamily="2" charset="-122"/>
              </a:rPr>
              <a:t>null</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p:txBody>
      </p:sp>
      <p:sp>
        <p:nvSpPr>
          <p:cNvPr id="3" name="标题 2"/>
          <p:cNvSpPr txBox="1"/>
          <p:nvPr/>
        </p:nvSpPr>
        <p:spPr>
          <a:xfrm>
            <a:off x="459601" y="304686"/>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a:t>2</a:t>
            </a:r>
            <a:r>
              <a:rPr lang="zh-CN" altLang="en-US"/>
              <a:t>、数组的初始化</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418">
                                            <p:txEl>
                                              <p:pRg st="1" end="1"/>
                                            </p:txEl>
                                          </p:spTgt>
                                        </p:tgtEl>
                                        <p:attrNameLst>
                                          <p:attrName>style.visibility</p:attrName>
                                        </p:attrNameLst>
                                      </p:cBhvr>
                                      <p:to>
                                        <p:strVal val="visible"/>
                                      </p:to>
                                    </p:set>
                                    <p:animEffect transition="in" filter="blinds(horizontal)">
                                      <p:cBhvr>
                                        <p:cTn id="7" dur="500"/>
                                        <p:tgtEl>
                                          <p:spTgt spid="6041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0418">
                                            <p:txEl>
                                              <p:pRg st="2" end="2"/>
                                            </p:txEl>
                                          </p:spTgt>
                                        </p:tgtEl>
                                        <p:attrNameLst>
                                          <p:attrName>style.visibility</p:attrName>
                                        </p:attrNameLst>
                                      </p:cBhvr>
                                      <p:to>
                                        <p:strVal val="visible"/>
                                      </p:to>
                                    </p:set>
                                    <p:animEffect transition="in" filter="blinds(horizontal)">
                                      <p:cBhvr>
                                        <p:cTn id="12" dur="500"/>
                                        <p:tgtEl>
                                          <p:spTgt spid="60418">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0418">
                                            <p:txEl>
                                              <p:pRg st="3" end="3"/>
                                            </p:txEl>
                                          </p:spTgt>
                                        </p:tgtEl>
                                        <p:attrNameLst>
                                          <p:attrName>style.visibility</p:attrName>
                                        </p:attrNameLst>
                                      </p:cBhvr>
                                      <p:to>
                                        <p:strVal val="visible"/>
                                      </p:to>
                                    </p:set>
                                    <p:animEffect transition="in" filter="blinds(horizontal)">
                                      <p:cBhvr>
                                        <p:cTn id="15" dur="500"/>
                                        <p:tgtEl>
                                          <p:spTgt spid="60418">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0418">
                                            <p:txEl>
                                              <p:pRg st="4" end="4"/>
                                            </p:txEl>
                                          </p:spTgt>
                                        </p:tgtEl>
                                        <p:attrNameLst>
                                          <p:attrName>style.visibility</p:attrName>
                                        </p:attrNameLst>
                                      </p:cBhvr>
                                      <p:to>
                                        <p:strVal val="visible"/>
                                      </p:to>
                                    </p:set>
                                    <p:animEffect transition="in" filter="blinds(horizontal)">
                                      <p:cBhvr>
                                        <p:cTn id="18" dur="500"/>
                                        <p:tgtEl>
                                          <p:spTgt spid="60418">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0418">
                                            <p:txEl>
                                              <p:pRg st="5" end="5"/>
                                            </p:txEl>
                                          </p:spTgt>
                                        </p:tgtEl>
                                        <p:attrNameLst>
                                          <p:attrName>style.visibility</p:attrName>
                                        </p:attrNameLst>
                                      </p:cBhvr>
                                      <p:to>
                                        <p:strVal val="visible"/>
                                      </p:to>
                                    </p:set>
                                    <p:animEffect transition="in" filter="blinds(horizontal)">
                                      <p:cBhvr>
                                        <p:cTn id="23" dur="500"/>
                                        <p:tgtEl>
                                          <p:spTgt spid="60418">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0418">
                                            <p:txEl>
                                              <p:pRg st="6" end="6"/>
                                            </p:txEl>
                                          </p:spTgt>
                                        </p:tgtEl>
                                        <p:attrNameLst>
                                          <p:attrName>style.visibility</p:attrName>
                                        </p:attrNameLst>
                                      </p:cBhvr>
                                      <p:to>
                                        <p:strVal val="visible"/>
                                      </p:to>
                                    </p:set>
                                    <p:animEffect transition="in" filter="blinds(horizontal)">
                                      <p:cBhvr>
                                        <p:cTn id="26" dur="500"/>
                                        <p:tgtEl>
                                          <p:spTgt spid="60418">
                                            <p:txEl>
                                              <p:pRg st="6" end="6"/>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60418">
                                            <p:txEl>
                                              <p:pRg st="7" end="7"/>
                                            </p:txEl>
                                          </p:spTgt>
                                        </p:tgtEl>
                                        <p:attrNameLst>
                                          <p:attrName>style.visibility</p:attrName>
                                        </p:attrNameLst>
                                      </p:cBhvr>
                                      <p:to>
                                        <p:strVal val="visible"/>
                                      </p:to>
                                    </p:set>
                                    <p:animEffect transition="in" filter="blinds(horizontal)">
                                      <p:cBhvr>
                                        <p:cTn id="29" dur="500"/>
                                        <p:tgtEl>
                                          <p:spTgt spid="6041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r" eaLnBrk="1" hangingPunct="1">
              <a:lnSpc>
                <a:spcPct val="100000"/>
              </a:lnSpc>
              <a:spcBef>
                <a:spcPct val="50000"/>
              </a:spcBef>
            </a:pPr>
            <a:fld id="{540C49FB-8B32-467D-A011-7C8F67091F00}"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64515" name="Rectangle 2"/>
          <p:cNvSpPr>
            <a:spLocks noGrp="1" noChangeArrowheads="1"/>
          </p:cNvSpPr>
          <p:nvPr>
            <p:ph type="title" idx="4294967295"/>
          </p:nvPr>
        </p:nvSpPr>
        <p:spPr>
          <a:xfrm>
            <a:off x="405347" y="443738"/>
            <a:ext cx="10787260" cy="5941948"/>
          </a:xfrm>
          <a:noFill/>
        </p:spPr>
        <p:txBody>
          <a:bodyPr wrap="square">
            <a:spAutoFit/>
          </a:bodyPr>
          <a:lstStyle/>
          <a:p>
            <a:pPr lvl="0"/>
            <a:r>
              <a:rPr lang="zh-CN" altLang="en-US" sz="3035" dirty="0">
                <a:solidFill>
                  <a:schemeClr val="tx1"/>
                </a:solidFill>
                <a:latin typeface="宋体" panose="02010600030101010101" pitchFamily="2" charset="-122"/>
              </a:rPr>
              <a:t>练习：</a:t>
            </a:r>
            <a:br>
              <a:rPr lang="en-US" altLang="zh-CN" sz="3035" dirty="0">
                <a:solidFill>
                  <a:schemeClr val="tx1"/>
                </a:solidFill>
                <a:latin typeface="宋体" panose="02010600030101010101" pitchFamily="2" charset="-122"/>
              </a:rPr>
            </a:br>
            <a:r>
              <a:rPr lang="en-US" altLang="zh-CN" sz="2800" dirty="0">
                <a:solidFill>
                  <a:schemeClr val="tx1"/>
                </a:solidFill>
                <a:latin typeface="宋体" panose="02010600030101010101" pitchFamily="2" charset="-122"/>
                <a:ea typeface="宋体" panose="02010600030101010101" pitchFamily="2" charset="-122"/>
              </a:rPr>
              <a:t>1</a:t>
            </a:r>
            <a:r>
              <a:rPr lang="zh-CN" altLang="en-US" sz="2800" dirty="0">
                <a:solidFill>
                  <a:schemeClr val="tx1"/>
                </a:solidFill>
                <a:latin typeface="宋体" panose="02010600030101010101" pitchFamily="2" charset="-122"/>
                <a:ea typeface="宋体" panose="02010600030101010101" pitchFamily="2" charset="-122"/>
              </a:rPr>
              <a:t>、定义一个</a:t>
            </a:r>
            <a:r>
              <a:rPr lang="en-US" altLang="zh-CN" sz="2800" dirty="0">
                <a:solidFill>
                  <a:schemeClr val="tx1"/>
                </a:solidFill>
                <a:latin typeface="宋体" panose="02010600030101010101" pitchFamily="2" charset="-122"/>
                <a:ea typeface="宋体" panose="02010600030101010101" pitchFamily="2" charset="-122"/>
              </a:rPr>
              <a:t>char</a:t>
            </a:r>
            <a:r>
              <a:rPr lang="zh-CN" altLang="en-US" sz="2800" dirty="0">
                <a:solidFill>
                  <a:schemeClr val="tx1"/>
                </a:solidFill>
                <a:latin typeface="宋体" panose="02010600030101010101" pitchFamily="2" charset="-122"/>
                <a:ea typeface="宋体" panose="02010600030101010101" pitchFamily="2" charset="-122"/>
              </a:rPr>
              <a:t>数组、</a:t>
            </a:r>
            <a:r>
              <a:rPr lang="en-US" altLang="zh-CN" sz="2800" dirty="0">
                <a:solidFill>
                  <a:schemeClr val="tx1"/>
                </a:solidFill>
                <a:latin typeface="宋体" panose="02010600030101010101" pitchFamily="2" charset="-122"/>
                <a:ea typeface="宋体" panose="02010600030101010101" pitchFamily="2" charset="-122"/>
              </a:rPr>
              <a:t>float</a:t>
            </a:r>
            <a:r>
              <a:rPr lang="zh-CN" altLang="en-US" sz="2800" dirty="0">
                <a:solidFill>
                  <a:schemeClr val="tx1"/>
                </a:solidFill>
                <a:latin typeface="宋体" panose="02010600030101010101" pitchFamily="2" charset="-122"/>
                <a:ea typeface="宋体" panose="02010600030101010101" pitchFamily="2" charset="-122"/>
              </a:rPr>
              <a:t>数组、</a:t>
            </a:r>
            <a:r>
              <a:rPr lang="en-US" altLang="zh-CN" sz="2800" dirty="0">
                <a:solidFill>
                  <a:schemeClr val="tx1"/>
                </a:solidFill>
                <a:latin typeface="宋体" panose="02010600030101010101" pitchFamily="2" charset="-122"/>
                <a:ea typeface="宋体" panose="02010600030101010101" pitchFamily="2" charset="-122"/>
              </a:rPr>
              <a:t>double</a:t>
            </a:r>
            <a:r>
              <a:rPr lang="zh-CN" altLang="en-US" sz="2800" dirty="0">
                <a:solidFill>
                  <a:schemeClr val="tx1"/>
                </a:solidFill>
                <a:latin typeface="宋体" panose="02010600030101010101" pitchFamily="2" charset="-122"/>
                <a:ea typeface="宋体" panose="02010600030101010101" pitchFamily="2" charset="-122"/>
              </a:rPr>
              <a:t>数组、</a:t>
            </a:r>
            <a:r>
              <a:rPr lang="en-US" altLang="zh-CN" sz="2800" dirty="0" err="1">
                <a:solidFill>
                  <a:schemeClr val="tx1"/>
                </a:solidFill>
                <a:latin typeface="宋体" panose="02010600030101010101" pitchFamily="2" charset="-122"/>
                <a:ea typeface="宋体" panose="02010600030101010101" pitchFamily="2" charset="-122"/>
              </a:rPr>
              <a:t>boolean</a:t>
            </a:r>
            <a:r>
              <a:rPr lang="zh-CN" altLang="en-US" sz="2800" dirty="0">
                <a:solidFill>
                  <a:schemeClr val="tx1"/>
                </a:solidFill>
                <a:latin typeface="宋体" panose="02010600030101010101" pitchFamily="2" charset="-122"/>
                <a:ea typeface="宋体" panose="02010600030101010101" pitchFamily="2" charset="-122"/>
              </a:rPr>
              <a:t>数组、</a:t>
            </a:r>
            <a:r>
              <a:rPr lang="en-US" altLang="zh-CN" sz="2800" dirty="0">
                <a:solidFill>
                  <a:schemeClr val="tx1"/>
                </a:solidFill>
                <a:latin typeface="宋体" panose="02010600030101010101" pitchFamily="2" charset="-122"/>
                <a:ea typeface="宋体" panose="02010600030101010101" pitchFamily="2" charset="-122"/>
              </a:rPr>
              <a:t>String</a:t>
            </a:r>
            <a:r>
              <a:rPr lang="zh-CN" altLang="en-US" sz="2800" dirty="0">
                <a:solidFill>
                  <a:schemeClr val="tx1"/>
                </a:solidFill>
                <a:latin typeface="宋体" panose="02010600030101010101" pitchFamily="2" charset="-122"/>
                <a:ea typeface="宋体" panose="02010600030101010101" pitchFamily="2" charset="-122"/>
              </a:rPr>
              <a:t>数组，不给值，看看里面各个元素的默认值是多少？</a:t>
            </a:r>
            <a:br>
              <a:rPr lang="en-US" altLang="zh-CN" sz="2800" dirty="0">
                <a:solidFill>
                  <a:schemeClr val="tx1"/>
                </a:solidFill>
                <a:latin typeface="宋体" panose="02010600030101010101" pitchFamily="2" charset="-122"/>
                <a:ea typeface="宋体" panose="02010600030101010101" pitchFamily="2" charset="-122"/>
              </a:rPr>
            </a:br>
            <a:r>
              <a:rPr lang="en-US" altLang="zh-CN" sz="2800" dirty="0">
                <a:solidFill>
                  <a:schemeClr val="tx1"/>
                </a:solidFill>
                <a:latin typeface="宋体" panose="02010600030101010101" pitchFamily="2" charset="-122"/>
                <a:ea typeface="宋体" panose="02010600030101010101" pitchFamily="2" charset="-122"/>
              </a:rPr>
              <a:t>2</a:t>
            </a:r>
            <a:r>
              <a:rPr lang="zh-CN" altLang="en-US" sz="2800" dirty="0">
                <a:solidFill>
                  <a:schemeClr val="tx1"/>
                </a:solidFill>
                <a:latin typeface="宋体" panose="02010600030101010101" pitchFamily="2" charset="-122"/>
                <a:ea typeface="宋体" panose="02010600030101010101" pitchFamily="2" charset="-122"/>
              </a:rPr>
              <a:t>、</a:t>
            </a:r>
            <a:r>
              <a:rPr lang="zh-CN" altLang="zh-CN" sz="2800" dirty="0">
                <a:solidFill>
                  <a:schemeClr val="tx1"/>
                </a:solidFill>
                <a:latin typeface="宋体" panose="02010600030101010101" pitchFamily="2" charset="-122"/>
                <a:ea typeface="宋体" panose="02010600030101010101" pitchFamily="2" charset="-122"/>
              </a:rPr>
              <a:t>编写一个</a:t>
            </a:r>
            <a:r>
              <a:rPr lang="en-US" altLang="zh-CN" sz="2800" dirty="0">
                <a:solidFill>
                  <a:schemeClr val="tx1"/>
                </a:solidFill>
                <a:latin typeface="宋体" panose="02010600030101010101" pitchFamily="2" charset="-122"/>
                <a:ea typeface="宋体" panose="02010600030101010101" pitchFamily="2" charset="-122"/>
              </a:rPr>
              <a:t>Java </a:t>
            </a:r>
            <a:r>
              <a:rPr lang="zh-CN" altLang="zh-CN" sz="2800" dirty="0">
                <a:solidFill>
                  <a:schemeClr val="tx1"/>
                </a:solidFill>
                <a:latin typeface="宋体" panose="02010600030101010101" pitchFamily="2" charset="-122"/>
                <a:ea typeface="宋体" panose="02010600030101010101" pitchFamily="2" charset="-122"/>
              </a:rPr>
              <a:t>程序，定义一个长度为</a:t>
            </a:r>
            <a:r>
              <a:rPr lang="en-US" altLang="zh-CN" sz="2800" dirty="0">
                <a:solidFill>
                  <a:schemeClr val="tx1"/>
                </a:solidFill>
                <a:latin typeface="宋体" panose="02010600030101010101" pitchFamily="2" charset="-122"/>
                <a:ea typeface="宋体" panose="02010600030101010101" pitchFamily="2" charset="-122"/>
              </a:rPr>
              <a:t>5</a:t>
            </a:r>
            <a:r>
              <a:rPr lang="zh-CN" altLang="zh-CN" sz="2800" dirty="0">
                <a:solidFill>
                  <a:schemeClr val="tx1"/>
                </a:solidFill>
                <a:latin typeface="宋体" panose="02010600030101010101" pitchFamily="2" charset="-122"/>
                <a:ea typeface="宋体" panose="02010600030101010101" pitchFamily="2" charset="-122"/>
              </a:rPr>
              <a:t>的整型数组，要求用户从键盘中为每个元素输入一个整数，然后输出每个数组元素的内容，再输出数组中最大整数值和最小的整数值。</a:t>
            </a:r>
            <a:br>
              <a:rPr lang="zh-CN" altLang="zh-CN" sz="2800" dirty="0">
                <a:solidFill>
                  <a:schemeClr val="tx1"/>
                </a:solidFill>
                <a:latin typeface="宋体" panose="02010600030101010101" pitchFamily="2" charset="-122"/>
                <a:ea typeface="宋体" panose="02010600030101010101" pitchFamily="2" charset="-122"/>
              </a:rPr>
            </a:br>
            <a:br>
              <a:rPr lang="en-US" altLang="zh-CN" sz="2800" dirty="0">
                <a:solidFill>
                  <a:schemeClr val="tx1"/>
                </a:solidFill>
                <a:latin typeface="宋体" panose="02010600030101010101" pitchFamily="2" charset="-122"/>
                <a:ea typeface="宋体" panose="02010600030101010101" pitchFamily="2" charset="-122"/>
              </a:rPr>
            </a:br>
            <a:br>
              <a:rPr lang="en-US" altLang="zh-CN" sz="2800" dirty="0">
                <a:solidFill>
                  <a:schemeClr val="tx1"/>
                </a:solidFill>
                <a:latin typeface="宋体" panose="02010600030101010101" pitchFamily="2" charset="-122"/>
                <a:ea typeface="宋体" panose="02010600030101010101" pitchFamily="2" charset="-122"/>
              </a:rPr>
            </a:br>
            <a:br>
              <a:rPr lang="en-US" altLang="zh-CN" sz="2800" dirty="0">
                <a:solidFill>
                  <a:schemeClr val="tx1"/>
                </a:solidFill>
                <a:latin typeface="宋体" panose="02010600030101010101" pitchFamily="2" charset="-122"/>
                <a:ea typeface="宋体" panose="02010600030101010101" pitchFamily="2" charset="-122"/>
              </a:rPr>
            </a:br>
            <a:br>
              <a:rPr lang="en-US" altLang="zh-CN" sz="2800" dirty="0">
                <a:solidFill>
                  <a:schemeClr val="tx1"/>
                </a:solidFill>
                <a:latin typeface="宋体" panose="02010600030101010101" pitchFamily="2" charset="-122"/>
                <a:ea typeface="宋体" panose="02010600030101010101" pitchFamily="2" charset="-122"/>
              </a:rPr>
            </a:br>
            <a:br>
              <a:rPr lang="en-US" altLang="zh-CN" sz="2800" dirty="0">
                <a:solidFill>
                  <a:schemeClr val="tx1"/>
                </a:solidFill>
                <a:latin typeface="宋体" panose="02010600030101010101" pitchFamily="2" charset="-122"/>
                <a:ea typeface="宋体" panose="02010600030101010101" pitchFamily="2" charset="-122"/>
              </a:rPr>
            </a:br>
            <a:br>
              <a:rPr lang="en-US" altLang="zh-CN" sz="2800" dirty="0">
                <a:solidFill>
                  <a:schemeClr val="tx1"/>
                </a:solidFill>
                <a:latin typeface="宋体" panose="02010600030101010101" pitchFamily="2" charset="-122"/>
                <a:ea typeface="宋体" panose="02010600030101010101" pitchFamily="2" charset="-122"/>
              </a:rPr>
            </a:br>
            <a:r>
              <a:rPr lang="en-US" altLang="zh-CN" sz="2800" dirty="0">
                <a:solidFill>
                  <a:schemeClr val="tx1"/>
                </a:solidFill>
                <a:latin typeface="宋体" panose="02010600030101010101" pitchFamily="2" charset="-122"/>
                <a:ea typeface="宋体" panose="02010600030101010101" pitchFamily="2" charset="-122"/>
              </a:rPr>
              <a:t>3</a:t>
            </a:r>
            <a:r>
              <a:rPr lang="zh-CN" altLang="en-US" sz="2800" dirty="0">
                <a:solidFill>
                  <a:schemeClr val="tx1"/>
                </a:solidFill>
                <a:latin typeface="宋体" panose="02010600030101010101" pitchFamily="2" charset="-122"/>
                <a:ea typeface="宋体" panose="02010600030101010101" pitchFamily="2" charset="-122"/>
              </a:rPr>
              <a:t>、</a:t>
            </a:r>
            <a:r>
              <a:rPr lang="zh-CN" altLang="zh-CN" sz="2800" dirty="0">
                <a:solidFill>
                  <a:schemeClr val="tx1"/>
                </a:solidFill>
                <a:latin typeface="宋体" panose="02010600030101010101" pitchFamily="2" charset="-122"/>
                <a:ea typeface="宋体" panose="02010600030101010101" pitchFamily="2" charset="-122"/>
              </a:rPr>
              <a:t>创建一维数组存放</a:t>
            </a:r>
            <a:r>
              <a:rPr lang="en-US" altLang="zh-CN" sz="2800" dirty="0">
                <a:solidFill>
                  <a:schemeClr val="tx1"/>
                </a:solidFill>
                <a:latin typeface="宋体" panose="02010600030101010101" pitchFamily="2" charset="-122"/>
                <a:ea typeface="宋体" panose="02010600030101010101" pitchFamily="2" charset="-122"/>
              </a:rPr>
              <a:t>10</a:t>
            </a:r>
            <a:r>
              <a:rPr lang="zh-CN" altLang="zh-CN" sz="2800" dirty="0">
                <a:solidFill>
                  <a:schemeClr val="tx1"/>
                </a:solidFill>
                <a:latin typeface="宋体" panose="02010600030101010101" pitchFamily="2" charset="-122"/>
                <a:ea typeface="宋体" panose="02010600030101010101" pitchFamily="2" charset="-122"/>
              </a:rPr>
              <a:t>个数，然后将其中的所有偶数相加。</a:t>
            </a:r>
            <a:br>
              <a:rPr lang="en-US" altLang="zh-CN" sz="2800" dirty="0">
                <a:solidFill>
                  <a:schemeClr val="tx1"/>
                </a:solidFill>
                <a:latin typeface="宋体" panose="02010600030101010101" pitchFamily="2" charset="-122"/>
                <a:ea typeface="宋体" panose="02010600030101010101" pitchFamily="2" charset="-122"/>
              </a:rPr>
            </a:br>
            <a:r>
              <a:rPr lang="en-US" altLang="zh-CN" sz="2800" dirty="0">
                <a:solidFill>
                  <a:schemeClr val="tx1"/>
                </a:solidFill>
                <a:latin typeface="宋体" panose="02010600030101010101" pitchFamily="2" charset="-122"/>
                <a:ea typeface="宋体" panose="02010600030101010101" pitchFamily="2" charset="-122"/>
              </a:rPr>
              <a:t>4</a:t>
            </a:r>
            <a:r>
              <a:rPr lang="zh-CN" altLang="en-US" sz="2800" dirty="0">
                <a:solidFill>
                  <a:schemeClr val="tx1"/>
                </a:solidFill>
                <a:latin typeface="宋体" panose="02010600030101010101" pitchFamily="2" charset="-122"/>
                <a:ea typeface="宋体" panose="02010600030101010101" pitchFamily="2" charset="-122"/>
              </a:rPr>
              <a:t>、</a:t>
            </a:r>
            <a:r>
              <a:rPr lang="zh-CN" altLang="zh-CN" sz="2800" dirty="0">
                <a:solidFill>
                  <a:schemeClr val="tx1"/>
                </a:solidFill>
                <a:latin typeface="宋体" panose="02010600030101010101" pitchFamily="2" charset="-122"/>
                <a:ea typeface="宋体" panose="02010600030101010101" pitchFamily="2" charset="-122"/>
              </a:rPr>
              <a:t>创建一维数组存放</a:t>
            </a:r>
            <a:r>
              <a:rPr lang="en-US" altLang="zh-CN" sz="2800" dirty="0">
                <a:solidFill>
                  <a:schemeClr val="tx1"/>
                </a:solidFill>
                <a:latin typeface="宋体" panose="02010600030101010101" pitchFamily="2" charset="-122"/>
                <a:ea typeface="宋体" panose="02010600030101010101" pitchFamily="2" charset="-122"/>
              </a:rPr>
              <a:t>10</a:t>
            </a:r>
            <a:r>
              <a:rPr lang="zh-CN" altLang="zh-CN" sz="2800" dirty="0">
                <a:solidFill>
                  <a:schemeClr val="tx1"/>
                </a:solidFill>
                <a:latin typeface="宋体" panose="02010600030101010101" pitchFamily="2" charset="-122"/>
                <a:ea typeface="宋体" panose="02010600030101010101" pitchFamily="2" charset="-122"/>
              </a:rPr>
              <a:t>个数，并按照从大到小的顺序输出。</a:t>
            </a:r>
            <a:br>
              <a:rPr lang="zh-CN" altLang="zh-CN" sz="2800" dirty="0">
                <a:solidFill>
                  <a:schemeClr val="tx1"/>
                </a:solidFill>
              </a:rPr>
            </a:br>
            <a:endParaRPr lang="zh-CN" altLang="en-US" sz="2800" dirty="0">
              <a:solidFill>
                <a:schemeClr val="tx1"/>
              </a:solidFill>
              <a:latin typeface="宋体" panose="02010600030101010101" pitchFamily="2" charset="-122"/>
              <a:ea typeface="宋体" panose="02010600030101010101" pitchFamily="2" charset="-122"/>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286113" y="2673594"/>
            <a:ext cx="2333038" cy="224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4"/>
          <p:cNvSpPr txBox="1">
            <a:spLocks noGrp="1" noChangeArrowheads="1"/>
          </p:cNvSpPr>
          <p:nvPr/>
        </p:nvSpPr>
        <p:spPr bwMode="auto">
          <a:xfrm>
            <a:off x="4577738" y="6229695"/>
            <a:ext cx="3036524"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Bef>
                <a:spcPct val="50000"/>
              </a:spcBef>
            </a:pPr>
            <a:fld id="{7990FCBF-314A-4AD3-B245-7DEF43D9DA08}" type="slidenum">
              <a:rPr lang="zh-CN" altLang="en-US" sz="1410">
                <a:solidFill>
                  <a:schemeClr val="bg2"/>
                </a:solidFill>
                <a:latin typeface="Arial" panose="020B0604020202020204" pitchFamily="34" charset="0"/>
              </a:rPr>
            </a:fld>
            <a:endParaRPr lang="en-US" altLang="zh-CN" sz="1410">
              <a:solidFill>
                <a:schemeClr val="bg2"/>
              </a:solidFill>
              <a:latin typeface="Arial" panose="020B0604020202020204" pitchFamily="34" charset="0"/>
            </a:endParaRPr>
          </a:p>
        </p:txBody>
      </p:sp>
      <p:sp>
        <p:nvSpPr>
          <p:cNvPr id="65539" name="Rectangle 2"/>
          <p:cNvSpPr>
            <a:spLocks noGrp="1" noChangeArrowheads="1"/>
          </p:cNvSpPr>
          <p:nvPr>
            <p:ph type="title" idx="4294967295"/>
          </p:nvPr>
        </p:nvSpPr>
        <p:spPr>
          <a:xfrm>
            <a:off x="1303663" y="1"/>
            <a:ext cx="8147318" cy="914056"/>
          </a:xfrm>
        </p:spPr>
        <p:txBody>
          <a:bodyPr/>
          <a:lstStyle/>
          <a:p>
            <a:pPr eaLnBrk="1" hangingPunct="1"/>
            <a:r>
              <a:rPr lang="en-US" altLang="zh-CN" sz="3470">
                <a:latin typeface="方正姚体" panose="02010601030101010101" pitchFamily="2" charset="-122"/>
                <a:ea typeface="方正姚体" panose="02010601030101010101" pitchFamily="2" charset="-122"/>
              </a:rPr>
              <a:t>foreach</a:t>
            </a:r>
            <a:r>
              <a:rPr lang="zh-CN" altLang="en-US" sz="3470">
                <a:latin typeface="方正姚体" panose="02010601030101010101" pitchFamily="2" charset="-122"/>
                <a:ea typeface="方正姚体" panose="02010601030101010101" pitchFamily="2" charset="-122"/>
              </a:rPr>
              <a:t>语句与数组</a:t>
            </a:r>
            <a:endParaRPr lang="zh-CN" altLang="en-US" sz="3470">
              <a:latin typeface="方正姚体" panose="02010601030101010101" pitchFamily="2" charset="-122"/>
              <a:ea typeface="方正姚体" panose="02010601030101010101" pitchFamily="2" charset="-122"/>
            </a:endParaRPr>
          </a:p>
        </p:txBody>
      </p:sp>
      <p:sp>
        <p:nvSpPr>
          <p:cNvPr id="65540" name="Rectangle 3"/>
          <p:cNvSpPr>
            <a:spLocks noChangeArrowheads="1"/>
          </p:cNvSpPr>
          <p:nvPr/>
        </p:nvSpPr>
        <p:spPr bwMode="auto">
          <a:xfrm>
            <a:off x="9211708" y="6477575"/>
            <a:ext cx="1117180" cy="30468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3957" tIns="46978" rIns="93957" bIns="46978" anchor="ct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fontAlgn="ctr">
              <a:lnSpc>
                <a:spcPct val="100000"/>
              </a:lnSpc>
              <a:spcBef>
                <a:spcPct val="20000"/>
              </a:spcBef>
              <a:buClr>
                <a:schemeClr val="tx1"/>
              </a:buClr>
              <a:buSzPct val="65000"/>
              <a:buFont typeface="Monotype Sorts" pitchFamily="2" charset="2"/>
              <a:buNone/>
            </a:pPr>
            <a:endParaRPr lang="zh-CN" altLang="en-US" sz="2710">
              <a:latin typeface="宋体" panose="02010600030101010101" pitchFamily="2" charset="-122"/>
            </a:endParaRPr>
          </a:p>
        </p:txBody>
      </p:sp>
      <p:sp>
        <p:nvSpPr>
          <p:cNvPr id="62469" name="Rectangle 4"/>
          <p:cNvSpPr>
            <a:spLocks noChangeArrowheads="1"/>
          </p:cNvSpPr>
          <p:nvPr/>
        </p:nvSpPr>
        <p:spPr bwMode="auto">
          <a:xfrm>
            <a:off x="1193494" y="1086195"/>
            <a:ext cx="9822226" cy="5943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lstStyle>
            <a:lvl1pPr marL="323850" indent="-323850">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fontAlgn="ctr">
              <a:lnSpc>
                <a:spcPct val="100000"/>
              </a:lnSpc>
              <a:spcBef>
                <a:spcPct val="20000"/>
              </a:spcBef>
              <a:buClr>
                <a:srgbClr val="660066"/>
              </a:buClr>
              <a:buSzPct val="65000"/>
              <a:buFont typeface="Wingdings" panose="05000000000000000000" pitchFamily="2" charset="2"/>
              <a:buChar char="v"/>
            </a:pPr>
            <a:r>
              <a:rPr lang="en-US" altLang="zh-CN" sz="3035">
                <a:latin typeface="方正姚体" panose="02010601030101010101" pitchFamily="2" charset="-122"/>
                <a:ea typeface="方正姚体" panose="02010601030101010101" pitchFamily="2" charset="-122"/>
              </a:rPr>
              <a:t>foreach</a:t>
            </a:r>
            <a:r>
              <a:rPr lang="zh-CN" altLang="en-US" sz="3035">
                <a:latin typeface="方正姚体" panose="02010601030101010101" pitchFamily="2" charset="-122"/>
                <a:ea typeface="方正姚体" panose="02010601030101010101" pitchFamily="2" charset="-122"/>
              </a:rPr>
              <a:t>的语句</a:t>
            </a:r>
            <a:r>
              <a:rPr lang="en-US" altLang="zh-CN" sz="3035">
                <a:latin typeface="方正姚体" panose="02010601030101010101" pitchFamily="2" charset="-122"/>
                <a:ea typeface="方正姚体" panose="02010601030101010101" pitchFamily="2" charset="-122"/>
              </a:rPr>
              <a:t>:</a:t>
            </a:r>
            <a:r>
              <a:rPr lang="zh-CN" altLang="en-US" sz="3035">
                <a:latin typeface="方正姚体" panose="02010601030101010101" pitchFamily="2" charset="-122"/>
                <a:ea typeface="方正姚体" panose="02010601030101010101" pitchFamily="2" charset="-122"/>
              </a:rPr>
              <a:t>不用下标就可遍历整个数组</a:t>
            </a:r>
            <a:r>
              <a:rPr lang="zh-CN" altLang="en-US" sz="3035">
                <a:latin typeface="宋体" panose="02010600030101010101" pitchFamily="2" charset="-122"/>
              </a:rPr>
              <a:t>。</a:t>
            </a:r>
            <a:endParaRPr lang="en-US" altLang="zh-CN" sz="3035">
              <a:latin typeface="方正姚体" panose="02010601030101010101" pitchFamily="2" charset="-122"/>
              <a:ea typeface="方正姚体" panose="02010601030101010101" pitchFamily="2" charset="-122"/>
            </a:endParaRPr>
          </a:p>
          <a:p>
            <a:pPr fontAlgn="ctr">
              <a:lnSpc>
                <a:spcPct val="100000"/>
              </a:lnSpc>
              <a:spcBef>
                <a:spcPct val="20000"/>
              </a:spcBef>
              <a:buClr>
                <a:srgbClr val="660066"/>
              </a:buClr>
              <a:buSzPct val="65000"/>
              <a:buFont typeface="Wingdings" panose="05000000000000000000" pitchFamily="2" charset="2"/>
              <a:buChar char="v"/>
            </a:pPr>
            <a:r>
              <a:rPr lang="zh-CN" altLang="en-US" sz="3035">
                <a:solidFill>
                  <a:srgbClr val="660066"/>
                </a:solidFill>
                <a:latin typeface="方正姚体" panose="02010601030101010101" pitchFamily="2" charset="-122"/>
                <a:ea typeface="方正姚体" panose="02010601030101010101" pitchFamily="2" charset="-122"/>
              </a:rPr>
              <a:t> </a:t>
            </a:r>
            <a:r>
              <a:rPr lang="en-US" altLang="zh-CN" sz="3035">
                <a:latin typeface="方正姚体" panose="02010601030101010101" pitchFamily="2" charset="-122"/>
                <a:ea typeface="方正姚体" panose="02010601030101010101" pitchFamily="2" charset="-122"/>
              </a:rPr>
              <a:t>foreach</a:t>
            </a:r>
            <a:r>
              <a:rPr lang="zh-CN" altLang="en-US" sz="3035">
                <a:latin typeface="方正姚体" panose="02010601030101010101" pitchFamily="2" charset="-122"/>
                <a:ea typeface="方正姚体" panose="02010601030101010101" pitchFamily="2" charset="-122"/>
              </a:rPr>
              <a:t>语句需提供</a:t>
            </a:r>
            <a:r>
              <a:rPr lang="zh-CN" altLang="en-US" sz="3035">
                <a:solidFill>
                  <a:srgbClr val="0000CC"/>
                </a:solidFill>
                <a:latin typeface="方正姚体" panose="02010601030101010101" pitchFamily="2" charset="-122"/>
                <a:ea typeface="方正姚体" panose="02010601030101010101" pitchFamily="2" charset="-122"/>
              </a:rPr>
              <a:t>元素类型</a:t>
            </a:r>
            <a:r>
              <a:rPr lang="zh-CN" altLang="en-US" sz="3035">
                <a:latin typeface="方正姚体" panose="02010601030101010101" pitchFamily="2" charset="-122"/>
                <a:ea typeface="方正姚体" panose="02010601030101010101" pitchFamily="2" charset="-122"/>
              </a:rPr>
              <a:t>、</a:t>
            </a:r>
            <a:r>
              <a:rPr lang="zh-CN" altLang="en-US" sz="3035">
                <a:solidFill>
                  <a:srgbClr val="0000CC"/>
                </a:solidFill>
                <a:latin typeface="方正姚体" panose="02010601030101010101" pitchFamily="2" charset="-122"/>
                <a:ea typeface="方正姚体" panose="02010601030101010101" pitchFamily="2" charset="-122"/>
              </a:rPr>
              <a:t>循环变量的名字</a:t>
            </a:r>
            <a:r>
              <a:rPr lang="zh-CN" altLang="en-US" sz="3035">
                <a:latin typeface="方正姚体" panose="02010601030101010101" pitchFamily="2" charset="-122"/>
                <a:ea typeface="方正姚体" panose="02010601030101010101" pitchFamily="2" charset="-122"/>
              </a:rPr>
              <a:t>（用于存储连续的元素）和用于从中检索元素的</a:t>
            </a:r>
            <a:r>
              <a:rPr lang="zh-CN" altLang="en-US" sz="3035">
                <a:solidFill>
                  <a:srgbClr val="0000CC"/>
                </a:solidFill>
                <a:latin typeface="方正姚体" panose="02010601030101010101" pitchFamily="2" charset="-122"/>
                <a:ea typeface="方正姚体" panose="02010601030101010101" pitchFamily="2" charset="-122"/>
              </a:rPr>
              <a:t>数组</a:t>
            </a:r>
            <a:r>
              <a:rPr lang="zh-CN" altLang="en-US" sz="3035">
                <a:latin typeface="方正姚体" panose="02010601030101010101" pitchFamily="2" charset="-122"/>
                <a:ea typeface="方正姚体" panose="02010601030101010101" pitchFamily="2" charset="-122"/>
              </a:rPr>
              <a:t>。</a:t>
            </a:r>
            <a:endParaRPr lang="zh-CN" altLang="en-US" sz="3035">
              <a:latin typeface="方正姚体" panose="02010601030101010101" pitchFamily="2" charset="-122"/>
              <a:ea typeface="方正姚体" panose="02010601030101010101" pitchFamily="2" charset="-122"/>
            </a:endParaRPr>
          </a:p>
          <a:p>
            <a:pPr fontAlgn="ctr">
              <a:lnSpc>
                <a:spcPct val="100000"/>
              </a:lnSpc>
              <a:spcBef>
                <a:spcPct val="20000"/>
              </a:spcBef>
              <a:buClr>
                <a:srgbClr val="660066"/>
              </a:buClr>
              <a:buSzPct val="65000"/>
              <a:buFont typeface="Wingdings" panose="05000000000000000000" pitchFamily="2" charset="2"/>
              <a:buChar char="v"/>
            </a:pPr>
            <a:r>
              <a:rPr lang="zh-CN" altLang="en-US" sz="3035">
                <a:latin typeface="方正姚体" panose="02010601030101010101" pitchFamily="2" charset="-122"/>
                <a:ea typeface="方正姚体" panose="02010601030101010101" pitchFamily="2" charset="-122"/>
              </a:rPr>
              <a:t>语法：</a:t>
            </a:r>
            <a:endParaRPr lang="zh-CN" altLang="en-US" sz="3035">
              <a:latin typeface="方正姚体" panose="02010601030101010101" pitchFamily="2" charset="-122"/>
              <a:ea typeface="方正姚体" panose="02010601030101010101" pitchFamily="2" charset="-122"/>
            </a:endParaRPr>
          </a:p>
          <a:p>
            <a:pPr fontAlgn="ctr">
              <a:lnSpc>
                <a:spcPct val="100000"/>
              </a:lnSpc>
              <a:spcBef>
                <a:spcPct val="20000"/>
              </a:spcBef>
              <a:buClr>
                <a:schemeClr val="tx1"/>
              </a:buClr>
              <a:buSzPct val="65000"/>
              <a:buFont typeface="Monotype Sorts" pitchFamily="2" charset="2"/>
              <a:buNone/>
            </a:pPr>
            <a:r>
              <a:rPr lang="en-US" altLang="zh-CN" sz="3035">
                <a:latin typeface="方正姚体" panose="02010601030101010101" pitchFamily="2" charset="-122"/>
                <a:ea typeface="方正姚体" panose="02010601030101010101" pitchFamily="2" charset="-122"/>
              </a:rPr>
              <a:t>    for (type element : array)</a:t>
            </a:r>
            <a:endParaRPr lang="en-US" altLang="zh-CN" sz="3035">
              <a:latin typeface="方正姚体" panose="02010601030101010101" pitchFamily="2" charset="-122"/>
              <a:ea typeface="方正姚体" panose="02010601030101010101" pitchFamily="2" charset="-122"/>
            </a:endParaRPr>
          </a:p>
          <a:p>
            <a:pPr fontAlgn="ctr">
              <a:lnSpc>
                <a:spcPct val="100000"/>
              </a:lnSpc>
              <a:spcBef>
                <a:spcPct val="20000"/>
              </a:spcBef>
              <a:buClr>
                <a:schemeClr val="tx1"/>
              </a:buClr>
              <a:buSzPct val="65000"/>
              <a:buFont typeface="Monotype Sorts" pitchFamily="2" charset="2"/>
              <a:buNone/>
            </a:pPr>
            <a:r>
              <a:rPr lang="en-US" altLang="zh-CN" sz="3035">
                <a:latin typeface="方正姚体" panose="02010601030101010101" pitchFamily="2" charset="-122"/>
                <a:ea typeface="方正姚体" panose="02010601030101010101" pitchFamily="2" charset="-122"/>
              </a:rPr>
              <a:t>    {</a:t>
            </a:r>
            <a:endParaRPr lang="en-US" altLang="zh-CN" sz="3035">
              <a:latin typeface="方正姚体" panose="02010601030101010101" pitchFamily="2" charset="-122"/>
              <a:ea typeface="方正姚体" panose="02010601030101010101" pitchFamily="2" charset="-122"/>
            </a:endParaRPr>
          </a:p>
          <a:p>
            <a:pPr fontAlgn="ctr">
              <a:lnSpc>
                <a:spcPct val="100000"/>
              </a:lnSpc>
              <a:spcBef>
                <a:spcPct val="20000"/>
              </a:spcBef>
              <a:buClr>
                <a:schemeClr val="tx1"/>
              </a:buClr>
              <a:buSzPct val="65000"/>
              <a:buFont typeface="Monotype Sorts" pitchFamily="2" charset="2"/>
              <a:buNone/>
            </a:pPr>
            <a:r>
              <a:rPr lang="en-US" altLang="zh-CN" sz="3035">
                <a:latin typeface="方正姚体" panose="02010601030101010101" pitchFamily="2" charset="-122"/>
                <a:ea typeface="方正姚体" panose="02010601030101010101" pitchFamily="2" charset="-122"/>
              </a:rPr>
              <a:t>       System.out.println(element);</a:t>
            </a:r>
            <a:endParaRPr lang="en-US" altLang="zh-CN" sz="3035">
              <a:latin typeface="方正姚体" panose="02010601030101010101" pitchFamily="2" charset="-122"/>
              <a:ea typeface="方正姚体" panose="02010601030101010101" pitchFamily="2" charset="-122"/>
            </a:endParaRPr>
          </a:p>
          <a:p>
            <a:pPr fontAlgn="ctr">
              <a:lnSpc>
                <a:spcPct val="100000"/>
              </a:lnSpc>
              <a:spcBef>
                <a:spcPct val="20000"/>
              </a:spcBef>
              <a:buClr>
                <a:schemeClr val="tx1"/>
              </a:buClr>
              <a:buSzPct val="65000"/>
              <a:buFont typeface="Monotype Sorts" pitchFamily="2" charset="2"/>
              <a:buNone/>
            </a:pPr>
            <a:r>
              <a:rPr lang="en-US" altLang="zh-CN" sz="3035">
                <a:latin typeface="方正姚体" panose="02010601030101010101" pitchFamily="2" charset="-122"/>
                <a:ea typeface="方正姚体" panose="02010601030101010101" pitchFamily="2" charset="-122"/>
              </a:rPr>
              <a:t>       </a:t>
            </a:r>
            <a:r>
              <a:rPr lang="en-US" altLang="zh-CN" sz="3035">
                <a:latin typeface="宋体" panose="02010600030101010101" pitchFamily="2" charset="-122"/>
                <a:ea typeface="方正姚体" panose="02010601030101010101" pitchFamily="2" charset="-122"/>
              </a:rPr>
              <a:t>……</a:t>
            </a:r>
            <a:endParaRPr lang="en-US" altLang="zh-CN" sz="3035">
              <a:latin typeface="方正姚体" panose="02010601030101010101" pitchFamily="2" charset="-122"/>
              <a:ea typeface="方正姚体" panose="02010601030101010101" pitchFamily="2" charset="-122"/>
            </a:endParaRPr>
          </a:p>
          <a:p>
            <a:pPr fontAlgn="ctr">
              <a:lnSpc>
                <a:spcPct val="100000"/>
              </a:lnSpc>
              <a:spcBef>
                <a:spcPct val="20000"/>
              </a:spcBef>
              <a:buClr>
                <a:schemeClr val="tx1"/>
              </a:buClr>
              <a:buSzPct val="65000"/>
              <a:buFont typeface="Monotype Sorts" pitchFamily="2" charset="2"/>
              <a:buNone/>
            </a:pPr>
            <a:r>
              <a:rPr lang="en-US" altLang="zh-CN" sz="3035">
                <a:latin typeface="方正姚体" panose="02010601030101010101" pitchFamily="2" charset="-122"/>
                <a:ea typeface="方正姚体" panose="02010601030101010101" pitchFamily="2" charset="-122"/>
              </a:rPr>
              <a:t>     }</a:t>
            </a:r>
            <a:endParaRPr lang="en-US" altLang="zh-CN" sz="3035">
              <a:latin typeface="方正姚体" panose="02010601030101010101" pitchFamily="2" charset="-122"/>
              <a:ea typeface="方正姚体" panose="02010601030101010101" pitchFamily="2" charset="-122"/>
            </a:endParaRPr>
          </a:p>
          <a:p>
            <a:pPr fontAlgn="ctr">
              <a:lnSpc>
                <a:spcPct val="100000"/>
              </a:lnSpc>
              <a:spcBef>
                <a:spcPct val="20000"/>
              </a:spcBef>
              <a:buClr>
                <a:schemeClr val="tx1"/>
              </a:buClr>
              <a:buSzPct val="65000"/>
              <a:buFont typeface="Monotype Sorts" pitchFamily="2" charset="2"/>
              <a:buNone/>
            </a:pPr>
            <a:r>
              <a:rPr lang="zh-CN" altLang="en-US" sz="3035">
                <a:latin typeface="方正姚体" panose="02010601030101010101" pitchFamily="2" charset="-122"/>
                <a:ea typeface="方正姚体" panose="02010601030101010101" pitchFamily="2" charset="-122"/>
              </a:rPr>
              <a:t> </a:t>
            </a:r>
            <a:endParaRPr lang="zh-CN" altLang="en-US" sz="3035">
              <a:latin typeface="方正姚体" panose="02010601030101010101" pitchFamily="2" charset="-122"/>
              <a:ea typeface="方正姚体" panose="02010601030101010101" pitchFamily="2" charset="-122"/>
            </a:endParaRPr>
          </a:p>
        </p:txBody>
      </p:sp>
      <p:sp>
        <p:nvSpPr>
          <p:cNvPr id="63494" name="AutoShape 6"/>
          <p:cNvSpPr>
            <a:spLocks noChangeArrowheads="1"/>
          </p:cNvSpPr>
          <p:nvPr/>
        </p:nvSpPr>
        <p:spPr bwMode="auto">
          <a:xfrm>
            <a:off x="2980293" y="4876687"/>
            <a:ext cx="7908045" cy="1828111"/>
          </a:xfrm>
          <a:prstGeom prst="wedgeEllipseCallout">
            <a:avLst>
              <a:gd name="adj1" fmla="val -50824"/>
              <a:gd name="adj2" fmla="val -78509"/>
            </a:avLst>
          </a:prstGeom>
          <a:solidFill>
            <a:srgbClr val="66FFCC"/>
          </a:solidFill>
          <a:ln w="9525">
            <a:solidFill>
              <a:schemeClr val="tx1"/>
            </a:solidFill>
            <a:miter lim="800000"/>
          </a:ln>
        </p:spPr>
        <p:txBody>
          <a:bodyPr lIns="93957" tIns="46978" rIns="93957" bIns="46978"/>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fontAlgn="ctr">
              <a:lnSpc>
                <a:spcPct val="100000"/>
              </a:lnSpc>
              <a:spcBef>
                <a:spcPct val="20000"/>
              </a:spcBef>
              <a:buClr>
                <a:schemeClr val="tx1"/>
              </a:buClr>
              <a:buSzPct val="65000"/>
              <a:buFont typeface="Monotype Sorts" pitchFamily="2" charset="2"/>
              <a:buNone/>
            </a:pPr>
            <a:r>
              <a:rPr lang="zh-CN" altLang="en-US" sz="2495">
                <a:solidFill>
                  <a:srgbClr val="660066"/>
                </a:solidFill>
                <a:latin typeface="宋体" panose="02010600030101010101" pitchFamily="2" charset="-122"/>
              </a:rPr>
              <a:t>每次从数组</a:t>
            </a:r>
            <a:r>
              <a:rPr lang="en-US" altLang="zh-CN" sz="2495">
                <a:solidFill>
                  <a:srgbClr val="660066"/>
                </a:solidFill>
                <a:latin typeface="宋体" panose="02010600030101010101" pitchFamily="2" charset="-122"/>
              </a:rPr>
              <a:t>array</a:t>
            </a:r>
            <a:r>
              <a:rPr lang="zh-CN" altLang="en-US" sz="2495">
                <a:solidFill>
                  <a:srgbClr val="660066"/>
                </a:solidFill>
                <a:latin typeface="宋体" panose="02010600030101010101" pitchFamily="2" charset="-122"/>
              </a:rPr>
              <a:t>中取出一个元素，自动赋给</a:t>
            </a:r>
            <a:r>
              <a:rPr lang="en-US" altLang="zh-CN" sz="2495">
                <a:solidFill>
                  <a:srgbClr val="660066"/>
                </a:solidFill>
                <a:latin typeface="宋体" panose="02010600030101010101" pitchFamily="2" charset="-122"/>
              </a:rPr>
              <a:t>element</a:t>
            </a:r>
            <a:r>
              <a:rPr lang="zh-CN" altLang="en-US" sz="2495">
                <a:solidFill>
                  <a:srgbClr val="660066"/>
                </a:solidFill>
                <a:latin typeface="宋体" panose="02010600030101010101" pitchFamily="2" charset="-122"/>
              </a:rPr>
              <a:t>，用户不用判断是否超出了数组的长度。</a:t>
            </a:r>
            <a:r>
              <a:rPr lang="en-US" altLang="zh-CN" sz="2495">
                <a:solidFill>
                  <a:srgbClr val="660066"/>
                </a:solidFill>
                <a:latin typeface="宋体" panose="02010600030101010101" pitchFamily="2" charset="-122"/>
              </a:rPr>
              <a:t>element</a:t>
            </a:r>
            <a:r>
              <a:rPr lang="zh-CN" altLang="en-US" sz="2495">
                <a:solidFill>
                  <a:srgbClr val="660066"/>
                </a:solidFill>
                <a:latin typeface="宋体" panose="02010600030101010101" pitchFamily="2" charset="-122"/>
              </a:rPr>
              <a:t>的类型必须与数组</a:t>
            </a:r>
            <a:r>
              <a:rPr lang="en-US" altLang="zh-CN" sz="2495">
                <a:solidFill>
                  <a:srgbClr val="660066"/>
                </a:solidFill>
                <a:latin typeface="宋体" panose="02010600030101010101" pitchFamily="2" charset="-122"/>
              </a:rPr>
              <a:t>array</a:t>
            </a:r>
            <a:r>
              <a:rPr lang="zh-CN" altLang="en-US" sz="2495">
                <a:solidFill>
                  <a:srgbClr val="660066"/>
                </a:solidFill>
                <a:latin typeface="宋体" panose="02010600030101010101" pitchFamily="2" charset="-122"/>
              </a:rPr>
              <a:t>中元素的类型相同。 </a:t>
            </a:r>
            <a:endParaRPr lang="zh-CN" altLang="en-US" sz="2495">
              <a:solidFill>
                <a:srgbClr val="660066"/>
              </a:solidFill>
              <a:latin typeface="宋体" panose="02010600030101010101" pitchFamily="2" charset="-122"/>
            </a:endParaRPr>
          </a:p>
        </p:txBody>
      </p:sp>
      <p:sp>
        <p:nvSpPr>
          <p:cNvPr id="63495" name="Rectangle 7"/>
          <p:cNvSpPr>
            <a:spLocks noChangeArrowheads="1"/>
          </p:cNvSpPr>
          <p:nvPr/>
        </p:nvSpPr>
        <p:spPr bwMode="auto">
          <a:xfrm>
            <a:off x="5856728" y="3048575"/>
            <a:ext cx="4792337" cy="1676630"/>
          </a:xfrm>
          <a:prstGeom prst="rect">
            <a:avLst/>
          </a:prstGeom>
          <a:solidFill>
            <a:srgbClr val="F7CAFE"/>
          </a:solidFill>
          <a:ln w="9525">
            <a:solidFill>
              <a:schemeClr val="tx1"/>
            </a:solidFill>
            <a:miter lim="800000"/>
          </a:ln>
        </p:spPr>
        <p:txBody>
          <a:bodyPr wrap="none" lIns="93957" tIns="46978" rIns="93957" bIns="46978" anchor="ct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fontAlgn="ctr">
              <a:lnSpc>
                <a:spcPct val="100000"/>
              </a:lnSpc>
              <a:spcBef>
                <a:spcPct val="20000"/>
              </a:spcBef>
              <a:buClr>
                <a:schemeClr val="tx1"/>
              </a:buClr>
              <a:buSzPct val="65000"/>
              <a:buFont typeface="Monotype Sorts" pitchFamily="2" charset="2"/>
              <a:buNone/>
            </a:pPr>
            <a:r>
              <a:rPr lang="zh-CN" altLang="en-US" sz="2495">
                <a:solidFill>
                  <a:srgbClr val="0000CC"/>
                </a:solidFill>
                <a:latin typeface="宋体" panose="02010600030101010101" pitchFamily="2" charset="-122"/>
              </a:rPr>
              <a:t>例如：</a:t>
            </a:r>
            <a:endParaRPr lang="zh-CN" altLang="en-US" sz="2495">
              <a:solidFill>
                <a:srgbClr val="0000CC"/>
              </a:solidFill>
              <a:latin typeface="宋体" panose="02010600030101010101" pitchFamily="2" charset="-122"/>
            </a:endParaRPr>
          </a:p>
          <a:p>
            <a:pPr fontAlgn="ctr">
              <a:lnSpc>
                <a:spcPct val="100000"/>
              </a:lnSpc>
              <a:spcBef>
                <a:spcPct val="20000"/>
              </a:spcBef>
              <a:buClr>
                <a:schemeClr val="tx1"/>
              </a:buClr>
              <a:buSzPct val="65000"/>
              <a:buFont typeface="Monotype Sorts" pitchFamily="2" charset="2"/>
              <a:buNone/>
            </a:pPr>
            <a:r>
              <a:rPr lang="en-US" altLang="zh-CN" sz="2495">
                <a:solidFill>
                  <a:srgbClr val="FF0000"/>
                </a:solidFill>
                <a:latin typeface="宋体" panose="02010600030101010101" pitchFamily="2" charset="-122"/>
              </a:rPr>
              <a:t>int</a:t>
            </a:r>
            <a:r>
              <a:rPr lang="en-US" altLang="zh-CN" sz="2495">
                <a:solidFill>
                  <a:srgbClr val="0000CC"/>
                </a:solidFill>
                <a:latin typeface="宋体" panose="02010600030101010101" pitchFamily="2" charset="-122"/>
              </a:rPr>
              <a:t>[ ] arr={1,2,3,4,5};</a:t>
            </a:r>
            <a:endParaRPr lang="en-US" altLang="zh-CN" sz="2495">
              <a:solidFill>
                <a:srgbClr val="0000CC"/>
              </a:solidFill>
              <a:latin typeface="宋体" panose="02010600030101010101" pitchFamily="2" charset="-122"/>
            </a:endParaRPr>
          </a:p>
          <a:p>
            <a:pPr fontAlgn="ctr">
              <a:lnSpc>
                <a:spcPct val="100000"/>
              </a:lnSpc>
              <a:spcBef>
                <a:spcPct val="20000"/>
              </a:spcBef>
              <a:buClr>
                <a:schemeClr val="tx1"/>
              </a:buClr>
              <a:buSzPct val="65000"/>
              <a:buFont typeface="Monotype Sorts" pitchFamily="2" charset="2"/>
              <a:buNone/>
            </a:pPr>
            <a:r>
              <a:rPr lang="en-US" altLang="zh-CN" sz="2495">
                <a:solidFill>
                  <a:srgbClr val="0000CC"/>
                </a:solidFill>
                <a:latin typeface="宋体" panose="02010600030101010101" pitchFamily="2" charset="-122"/>
              </a:rPr>
              <a:t>for (</a:t>
            </a:r>
            <a:r>
              <a:rPr lang="en-US" altLang="zh-CN" sz="2495">
                <a:solidFill>
                  <a:srgbClr val="FF0000"/>
                </a:solidFill>
                <a:latin typeface="宋体" panose="02010600030101010101" pitchFamily="2" charset="-122"/>
              </a:rPr>
              <a:t>int</a:t>
            </a:r>
            <a:r>
              <a:rPr lang="en-US" altLang="zh-CN" sz="2495">
                <a:solidFill>
                  <a:srgbClr val="0000CC"/>
                </a:solidFill>
                <a:latin typeface="宋体" panose="02010600030101010101" pitchFamily="2" charset="-122"/>
              </a:rPr>
              <a:t> element : arr)</a:t>
            </a:r>
            <a:endParaRPr lang="en-US" altLang="zh-CN" sz="2495">
              <a:solidFill>
                <a:srgbClr val="0000CC"/>
              </a:solidFill>
              <a:latin typeface="宋体" panose="02010600030101010101" pitchFamily="2" charset="-122"/>
            </a:endParaRPr>
          </a:p>
          <a:p>
            <a:pPr fontAlgn="ctr">
              <a:lnSpc>
                <a:spcPct val="100000"/>
              </a:lnSpc>
              <a:spcBef>
                <a:spcPct val="20000"/>
              </a:spcBef>
              <a:buClr>
                <a:schemeClr val="tx1"/>
              </a:buClr>
              <a:buSzPct val="65000"/>
              <a:buFont typeface="Monotype Sorts" pitchFamily="2" charset="2"/>
              <a:buNone/>
            </a:pPr>
            <a:r>
              <a:rPr lang="en-US" altLang="zh-CN" sz="2495">
                <a:solidFill>
                  <a:srgbClr val="0000CC"/>
                </a:solidFill>
                <a:latin typeface="宋体" panose="02010600030101010101" pitchFamily="2" charset="-122"/>
              </a:rPr>
              <a:t>   System.out.println(element);</a:t>
            </a:r>
            <a:endParaRPr lang="zh-CN" altLang="en-US" sz="2495">
              <a:solidFill>
                <a:srgbClr val="0000CC"/>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2469">
                                            <p:txEl>
                                              <p:pRg st="0" end="0"/>
                                            </p:txEl>
                                          </p:spTgt>
                                        </p:tgtEl>
                                        <p:attrNameLst>
                                          <p:attrName>style.visibility</p:attrName>
                                        </p:attrNameLst>
                                      </p:cBhvr>
                                      <p:to>
                                        <p:strVal val="visible"/>
                                      </p:to>
                                    </p:set>
                                    <p:animEffect transition="in" filter="blinds(horizontal)">
                                      <p:cBhvr>
                                        <p:cTn id="7" dur="500"/>
                                        <p:tgtEl>
                                          <p:spTgt spid="6246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2469">
                                            <p:txEl>
                                              <p:pRg st="1" end="1"/>
                                            </p:txEl>
                                          </p:spTgt>
                                        </p:tgtEl>
                                        <p:attrNameLst>
                                          <p:attrName>style.visibility</p:attrName>
                                        </p:attrNameLst>
                                      </p:cBhvr>
                                      <p:to>
                                        <p:strVal val="visible"/>
                                      </p:to>
                                    </p:set>
                                    <p:animEffect transition="in" filter="blinds(horizontal)">
                                      <p:cBhvr>
                                        <p:cTn id="12" dur="500"/>
                                        <p:tgtEl>
                                          <p:spTgt spid="6246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2469">
                                            <p:txEl>
                                              <p:pRg st="2" end="2"/>
                                            </p:txEl>
                                          </p:spTgt>
                                        </p:tgtEl>
                                        <p:attrNameLst>
                                          <p:attrName>style.visibility</p:attrName>
                                        </p:attrNameLst>
                                      </p:cBhvr>
                                      <p:to>
                                        <p:strVal val="visible"/>
                                      </p:to>
                                    </p:set>
                                    <p:animEffect transition="in" filter="blinds(horizontal)">
                                      <p:cBhvr>
                                        <p:cTn id="17" dur="500"/>
                                        <p:tgtEl>
                                          <p:spTgt spid="62469">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62469">
                                            <p:txEl>
                                              <p:pRg st="3" end="3"/>
                                            </p:txEl>
                                          </p:spTgt>
                                        </p:tgtEl>
                                        <p:attrNameLst>
                                          <p:attrName>style.visibility</p:attrName>
                                        </p:attrNameLst>
                                      </p:cBhvr>
                                      <p:to>
                                        <p:strVal val="visible"/>
                                      </p:to>
                                    </p:set>
                                    <p:animEffect transition="in" filter="blinds(horizontal)">
                                      <p:cBhvr>
                                        <p:cTn id="20" dur="500"/>
                                        <p:tgtEl>
                                          <p:spTgt spid="62469">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62469">
                                            <p:txEl>
                                              <p:pRg st="4" end="4"/>
                                            </p:txEl>
                                          </p:spTgt>
                                        </p:tgtEl>
                                        <p:attrNameLst>
                                          <p:attrName>style.visibility</p:attrName>
                                        </p:attrNameLst>
                                      </p:cBhvr>
                                      <p:to>
                                        <p:strVal val="visible"/>
                                      </p:to>
                                    </p:set>
                                    <p:animEffect transition="in" filter="blinds(horizontal)">
                                      <p:cBhvr>
                                        <p:cTn id="23" dur="500"/>
                                        <p:tgtEl>
                                          <p:spTgt spid="62469">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2469">
                                            <p:txEl>
                                              <p:pRg st="5" end="5"/>
                                            </p:txEl>
                                          </p:spTgt>
                                        </p:tgtEl>
                                        <p:attrNameLst>
                                          <p:attrName>style.visibility</p:attrName>
                                        </p:attrNameLst>
                                      </p:cBhvr>
                                      <p:to>
                                        <p:strVal val="visible"/>
                                      </p:to>
                                    </p:set>
                                    <p:animEffect transition="in" filter="blinds(horizontal)">
                                      <p:cBhvr>
                                        <p:cTn id="26" dur="500"/>
                                        <p:tgtEl>
                                          <p:spTgt spid="62469">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62469">
                                            <p:txEl>
                                              <p:pRg st="6" end="6"/>
                                            </p:txEl>
                                          </p:spTgt>
                                        </p:tgtEl>
                                        <p:attrNameLst>
                                          <p:attrName>style.visibility</p:attrName>
                                        </p:attrNameLst>
                                      </p:cBhvr>
                                      <p:to>
                                        <p:strVal val="visible"/>
                                      </p:to>
                                    </p:set>
                                    <p:animEffect transition="in" filter="blinds(horizontal)">
                                      <p:cBhvr>
                                        <p:cTn id="29" dur="500"/>
                                        <p:tgtEl>
                                          <p:spTgt spid="62469">
                                            <p:txEl>
                                              <p:pRg st="6" end="6"/>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62469">
                                            <p:txEl>
                                              <p:pRg st="7" end="7"/>
                                            </p:txEl>
                                          </p:spTgt>
                                        </p:tgtEl>
                                        <p:attrNameLst>
                                          <p:attrName>style.visibility</p:attrName>
                                        </p:attrNameLst>
                                      </p:cBhvr>
                                      <p:to>
                                        <p:strVal val="visible"/>
                                      </p:to>
                                    </p:set>
                                    <p:animEffect transition="in" filter="blinds(horizontal)">
                                      <p:cBhvr>
                                        <p:cTn id="32" dur="500"/>
                                        <p:tgtEl>
                                          <p:spTgt spid="62469">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7" presetClass="entr" presetSubtype="1" fill="hold" grpId="0" nodeType="clickEffect">
                                  <p:stCondLst>
                                    <p:cond delay="0"/>
                                  </p:stCondLst>
                                  <p:childTnLst>
                                    <p:set>
                                      <p:cBhvr>
                                        <p:cTn id="36" dur="1" fill="hold">
                                          <p:stCondLst>
                                            <p:cond delay="0"/>
                                          </p:stCondLst>
                                        </p:cTn>
                                        <p:tgtEl>
                                          <p:spTgt spid="63494"/>
                                        </p:tgtEl>
                                        <p:attrNameLst>
                                          <p:attrName>style.visibility</p:attrName>
                                        </p:attrNameLst>
                                      </p:cBhvr>
                                      <p:to>
                                        <p:strVal val="visible"/>
                                      </p:to>
                                    </p:set>
                                    <p:anim calcmode="lin" valueType="num">
                                      <p:cBhvr>
                                        <p:cTn id="37" dur="500" fill="hold"/>
                                        <p:tgtEl>
                                          <p:spTgt spid="63494"/>
                                        </p:tgtEl>
                                        <p:attrNameLst>
                                          <p:attrName>ppt_x</p:attrName>
                                        </p:attrNameLst>
                                      </p:cBhvr>
                                      <p:tavLst>
                                        <p:tav tm="0">
                                          <p:val>
                                            <p:strVal val="#ppt_x"/>
                                          </p:val>
                                        </p:tav>
                                        <p:tav tm="100000">
                                          <p:val>
                                            <p:strVal val="#ppt_x"/>
                                          </p:val>
                                        </p:tav>
                                      </p:tavLst>
                                    </p:anim>
                                    <p:anim calcmode="lin" valueType="num">
                                      <p:cBhvr>
                                        <p:cTn id="38" dur="500" fill="hold"/>
                                        <p:tgtEl>
                                          <p:spTgt spid="63494"/>
                                        </p:tgtEl>
                                        <p:attrNameLst>
                                          <p:attrName>ppt_y</p:attrName>
                                        </p:attrNameLst>
                                      </p:cBhvr>
                                      <p:tavLst>
                                        <p:tav tm="0">
                                          <p:val>
                                            <p:strVal val="#ppt_y-#ppt_h/2"/>
                                          </p:val>
                                        </p:tav>
                                        <p:tav tm="100000">
                                          <p:val>
                                            <p:strVal val="#ppt_y"/>
                                          </p:val>
                                        </p:tav>
                                      </p:tavLst>
                                    </p:anim>
                                    <p:anim calcmode="lin" valueType="num">
                                      <p:cBhvr>
                                        <p:cTn id="39" dur="500" fill="hold"/>
                                        <p:tgtEl>
                                          <p:spTgt spid="63494"/>
                                        </p:tgtEl>
                                        <p:attrNameLst>
                                          <p:attrName>ppt_w</p:attrName>
                                        </p:attrNameLst>
                                      </p:cBhvr>
                                      <p:tavLst>
                                        <p:tav tm="0">
                                          <p:val>
                                            <p:strVal val="#ppt_w"/>
                                          </p:val>
                                        </p:tav>
                                        <p:tav tm="100000">
                                          <p:val>
                                            <p:strVal val="#ppt_w"/>
                                          </p:val>
                                        </p:tav>
                                      </p:tavLst>
                                    </p:anim>
                                    <p:anim calcmode="lin" valueType="num">
                                      <p:cBhvr>
                                        <p:cTn id="40" dur="500" fill="hold"/>
                                        <p:tgtEl>
                                          <p:spTgt spid="63494"/>
                                        </p:tgtEl>
                                        <p:attrNameLst>
                                          <p:attrName>ppt_h</p:attrName>
                                        </p:attrNameLst>
                                      </p:cBhvr>
                                      <p:tavLst>
                                        <p:tav tm="0">
                                          <p:val>
                                            <p:fltVal val="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8" presetClass="entr" presetSubtype="16" fill="hold" grpId="0" nodeType="clickEffect">
                                  <p:stCondLst>
                                    <p:cond delay="0"/>
                                  </p:stCondLst>
                                  <p:childTnLst>
                                    <p:set>
                                      <p:cBhvr>
                                        <p:cTn id="44" dur="1" fill="hold">
                                          <p:stCondLst>
                                            <p:cond delay="0"/>
                                          </p:stCondLst>
                                        </p:cTn>
                                        <p:tgtEl>
                                          <p:spTgt spid="63495"/>
                                        </p:tgtEl>
                                        <p:attrNameLst>
                                          <p:attrName>style.visibility</p:attrName>
                                        </p:attrNameLst>
                                      </p:cBhvr>
                                      <p:to>
                                        <p:strVal val="visible"/>
                                      </p:to>
                                    </p:set>
                                    <p:animEffect transition="in" filter="diamond(in)">
                                      <p:cBhvr>
                                        <p:cTn id="45" dur="2000"/>
                                        <p:tgtEl>
                                          <p:spTgt spid="63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4" grpId="0" animBg="1" autoUpdateAnimBg="0"/>
      <p:bldP spid="63495" grpId="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内容占位符 1"/>
          <p:cNvSpPr>
            <a:spLocks noGrp="1"/>
          </p:cNvSpPr>
          <p:nvPr>
            <p:ph idx="4294967295"/>
          </p:nvPr>
        </p:nvSpPr>
        <p:spPr>
          <a:xfrm>
            <a:off x="998863" y="1336980"/>
            <a:ext cx="8899563" cy="4570279"/>
          </a:xfrm>
        </p:spPr>
        <p:txBody>
          <a:bodyPr>
            <a:normAutofit/>
          </a:bodyPr>
          <a:lstStyle/>
          <a:p>
            <a:pPr marL="0" indent="353060">
              <a:lnSpc>
                <a:spcPct val="80000"/>
              </a:lnSpc>
              <a:buNone/>
            </a:pPr>
            <a:r>
              <a:rPr lang="en-US" altLang="zh-CN" sz="2800" b="1" dirty="0">
                <a:latin typeface="宋体" panose="02010600030101010101" pitchFamily="2" charset="-122"/>
                <a:ea typeface="宋体" panose="02010600030101010101" pitchFamily="2" charset="-122"/>
              </a:rPr>
              <a:t>Java</a:t>
            </a:r>
            <a:r>
              <a:rPr lang="zh-CN" altLang="en-US" sz="2800" b="1" dirty="0">
                <a:latin typeface="宋体" panose="02010600030101010101" pitchFamily="2" charset="-122"/>
                <a:ea typeface="宋体" panose="02010600030101010101" pitchFamily="2" charset="-122"/>
              </a:rPr>
              <a:t>语言中，多维数组被看做数组的数组。</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二维数组的定义</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type </a:t>
            </a:r>
            <a:r>
              <a:rPr lang="en-US" altLang="zh-CN" sz="2800" b="1" dirty="0" err="1">
                <a:latin typeface="宋体" panose="02010600030101010101" pitchFamily="2" charset="-122"/>
                <a:ea typeface="宋体" panose="02010600030101010101" pitchFamily="2" charset="-122"/>
              </a:rPr>
              <a:t>arrayName</a:t>
            </a:r>
            <a:r>
              <a:rPr lang="en-US" altLang="zh-CN" sz="2800" b="1" dirty="0">
                <a:latin typeface="宋体" panose="02010600030101010101" pitchFamily="2" charset="-122"/>
                <a:ea typeface="宋体" panose="02010600030101010101" pitchFamily="2" charset="-122"/>
              </a:rPr>
              <a:t>[ ][ ]</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type[ ][ ]</a:t>
            </a:r>
            <a:r>
              <a:rPr lang="en-US" altLang="zh-CN" sz="2800" b="1" dirty="0" err="1">
                <a:latin typeface="宋体" panose="02010600030101010101" pitchFamily="2" charset="-122"/>
                <a:ea typeface="宋体" panose="02010600030101010101" pitchFamily="2" charset="-122"/>
              </a:rPr>
              <a:t>arrayName</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二维数组的初始化</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）静态初始化：</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intArray</a:t>
            </a:r>
            <a:r>
              <a:rPr lang="en-US" altLang="zh-CN" sz="2800" b="1" dirty="0">
                <a:latin typeface="宋体" panose="02010600030101010101" pitchFamily="2" charset="-122"/>
                <a:ea typeface="宋体" panose="02010600030101010101" pitchFamily="2" charset="-122"/>
              </a:rPr>
              <a:t>[ ][ ]={{1,2},{2,3},{3,4,5}}</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endParaRPr lang="zh-CN" altLang="en-US" sz="2800" b="1" dirty="0">
              <a:latin typeface="宋体" panose="02010600030101010101" pitchFamily="2" charset="-122"/>
              <a:ea typeface="宋体" panose="02010600030101010101" pitchFamily="2" charset="-122"/>
            </a:endParaRPr>
          </a:p>
        </p:txBody>
      </p:sp>
      <p:sp>
        <p:nvSpPr>
          <p:cNvPr id="66563" name="标题 2"/>
          <p:cNvSpPr>
            <a:spLocks noGrp="1"/>
          </p:cNvSpPr>
          <p:nvPr>
            <p:ph type="title" idx="4294967295"/>
          </p:nvPr>
        </p:nvSpPr>
        <p:spPr>
          <a:xfrm>
            <a:off x="107909" y="46892"/>
            <a:ext cx="8147318" cy="914056"/>
          </a:xfrm>
        </p:spPr>
        <p:txBody>
          <a:bodyPr/>
          <a:lstStyle/>
          <a:p>
            <a:pPr algn="l"/>
            <a:r>
              <a:rPr lang="en-US" altLang="zh-CN" sz="3470" dirty="0"/>
              <a:t>2.8.2  </a:t>
            </a:r>
            <a:r>
              <a:rPr lang="zh-CN" altLang="en-US" sz="3470" dirty="0"/>
              <a:t>多维数组</a:t>
            </a:r>
            <a:endParaRPr lang="zh-CN" altLang="en-US" sz="347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3490">
                                            <p:txEl>
                                              <p:pRg st="1" end="1"/>
                                            </p:txEl>
                                          </p:spTgt>
                                        </p:tgtEl>
                                        <p:attrNameLst>
                                          <p:attrName>style.visibility</p:attrName>
                                        </p:attrNameLst>
                                      </p:cBhvr>
                                      <p:to>
                                        <p:strVal val="visible"/>
                                      </p:to>
                                    </p:set>
                                    <p:animEffect transition="in" filter="blinds(horizontal)">
                                      <p:cBhvr>
                                        <p:cTn id="7" dur="500"/>
                                        <p:tgtEl>
                                          <p:spTgt spid="6349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3490">
                                            <p:txEl>
                                              <p:pRg st="2" end="2"/>
                                            </p:txEl>
                                          </p:spTgt>
                                        </p:tgtEl>
                                        <p:attrNameLst>
                                          <p:attrName>style.visibility</p:attrName>
                                        </p:attrNameLst>
                                      </p:cBhvr>
                                      <p:to>
                                        <p:strVal val="visible"/>
                                      </p:to>
                                    </p:set>
                                    <p:animEffect transition="in" filter="blinds(horizontal)">
                                      <p:cBhvr>
                                        <p:cTn id="12" dur="500"/>
                                        <p:tgtEl>
                                          <p:spTgt spid="63490">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3490">
                                            <p:txEl>
                                              <p:pRg st="3" end="3"/>
                                            </p:txEl>
                                          </p:spTgt>
                                        </p:tgtEl>
                                        <p:attrNameLst>
                                          <p:attrName>style.visibility</p:attrName>
                                        </p:attrNameLst>
                                      </p:cBhvr>
                                      <p:to>
                                        <p:strVal val="visible"/>
                                      </p:to>
                                    </p:set>
                                    <p:animEffect transition="in" filter="blinds(horizontal)">
                                      <p:cBhvr>
                                        <p:cTn id="15" dur="500"/>
                                        <p:tgtEl>
                                          <p:spTgt spid="63490">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63490">
                                            <p:txEl>
                                              <p:pRg st="4" end="4"/>
                                            </p:txEl>
                                          </p:spTgt>
                                        </p:tgtEl>
                                        <p:attrNameLst>
                                          <p:attrName>style.visibility</p:attrName>
                                        </p:attrNameLst>
                                      </p:cBhvr>
                                      <p:to>
                                        <p:strVal val="visible"/>
                                      </p:to>
                                    </p:set>
                                    <p:animEffect transition="in" filter="blinds(horizontal)">
                                      <p:cBhvr>
                                        <p:cTn id="20" dur="500"/>
                                        <p:tgtEl>
                                          <p:spTgt spid="63490">
                                            <p:txEl>
                                              <p:pRg st="4" end="4"/>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63490">
                                            <p:txEl>
                                              <p:pRg st="5" end="5"/>
                                            </p:txEl>
                                          </p:spTgt>
                                        </p:tgtEl>
                                        <p:attrNameLst>
                                          <p:attrName>style.visibility</p:attrName>
                                        </p:attrNameLst>
                                      </p:cBhvr>
                                      <p:to>
                                        <p:strVal val="visible"/>
                                      </p:to>
                                    </p:set>
                                    <p:animEffect transition="in" filter="blinds(horizontal)">
                                      <p:cBhvr>
                                        <p:cTn id="23" dur="500"/>
                                        <p:tgtEl>
                                          <p:spTgt spid="63490">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3490">
                                            <p:txEl>
                                              <p:pRg st="6" end="6"/>
                                            </p:txEl>
                                          </p:spTgt>
                                        </p:tgtEl>
                                        <p:attrNameLst>
                                          <p:attrName>style.visibility</p:attrName>
                                        </p:attrNameLst>
                                      </p:cBhvr>
                                      <p:to>
                                        <p:strVal val="visible"/>
                                      </p:to>
                                    </p:set>
                                    <p:animEffect transition="in" filter="blinds(horizontal)">
                                      <p:cBhvr>
                                        <p:cTn id="26" dur="500"/>
                                        <p:tgtEl>
                                          <p:spTgt spid="6349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内容占位符 1"/>
          <p:cNvSpPr>
            <a:spLocks noGrp="1"/>
          </p:cNvSpPr>
          <p:nvPr>
            <p:ph idx="4294967295"/>
          </p:nvPr>
        </p:nvSpPr>
        <p:spPr>
          <a:xfrm>
            <a:off x="412708" y="1086734"/>
            <a:ext cx="11017292" cy="4570279"/>
          </a:xfrm>
        </p:spPr>
        <p:txBody>
          <a:bodyPr>
            <a:noAutofit/>
          </a:bodyPr>
          <a:lstStyle/>
          <a:p>
            <a:pPr marL="0" indent="353060">
              <a:lnSpc>
                <a:spcPct val="80000"/>
              </a:lnSpc>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）动态初始化：</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err="1">
                <a:latin typeface="宋体" panose="02010600030101010101" pitchFamily="2" charset="-122"/>
                <a:ea typeface="宋体" panose="02010600030101010101" pitchFamily="2" charset="-122"/>
              </a:rPr>
              <a:t>arrayName</a:t>
            </a:r>
            <a:r>
              <a:rPr lang="en-US" altLang="zh-CN" sz="2800" b="1" dirty="0">
                <a:latin typeface="宋体" panose="02010600030101010101" pitchFamily="2" charset="-122"/>
                <a:ea typeface="宋体" panose="02010600030101010101" pitchFamily="2" charset="-122"/>
              </a:rPr>
              <a:t>=new type[arrayLength1][arrayLength2]</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zh-CN" altLang="en-US" sz="2800" b="1" dirty="0">
                <a:latin typeface="宋体" panose="02010600030101010101" pitchFamily="2" charset="-122"/>
                <a:ea typeface="宋体" panose="02010600030101010101" pitchFamily="2" charset="-122"/>
              </a:rPr>
              <a:t>直接为每一维分配空间，格式如下：</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 a[ ][ ]=new </a:t>
            </a: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[2][3]</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zh-CN" altLang="en-US" sz="2800" b="1" dirty="0">
                <a:latin typeface="宋体" panose="02010600030101010101" pitchFamily="2" charset="-122"/>
                <a:ea typeface="宋体" panose="02010600030101010101" pitchFamily="2" charset="-122"/>
              </a:rPr>
              <a:t>从最高维开始，分别为每一维分配空间，格式如下：</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err="1">
                <a:latin typeface="宋体" panose="02010600030101010101" pitchFamily="2" charset="-122"/>
                <a:ea typeface="宋体" panose="02010600030101010101" pitchFamily="2" charset="-122"/>
              </a:rPr>
              <a:t>arrayName</a:t>
            </a:r>
            <a:r>
              <a:rPr lang="en-US" altLang="zh-CN" sz="2800" b="1" dirty="0">
                <a:latin typeface="宋体" panose="02010600030101010101" pitchFamily="2" charset="-122"/>
                <a:ea typeface="宋体" panose="02010600030101010101" pitchFamily="2" charset="-122"/>
              </a:rPr>
              <a:t>=new type[</a:t>
            </a:r>
            <a:r>
              <a:rPr lang="en-US" altLang="zh-CN" sz="2800" b="1" dirty="0" err="1">
                <a:latin typeface="宋体" panose="02010600030101010101" pitchFamily="2" charset="-122"/>
                <a:ea typeface="宋体" panose="02010600030101010101" pitchFamily="2" charset="-122"/>
              </a:rPr>
              <a:t>arrayLengthl</a:t>
            </a: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err="1">
                <a:latin typeface="宋体" panose="02010600030101010101" pitchFamily="2" charset="-122"/>
                <a:ea typeface="宋体" panose="02010600030101010101" pitchFamily="2" charset="-122"/>
              </a:rPr>
              <a:t>arrayName</a:t>
            </a:r>
            <a:r>
              <a:rPr lang="en-US" altLang="zh-CN" sz="2800" b="1" dirty="0">
                <a:latin typeface="宋体" panose="02010600030101010101" pitchFamily="2" charset="-122"/>
                <a:ea typeface="宋体" panose="02010600030101010101" pitchFamily="2" charset="-122"/>
              </a:rPr>
              <a:t>[0]=new type[arrayLength0]</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err="1">
                <a:latin typeface="宋体" panose="02010600030101010101" pitchFamily="2" charset="-122"/>
                <a:ea typeface="宋体" panose="02010600030101010101" pitchFamily="2" charset="-122"/>
              </a:rPr>
              <a:t>arrayName</a:t>
            </a:r>
            <a:r>
              <a:rPr lang="en-US" altLang="zh-CN" sz="2800" b="1" dirty="0">
                <a:latin typeface="宋体" panose="02010600030101010101" pitchFamily="2" charset="-122"/>
                <a:ea typeface="宋体" panose="02010600030101010101" pitchFamily="2" charset="-122"/>
              </a:rPr>
              <a:t>[1]=new type[</a:t>
            </a:r>
            <a:r>
              <a:rPr lang="en-US" altLang="zh-CN" sz="2800" b="1" dirty="0" err="1">
                <a:latin typeface="宋体" panose="02010600030101010101" pitchFamily="2" charset="-122"/>
                <a:ea typeface="宋体" panose="02010600030101010101" pitchFamily="2" charset="-122"/>
              </a:rPr>
              <a:t>arrayLengthl</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err="1">
                <a:latin typeface="宋体" panose="02010600030101010101" pitchFamily="2" charset="-122"/>
                <a:ea typeface="宋体" panose="02010600030101010101" pitchFamily="2" charset="-122"/>
              </a:rPr>
              <a:t>arrayName</a:t>
            </a:r>
            <a:r>
              <a:rPr lang="en-US" altLang="zh-CN" sz="2800" b="1" dirty="0">
                <a:latin typeface="宋体" panose="02010600030101010101" pitchFamily="2" charset="-122"/>
                <a:ea typeface="宋体" panose="02010600030101010101" pitchFamily="2" charset="-122"/>
              </a:rPr>
              <a:t>[arrayLength1-1]= new type[</a:t>
            </a:r>
            <a:r>
              <a:rPr lang="en-US" altLang="zh-CN" sz="2800" b="1" dirty="0" err="1">
                <a:latin typeface="宋体" panose="02010600030101010101" pitchFamily="2" charset="-122"/>
                <a:ea typeface="宋体" panose="02010600030101010101" pitchFamily="2" charset="-122"/>
              </a:rPr>
              <a:t>arrayLength</a:t>
            </a:r>
            <a:r>
              <a:rPr lang="en-US" altLang="zh-CN" sz="2800" b="1" dirty="0">
                <a:latin typeface="宋体" panose="02010600030101010101" pitchFamily="2" charset="-122"/>
                <a:ea typeface="宋体" panose="02010600030101010101" pitchFamily="2" charset="-122"/>
              </a:rPr>
              <a:t>(n-1)]</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endParaRPr lang="zh-CN" altLang="en-US" sz="2800" b="1" dirty="0">
              <a:latin typeface="宋体" panose="02010600030101010101" pitchFamily="2" charset="-122"/>
              <a:ea typeface="宋体" panose="02010600030101010101" pitchFamily="2" charset="-122"/>
            </a:endParaRPr>
          </a:p>
        </p:txBody>
      </p:sp>
      <p:sp>
        <p:nvSpPr>
          <p:cNvPr id="3" name="标题 2"/>
          <p:cNvSpPr txBox="1"/>
          <p:nvPr/>
        </p:nvSpPr>
        <p:spPr>
          <a:xfrm>
            <a:off x="107909" y="46892"/>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3470"/>
              <a:t>2.8.2  </a:t>
            </a:r>
            <a:r>
              <a:rPr lang="zh-CN" altLang="en-US" sz="3470"/>
              <a:t>多维数组</a:t>
            </a:r>
            <a:endParaRPr lang="zh-CN" altLang="en-US" sz="347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4514">
                                            <p:txEl>
                                              <p:pRg st="0" end="0"/>
                                            </p:txEl>
                                          </p:spTgt>
                                        </p:tgtEl>
                                        <p:attrNameLst>
                                          <p:attrName>style.visibility</p:attrName>
                                        </p:attrNameLst>
                                      </p:cBhvr>
                                      <p:to>
                                        <p:strVal val="visible"/>
                                      </p:to>
                                    </p:set>
                                    <p:animEffect transition="in" filter="blinds(horizontal)">
                                      <p:cBhvr>
                                        <p:cTn id="7" dur="500"/>
                                        <p:tgtEl>
                                          <p:spTgt spid="6451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4514">
                                            <p:txEl>
                                              <p:pRg st="1" end="1"/>
                                            </p:txEl>
                                          </p:spTgt>
                                        </p:tgtEl>
                                        <p:attrNameLst>
                                          <p:attrName>style.visibility</p:attrName>
                                        </p:attrNameLst>
                                      </p:cBhvr>
                                      <p:to>
                                        <p:strVal val="visible"/>
                                      </p:to>
                                    </p:set>
                                    <p:animEffect transition="in" filter="blinds(horizontal)">
                                      <p:cBhvr>
                                        <p:cTn id="10" dur="500"/>
                                        <p:tgtEl>
                                          <p:spTgt spid="6451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4514">
                                            <p:txEl>
                                              <p:pRg st="2" end="2"/>
                                            </p:txEl>
                                          </p:spTgt>
                                        </p:tgtEl>
                                        <p:attrNameLst>
                                          <p:attrName>style.visibility</p:attrName>
                                        </p:attrNameLst>
                                      </p:cBhvr>
                                      <p:to>
                                        <p:strVal val="visible"/>
                                      </p:to>
                                    </p:set>
                                    <p:animEffect transition="in" filter="blinds(horizontal)">
                                      <p:cBhvr>
                                        <p:cTn id="15" dur="500"/>
                                        <p:tgtEl>
                                          <p:spTgt spid="64514">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4514">
                                            <p:txEl>
                                              <p:pRg st="3" end="3"/>
                                            </p:txEl>
                                          </p:spTgt>
                                        </p:tgtEl>
                                        <p:attrNameLst>
                                          <p:attrName>style.visibility</p:attrName>
                                        </p:attrNameLst>
                                      </p:cBhvr>
                                      <p:to>
                                        <p:strVal val="visible"/>
                                      </p:to>
                                    </p:set>
                                    <p:animEffect transition="in" filter="blinds(horizontal)">
                                      <p:cBhvr>
                                        <p:cTn id="18" dur="500"/>
                                        <p:tgtEl>
                                          <p:spTgt spid="6451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4514">
                                            <p:txEl>
                                              <p:pRg st="4" end="4"/>
                                            </p:txEl>
                                          </p:spTgt>
                                        </p:tgtEl>
                                        <p:attrNameLst>
                                          <p:attrName>style.visibility</p:attrName>
                                        </p:attrNameLst>
                                      </p:cBhvr>
                                      <p:to>
                                        <p:strVal val="visible"/>
                                      </p:to>
                                    </p:set>
                                    <p:animEffect transition="in" filter="blinds(horizontal)">
                                      <p:cBhvr>
                                        <p:cTn id="23" dur="500"/>
                                        <p:tgtEl>
                                          <p:spTgt spid="6451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64514">
                                            <p:txEl>
                                              <p:pRg st="5" end="5"/>
                                            </p:txEl>
                                          </p:spTgt>
                                        </p:tgtEl>
                                        <p:attrNameLst>
                                          <p:attrName>style.visibility</p:attrName>
                                        </p:attrNameLst>
                                      </p:cBhvr>
                                      <p:to>
                                        <p:strVal val="visible"/>
                                      </p:to>
                                    </p:set>
                                    <p:animEffect transition="in" filter="blinds(horizontal)">
                                      <p:cBhvr>
                                        <p:cTn id="28" dur="500"/>
                                        <p:tgtEl>
                                          <p:spTgt spid="64514">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64514">
                                            <p:txEl>
                                              <p:pRg st="6" end="6"/>
                                            </p:txEl>
                                          </p:spTgt>
                                        </p:tgtEl>
                                        <p:attrNameLst>
                                          <p:attrName>style.visibility</p:attrName>
                                        </p:attrNameLst>
                                      </p:cBhvr>
                                      <p:to>
                                        <p:strVal val="visible"/>
                                      </p:to>
                                    </p:set>
                                    <p:animEffect transition="in" filter="blinds(horizontal)">
                                      <p:cBhvr>
                                        <p:cTn id="33" dur="500"/>
                                        <p:tgtEl>
                                          <p:spTgt spid="64514">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64514">
                                            <p:txEl>
                                              <p:pRg st="7" end="7"/>
                                            </p:txEl>
                                          </p:spTgt>
                                        </p:tgtEl>
                                        <p:attrNameLst>
                                          <p:attrName>style.visibility</p:attrName>
                                        </p:attrNameLst>
                                      </p:cBhvr>
                                      <p:to>
                                        <p:strVal val="visible"/>
                                      </p:to>
                                    </p:set>
                                    <p:animEffect transition="in" filter="blinds(horizontal)">
                                      <p:cBhvr>
                                        <p:cTn id="38" dur="500"/>
                                        <p:tgtEl>
                                          <p:spTgt spid="64514">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64514">
                                            <p:txEl>
                                              <p:pRg st="8" end="8"/>
                                            </p:txEl>
                                          </p:spTgt>
                                        </p:tgtEl>
                                        <p:attrNameLst>
                                          <p:attrName>style.visibility</p:attrName>
                                        </p:attrNameLst>
                                      </p:cBhvr>
                                      <p:to>
                                        <p:strVal val="visible"/>
                                      </p:to>
                                    </p:set>
                                    <p:animEffect transition="in" filter="blinds(horizontal)">
                                      <p:cBhvr>
                                        <p:cTn id="43" dur="500"/>
                                        <p:tgtEl>
                                          <p:spTgt spid="6451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内容占位符 1"/>
          <p:cNvSpPr>
            <a:spLocks noGrp="1"/>
          </p:cNvSpPr>
          <p:nvPr>
            <p:ph idx="4294967295"/>
          </p:nvPr>
        </p:nvSpPr>
        <p:spPr>
          <a:xfrm>
            <a:off x="541663" y="1282256"/>
            <a:ext cx="10841445" cy="4570278"/>
          </a:xfrm>
        </p:spPr>
        <p:txBody>
          <a:bodyPr/>
          <a:lstStyle/>
          <a:p>
            <a:pPr marL="0" indent="353060">
              <a:buNone/>
            </a:pPr>
            <a:r>
              <a:rPr lang="en-US" altLang="zh-CN" sz="2820" b="1" dirty="0">
                <a:latin typeface="宋体" panose="02010600030101010101" pitchFamily="2" charset="-122"/>
                <a:ea typeface="宋体" panose="02010600030101010101" pitchFamily="2" charset="-122"/>
              </a:rPr>
              <a:t>3.</a:t>
            </a:r>
            <a:r>
              <a:rPr lang="zh-CN" altLang="en-US" sz="2820" b="1" dirty="0">
                <a:latin typeface="宋体" panose="02010600030101010101" pitchFamily="2" charset="-122"/>
                <a:ea typeface="宋体" panose="02010600030101010101" pitchFamily="2" charset="-122"/>
              </a:rPr>
              <a:t>二维数组元素的引用</a:t>
            </a:r>
            <a:endParaRPr lang="zh-CN" altLang="en-US" sz="2820" b="1" dirty="0">
              <a:latin typeface="宋体" panose="02010600030101010101" pitchFamily="2" charset="-122"/>
              <a:ea typeface="宋体" panose="02010600030101010101" pitchFamily="2" charset="-122"/>
            </a:endParaRPr>
          </a:p>
          <a:p>
            <a:pPr marL="0" indent="353060">
              <a:buNone/>
            </a:pPr>
            <a:r>
              <a:rPr lang="zh-CN" altLang="en-US" sz="2820" b="1" dirty="0">
                <a:latin typeface="宋体" panose="02010600030101010101" pitchFamily="2" charset="-122"/>
                <a:ea typeface="宋体" panose="02010600030101010101" pitchFamily="2" charset="-122"/>
              </a:rPr>
              <a:t>对二维数组中的每个元素，引用方式为：</a:t>
            </a:r>
            <a:r>
              <a:rPr lang="en-US" altLang="zh-CN" sz="2820" b="1" dirty="0" err="1">
                <a:latin typeface="宋体" panose="02010600030101010101" pitchFamily="2" charset="-122"/>
                <a:ea typeface="宋体" panose="02010600030101010101" pitchFamily="2" charset="-122"/>
              </a:rPr>
              <a:t>arrayName</a:t>
            </a:r>
            <a:r>
              <a:rPr lang="en-US" altLang="zh-CN" sz="2820" b="1" dirty="0">
                <a:latin typeface="宋体" panose="02010600030101010101" pitchFamily="2" charset="-122"/>
                <a:ea typeface="宋体" panose="02010600030101010101" pitchFamily="2" charset="-122"/>
              </a:rPr>
              <a:t>[index1][index2]</a:t>
            </a:r>
            <a:endParaRPr lang="zh-CN" altLang="en-US" sz="2820" b="1" dirty="0">
              <a:latin typeface="宋体" panose="02010600030101010101" pitchFamily="2" charset="-122"/>
              <a:ea typeface="宋体" panose="02010600030101010101" pitchFamily="2" charset="-122"/>
            </a:endParaRPr>
          </a:p>
          <a:p>
            <a:pPr marL="0" indent="353060">
              <a:buNone/>
            </a:pPr>
            <a:r>
              <a:rPr lang="zh-CN" altLang="en-US" sz="2820" b="1" dirty="0">
                <a:latin typeface="宋体" panose="02010600030101010101" pitchFamily="2" charset="-122"/>
                <a:ea typeface="宋体" panose="02010600030101010101" pitchFamily="2" charset="-122"/>
              </a:rPr>
              <a:t>示例：</a:t>
            </a:r>
            <a:endParaRPr lang="zh-CN" altLang="en-US" sz="2820" b="1" dirty="0">
              <a:latin typeface="宋体" panose="02010600030101010101" pitchFamily="2" charset="-122"/>
              <a:ea typeface="宋体" panose="02010600030101010101" pitchFamily="2" charset="-122"/>
            </a:endParaRPr>
          </a:p>
          <a:p>
            <a:pPr marL="0" indent="353060">
              <a:buNone/>
            </a:pPr>
            <a:r>
              <a:rPr lang="en-US" altLang="zh-CN" sz="2820" b="1" dirty="0" err="1">
                <a:latin typeface="宋体" panose="02010600030101010101" pitchFamily="2" charset="-122"/>
                <a:ea typeface="宋体" panose="02010600030101010101" pitchFamily="2" charset="-122"/>
              </a:rPr>
              <a:t>num</a:t>
            </a:r>
            <a:r>
              <a:rPr lang="en-US" altLang="zh-CN" sz="2820" b="1" dirty="0">
                <a:latin typeface="宋体" panose="02010600030101010101" pitchFamily="2" charset="-122"/>
                <a:ea typeface="宋体" panose="02010600030101010101" pitchFamily="2" charset="-122"/>
              </a:rPr>
              <a:t>[1][0]</a:t>
            </a:r>
            <a:r>
              <a:rPr lang="zh-CN" altLang="en-US" sz="2820" b="1" dirty="0">
                <a:latin typeface="宋体" panose="02010600030101010101" pitchFamily="2" charset="-122"/>
                <a:ea typeface="宋体" panose="02010600030101010101" pitchFamily="2" charset="-122"/>
              </a:rPr>
              <a:t>；</a:t>
            </a:r>
            <a:endParaRPr lang="zh-CN" altLang="en-US" sz="2820" b="1" dirty="0">
              <a:latin typeface="宋体" panose="02010600030101010101" pitchFamily="2" charset="-122"/>
              <a:ea typeface="宋体" panose="02010600030101010101" pitchFamily="2" charset="-122"/>
            </a:endParaRPr>
          </a:p>
        </p:txBody>
      </p:sp>
      <p:sp>
        <p:nvSpPr>
          <p:cNvPr id="3" name="标题 2"/>
          <p:cNvSpPr txBox="1"/>
          <p:nvPr/>
        </p:nvSpPr>
        <p:spPr>
          <a:xfrm>
            <a:off x="107909" y="46892"/>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3470"/>
              <a:t>2.8.2  </a:t>
            </a:r>
            <a:r>
              <a:rPr lang="zh-CN" altLang="en-US" sz="3470"/>
              <a:t>多维数组</a:t>
            </a:r>
            <a:endParaRPr lang="zh-CN" altLang="en-US" sz="347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538">
                                            <p:txEl>
                                              <p:pRg st="1" end="1"/>
                                            </p:txEl>
                                          </p:spTgt>
                                        </p:tgtEl>
                                        <p:attrNameLst>
                                          <p:attrName>style.visibility</p:attrName>
                                        </p:attrNameLst>
                                      </p:cBhvr>
                                      <p:to>
                                        <p:strVal val="visible"/>
                                      </p:to>
                                    </p:set>
                                    <p:animEffect transition="in" filter="blinds(horizontal)">
                                      <p:cBhvr>
                                        <p:cTn id="7" dur="500"/>
                                        <p:tgtEl>
                                          <p:spTgt spid="6553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5538">
                                            <p:txEl>
                                              <p:pRg st="2" end="2"/>
                                            </p:txEl>
                                          </p:spTgt>
                                        </p:tgtEl>
                                        <p:attrNameLst>
                                          <p:attrName>style.visibility</p:attrName>
                                        </p:attrNameLst>
                                      </p:cBhvr>
                                      <p:to>
                                        <p:strVal val="visible"/>
                                      </p:to>
                                    </p:set>
                                    <p:animEffect transition="in" filter="blinds(horizontal)">
                                      <p:cBhvr>
                                        <p:cTn id="12" dur="500"/>
                                        <p:tgtEl>
                                          <p:spTgt spid="65538">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5538">
                                            <p:txEl>
                                              <p:pRg st="3" end="3"/>
                                            </p:txEl>
                                          </p:spTgt>
                                        </p:tgtEl>
                                        <p:attrNameLst>
                                          <p:attrName>style.visibility</p:attrName>
                                        </p:attrNameLst>
                                      </p:cBhvr>
                                      <p:to>
                                        <p:strVal val="visible"/>
                                      </p:to>
                                    </p:set>
                                    <p:animEffect transition="in" filter="blinds(horizontal)">
                                      <p:cBhvr>
                                        <p:cTn id="15" dur="500"/>
                                        <p:tgtEl>
                                          <p:spTgt spid="6553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AutoShape 2"/>
          <p:cNvSpPr>
            <a:spLocks noChangeAspect="1" noChangeArrowheads="1"/>
          </p:cNvSpPr>
          <p:nvPr/>
        </p:nvSpPr>
        <p:spPr bwMode="auto">
          <a:xfrm>
            <a:off x="1372518" y="-215173"/>
            <a:ext cx="330506" cy="330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endParaRPr lang="zh-CN" altLang="en-US" sz="2170"/>
          </a:p>
        </p:txBody>
      </p:sp>
      <p:pic>
        <p:nvPicPr>
          <p:cNvPr id="69635"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303663" y="1215298"/>
            <a:ext cx="9584675" cy="442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2"/>
          <p:cNvSpPr txBox="1"/>
          <p:nvPr/>
        </p:nvSpPr>
        <p:spPr>
          <a:xfrm>
            <a:off x="107909" y="46892"/>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3470"/>
              <a:t>2.8.2  </a:t>
            </a:r>
            <a:r>
              <a:rPr lang="zh-CN" altLang="en-US" sz="3470"/>
              <a:t>多维数组</a:t>
            </a:r>
            <a:endParaRPr lang="zh-CN" altLang="en-US" sz="347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5"/>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r" eaLnBrk="1" hangingPunct="1">
              <a:lnSpc>
                <a:spcPct val="100000"/>
              </a:lnSpc>
              <a:spcBef>
                <a:spcPct val="50000"/>
              </a:spcBef>
            </a:pPr>
            <a:fld id="{018B77CF-3C45-4F6F-9C4E-D1F0F315EC5D}"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70659" name="Rectangle 3"/>
          <p:cNvSpPr>
            <a:spLocks noGrp="1" noChangeArrowheads="1"/>
          </p:cNvSpPr>
          <p:nvPr>
            <p:ph type="body" idx="4294967295"/>
          </p:nvPr>
        </p:nvSpPr>
        <p:spPr>
          <a:xfrm>
            <a:off x="682340" y="1048364"/>
            <a:ext cx="8574222" cy="3128100"/>
          </a:xfrm>
          <a:noFill/>
        </p:spPr>
        <p:txBody>
          <a:bodyPr>
            <a:spAutoFit/>
          </a:bodyPr>
          <a:lstStyle/>
          <a:p>
            <a:pPr marL="0" indent="770890">
              <a:lnSpc>
                <a:spcPct val="130000"/>
              </a:lnSpc>
              <a:buNone/>
            </a:pPr>
            <a:r>
              <a:rPr lang="en-US" altLang="zh-CN" sz="3035" b="1" dirty="0" err="1">
                <a:latin typeface="宋体" panose="02010600030101010101" pitchFamily="2" charset="-122"/>
              </a:rPr>
              <a:t>int</a:t>
            </a:r>
            <a:r>
              <a:rPr lang="en-US" altLang="zh-CN" sz="3035" b="1" dirty="0">
                <a:latin typeface="宋体" panose="02010600030101010101" pitchFamily="2" charset="-122"/>
              </a:rPr>
              <a:t>[][] x;</a:t>
            </a:r>
            <a:endParaRPr lang="en-US" altLang="zh-CN" sz="3035" b="1" dirty="0">
              <a:latin typeface="宋体" panose="02010600030101010101" pitchFamily="2" charset="-122"/>
            </a:endParaRPr>
          </a:p>
          <a:p>
            <a:pPr marL="0" indent="770890">
              <a:lnSpc>
                <a:spcPct val="130000"/>
              </a:lnSpc>
              <a:buNone/>
            </a:pPr>
            <a:r>
              <a:rPr lang="en-US" altLang="zh-CN" sz="3035" b="1" dirty="0">
                <a:latin typeface="宋体" panose="02010600030101010101" pitchFamily="2" charset="-122"/>
              </a:rPr>
              <a:t>x=new </a:t>
            </a:r>
            <a:r>
              <a:rPr lang="en-US" altLang="zh-CN" sz="3035" b="1" dirty="0" err="1">
                <a:latin typeface="宋体" panose="02010600030101010101" pitchFamily="2" charset="-122"/>
              </a:rPr>
              <a:t>int</a:t>
            </a:r>
            <a:r>
              <a:rPr lang="en-US" altLang="zh-CN" sz="3035" b="1" dirty="0">
                <a:latin typeface="宋体" panose="02010600030101010101" pitchFamily="2" charset="-122"/>
              </a:rPr>
              <a:t>[3][];</a:t>
            </a:r>
            <a:endParaRPr lang="en-US" altLang="zh-CN" sz="3035" b="1" dirty="0">
              <a:latin typeface="宋体" panose="02010600030101010101" pitchFamily="2" charset="-122"/>
            </a:endParaRPr>
          </a:p>
          <a:p>
            <a:pPr marL="0" indent="770890">
              <a:lnSpc>
                <a:spcPct val="130000"/>
              </a:lnSpc>
              <a:buNone/>
            </a:pPr>
            <a:r>
              <a:rPr lang="en-US" altLang="zh-CN" sz="3035" b="1" dirty="0">
                <a:latin typeface="宋体" panose="02010600030101010101" pitchFamily="2" charset="-122"/>
              </a:rPr>
              <a:t>x[0]=new </a:t>
            </a:r>
            <a:r>
              <a:rPr lang="en-US" altLang="zh-CN" sz="3035" b="1" dirty="0" err="1">
                <a:latin typeface="宋体" panose="02010600030101010101" pitchFamily="2" charset="-122"/>
              </a:rPr>
              <a:t>int</a:t>
            </a:r>
            <a:r>
              <a:rPr lang="en-US" altLang="zh-CN" sz="3035" b="1" dirty="0">
                <a:latin typeface="宋体" panose="02010600030101010101" pitchFamily="2" charset="-122"/>
              </a:rPr>
              <a:t> [3];</a:t>
            </a:r>
            <a:endParaRPr lang="en-US" altLang="zh-CN" sz="3035" b="1" dirty="0">
              <a:latin typeface="宋体" panose="02010600030101010101" pitchFamily="2" charset="-122"/>
            </a:endParaRPr>
          </a:p>
          <a:p>
            <a:pPr marL="0" indent="770890">
              <a:lnSpc>
                <a:spcPct val="130000"/>
              </a:lnSpc>
              <a:buNone/>
            </a:pPr>
            <a:r>
              <a:rPr lang="en-US" altLang="zh-CN" sz="3035" b="1" dirty="0">
                <a:latin typeface="宋体" panose="02010600030101010101" pitchFamily="2" charset="-122"/>
              </a:rPr>
              <a:t>x[1]=new </a:t>
            </a:r>
            <a:r>
              <a:rPr lang="en-US" altLang="zh-CN" sz="3035" b="1" dirty="0" err="1">
                <a:latin typeface="宋体" panose="02010600030101010101" pitchFamily="2" charset="-122"/>
              </a:rPr>
              <a:t>int</a:t>
            </a:r>
            <a:r>
              <a:rPr lang="en-US" altLang="zh-CN" sz="3035" b="1" dirty="0">
                <a:latin typeface="宋体" panose="02010600030101010101" pitchFamily="2" charset="-122"/>
              </a:rPr>
              <a:t>[2];</a:t>
            </a:r>
            <a:endParaRPr lang="en-US" altLang="zh-CN" sz="3035" b="1" dirty="0">
              <a:latin typeface="宋体" panose="02010600030101010101" pitchFamily="2" charset="-122"/>
            </a:endParaRPr>
          </a:p>
        </p:txBody>
      </p:sp>
      <p:grpSp>
        <p:nvGrpSpPr>
          <p:cNvPr id="70660" name="Group 4"/>
          <p:cNvGrpSpPr/>
          <p:nvPr/>
        </p:nvGrpSpPr>
        <p:grpSpPr bwMode="auto">
          <a:xfrm>
            <a:off x="5560375" y="3038247"/>
            <a:ext cx="6481016" cy="3122593"/>
            <a:chOff x="0" y="0"/>
            <a:chExt cx="5085" cy="1716"/>
          </a:xfrm>
        </p:grpSpPr>
        <p:sp>
          <p:nvSpPr>
            <p:cNvPr id="70661" name="Rectangle 1"/>
            <p:cNvSpPr>
              <a:spLocks noChangeArrowheads="1"/>
            </p:cNvSpPr>
            <p:nvPr/>
          </p:nvSpPr>
          <p:spPr bwMode="auto">
            <a:xfrm>
              <a:off x="1545" y="3"/>
              <a:ext cx="795" cy="309"/>
            </a:xfrm>
            <a:prstGeom prst="rect">
              <a:avLst/>
            </a:prstGeom>
            <a:solidFill>
              <a:srgbClr val="DDDDDD"/>
            </a:solidFill>
            <a:ln w="9525">
              <a:solidFill>
                <a:srgbClr val="000000"/>
              </a:solidFill>
              <a:miter lim="800000"/>
            </a:ln>
          </p:spPr>
          <p:txBody>
            <a:bodyPr lIns="0" tIns="0" rIns="0" bIns="0" anchor="ct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lnSpc>
                  <a:spcPct val="100000"/>
                </a:lnSpc>
              </a:pPr>
              <a:r>
                <a:rPr lang="en-US" altLang="zh-CN" sz="1735"/>
                <a:t>x[0][ ]</a:t>
              </a:r>
              <a:endParaRPr lang="en-US" altLang="zh-CN" sz="1735"/>
            </a:p>
          </p:txBody>
        </p:sp>
        <p:sp>
          <p:nvSpPr>
            <p:cNvPr id="70662" name="Rectangle 2"/>
            <p:cNvSpPr>
              <a:spLocks noChangeArrowheads="1"/>
            </p:cNvSpPr>
            <p:nvPr/>
          </p:nvSpPr>
          <p:spPr bwMode="auto">
            <a:xfrm>
              <a:off x="540" y="1404"/>
              <a:ext cx="41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lnSpc>
                  <a:spcPct val="100000"/>
                </a:lnSpc>
              </a:pPr>
              <a:r>
                <a:rPr lang="zh-CN" altLang="en-US" sz="1735"/>
                <a:t>图</a:t>
              </a:r>
              <a:r>
                <a:rPr lang="en-US" altLang="zh-CN" sz="1735"/>
                <a:t>5.6 Java</a:t>
              </a:r>
              <a:r>
                <a:rPr lang="zh-CN" altLang="en-US" sz="1735"/>
                <a:t>中的二维数组可以看成是多个一维数组</a:t>
              </a:r>
              <a:endParaRPr lang="zh-CN" altLang="en-US" sz="1735"/>
            </a:p>
          </p:txBody>
        </p:sp>
        <p:sp>
          <p:nvSpPr>
            <p:cNvPr id="70663" name="Rectangle 3"/>
            <p:cNvSpPr>
              <a:spLocks noChangeArrowheads="1"/>
            </p:cNvSpPr>
            <p:nvPr/>
          </p:nvSpPr>
          <p:spPr bwMode="auto">
            <a:xfrm>
              <a:off x="2700" y="0"/>
              <a:ext cx="795" cy="309"/>
            </a:xfrm>
            <a:prstGeom prst="rect">
              <a:avLst/>
            </a:prstGeom>
            <a:solidFill>
              <a:srgbClr val="DDDDDD"/>
            </a:solidFill>
            <a:ln w="9525">
              <a:solidFill>
                <a:srgbClr val="000000"/>
              </a:solidFill>
              <a:miter lim="800000"/>
            </a:ln>
          </p:spPr>
          <p:txBody>
            <a:bodyPr lIns="0" tIns="0" rIns="0" bIns="0" anchor="ct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lnSpc>
                  <a:spcPct val="100000"/>
                </a:lnSpc>
              </a:pPr>
              <a:r>
                <a:rPr lang="en-US" altLang="zh-CN" sz="1735"/>
                <a:t>x[0][0]</a:t>
              </a:r>
              <a:endParaRPr lang="en-US" altLang="zh-CN" sz="1735"/>
            </a:p>
          </p:txBody>
        </p:sp>
        <p:sp>
          <p:nvSpPr>
            <p:cNvPr id="70664" name="Rectangle 4"/>
            <p:cNvSpPr>
              <a:spLocks noChangeArrowheads="1"/>
            </p:cNvSpPr>
            <p:nvPr/>
          </p:nvSpPr>
          <p:spPr bwMode="auto">
            <a:xfrm>
              <a:off x="3495" y="0"/>
              <a:ext cx="795" cy="309"/>
            </a:xfrm>
            <a:prstGeom prst="rect">
              <a:avLst/>
            </a:prstGeom>
            <a:solidFill>
              <a:srgbClr val="DDDDDD"/>
            </a:solidFill>
            <a:ln w="9525">
              <a:solidFill>
                <a:srgbClr val="000000"/>
              </a:solidFill>
              <a:miter lim="800000"/>
            </a:ln>
          </p:spPr>
          <p:txBody>
            <a:bodyPr lIns="0" tIns="0" rIns="0" bIns="0" anchor="ct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lnSpc>
                  <a:spcPct val="100000"/>
                </a:lnSpc>
              </a:pPr>
              <a:r>
                <a:rPr lang="en-US" altLang="zh-CN" sz="1735"/>
                <a:t>x[0][1]</a:t>
              </a:r>
              <a:endParaRPr lang="en-US" altLang="zh-CN" sz="1735"/>
            </a:p>
          </p:txBody>
        </p:sp>
        <p:sp>
          <p:nvSpPr>
            <p:cNvPr id="70665" name="Rectangle 5"/>
            <p:cNvSpPr>
              <a:spLocks noChangeArrowheads="1"/>
            </p:cNvSpPr>
            <p:nvPr/>
          </p:nvSpPr>
          <p:spPr bwMode="auto">
            <a:xfrm>
              <a:off x="4290" y="0"/>
              <a:ext cx="795" cy="309"/>
            </a:xfrm>
            <a:prstGeom prst="rect">
              <a:avLst/>
            </a:prstGeom>
            <a:solidFill>
              <a:srgbClr val="DDDDDD"/>
            </a:solidFill>
            <a:ln w="9525">
              <a:solidFill>
                <a:srgbClr val="000000"/>
              </a:solidFill>
              <a:miter lim="800000"/>
            </a:ln>
          </p:spPr>
          <p:txBody>
            <a:bodyPr lIns="0" tIns="0" rIns="0" bIns="0" anchor="ct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lnSpc>
                  <a:spcPct val="100000"/>
                </a:lnSpc>
              </a:pPr>
              <a:r>
                <a:rPr lang="en-US" altLang="zh-CN" sz="1735"/>
                <a:t>x[0][2]</a:t>
              </a:r>
              <a:endParaRPr lang="en-US" altLang="zh-CN" sz="1735"/>
            </a:p>
          </p:txBody>
        </p:sp>
        <p:sp>
          <p:nvSpPr>
            <p:cNvPr id="70666" name="Rectangle 6"/>
            <p:cNvSpPr>
              <a:spLocks noChangeArrowheads="1"/>
            </p:cNvSpPr>
            <p:nvPr/>
          </p:nvSpPr>
          <p:spPr bwMode="auto">
            <a:xfrm>
              <a:off x="1545" y="471"/>
              <a:ext cx="795" cy="309"/>
            </a:xfrm>
            <a:prstGeom prst="rect">
              <a:avLst/>
            </a:prstGeom>
            <a:solidFill>
              <a:srgbClr val="DDDDDD"/>
            </a:solidFill>
            <a:ln w="9525">
              <a:solidFill>
                <a:srgbClr val="000000"/>
              </a:solidFill>
              <a:miter lim="800000"/>
            </a:ln>
          </p:spPr>
          <p:txBody>
            <a:bodyPr lIns="0" tIns="0" rIns="0" bIns="0" anchor="ct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lnSpc>
                  <a:spcPct val="100000"/>
                </a:lnSpc>
              </a:pPr>
              <a:r>
                <a:rPr lang="en-US" altLang="zh-CN" sz="1735"/>
                <a:t>x[1][ ]</a:t>
              </a:r>
              <a:endParaRPr lang="en-US" altLang="zh-CN" sz="1735"/>
            </a:p>
          </p:txBody>
        </p:sp>
        <p:sp>
          <p:nvSpPr>
            <p:cNvPr id="70667" name="Rectangle 7"/>
            <p:cNvSpPr>
              <a:spLocks noChangeArrowheads="1"/>
            </p:cNvSpPr>
            <p:nvPr/>
          </p:nvSpPr>
          <p:spPr bwMode="auto">
            <a:xfrm>
              <a:off x="2700" y="468"/>
              <a:ext cx="795" cy="309"/>
            </a:xfrm>
            <a:prstGeom prst="rect">
              <a:avLst/>
            </a:prstGeom>
            <a:solidFill>
              <a:srgbClr val="DDDDDD"/>
            </a:solidFill>
            <a:ln w="9525">
              <a:solidFill>
                <a:srgbClr val="000000"/>
              </a:solidFill>
              <a:miter lim="800000"/>
            </a:ln>
          </p:spPr>
          <p:txBody>
            <a:bodyPr lIns="0" tIns="0" rIns="0" bIns="0" anchor="ct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lnSpc>
                  <a:spcPct val="100000"/>
                </a:lnSpc>
              </a:pPr>
              <a:r>
                <a:rPr lang="en-US" altLang="zh-CN" sz="1735"/>
                <a:t>x[1][0]</a:t>
              </a:r>
              <a:endParaRPr lang="en-US" altLang="zh-CN" sz="1735"/>
            </a:p>
          </p:txBody>
        </p:sp>
        <p:sp>
          <p:nvSpPr>
            <p:cNvPr id="70668" name="Rectangle 8"/>
            <p:cNvSpPr>
              <a:spLocks noChangeArrowheads="1"/>
            </p:cNvSpPr>
            <p:nvPr/>
          </p:nvSpPr>
          <p:spPr bwMode="auto">
            <a:xfrm>
              <a:off x="3495" y="468"/>
              <a:ext cx="795" cy="309"/>
            </a:xfrm>
            <a:prstGeom prst="rect">
              <a:avLst/>
            </a:prstGeom>
            <a:solidFill>
              <a:srgbClr val="DDDDDD"/>
            </a:solidFill>
            <a:ln w="9525">
              <a:solidFill>
                <a:srgbClr val="000000"/>
              </a:solidFill>
              <a:miter lim="800000"/>
            </a:ln>
          </p:spPr>
          <p:txBody>
            <a:bodyPr lIns="0" tIns="0" rIns="0" bIns="0" anchor="ct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lnSpc>
                  <a:spcPct val="100000"/>
                </a:lnSpc>
              </a:pPr>
              <a:r>
                <a:rPr lang="en-US" altLang="zh-CN" sz="1735"/>
                <a:t>x[1][1]</a:t>
              </a:r>
              <a:endParaRPr lang="en-US" altLang="zh-CN" sz="1735"/>
            </a:p>
          </p:txBody>
        </p:sp>
        <p:sp>
          <p:nvSpPr>
            <p:cNvPr id="70669" name="Rectangle 9"/>
            <p:cNvSpPr>
              <a:spLocks noChangeArrowheads="1"/>
            </p:cNvSpPr>
            <p:nvPr/>
          </p:nvSpPr>
          <p:spPr bwMode="auto">
            <a:xfrm>
              <a:off x="2700" y="936"/>
              <a:ext cx="795" cy="30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lnSpc>
                  <a:spcPct val="100000"/>
                </a:lnSpc>
              </a:pPr>
              <a:r>
                <a:rPr lang="en-US" altLang="zh-CN" sz="1735"/>
                <a:t>null</a:t>
              </a:r>
              <a:endParaRPr lang="en-US" altLang="zh-CN" sz="1735"/>
            </a:p>
          </p:txBody>
        </p:sp>
        <p:sp>
          <p:nvSpPr>
            <p:cNvPr id="70670" name="Rectangle 10"/>
            <p:cNvSpPr>
              <a:spLocks noChangeArrowheads="1"/>
            </p:cNvSpPr>
            <p:nvPr/>
          </p:nvSpPr>
          <p:spPr bwMode="auto">
            <a:xfrm>
              <a:off x="1545" y="936"/>
              <a:ext cx="795" cy="309"/>
            </a:xfrm>
            <a:prstGeom prst="rect">
              <a:avLst/>
            </a:prstGeom>
            <a:solidFill>
              <a:srgbClr val="DDDDDD"/>
            </a:solidFill>
            <a:ln w="9525">
              <a:solidFill>
                <a:srgbClr val="000000"/>
              </a:solidFill>
              <a:miter lim="800000"/>
            </a:ln>
          </p:spPr>
          <p:txBody>
            <a:bodyPr lIns="0" tIns="0" rIns="0" bIns="0" anchor="ct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lnSpc>
                  <a:spcPct val="100000"/>
                </a:lnSpc>
              </a:pPr>
              <a:r>
                <a:rPr lang="en-US" altLang="zh-CN" sz="1735"/>
                <a:t>x[1][ ]</a:t>
              </a:r>
              <a:endParaRPr lang="en-US" altLang="zh-CN" sz="1735"/>
            </a:p>
          </p:txBody>
        </p:sp>
        <p:sp>
          <p:nvSpPr>
            <p:cNvPr id="70671" name="Line 11"/>
            <p:cNvSpPr>
              <a:spLocks noChangeShapeType="1"/>
            </p:cNvSpPr>
            <p:nvPr/>
          </p:nvSpPr>
          <p:spPr bwMode="auto">
            <a:xfrm>
              <a:off x="2340" y="156"/>
              <a:ext cx="36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70672" name="Line 12"/>
            <p:cNvSpPr>
              <a:spLocks noChangeShapeType="1"/>
            </p:cNvSpPr>
            <p:nvPr/>
          </p:nvSpPr>
          <p:spPr bwMode="auto">
            <a:xfrm>
              <a:off x="2340" y="624"/>
              <a:ext cx="36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70673" name="Line 13"/>
            <p:cNvSpPr>
              <a:spLocks noChangeShapeType="1"/>
            </p:cNvSpPr>
            <p:nvPr/>
          </p:nvSpPr>
          <p:spPr bwMode="auto">
            <a:xfrm>
              <a:off x="2340" y="1092"/>
              <a:ext cx="36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70674" name="Line 14"/>
            <p:cNvSpPr>
              <a:spLocks noChangeShapeType="1"/>
            </p:cNvSpPr>
            <p:nvPr/>
          </p:nvSpPr>
          <p:spPr bwMode="auto">
            <a:xfrm>
              <a:off x="1155" y="156"/>
              <a:ext cx="36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70675" name="Line 15"/>
            <p:cNvSpPr>
              <a:spLocks noChangeShapeType="1"/>
            </p:cNvSpPr>
            <p:nvPr/>
          </p:nvSpPr>
          <p:spPr bwMode="auto">
            <a:xfrm>
              <a:off x="1155" y="1092"/>
              <a:ext cx="36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70676" name="Line 16"/>
            <p:cNvSpPr>
              <a:spLocks noChangeShapeType="1"/>
            </p:cNvSpPr>
            <p:nvPr/>
          </p:nvSpPr>
          <p:spPr bwMode="auto">
            <a:xfrm>
              <a:off x="900" y="624"/>
              <a:ext cx="61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950"/>
            </a:p>
          </p:txBody>
        </p:sp>
        <p:sp>
          <p:nvSpPr>
            <p:cNvPr id="70677" name="Line 17"/>
            <p:cNvSpPr>
              <a:spLocks noChangeShapeType="1"/>
            </p:cNvSpPr>
            <p:nvPr/>
          </p:nvSpPr>
          <p:spPr bwMode="auto">
            <a:xfrm>
              <a:off x="1125" y="156"/>
              <a:ext cx="0" cy="93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950"/>
            </a:p>
          </p:txBody>
        </p:sp>
        <p:sp>
          <p:nvSpPr>
            <p:cNvPr id="70678" name="Rectangle 18"/>
            <p:cNvSpPr>
              <a:spLocks noChangeArrowheads="1"/>
            </p:cNvSpPr>
            <p:nvPr/>
          </p:nvSpPr>
          <p:spPr bwMode="auto">
            <a:xfrm>
              <a:off x="0" y="468"/>
              <a:ext cx="795" cy="30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a:lnSpc>
                  <a:spcPct val="100000"/>
                </a:lnSpc>
              </a:pPr>
              <a:r>
                <a:rPr lang="en-US" altLang="zh-CN" sz="1735"/>
                <a:t>int x[ ][ ]</a:t>
              </a:r>
              <a:endParaRPr lang="en-US" altLang="zh-CN" sz="1735"/>
            </a:p>
          </p:txBody>
        </p:sp>
      </p:grpSp>
      <p:sp>
        <p:nvSpPr>
          <p:cNvPr id="23" name="标题 2"/>
          <p:cNvSpPr txBox="1"/>
          <p:nvPr/>
        </p:nvSpPr>
        <p:spPr>
          <a:xfrm>
            <a:off x="107909" y="46892"/>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3470"/>
              <a:t>2.8.2  </a:t>
            </a:r>
            <a:r>
              <a:rPr lang="zh-CN" altLang="en-US" sz="3470"/>
              <a:t>多维数组</a:t>
            </a:r>
            <a:endParaRPr lang="zh-CN" altLang="en-US" sz="347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内容占位符 2"/>
          <p:cNvSpPr>
            <a:spLocks noGrp="1"/>
          </p:cNvSpPr>
          <p:nvPr>
            <p:ph idx="4294967295"/>
          </p:nvPr>
        </p:nvSpPr>
        <p:spPr>
          <a:xfrm>
            <a:off x="511450" y="1007496"/>
            <a:ext cx="11047504" cy="5622045"/>
          </a:xfrm>
        </p:spPr>
        <p:txBody>
          <a:bodyPr>
            <a:noAutofit/>
          </a:bodyPr>
          <a:lstStyle/>
          <a:p>
            <a:pPr marL="0" indent="353060">
              <a:buNone/>
            </a:pPr>
            <a:r>
              <a:rPr lang="en-US" altLang="zh-CN" sz="2800" b="1" dirty="0">
                <a:latin typeface="宋体" panose="02010600030101010101" pitchFamily="2" charset="-122"/>
                <a:ea typeface="宋体" panose="02010600030101010101" pitchFamily="2" charset="-122"/>
              </a:rPr>
              <a:t>4.</a:t>
            </a:r>
            <a:r>
              <a:rPr lang="zh-CN" altLang="en-US" sz="2800" b="1" dirty="0">
                <a:latin typeface="宋体" panose="02010600030101010101" pitchFamily="2" charset="-122"/>
                <a:ea typeface="宋体" panose="02010600030101010101" pitchFamily="2" charset="-122"/>
              </a:rPr>
              <a:t>二维数组长度</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多维数组长度获取仍然用</a:t>
            </a:r>
            <a:r>
              <a:rPr lang="en-US" altLang="zh-CN" sz="2800" b="1" dirty="0">
                <a:latin typeface="宋体" panose="02010600030101010101" pitchFamily="2" charset="-122"/>
                <a:ea typeface="宋体" panose="02010600030101010101" pitchFamily="2" charset="-122"/>
              </a:rPr>
              <a:t>length</a:t>
            </a:r>
            <a:r>
              <a:rPr lang="zh-CN" altLang="en-US" sz="2800" b="1" dirty="0">
                <a:latin typeface="宋体" panose="02010600030101010101" pitchFamily="2" charset="-122"/>
                <a:ea typeface="宋体" panose="02010600030101010101" pitchFamily="2" charset="-122"/>
              </a:rPr>
              <a:t>，以二维数组为例说明长度值如何获取。</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 a[ ][ ]</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a=new </a:t>
            </a: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[3][ ]</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a[0]=new </a:t>
            </a: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[3]</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a[1]=new </a:t>
            </a: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 x=</a:t>
            </a:r>
            <a:r>
              <a:rPr lang="en-US" altLang="zh-CN" sz="2800" b="1" dirty="0" err="1">
                <a:latin typeface="宋体" panose="02010600030101010101" pitchFamily="2" charset="-122"/>
                <a:ea typeface="宋体" panose="02010600030101010101" pitchFamily="2" charset="-122"/>
              </a:rPr>
              <a:t>a.length</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		</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 y=a[0].length</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	</a:t>
            </a:r>
            <a:endParaRPr lang="en-US" altLang="zh-CN" sz="2800" b="1" dirty="0">
              <a:latin typeface="宋体" panose="02010600030101010101" pitchFamily="2" charset="-122"/>
              <a:ea typeface="宋体" panose="02010600030101010101" pitchFamily="2" charset="-122"/>
            </a:endParaRPr>
          </a:p>
          <a:p>
            <a:pPr marL="0" indent="353060">
              <a:buNone/>
            </a:pPr>
            <a:r>
              <a:rPr lang="en-US" altLang="zh-CN" sz="2800" b="1" dirty="0" err="1">
                <a:latin typeface="宋体" panose="02010600030101010101" pitchFamily="2" charset="-122"/>
                <a:ea typeface="宋体" panose="02010600030101010101" pitchFamily="2" charset="-122"/>
              </a:rPr>
              <a:t>int</a:t>
            </a:r>
            <a:r>
              <a:rPr lang="en-US" altLang="zh-CN" sz="2800" b="1" dirty="0">
                <a:latin typeface="宋体" panose="02010600030101010101" pitchFamily="2" charset="-122"/>
                <a:ea typeface="宋体" panose="02010600030101010101" pitchFamily="2" charset="-122"/>
              </a:rPr>
              <a:t> z=a[1].length</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	</a:t>
            </a:r>
            <a:endParaRPr lang="zh-CN" altLang="en-US" sz="2800" b="1" dirty="0">
              <a:latin typeface="宋体" panose="02010600030101010101" pitchFamily="2" charset="-122"/>
              <a:ea typeface="宋体" panose="02010600030101010101" pitchFamily="2" charset="-122"/>
            </a:endParaRPr>
          </a:p>
        </p:txBody>
      </p:sp>
      <p:sp>
        <p:nvSpPr>
          <p:cNvPr id="71683"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defTabSz="866775">
              <a:defRPr sz="2000" b="1">
                <a:solidFill>
                  <a:schemeClr val="tx1"/>
                </a:solidFill>
                <a:latin typeface="Times New Roman" panose="02020603050405020304" pitchFamily="18" charset="0"/>
                <a:ea typeface="宋体" panose="02010600030101010101" pitchFamily="2" charset="-122"/>
              </a:defRPr>
            </a:lvl1pPr>
            <a:lvl2pPr marL="742950" indent="-285750" defTabSz="866775">
              <a:defRPr sz="2000" b="1">
                <a:solidFill>
                  <a:schemeClr val="tx1"/>
                </a:solidFill>
                <a:latin typeface="Times New Roman" panose="02020603050405020304" pitchFamily="18" charset="0"/>
                <a:ea typeface="宋体" panose="02010600030101010101" pitchFamily="2" charset="-122"/>
              </a:defRPr>
            </a:lvl2pPr>
            <a:lvl3pPr marL="1143000" indent="-228600" defTabSz="866775">
              <a:defRPr sz="2000" b="1">
                <a:solidFill>
                  <a:schemeClr val="tx1"/>
                </a:solidFill>
                <a:latin typeface="Times New Roman" panose="02020603050405020304" pitchFamily="18" charset="0"/>
                <a:ea typeface="宋体" panose="02010600030101010101" pitchFamily="2" charset="-122"/>
              </a:defRPr>
            </a:lvl3pPr>
            <a:lvl4pPr marL="1600200" indent="-228600" defTabSz="866775">
              <a:defRPr sz="2000" b="1">
                <a:solidFill>
                  <a:schemeClr val="tx1"/>
                </a:solidFill>
                <a:latin typeface="Times New Roman" panose="02020603050405020304" pitchFamily="18" charset="0"/>
                <a:ea typeface="宋体" panose="02010600030101010101" pitchFamily="2" charset="-122"/>
              </a:defRPr>
            </a:lvl4pPr>
            <a:lvl5pPr marL="2057400" indent="-228600" defTabSz="866775">
              <a:defRPr sz="2000" b="1">
                <a:solidFill>
                  <a:schemeClr val="tx1"/>
                </a:solidFill>
                <a:latin typeface="Times New Roman" panose="02020603050405020304" pitchFamily="18" charset="0"/>
                <a:ea typeface="宋体" panose="02010600030101010101" pitchFamily="2" charset="-122"/>
              </a:defRPr>
            </a:lvl5pPr>
            <a:lvl6pPr marL="25146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8667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r" eaLnBrk="1" hangingPunct="1">
              <a:lnSpc>
                <a:spcPct val="100000"/>
              </a:lnSpc>
              <a:spcBef>
                <a:spcPct val="50000"/>
              </a:spcBef>
            </a:pPr>
            <a:fld id="{FB57C0E7-1676-4CCD-9823-74B4EA77FAFD}"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4" name="标题 2"/>
          <p:cNvSpPr txBox="1"/>
          <p:nvPr/>
        </p:nvSpPr>
        <p:spPr>
          <a:xfrm>
            <a:off x="107909" y="46892"/>
            <a:ext cx="8147318" cy="914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en-US" altLang="zh-CN" sz="3470"/>
              <a:t>2.8.2  </a:t>
            </a:r>
            <a:r>
              <a:rPr lang="zh-CN" altLang="en-US" sz="3470"/>
              <a:t>多维数组</a:t>
            </a:r>
            <a:endParaRPr lang="zh-CN" altLang="en-US" sz="347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67586">
                                            <p:txEl>
                                              <p:pRg st="2" end="2"/>
                                            </p:txEl>
                                          </p:spTgt>
                                        </p:tgtEl>
                                        <p:attrNameLst>
                                          <p:attrName>style.visibility</p:attrName>
                                        </p:attrNameLst>
                                      </p:cBhvr>
                                      <p:to>
                                        <p:strVal val="visible"/>
                                      </p:to>
                                    </p:set>
                                    <p:animEffect transition="in" filter="blinds(horizontal)">
                                      <p:cBhvr>
                                        <p:cTn id="7" dur="500"/>
                                        <p:tgtEl>
                                          <p:spTgt spid="67586">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7586">
                                            <p:txEl>
                                              <p:pRg st="3" end="3"/>
                                            </p:txEl>
                                          </p:spTgt>
                                        </p:tgtEl>
                                        <p:attrNameLst>
                                          <p:attrName>style.visibility</p:attrName>
                                        </p:attrNameLst>
                                      </p:cBhvr>
                                      <p:to>
                                        <p:strVal val="visible"/>
                                      </p:to>
                                    </p:set>
                                    <p:animEffect transition="in" filter="blinds(horizontal)">
                                      <p:cBhvr>
                                        <p:cTn id="10" dur="500"/>
                                        <p:tgtEl>
                                          <p:spTgt spid="67586">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7586">
                                            <p:txEl>
                                              <p:pRg st="4" end="4"/>
                                            </p:txEl>
                                          </p:spTgt>
                                        </p:tgtEl>
                                        <p:attrNameLst>
                                          <p:attrName>style.visibility</p:attrName>
                                        </p:attrNameLst>
                                      </p:cBhvr>
                                      <p:to>
                                        <p:strVal val="visible"/>
                                      </p:to>
                                    </p:set>
                                    <p:animEffect transition="in" filter="blinds(horizontal)">
                                      <p:cBhvr>
                                        <p:cTn id="15" dur="500"/>
                                        <p:tgtEl>
                                          <p:spTgt spid="67586">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7586">
                                            <p:txEl>
                                              <p:pRg st="5" end="5"/>
                                            </p:txEl>
                                          </p:spTgt>
                                        </p:tgtEl>
                                        <p:attrNameLst>
                                          <p:attrName>style.visibility</p:attrName>
                                        </p:attrNameLst>
                                      </p:cBhvr>
                                      <p:to>
                                        <p:strVal val="visible"/>
                                      </p:to>
                                    </p:set>
                                    <p:animEffect transition="in" filter="blinds(horizontal)">
                                      <p:cBhvr>
                                        <p:cTn id="18" dur="500"/>
                                        <p:tgtEl>
                                          <p:spTgt spid="67586">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7586">
                                            <p:txEl>
                                              <p:pRg st="6" end="6"/>
                                            </p:txEl>
                                          </p:spTgt>
                                        </p:tgtEl>
                                        <p:attrNameLst>
                                          <p:attrName>style.visibility</p:attrName>
                                        </p:attrNameLst>
                                      </p:cBhvr>
                                      <p:to>
                                        <p:strVal val="visible"/>
                                      </p:to>
                                    </p:set>
                                    <p:animEffect transition="in" filter="blinds(horizontal)">
                                      <p:cBhvr>
                                        <p:cTn id="23" dur="500"/>
                                        <p:tgtEl>
                                          <p:spTgt spid="67586">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67586">
                                            <p:txEl>
                                              <p:pRg st="7" end="7"/>
                                            </p:txEl>
                                          </p:spTgt>
                                        </p:tgtEl>
                                        <p:attrNameLst>
                                          <p:attrName>style.visibility</p:attrName>
                                        </p:attrNameLst>
                                      </p:cBhvr>
                                      <p:to>
                                        <p:strVal val="visible"/>
                                      </p:to>
                                    </p:set>
                                    <p:animEffect transition="in" filter="blinds(horizontal)">
                                      <p:cBhvr>
                                        <p:cTn id="28" dur="500"/>
                                        <p:tgtEl>
                                          <p:spTgt spid="67586">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67586">
                                            <p:txEl>
                                              <p:pRg st="8" end="8"/>
                                            </p:txEl>
                                          </p:spTgt>
                                        </p:tgtEl>
                                        <p:attrNameLst>
                                          <p:attrName>style.visibility</p:attrName>
                                        </p:attrNameLst>
                                      </p:cBhvr>
                                      <p:to>
                                        <p:strVal val="visible"/>
                                      </p:to>
                                    </p:set>
                                    <p:animEffect transition="in" filter="blinds(horizontal)">
                                      <p:cBhvr>
                                        <p:cTn id="33" dur="500"/>
                                        <p:tgtEl>
                                          <p:spTgt spid="6758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75492" y="245946"/>
            <a:ext cx="9601200" cy="1142385"/>
          </a:xfrm>
        </p:spPr>
        <p:txBody>
          <a:bodyPr/>
          <a:lstStyle/>
          <a:p>
            <a:r>
              <a:rPr lang="zh-CN" altLang="en-US" dirty="0"/>
              <a:t>练习</a:t>
            </a:r>
            <a:endParaRPr lang="zh-CN" altLang="en-US" dirty="0"/>
          </a:p>
        </p:txBody>
      </p:sp>
      <p:sp>
        <p:nvSpPr>
          <p:cNvPr id="5" name="内容占位符 4"/>
          <p:cNvSpPr>
            <a:spLocks noGrp="1"/>
          </p:cNvSpPr>
          <p:nvPr>
            <p:ph idx="1"/>
          </p:nvPr>
        </p:nvSpPr>
        <p:spPr>
          <a:xfrm>
            <a:off x="592015" y="1453662"/>
            <a:ext cx="10896600" cy="3809999"/>
          </a:xfrm>
        </p:spPr>
        <p:txBody>
          <a:bodyPr>
            <a:normAutofit/>
          </a:bodyPr>
          <a:lstStyle/>
          <a:p>
            <a:pPr marL="0" lvl="0" indent="0">
              <a:buNone/>
            </a:pP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a:t>
            </a:r>
            <a:r>
              <a:rPr lang="zh-CN" altLang="zh-CN" sz="2800" dirty="0">
                <a:latin typeface="宋体" panose="02010600030101010101" pitchFamily="2" charset="-122"/>
                <a:ea typeface="宋体" panose="02010600030101010101" pitchFamily="2" charset="-122"/>
              </a:rPr>
              <a:t>编写一个</a:t>
            </a:r>
            <a:r>
              <a:rPr lang="en-US" altLang="zh-CN" sz="2800" dirty="0">
                <a:latin typeface="宋体" panose="02010600030101010101" pitchFamily="2" charset="-122"/>
                <a:ea typeface="宋体" panose="02010600030101010101" pitchFamily="2" charset="-122"/>
              </a:rPr>
              <a:t>Java </a:t>
            </a:r>
            <a:r>
              <a:rPr lang="zh-CN" altLang="zh-CN" sz="2800" dirty="0">
                <a:latin typeface="宋体" panose="02010600030101010101" pitchFamily="2" charset="-122"/>
                <a:ea typeface="宋体" panose="02010600030101010101" pitchFamily="2" charset="-122"/>
              </a:rPr>
              <a:t>程序，定义一个</a:t>
            </a:r>
            <a:r>
              <a:rPr lang="en-US" altLang="zh-CN" sz="2800" dirty="0">
                <a:latin typeface="宋体" panose="02010600030101010101" pitchFamily="2" charset="-122"/>
                <a:ea typeface="宋体" panose="02010600030101010101" pitchFamily="2" charset="-122"/>
              </a:rPr>
              <a:t>2</a:t>
            </a:r>
            <a:r>
              <a:rPr lang="zh-CN" altLang="zh-CN" sz="2800" dirty="0">
                <a:latin typeface="宋体" panose="02010600030101010101" pitchFamily="2" charset="-122"/>
                <a:ea typeface="宋体" panose="02010600030101010101" pitchFamily="2" charset="-122"/>
              </a:rPr>
              <a:t>行</a:t>
            </a:r>
            <a:r>
              <a:rPr lang="en-US" altLang="zh-CN" sz="2800" dirty="0">
                <a:latin typeface="宋体" panose="02010600030101010101" pitchFamily="2" charset="-122"/>
                <a:ea typeface="宋体" panose="02010600030101010101" pitchFamily="2" charset="-122"/>
              </a:rPr>
              <a:t>3</a:t>
            </a:r>
            <a:r>
              <a:rPr lang="zh-CN" altLang="zh-CN" sz="2800" dirty="0">
                <a:latin typeface="宋体" panose="02010600030101010101" pitchFamily="2" charset="-122"/>
                <a:ea typeface="宋体" panose="02010600030101010101" pitchFamily="2" charset="-122"/>
              </a:rPr>
              <a:t>列的整型数组，要求用户从键盘中为每个元素输入一个整数，然后输出每个数组元素的内容，再将二维数组的</a:t>
            </a:r>
            <a:r>
              <a:rPr lang="zh-CN" altLang="en-US" sz="2800" dirty="0">
                <a:latin typeface="宋体" panose="02010600030101010101" pitchFamily="2" charset="-122"/>
                <a:ea typeface="宋体" panose="02010600030101010101" pitchFamily="2" charset="-122"/>
              </a:rPr>
              <a:t>每一行数据排序</a:t>
            </a:r>
            <a:r>
              <a:rPr lang="zh-CN" altLang="zh-CN" sz="2800" dirty="0">
                <a:latin typeface="宋体" panose="02010600030101010101" pitchFamily="2" charset="-122"/>
                <a:ea typeface="宋体" panose="02010600030101010101" pitchFamily="2" charset="-122"/>
              </a:rPr>
              <a:t>，然后</a:t>
            </a:r>
            <a:r>
              <a:rPr lang="zh-CN" altLang="en-US" sz="2800" dirty="0">
                <a:latin typeface="宋体" panose="02010600030101010101" pitchFamily="2" charset="-122"/>
                <a:ea typeface="宋体" panose="02010600030101010101" pitchFamily="2" charset="-122"/>
              </a:rPr>
              <a:t>分行</a:t>
            </a:r>
            <a:r>
              <a:rPr lang="zh-CN" altLang="zh-CN" sz="2800" dirty="0">
                <a:latin typeface="宋体" panose="02010600030101010101" pitchFamily="2" charset="-122"/>
                <a:ea typeface="宋体" panose="02010600030101010101" pitchFamily="2" charset="-122"/>
              </a:rPr>
              <a:t>输出</a:t>
            </a:r>
            <a:r>
              <a:rPr lang="zh-CN" altLang="en-US" sz="2800" dirty="0">
                <a:latin typeface="宋体" panose="02010600030101010101" pitchFamily="2" charset="-122"/>
                <a:ea typeface="宋体" panose="02010600030101010101" pitchFamily="2" charset="-122"/>
              </a:rPr>
              <a:t>所有元素。</a:t>
            </a:r>
            <a:endParaRPr lang="zh-CN" altLang="zh-CN" sz="2800" dirty="0">
              <a:latin typeface="宋体" panose="02010600030101010101" pitchFamily="2" charset="-122"/>
              <a:ea typeface="宋体" panose="02010600030101010101" pitchFamily="2" charset="-122"/>
            </a:endParaRPr>
          </a:p>
          <a:p>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内容占位符 1"/>
          <p:cNvSpPr>
            <a:spLocks noGrp="1"/>
          </p:cNvSpPr>
          <p:nvPr>
            <p:ph idx="4294967295"/>
          </p:nvPr>
        </p:nvSpPr>
        <p:spPr>
          <a:xfrm>
            <a:off x="940247" y="1508765"/>
            <a:ext cx="9973937" cy="4570279"/>
          </a:xfrm>
        </p:spPr>
        <p:txBody>
          <a:bodyPr/>
          <a:lstStyle/>
          <a:p>
            <a:pPr marL="0" indent="353060">
              <a:buNone/>
            </a:pPr>
            <a:r>
              <a:rPr lang="en-US" altLang="zh-CN" sz="2820" b="1" dirty="0">
                <a:latin typeface="宋体" panose="02010600030101010101" pitchFamily="2" charset="-122"/>
                <a:ea typeface="宋体" panose="02010600030101010101" pitchFamily="2" charset="-122"/>
              </a:rPr>
              <a:t> Java</a:t>
            </a:r>
            <a:r>
              <a:rPr lang="zh-CN" altLang="en-US" sz="2820" b="1" dirty="0">
                <a:latin typeface="宋体" panose="02010600030101010101" pitchFamily="2" charset="-122"/>
                <a:ea typeface="宋体" panose="02010600030101010101" pitchFamily="2" charset="-122"/>
              </a:rPr>
              <a:t>语言将字符串分为字符串（</a:t>
            </a:r>
            <a:r>
              <a:rPr lang="en-US" altLang="zh-CN" sz="2820" b="1" dirty="0">
                <a:latin typeface="宋体" panose="02010600030101010101" pitchFamily="2" charset="-122"/>
                <a:ea typeface="宋体" panose="02010600030101010101" pitchFamily="2" charset="-122"/>
              </a:rPr>
              <a:t>String</a:t>
            </a:r>
            <a:r>
              <a:rPr lang="zh-CN" altLang="en-US" sz="2820" b="1" dirty="0">
                <a:latin typeface="宋体" panose="02010600030101010101" pitchFamily="2" charset="-122"/>
                <a:ea typeface="宋体" panose="02010600030101010101" pitchFamily="2" charset="-122"/>
              </a:rPr>
              <a:t>）类和字符串缓冲区（</a:t>
            </a:r>
            <a:r>
              <a:rPr lang="en-US" altLang="zh-CN" sz="2820" b="1" dirty="0" err="1">
                <a:latin typeface="宋体" panose="02010600030101010101" pitchFamily="2" charset="-122"/>
                <a:ea typeface="宋体" panose="02010600030101010101" pitchFamily="2" charset="-122"/>
              </a:rPr>
              <a:t>StringBuffer</a:t>
            </a:r>
            <a:r>
              <a:rPr lang="zh-CN" altLang="en-US" sz="2820" b="1" dirty="0">
                <a:latin typeface="宋体" panose="02010600030101010101" pitchFamily="2" charset="-122"/>
                <a:ea typeface="宋体" panose="02010600030101010101" pitchFamily="2" charset="-122"/>
              </a:rPr>
              <a:t>）类两种，两者的差异在于</a:t>
            </a:r>
            <a:r>
              <a:rPr lang="en-US" altLang="zh-CN" sz="2820" b="1" dirty="0">
                <a:latin typeface="宋体" panose="02010600030101010101" pitchFamily="2" charset="-122"/>
                <a:ea typeface="宋体" panose="02010600030101010101" pitchFamily="2" charset="-122"/>
              </a:rPr>
              <a:t>String</a:t>
            </a:r>
            <a:r>
              <a:rPr lang="zh-CN" altLang="en-US" sz="2820" b="1" dirty="0">
                <a:latin typeface="宋体" panose="02010600030101010101" pitchFamily="2" charset="-122"/>
                <a:ea typeface="宋体" panose="02010600030101010101" pitchFamily="2" charset="-122"/>
              </a:rPr>
              <a:t>类不能更改已声明的字符串内容，而</a:t>
            </a:r>
            <a:r>
              <a:rPr lang="en-US" altLang="zh-CN" sz="2820" b="1" dirty="0" err="1">
                <a:latin typeface="宋体" panose="02010600030101010101" pitchFamily="2" charset="-122"/>
                <a:ea typeface="宋体" panose="02010600030101010101" pitchFamily="2" charset="-122"/>
              </a:rPr>
              <a:t>StringBuffer</a:t>
            </a:r>
            <a:r>
              <a:rPr lang="zh-CN" altLang="en-US" sz="2820" b="1" dirty="0">
                <a:latin typeface="宋体" panose="02010600030101010101" pitchFamily="2" charset="-122"/>
                <a:ea typeface="宋体" panose="02010600030101010101" pitchFamily="2" charset="-122"/>
              </a:rPr>
              <a:t>类则可以更改。</a:t>
            </a:r>
            <a:endParaRPr lang="zh-CN" altLang="en-US" sz="2820" b="1" dirty="0">
              <a:latin typeface="宋体" panose="02010600030101010101" pitchFamily="2" charset="-122"/>
              <a:ea typeface="宋体" panose="02010600030101010101" pitchFamily="2" charset="-122"/>
            </a:endParaRPr>
          </a:p>
        </p:txBody>
      </p:sp>
      <p:sp>
        <p:nvSpPr>
          <p:cNvPr id="72707" name="标题 2"/>
          <p:cNvSpPr>
            <a:spLocks noGrp="1"/>
          </p:cNvSpPr>
          <p:nvPr>
            <p:ph type="title" idx="4294967295"/>
          </p:nvPr>
        </p:nvSpPr>
        <p:spPr>
          <a:xfrm>
            <a:off x="389263" y="316409"/>
            <a:ext cx="8147318" cy="914055"/>
          </a:xfrm>
        </p:spPr>
        <p:txBody>
          <a:bodyPr/>
          <a:lstStyle/>
          <a:p>
            <a:r>
              <a:rPr lang="en-US" altLang="zh-CN" dirty="0"/>
              <a:t>2.9</a:t>
            </a:r>
            <a:r>
              <a:rPr lang="zh-CN" altLang="en-US" dirty="0"/>
              <a:t>字符串的创建与使用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内容占位符 1"/>
          <p:cNvSpPr>
            <a:spLocks noGrp="1"/>
          </p:cNvSpPr>
          <p:nvPr>
            <p:ph idx="4294967295"/>
          </p:nvPr>
        </p:nvSpPr>
        <p:spPr>
          <a:xfrm>
            <a:off x="703385" y="1579552"/>
            <a:ext cx="10890738" cy="4570278"/>
          </a:xfrm>
        </p:spPr>
        <p:txBody>
          <a:bodyPr>
            <a:noAutofit/>
          </a:bodyPr>
          <a:lstStyle/>
          <a:p>
            <a:pPr marL="0" indent="353060">
              <a:lnSpc>
                <a:spcPct val="80000"/>
              </a:lnSpc>
              <a:buNone/>
            </a:pPr>
            <a:r>
              <a:rPr lang="zh-CN" altLang="en-US" sz="2800" b="1" dirty="0">
                <a:latin typeface="宋体" panose="02010600030101010101" pitchFamily="2" charset="-122"/>
                <a:ea typeface="宋体" panose="02010600030101010101" pitchFamily="2" charset="-122"/>
              </a:rPr>
              <a:t>声明格式如下：</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solidFill>
                  <a:srgbClr val="FF0000"/>
                </a:solidFill>
                <a:latin typeface="宋体" panose="02010600030101010101" pitchFamily="2" charset="-122"/>
                <a:ea typeface="宋体" panose="02010600030101010101" pitchFamily="2" charset="-122"/>
              </a:rPr>
              <a:t>String </a:t>
            </a:r>
            <a:r>
              <a:rPr lang="zh-CN" altLang="en-US" sz="2800" b="1" dirty="0">
                <a:solidFill>
                  <a:srgbClr val="FF0000"/>
                </a:solidFill>
                <a:latin typeface="宋体" panose="02010600030101010101" pitchFamily="2" charset="-122"/>
                <a:ea typeface="宋体" panose="02010600030101010101" pitchFamily="2" charset="-122"/>
              </a:rPr>
              <a:t>变量名；  变量名</a:t>
            </a:r>
            <a:r>
              <a:rPr lang="en-US" altLang="zh-CN" sz="2800" b="1" dirty="0">
                <a:solidFill>
                  <a:srgbClr val="FF0000"/>
                </a:solidFill>
                <a:latin typeface="宋体" panose="02010600030101010101" pitchFamily="2" charset="-122"/>
                <a:ea typeface="宋体" panose="02010600030101010101" pitchFamily="2" charset="-122"/>
              </a:rPr>
              <a:t>=new String(</a:t>
            </a:r>
            <a:r>
              <a:rPr lang="zh-CN" altLang="en-US" sz="2800" b="1" dirty="0">
                <a:solidFill>
                  <a:srgbClr val="FF0000"/>
                </a:solidFill>
                <a:latin typeface="宋体" panose="02010600030101010101" pitchFamily="2" charset="-122"/>
                <a:ea typeface="宋体" panose="02010600030101010101" pitchFamily="2" charset="-122"/>
              </a:rPr>
              <a:t>＂字符串＂</a:t>
            </a:r>
            <a:r>
              <a:rPr lang="en-US" altLang="zh-CN" sz="2800" b="1" dirty="0">
                <a:solidFill>
                  <a:srgbClr val="FF0000"/>
                </a:solidFill>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a:t>
            </a:r>
            <a:endParaRPr lang="zh-CN" altLang="en-US" sz="2800" b="1" dirty="0">
              <a:solidFill>
                <a:srgbClr val="FF0000"/>
              </a:solidFill>
              <a:latin typeface="宋体" panose="02010600030101010101" pitchFamily="2" charset="-122"/>
              <a:ea typeface="宋体" panose="02010600030101010101" pitchFamily="2" charset="-122"/>
            </a:endParaRPr>
          </a:p>
          <a:p>
            <a:pPr marL="0" indent="353060">
              <a:lnSpc>
                <a:spcPct val="80000"/>
              </a:lnSpc>
              <a:buNone/>
            </a:pPr>
            <a:r>
              <a:rPr lang="zh-CN" altLang="en-US" sz="2800" b="1" dirty="0">
                <a:latin typeface="宋体" panose="02010600030101010101" pitchFamily="2" charset="-122"/>
                <a:ea typeface="宋体" panose="02010600030101010101" pitchFamily="2" charset="-122"/>
              </a:rPr>
              <a:t>示例：</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String s</a:t>
            </a:r>
            <a:r>
              <a:rPr lang="zh-CN" altLang="en-US" sz="2800" b="1" dirty="0">
                <a:latin typeface="宋体" panose="02010600030101010101" pitchFamily="2" charset="-122"/>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此时</a:t>
            </a:r>
            <a:r>
              <a:rPr lang="en-US" altLang="zh-CN" sz="2800" b="1" dirty="0">
                <a:latin typeface="宋体" panose="02010600030101010101" pitchFamily="2" charset="-122"/>
                <a:ea typeface="宋体" panose="02010600030101010101" pitchFamily="2" charset="-122"/>
              </a:rPr>
              <a:t>s</a:t>
            </a:r>
            <a:r>
              <a:rPr lang="zh-CN" altLang="en-US" sz="2800" b="1" dirty="0">
                <a:latin typeface="宋体" panose="02010600030101010101" pitchFamily="2" charset="-122"/>
                <a:ea typeface="宋体" panose="02010600030101010101" pitchFamily="2" charset="-122"/>
              </a:rPr>
              <a:t>的值为</a:t>
            </a:r>
            <a:r>
              <a:rPr lang="en-US" altLang="zh-CN" sz="2800" b="1" dirty="0">
                <a:latin typeface="宋体" panose="02010600030101010101" pitchFamily="2" charset="-122"/>
                <a:ea typeface="宋体" panose="02010600030101010101" pitchFamily="2" charset="-122"/>
              </a:rPr>
              <a:t>null</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latin typeface="宋体" panose="02010600030101010101" pitchFamily="2" charset="-122"/>
                <a:ea typeface="宋体" panose="02010600030101010101" pitchFamily="2" charset="-122"/>
              </a:rPr>
              <a:t>s=new String(</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hello</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在堆内存中分配空间，并将</a:t>
            </a:r>
            <a:r>
              <a:rPr lang="en-US" altLang="zh-CN" sz="2800" b="1" dirty="0">
                <a:latin typeface="宋体" panose="02010600030101010101" pitchFamily="2" charset="-122"/>
                <a:ea typeface="宋体" panose="02010600030101010101" pitchFamily="2" charset="-122"/>
              </a:rPr>
              <a:t>s</a:t>
            </a:r>
            <a:r>
              <a:rPr lang="zh-CN" altLang="en-US" sz="2800" b="1" dirty="0">
                <a:latin typeface="宋体" panose="02010600030101010101" pitchFamily="2" charset="-122"/>
                <a:ea typeface="宋体" panose="02010600030101010101" pitchFamily="2" charset="-122"/>
              </a:rPr>
              <a:t>指向该字符串首地址</a:t>
            </a:r>
            <a:endParaRPr lang="en-US" altLang="zh-CN" sz="2800" b="1" dirty="0">
              <a:latin typeface="宋体" panose="02010600030101010101" pitchFamily="2" charset="-122"/>
              <a:ea typeface="宋体" panose="02010600030101010101" pitchFamily="2" charset="-122"/>
            </a:endParaRPr>
          </a:p>
          <a:p>
            <a:pPr marL="0" indent="353060">
              <a:lnSpc>
                <a:spcPct val="80000"/>
              </a:lnSpc>
              <a:buNone/>
            </a:pPr>
            <a:r>
              <a:rPr lang="zh-CN" altLang="en-US" sz="2800" b="1" dirty="0">
                <a:latin typeface="宋体" panose="02010600030101010101" pitchFamily="2" charset="-122"/>
                <a:ea typeface="宋体" panose="02010600030101010101" pitchFamily="2" charset="-122"/>
              </a:rPr>
              <a:t>上述的两个语句也可以合并成一个语句，其格式如下。</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r>
              <a:rPr lang="en-US" altLang="zh-CN" sz="2800" b="1" dirty="0">
                <a:solidFill>
                  <a:srgbClr val="FF0000"/>
                </a:solidFill>
                <a:latin typeface="宋体" panose="02010600030101010101" pitchFamily="2" charset="-122"/>
                <a:ea typeface="宋体" panose="02010600030101010101" pitchFamily="2" charset="-122"/>
              </a:rPr>
              <a:t>String </a:t>
            </a:r>
            <a:r>
              <a:rPr lang="zh-CN" altLang="en-US" sz="2800" b="1" dirty="0">
                <a:solidFill>
                  <a:srgbClr val="FF0000"/>
                </a:solidFill>
                <a:latin typeface="宋体" panose="02010600030101010101" pitchFamily="2" charset="-122"/>
                <a:ea typeface="宋体" panose="02010600030101010101" pitchFamily="2" charset="-122"/>
              </a:rPr>
              <a:t>变量名</a:t>
            </a:r>
            <a:r>
              <a:rPr lang="en-US" altLang="zh-CN" sz="2800" b="1" dirty="0">
                <a:solidFill>
                  <a:srgbClr val="FF0000"/>
                </a:solidFill>
                <a:latin typeface="宋体" panose="02010600030101010101" pitchFamily="2" charset="-122"/>
                <a:ea typeface="宋体" panose="02010600030101010101" pitchFamily="2" charset="-122"/>
              </a:rPr>
              <a:t>=new String(</a:t>
            </a:r>
            <a:r>
              <a:rPr lang="zh-CN" altLang="en-US" sz="2800" b="1" dirty="0">
                <a:solidFill>
                  <a:srgbClr val="FF0000"/>
                </a:solidFill>
                <a:latin typeface="宋体" panose="02010600030101010101" pitchFamily="2" charset="-122"/>
                <a:ea typeface="宋体" panose="02010600030101010101" pitchFamily="2" charset="-122"/>
              </a:rPr>
              <a:t>＂字符串＂</a:t>
            </a:r>
            <a:r>
              <a:rPr lang="en-US" altLang="zh-CN" sz="2800" b="1" dirty="0">
                <a:solidFill>
                  <a:srgbClr val="FF0000"/>
                </a:solidFill>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a:t>
            </a:r>
            <a:endParaRPr lang="zh-CN" altLang="en-US" sz="2800" b="1" dirty="0">
              <a:solidFill>
                <a:srgbClr val="FF0000"/>
              </a:solidFill>
              <a:latin typeface="宋体" panose="02010600030101010101" pitchFamily="2" charset="-122"/>
              <a:ea typeface="宋体" panose="02010600030101010101" pitchFamily="2" charset="-122"/>
            </a:endParaRPr>
          </a:p>
          <a:p>
            <a:pPr marL="0" indent="353060">
              <a:lnSpc>
                <a:spcPct val="80000"/>
              </a:lnSpc>
              <a:buNone/>
            </a:pPr>
            <a:r>
              <a:rPr lang="zh-CN" altLang="en-US" sz="2800" b="1" dirty="0">
                <a:latin typeface="宋体" panose="02010600030101010101" pitchFamily="2" charset="-122"/>
                <a:ea typeface="宋体" panose="02010600030101010101" pitchFamily="2" charset="-122"/>
              </a:rPr>
              <a:t>示例：  </a:t>
            </a:r>
            <a:r>
              <a:rPr lang="en-US" altLang="zh-CN" sz="2800" b="1" dirty="0">
                <a:latin typeface="宋体" panose="02010600030101010101" pitchFamily="2" charset="-122"/>
                <a:ea typeface="宋体" panose="02010600030101010101" pitchFamily="2" charset="-122"/>
              </a:rPr>
              <a:t>String s=new String(</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Hello</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endParaRPr lang="zh-CN" altLang="en-US" sz="2800" b="1" dirty="0">
              <a:latin typeface="宋体" panose="02010600030101010101" pitchFamily="2" charset="-122"/>
              <a:ea typeface="宋体" panose="02010600030101010101" pitchFamily="2" charset="-122"/>
            </a:endParaRPr>
          </a:p>
          <a:p>
            <a:pPr marL="0" indent="353060">
              <a:lnSpc>
                <a:spcPct val="80000"/>
              </a:lnSpc>
              <a:buNone/>
            </a:pPr>
            <a:endParaRPr lang="zh-CN" altLang="en-US" sz="2800" b="1" dirty="0">
              <a:latin typeface="宋体" panose="02010600030101010101" pitchFamily="2" charset="-122"/>
              <a:ea typeface="宋体" panose="02010600030101010101" pitchFamily="2" charset="-122"/>
            </a:endParaRPr>
          </a:p>
        </p:txBody>
      </p:sp>
      <p:sp>
        <p:nvSpPr>
          <p:cNvPr id="69635" name="标题 2"/>
          <p:cNvSpPr>
            <a:spLocks noGrp="1"/>
          </p:cNvSpPr>
          <p:nvPr>
            <p:ph type="title" idx="4294967295"/>
          </p:nvPr>
        </p:nvSpPr>
        <p:spPr>
          <a:xfrm>
            <a:off x="400986" y="541972"/>
            <a:ext cx="8147318" cy="914055"/>
          </a:xfrm>
        </p:spPr>
        <p:txBody>
          <a:bodyPr>
            <a:normAutofit fontScale="90000"/>
          </a:bodyPr>
          <a:lstStyle/>
          <a:p>
            <a:pPr algn="l"/>
            <a:r>
              <a:rPr lang="en-US" altLang="zh-CN" sz="3470" dirty="0"/>
              <a:t>2.9.1  String</a:t>
            </a:r>
            <a:r>
              <a:rPr lang="zh-CN" altLang="en-US" sz="3470" dirty="0"/>
              <a:t>类与</a:t>
            </a:r>
            <a:r>
              <a:rPr lang="en-US" altLang="zh-CN" sz="3470" dirty="0" err="1"/>
              <a:t>StringBuffer</a:t>
            </a:r>
            <a:r>
              <a:rPr lang="zh-CN" altLang="en-US" sz="3470" dirty="0"/>
              <a:t>类</a:t>
            </a:r>
            <a:br>
              <a:rPr lang="en-US" altLang="zh-CN" sz="3470" dirty="0"/>
            </a:br>
            <a:r>
              <a:rPr lang="zh-CN" altLang="en-US" sz="3470" dirty="0">
                <a:latin typeface="宋体" panose="02010600030101010101" pitchFamily="2" charset="-122"/>
                <a:ea typeface="宋体" panose="02010600030101010101" pitchFamily="2" charset="-122"/>
              </a:rPr>
              <a:t>（</a:t>
            </a:r>
            <a:r>
              <a:rPr lang="en-US" altLang="zh-CN" sz="3470" dirty="0">
                <a:latin typeface="宋体" panose="02010600030101010101" pitchFamily="2" charset="-122"/>
                <a:ea typeface="宋体" panose="02010600030101010101" pitchFamily="2" charset="-122"/>
              </a:rPr>
              <a:t>1</a:t>
            </a:r>
            <a:r>
              <a:rPr lang="zh-CN" altLang="en-US" sz="3470" dirty="0">
                <a:latin typeface="宋体" panose="02010600030101010101" pitchFamily="2" charset="-122"/>
                <a:ea typeface="宋体" panose="02010600030101010101" pitchFamily="2" charset="-122"/>
              </a:rPr>
              <a:t>）</a:t>
            </a:r>
            <a:r>
              <a:rPr lang="en-US" altLang="zh-CN" sz="3470" dirty="0">
                <a:latin typeface="宋体" panose="02010600030101010101" pitchFamily="2" charset="-122"/>
                <a:ea typeface="宋体" panose="02010600030101010101" pitchFamily="2" charset="-122"/>
              </a:rPr>
              <a:t>String</a:t>
            </a:r>
            <a:r>
              <a:rPr lang="zh-CN" altLang="en-US" sz="3470" dirty="0">
                <a:latin typeface="宋体" panose="02010600030101010101" pitchFamily="2" charset="-122"/>
                <a:ea typeface="宋体" panose="02010600030101010101" pitchFamily="2" charset="-122"/>
              </a:rPr>
              <a:t>类</a:t>
            </a:r>
            <a:endParaRPr lang="zh-CN" altLang="en-US" sz="347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635"/>
                                        </p:tgtEl>
                                        <p:attrNameLst>
                                          <p:attrName>style.visibility</p:attrName>
                                        </p:attrNameLst>
                                      </p:cBhvr>
                                      <p:to>
                                        <p:strVal val="visible"/>
                                      </p:to>
                                    </p:set>
                                    <p:animEffect transition="in" filter="blinds(horizontal)">
                                      <p:cBhvr>
                                        <p:cTn id="7" dur="500"/>
                                        <p:tgtEl>
                                          <p:spTgt spid="696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9634">
                                            <p:txEl>
                                              <p:pRg st="0" end="0"/>
                                            </p:txEl>
                                          </p:spTgt>
                                        </p:tgtEl>
                                        <p:attrNameLst>
                                          <p:attrName>style.visibility</p:attrName>
                                        </p:attrNameLst>
                                      </p:cBhvr>
                                      <p:to>
                                        <p:strVal val="visible"/>
                                      </p:to>
                                    </p:set>
                                    <p:animEffect transition="in" filter="blinds(horizontal)">
                                      <p:cBhvr>
                                        <p:cTn id="12" dur="500"/>
                                        <p:tgtEl>
                                          <p:spTgt spid="69634">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9634">
                                            <p:txEl>
                                              <p:pRg st="1" end="1"/>
                                            </p:txEl>
                                          </p:spTgt>
                                        </p:tgtEl>
                                        <p:attrNameLst>
                                          <p:attrName>style.visibility</p:attrName>
                                        </p:attrNameLst>
                                      </p:cBhvr>
                                      <p:to>
                                        <p:strVal val="visible"/>
                                      </p:to>
                                    </p:set>
                                    <p:animEffect transition="in" filter="blinds(horizontal)">
                                      <p:cBhvr>
                                        <p:cTn id="15" dur="500"/>
                                        <p:tgtEl>
                                          <p:spTgt spid="6963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69634">
                                            <p:txEl>
                                              <p:pRg st="2" end="2"/>
                                            </p:txEl>
                                          </p:spTgt>
                                        </p:tgtEl>
                                        <p:attrNameLst>
                                          <p:attrName>style.visibility</p:attrName>
                                        </p:attrNameLst>
                                      </p:cBhvr>
                                      <p:to>
                                        <p:strVal val="visible"/>
                                      </p:to>
                                    </p:set>
                                    <p:animEffect transition="in" filter="blinds(horizontal)">
                                      <p:cBhvr>
                                        <p:cTn id="20" dur="500"/>
                                        <p:tgtEl>
                                          <p:spTgt spid="69634">
                                            <p:txEl>
                                              <p:pRg st="2" end="2"/>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69634">
                                            <p:txEl>
                                              <p:pRg st="3" end="3"/>
                                            </p:txEl>
                                          </p:spTgt>
                                        </p:tgtEl>
                                        <p:attrNameLst>
                                          <p:attrName>style.visibility</p:attrName>
                                        </p:attrNameLst>
                                      </p:cBhvr>
                                      <p:to>
                                        <p:strVal val="visible"/>
                                      </p:to>
                                    </p:set>
                                    <p:animEffect transition="in" filter="blinds(horizontal)">
                                      <p:cBhvr>
                                        <p:cTn id="23" dur="500"/>
                                        <p:tgtEl>
                                          <p:spTgt spid="69634">
                                            <p:txEl>
                                              <p:pRg st="3" end="3"/>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9634">
                                            <p:txEl>
                                              <p:pRg st="4" end="4"/>
                                            </p:txEl>
                                          </p:spTgt>
                                        </p:tgtEl>
                                        <p:attrNameLst>
                                          <p:attrName>style.visibility</p:attrName>
                                        </p:attrNameLst>
                                      </p:cBhvr>
                                      <p:to>
                                        <p:strVal val="visible"/>
                                      </p:to>
                                    </p:set>
                                    <p:animEffect transition="in" filter="blinds(horizontal)">
                                      <p:cBhvr>
                                        <p:cTn id="26" dur="500"/>
                                        <p:tgtEl>
                                          <p:spTgt spid="69634">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69634">
                                            <p:txEl>
                                              <p:pRg st="5" end="5"/>
                                            </p:txEl>
                                          </p:spTgt>
                                        </p:tgtEl>
                                        <p:attrNameLst>
                                          <p:attrName>style.visibility</p:attrName>
                                        </p:attrNameLst>
                                      </p:cBhvr>
                                      <p:to>
                                        <p:strVal val="visible"/>
                                      </p:to>
                                    </p:set>
                                    <p:animEffect transition="in" filter="blinds(horizontal)">
                                      <p:cBhvr>
                                        <p:cTn id="31" dur="500"/>
                                        <p:tgtEl>
                                          <p:spTgt spid="69634">
                                            <p:txEl>
                                              <p:pRg st="5" end="5"/>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69634">
                                            <p:txEl>
                                              <p:pRg st="6" end="6"/>
                                            </p:txEl>
                                          </p:spTgt>
                                        </p:tgtEl>
                                        <p:attrNameLst>
                                          <p:attrName>style.visibility</p:attrName>
                                        </p:attrNameLst>
                                      </p:cBhvr>
                                      <p:to>
                                        <p:strVal val="visible"/>
                                      </p:to>
                                    </p:set>
                                    <p:animEffect transition="in" filter="blinds(horizontal)">
                                      <p:cBhvr>
                                        <p:cTn id="34" dur="500"/>
                                        <p:tgtEl>
                                          <p:spTgt spid="69634">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69634">
                                            <p:txEl>
                                              <p:pRg st="7" end="7"/>
                                            </p:txEl>
                                          </p:spTgt>
                                        </p:tgtEl>
                                        <p:attrNameLst>
                                          <p:attrName>style.visibility</p:attrName>
                                        </p:attrNameLst>
                                      </p:cBhvr>
                                      <p:to>
                                        <p:strVal val="visible"/>
                                      </p:to>
                                    </p:set>
                                    <p:animEffect transition="in" filter="blinds(horizontal)">
                                      <p:cBhvr>
                                        <p:cTn id="39" dur="500"/>
                                        <p:tgtEl>
                                          <p:spTgt spid="6963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内容占位符 1"/>
          <p:cNvSpPr>
            <a:spLocks noGrp="1"/>
          </p:cNvSpPr>
          <p:nvPr>
            <p:ph idx="4294967295"/>
          </p:nvPr>
        </p:nvSpPr>
        <p:spPr>
          <a:xfrm>
            <a:off x="772691" y="1321195"/>
            <a:ext cx="10692477" cy="4570279"/>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还有一种直接利用双引号括起来的字符串为新建的</a:t>
            </a:r>
            <a:r>
              <a:rPr lang="en-US" altLang="zh-CN" sz="2800" b="1" dirty="0">
                <a:latin typeface="宋体" panose="02010600030101010101" pitchFamily="2" charset="-122"/>
                <a:ea typeface="宋体" panose="02010600030101010101" pitchFamily="2" charset="-122"/>
              </a:rPr>
              <a:t>String</a:t>
            </a:r>
            <a:r>
              <a:rPr lang="zh-CN" altLang="en-US" sz="2800" b="1" dirty="0">
                <a:latin typeface="宋体" panose="02010600030101010101" pitchFamily="2" charset="-122"/>
                <a:ea typeface="宋体" panose="02010600030101010101" pitchFamily="2" charset="-122"/>
              </a:rPr>
              <a:t>对象赋值，即在声明字符串变量时直接初始化。</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solidFill>
                  <a:srgbClr val="FF0000"/>
                </a:solidFill>
                <a:latin typeface="宋体" panose="02010600030101010101" pitchFamily="2" charset="-122"/>
                <a:ea typeface="宋体" panose="02010600030101010101" pitchFamily="2" charset="-122"/>
              </a:rPr>
              <a:t>String </a:t>
            </a:r>
            <a:r>
              <a:rPr lang="zh-CN" altLang="en-US" sz="2800" b="1" dirty="0">
                <a:solidFill>
                  <a:srgbClr val="FF0000"/>
                </a:solidFill>
                <a:latin typeface="宋体" panose="02010600030101010101" pitchFamily="2" charset="-122"/>
                <a:ea typeface="宋体" panose="02010600030101010101" pitchFamily="2" charset="-122"/>
              </a:rPr>
              <a:t>变量名</a:t>
            </a:r>
            <a:r>
              <a:rPr lang="en-US" altLang="zh-CN" sz="2800" b="1" dirty="0">
                <a:solidFill>
                  <a:srgbClr val="FF0000"/>
                </a:solidFill>
                <a:latin typeface="宋体" panose="02010600030101010101" pitchFamily="2" charset="-122"/>
                <a:ea typeface="宋体" panose="02010600030101010101" pitchFamily="2" charset="-122"/>
              </a:rPr>
              <a:t>=</a:t>
            </a:r>
            <a:r>
              <a:rPr lang="zh-CN" altLang="en-US" sz="2800" b="1" dirty="0">
                <a:solidFill>
                  <a:srgbClr val="FF0000"/>
                </a:solidFill>
                <a:latin typeface="宋体" panose="02010600030101010101" pitchFamily="2" charset="-122"/>
                <a:ea typeface="宋体" panose="02010600030101010101" pitchFamily="2" charset="-122"/>
              </a:rPr>
              <a:t>＂字符串＂；</a:t>
            </a:r>
            <a:endParaRPr lang="zh-CN" altLang="en-US" sz="2800" b="1" dirty="0">
              <a:solidFill>
                <a:srgbClr val="FF0000"/>
              </a:solidFill>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示例：</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String s=</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Hello</a:t>
            </a:r>
            <a:r>
              <a:rPr lang="zh-CN" altLang="en-US"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solidFill>
                  <a:srgbClr val="0000FF"/>
                </a:solidFill>
                <a:latin typeface="宋体" panose="02010600030101010101" pitchFamily="2" charset="-122"/>
                <a:ea typeface="宋体" panose="02010600030101010101" pitchFamily="2" charset="-122"/>
              </a:rPr>
              <a:t>值得注意的是，利用</a:t>
            </a:r>
            <a:r>
              <a:rPr lang="en-US" altLang="zh-CN" sz="2800" b="1" dirty="0">
                <a:solidFill>
                  <a:srgbClr val="0000FF"/>
                </a:solidFill>
                <a:latin typeface="宋体" panose="02010600030101010101" pitchFamily="2" charset="-122"/>
                <a:ea typeface="宋体" panose="02010600030101010101" pitchFamily="2" charset="-122"/>
              </a:rPr>
              <a:t>String</a:t>
            </a:r>
            <a:r>
              <a:rPr lang="zh-CN" altLang="en-US" sz="2800" b="1" dirty="0">
                <a:solidFill>
                  <a:srgbClr val="0000FF"/>
                </a:solidFill>
                <a:latin typeface="宋体" panose="02010600030101010101" pitchFamily="2" charset="-122"/>
                <a:ea typeface="宋体" panose="02010600030101010101" pitchFamily="2" charset="-122"/>
              </a:rPr>
              <a:t>类创建的字符串变量一旦被初始化或赋值，它的值和所分配的内存内容就不可再改变。</a:t>
            </a:r>
            <a:endParaRPr lang="zh-CN" altLang="en-US" sz="2800" b="1" dirty="0">
              <a:solidFill>
                <a:srgbClr val="0000FF"/>
              </a:solidFill>
              <a:latin typeface="宋体" panose="02010600030101010101" pitchFamily="2" charset="-122"/>
              <a:ea typeface="宋体" panose="02010600030101010101" pitchFamily="2" charset="-122"/>
            </a:endParaRPr>
          </a:p>
        </p:txBody>
      </p:sp>
      <p:sp>
        <p:nvSpPr>
          <p:cNvPr id="3" name="标题 2"/>
          <p:cNvSpPr txBox="1"/>
          <p:nvPr/>
        </p:nvSpPr>
        <p:spPr>
          <a:xfrm>
            <a:off x="213417" y="213726"/>
            <a:ext cx="8147318" cy="914055"/>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zh-CN" altLang="en-US" sz="3470" dirty="0">
                <a:latin typeface="宋体" panose="02010600030101010101" pitchFamily="2" charset="-122"/>
                <a:ea typeface="宋体" panose="02010600030101010101" pitchFamily="2" charset="-122"/>
              </a:rPr>
              <a:t>（</a:t>
            </a:r>
            <a:r>
              <a:rPr lang="en-US" altLang="zh-CN" sz="3470" dirty="0">
                <a:latin typeface="宋体" panose="02010600030101010101" pitchFamily="2" charset="-122"/>
                <a:ea typeface="宋体" panose="02010600030101010101" pitchFamily="2" charset="-122"/>
              </a:rPr>
              <a:t>1</a:t>
            </a:r>
            <a:r>
              <a:rPr lang="zh-CN" altLang="en-US" sz="3470" dirty="0">
                <a:latin typeface="宋体" panose="02010600030101010101" pitchFamily="2" charset="-122"/>
                <a:ea typeface="宋体" panose="02010600030101010101" pitchFamily="2" charset="-122"/>
              </a:rPr>
              <a:t>）</a:t>
            </a:r>
            <a:r>
              <a:rPr lang="en-US" altLang="zh-CN" sz="3470" dirty="0">
                <a:latin typeface="宋体" panose="02010600030101010101" pitchFamily="2" charset="-122"/>
                <a:ea typeface="宋体" panose="02010600030101010101" pitchFamily="2" charset="-122"/>
              </a:rPr>
              <a:t>String</a:t>
            </a:r>
            <a:r>
              <a:rPr lang="zh-CN" altLang="en-US" sz="3470" dirty="0">
                <a:latin typeface="宋体" panose="02010600030101010101" pitchFamily="2" charset="-122"/>
                <a:ea typeface="宋体" panose="02010600030101010101" pitchFamily="2" charset="-122"/>
              </a:rPr>
              <a:t>类</a:t>
            </a:r>
            <a:endParaRPr lang="zh-CN" altLang="en-US" sz="347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0658">
                                            <p:txEl>
                                              <p:pRg st="0" end="0"/>
                                            </p:txEl>
                                          </p:spTgt>
                                        </p:tgtEl>
                                        <p:attrNameLst>
                                          <p:attrName>style.visibility</p:attrName>
                                        </p:attrNameLst>
                                      </p:cBhvr>
                                      <p:to>
                                        <p:strVal val="visible"/>
                                      </p:to>
                                    </p:set>
                                    <p:animEffect transition="in" filter="blinds(horizontal)">
                                      <p:cBhvr>
                                        <p:cTn id="7" dur="500"/>
                                        <p:tgtEl>
                                          <p:spTgt spid="706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0658">
                                            <p:txEl>
                                              <p:pRg st="1" end="1"/>
                                            </p:txEl>
                                          </p:spTgt>
                                        </p:tgtEl>
                                        <p:attrNameLst>
                                          <p:attrName>style.visibility</p:attrName>
                                        </p:attrNameLst>
                                      </p:cBhvr>
                                      <p:to>
                                        <p:strVal val="visible"/>
                                      </p:to>
                                    </p:set>
                                    <p:animEffect transition="in" filter="blinds(horizontal)">
                                      <p:cBhvr>
                                        <p:cTn id="12" dur="500"/>
                                        <p:tgtEl>
                                          <p:spTgt spid="706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0658">
                                            <p:txEl>
                                              <p:pRg st="2" end="2"/>
                                            </p:txEl>
                                          </p:spTgt>
                                        </p:tgtEl>
                                        <p:attrNameLst>
                                          <p:attrName>style.visibility</p:attrName>
                                        </p:attrNameLst>
                                      </p:cBhvr>
                                      <p:to>
                                        <p:strVal val="visible"/>
                                      </p:to>
                                    </p:set>
                                    <p:animEffect transition="in" filter="blinds(horizontal)">
                                      <p:cBhvr>
                                        <p:cTn id="17" dur="500"/>
                                        <p:tgtEl>
                                          <p:spTgt spid="70658">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70658">
                                            <p:txEl>
                                              <p:pRg st="3" end="3"/>
                                            </p:txEl>
                                          </p:spTgt>
                                        </p:tgtEl>
                                        <p:attrNameLst>
                                          <p:attrName>style.visibility</p:attrName>
                                        </p:attrNameLst>
                                      </p:cBhvr>
                                      <p:to>
                                        <p:strVal val="visible"/>
                                      </p:to>
                                    </p:set>
                                    <p:animEffect transition="in" filter="blinds(horizontal)">
                                      <p:cBhvr>
                                        <p:cTn id="20" dur="500"/>
                                        <p:tgtEl>
                                          <p:spTgt spid="7065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70658">
                                            <p:txEl>
                                              <p:pRg st="4" end="4"/>
                                            </p:txEl>
                                          </p:spTgt>
                                        </p:tgtEl>
                                        <p:attrNameLst>
                                          <p:attrName>style.visibility</p:attrName>
                                        </p:attrNameLst>
                                      </p:cBhvr>
                                      <p:to>
                                        <p:strVal val="visible"/>
                                      </p:to>
                                    </p:set>
                                    <p:animEffect transition="in" filter="blinds(horizontal)">
                                      <p:cBhvr>
                                        <p:cTn id="25" dur="500"/>
                                        <p:tgtEl>
                                          <p:spTgt spid="70658">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blinds(horizontal)">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内容占位符 1"/>
          <p:cNvSpPr>
            <a:spLocks noGrp="1"/>
          </p:cNvSpPr>
          <p:nvPr>
            <p:ph idx="4294967295"/>
          </p:nvPr>
        </p:nvSpPr>
        <p:spPr>
          <a:xfrm>
            <a:off x="633046" y="1414980"/>
            <a:ext cx="10574215" cy="4570279"/>
          </a:xfrm>
        </p:spPr>
        <p:txBody>
          <a:bodyPr>
            <a:normAutofit/>
          </a:bodyPr>
          <a:lstStyle/>
          <a:p>
            <a:pPr marL="0" indent="353060">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StringBuffer</a:t>
            </a:r>
            <a:r>
              <a:rPr lang="zh-CN" altLang="en-US" sz="2800" b="1" dirty="0">
                <a:latin typeface="宋体" panose="02010600030101010101" pitchFamily="2" charset="-122"/>
                <a:ea typeface="宋体" panose="02010600030101010101" pitchFamily="2" charset="-122"/>
              </a:rPr>
              <a:t>对象的</a:t>
            </a:r>
            <a:r>
              <a:rPr lang="zh-CN" altLang="en-US" sz="2800" b="1" dirty="0">
                <a:solidFill>
                  <a:srgbClr val="FF0000"/>
                </a:solidFill>
                <a:latin typeface="宋体" panose="02010600030101010101" pitchFamily="2" charset="-122"/>
                <a:ea typeface="宋体" panose="02010600030101010101" pitchFamily="2" charset="-122"/>
              </a:rPr>
              <a:t>每次修改都会改变对象自身</a:t>
            </a:r>
            <a:r>
              <a:rPr lang="zh-CN" altLang="en-US" sz="2800" b="1" dirty="0">
                <a:latin typeface="宋体" panose="02010600030101010101" pitchFamily="2" charset="-122"/>
                <a:ea typeface="宋体" panose="02010600030101010101" pitchFamily="2" charset="-122"/>
              </a:rPr>
              <a:t>，并且由于</a:t>
            </a:r>
            <a:r>
              <a:rPr lang="en-US" altLang="zh-CN" sz="2800" b="1" dirty="0" err="1">
                <a:latin typeface="宋体" panose="02010600030101010101" pitchFamily="2" charset="-122"/>
                <a:ea typeface="宋体" panose="02010600030101010101" pitchFamily="2" charset="-122"/>
              </a:rPr>
              <a:t>StringBuffer</a:t>
            </a:r>
            <a:r>
              <a:rPr lang="zh-CN" altLang="en-US" sz="2800" b="1" dirty="0">
                <a:latin typeface="宋体" panose="02010600030101010101" pitchFamily="2" charset="-122"/>
                <a:ea typeface="宋体" panose="02010600030101010101" pitchFamily="2" charset="-122"/>
              </a:rPr>
              <a:t>的内部实现方式和</a:t>
            </a:r>
            <a:r>
              <a:rPr lang="en-US" altLang="zh-CN" sz="2800" b="1" dirty="0">
                <a:latin typeface="宋体" panose="02010600030101010101" pitchFamily="2" charset="-122"/>
                <a:ea typeface="宋体" panose="02010600030101010101" pitchFamily="2" charset="-122"/>
              </a:rPr>
              <a:t>String</a:t>
            </a:r>
            <a:r>
              <a:rPr lang="zh-CN" altLang="en-US" sz="2800" b="1" dirty="0">
                <a:latin typeface="宋体" panose="02010600030101010101" pitchFamily="2" charset="-122"/>
                <a:ea typeface="宋体" panose="02010600030101010101" pitchFamily="2" charset="-122"/>
              </a:rPr>
              <a:t>不同，所以</a:t>
            </a:r>
            <a:r>
              <a:rPr lang="en-US" altLang="zh-CN" sz="2800" b="1" dirty="0" err="1">
                <a:latin typeface="宋体" panose="02010600030101010101" pitchFamily="2" charset="-122"/>
                <a:ea typeface="宋体" panose="02010600030101010101" pitchFamily="2" charset="-122"/>
              </a:rPr>
              <a:t>StringBuffer</a:t>
            </a:r>
            <a:r>
              <a:rPr lang="zh-CN" altLang="en-US" sz="2800" b="1" dirty="0">
                <a:latin typeface="宋体" panose="02010600030101010101" pitchFamily="2" charset="-122"/>
                <a:ea typeface="宋体" panose="02010600030101010101" pitchFamily="2" charset="-122"/>
              </a:rPr>
              <a:t>在进行字符串处理时不生成新的对象，在内存使用上要优于</a:t>
            </a:r>
            <a:r>
              <a:rPr lang="en-US" altLang="zh-CN" sz="2800" b="1" dirty="0">
                <a:latin typeface="宋体" panose="02010600030101010101" pitchFamily="2" charset="-122"/>
                <a:ea typeface="宋体" panose="02010600030101010101" pitchFamily="2" charset="-122"/>
              </a:rPr>
              <a:t>String</a:t>
            </a:r>
            <a:r>
              <a:rPr lang="zh-CN" altLang="en-US" sz="2800" b="1" dirty="0">
                <a:latin typeface="宋体" panose="02010600030101010101" pitchFamily="2" charset="-122"/>
                <a:ea typeface="宋体" panose="02010600030101010101" pitchFamily="2" charset="-122"/>
              </a:rPr>
              <a:t>类。</a:t>
            </a:r>
            <a:endParaRPr lang="en-US" altLang="zh-CN"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所以在实际使用时，如果经常需要对一个字符串进行修改，如插入、删除等操作，通常会选择使用</a:t>
            </a:r>
            <a:r>
              <a:rPr lang="en-US" altLang="zh-CN" sz="2800" b="1" dirty="0" err="1">
                <a:latin typeface="宋体" panose="02010600030101010101" pitchFamily="2" charset="-122"/>
                <a:ea typeface="宋体" panose="02010600030101010101" pitchFamily="2" charset="-122"/>
              </a:rPr>
              <a:t>StringBuffer</a:t>
            </a:r>
            <a:r>
              <a:rPr lang="zh-CN" altLang="en-US" sz="2800" b="1" dirty="0">
                <a:latin typeface="宋体" panose="02010600030101010101" pitchFamily="2" charset="-122"/>
                <a:ea typeface="宋体" panose="02010600030101010101" pitchFamily="2" charset="-122"/>
              </a:rPr>
              <a:t>类。</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75779" name="标题 2"/>
          <p:cNvSpPr>
            <a:spLocks noGrp="1"/>
          </p:cNvSpPr>
          <p:nvPr>
            <p:ph type="title" idx="4294967295"/>
          </p:nvPr>
        </p:nvSpPr>
        <p:spPr>
          <a:xfrm>
            <a:off x="354094" y="419039"/>
            <a:ext cx="8147318" cy="914055"/>
          </a:xfrm>
        </p:spPr>
        <p:txBody>
          <a:bodyPr/>
          <a:lstStyle/>
          <a:p>
            <a:pPr algn="l"/>
            <a:r>
              <a:rPr lang="zh-CN" altLang="en-US" sz="3470" dirty="0"/>
              <a:t>（</a:t>
            </a:r>
            <a:r>
              <a:rPr lang="en-US" altLang="zh-CN" sz="3470" dirty="0"/>
              <a:t>2</a:t>
            </a:r>
            <a:r>
              <a:rPr lang="zh-CN" altLang="en-US" sz="3470" dirty="0"/>
              <a:t>）</a:t>
            </a:r>
            <a:r>
              <a:rPr lang="en-US" altLang="zh-CN" sz="3470" dirty="0" err="1"/>
              <a:t>StringBuffer</a:t>
            </a:r>
            <a:r>
              <a:rPr lang="zh-CN" altLang="en-US" sz="3470" dirty="0"/>
              <a:t>类</a:t>
            </a:r>
            <a:endParaRPr lang="zh-CN" altLang="en-US" sz="347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682">
                                            <p:txEl>
                                              <p:pRg st="0" end="0"/>
                                            </p:txEl>
                                          </p:spTgt>
                                        </p:tgtEl>
                                        <p:attrNameLst>
                                          <p:attrName>style.visibility</p:attrName>
                                        </p:attrNameLst>
                                      </p:cBhvr>
                                      <p:to>
                                        <p:strVal val="visible"/>
                                      </p:to>
                                    </p:set>
                                    <p:animEffect transition="in" filter="blinds(horizontal)">
                                      <p:cBhvr>
                                        <p:cTn id="7" dur="500"/>
                                        <p:tgtEl>
                                          <p:spTgt spid="716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682">
                                            <p:txEl>
                                              <p:pRg st="1" end="1"/>
                                            </p:txEl>
                                          </p:spTgt>
                                        </p:tgtEl>
                                        <p:attrNameLst>
                                          <p:attrName>style.visibility</p:attrName>
                                        </p:attrNameLst>
                                      </p:cBhvr>
                                      <p:to>
                                        <p:strVal val="visible"/>
                                      </p:to>
                                    </p:set>
                                    <p:animEffect transition="in" filter="blinds(horizontal)">
                                      <p:cBhvr>
                                        <p:cTn id="12" dur="500"/>
                                        <p:tgtEl>
                                          <p:spTgt spid="7168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30" name="Group 2"/>
          <p:cNvGraphicFramePr>
            <a:graphicFrameLocks noGrp="1"/>
          </p:cNvGraphicFramePr>
          <p:nvPr>
            <p:ph idx="4294967295"/>
          </p:nvPr>
        </p:nvGraphicFramePr>
        <p:xfrm>
          <a:off x="1303663" y="1957216"/>
          <a:ext cx="8300521" cy="2316986"/>
        </p:xfrm>
        <a:graphic>
          <a:graphicData uri="http://schemas.openxmlformats.org/drawingml/2006/table">
            <a:tbl>
              <a:tblPr/>
              <a:tblGrid>
                <a:gridCol w="2943569"/>
                <a:gridCol w="5356952"/>
              </a:tblGrid>
              <a:tr h="525023">
                <a:tc>
                  <a:txBody>
                    <a:bodyPr/>
                    <a:lstStyle/>
                    <a:p>
                      <a:pPr marL="0" marR="0" lvl="0" indent="0" algn="ctr" defTabSz="914400" rtl="0" eaLnBrk="1" fontAlgn="base" latinLnBrk="0" hangingPunct="1">
                        <a:lnSpc>
                          <a:spcPct val="125000"/>
                        </a:lnSpc>
                        <a:spcBef>
                          <a:spcPct val="0"/>
                        </a:spcBef>
                        <a:spcAft>
                          <a:spcPct val="0"/>
                        </a:spcAft>
                        <a:buClrTx/>
                        <a:buSzTx/>
                        <a:buFont typeface="Monotype Sorts"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构造方法</a:t>
                      </a:r>
                      <a:endParaRPr kumimoji="0" lang="zh-CN"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6850" marR="268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5000"/>
                        </a:lnSpc>
                        <a:spcBef>
                          <a:spcPct val="0"/>
                        </a:spcBef>
                        <a:spcAft>
                          <a:spcPct val="0"/>
                        </a:spcAft>
                        <a:buClrTx/>
                        <a:buSzTx/>
                        <a:buFont typeface="Monotype Sorts"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作用描述</a:t>
                      </a:r>
                      <a:endParaRPr kumimoji="0" lang="zh-CN"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6850" marR="268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23301">
                <a:tc>
                  <a:txBody>
                    <a:bodyPr/>
                    <a:lstStyle/>
                    <a:p>
                      <a:pPr marL="0" marR="0" lvl="0" indent="0" algn="just" defTabSz="914400" rtl="0" eaLnBrk="1" fontAlgn="base" latinLnBrk="0" hangingPunct="1">
                        <a:lnSpc>
                          <a:spcPct val="125000"/>
                        </a:lnSpc>
                        <a:spcBef>
                          <a:spcPct val="0"/>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StringBuffer( )</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6850" marR="268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5000"/>
                        </a:lnSpc>
                        <a:spcBef>
                          <a:spcPct val="0"/>
                        </a:spcBef>
                        <a:spcAft>
                          <a:spcPct val="0"/>
                        </a:spcAft>
                        <a:buClrTx/>
                        <a:buSzTx/>
                        <a:buFont typeface="Monotype Sorts"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构造一个没有任何字符的</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StringBuffer</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类</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6850" marR="268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43639">
                <a:tc>
                  <a:txBody>
                    <a:bodyPr/>
                    <a:lstStyle/>
                    <a:p>
                      <a:pPr marL="0" marR="0" lvl="0" indent="0" algn="just" defTabSz="914400" rtl="0" eaLnBrk="1" fontAlgn="base" latinLnBrk="0" hangingPunct="1">
                        <a:lnSpc>
                          <a:spcPct val="125000"/>
                        </a:lnSpc>
                        <a:spcBef>
                          <a:spcPct val="0"/>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StringBuffer(int length)</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6850" marR="268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5000"/>
                        </a:lnSpc>
                        <a:spcBef>
                          <a:spcPct val="0"/>
                        </a:spcBef>
                        <a:spcAft>
                          <a:spcPct val="0"/>
                        </a:spcAft>
                        <a:buClrTx/>
                        <a:buSzTx/>
                        <a:buFont typeface="Monotype Sorts"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构造一个没有任何字符的</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StringBuffer</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类，并且其长度为</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length</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6850" marR="268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25023">
                <a:tc>
                  <a:txBody>
                    <a:bodyPr/>
                    <a:lstStyle/>
                    <a:p>
                      <a:pPr marL="0" marR="0" lvl="0" indent="0" algn="just" defTabSz="914400" rtl="0" eaLnBrk="1" fontAlgn="base" latinLnBrk="0" hangingPunct="1">
                        <a:lnSpc>
                          <a:spcPct val="125000"/>
                        </a:lnSpc>
                        <a:spcBef>
                          <a:spcPct val="0"/>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StringBuffer(String str)</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6850" marR="268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5000"/>
                        </a:lnSpc>
                        <a:spcBef>
                          <a:spcPct val="0"/>
                        </a:spcBef>
                        <a:spcAft>
                          <a:spcPct val="0"/>
                        </a:spcAft>
                        <a:buClrTx/>
                        <a:buSzTx/>
                        <a:buFont typeface="Monotype Sorts"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以</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str</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为初始值构造一个</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StringBuffer</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类</a:t>
                      </a: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6850" marR="2685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6820" name="矩形 4"/>
          <p:cNvSpPr>
            <a:spLocks noChangeArrowheads="1"/>
          </p:cNvSpPr>
          <p:nvPr/>
        </p:nvSpPr>
        <p:spPr bwMode="auto">
          <a:xfrm>
            <a:off x="3927055" y="1337517"/>
            <a:ext cx="4150869" cy="41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8925" tIns="39462" rIns="78925" bIns="39462">
            <a:spAutoFit/>
          </a:bodyPr>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r>
              <a:rPr lang="zh-CN" altLang="en-US" sz="2170"/>
              <a:t>表</a:t>
            </a:r>
            <a:r>
              <a:rPr lang="en-US" altLang="zh-CN" sz="2170"/>
              <a:t>2-13	</a:t>
            </a:r>
            <a:r>
              <a:rPr lang="zh-CN" altLang="en-US" sz="2170"/>
              <a:t>使用构造方法进行初始化</a:t>
            </a:r>
            <a:endParaRPr lang="zh-CN" altLang="en-US" sz="2170"/>
          </a:p>
        </p:txBody>
      </p:sp>
      <p:sp>
        <p:nvSpPr>
          <p:cNvPr id="72725" name="Rectangle 1"/>
          <p:cNvSpPr>
            <a:spLocks noChangeArrowheads="1"/>
          </p:cNvSpPr>
          <p:nvPr/>
        </p:nvSpPr>
        <p:spPr bwMode="auto">
          <a:xfrm>
            <a:off x="1010356" y="4452802"/>
            <a:ext cx="10290690" cy="1681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8925" tIns="39462" rIns="78925" bIns="39462" anchor="ctr">
            <a:spAutoFit/>
          </a:bodyPr>
          <a:lstStyle>
            <a:lvl1pPr indent="214630"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pPr>
            <a:r>
              <a:rPr lang="en-US" altLang="zh-CN" sz="2600" dirty="0" err="1">
                <a:solidFill>
                  <a:srgbClr val="FF0000"/>
                </a:solidFill>
                <a:latin typeface="宋体" panose="02010600030101010101" pitchFamily="2" charset="-122"/>
                <a:cs typeface="Times New Roman" panose="02020603050405020304" pitchFamily="18" charset="0"/>
              </a:rPr>
              <a:t>StringBuffer</a:t>
            </a:r>
            <a:r>
              <a:rPr lang="en-US" altLang="zh-CN" sz="2600" dirty="0">
                <a:solidFill>
                  <a:srgbClr val="FF0000"/>
                </a:solidFill>
                <a:latin typeface="宋体" panose="02010600030101010101" pitchFamily="2" charset="-122"/>
                <a:cs typeface="Times New Roman" panose="02020603050405020304" pitchFamily="18" charset="0"/>
              </a:rPr>
              <a:t> s = new </a:t>
            </a:r>
            <a:r>
              <a:rPr lang="en-US" altLang="zh-CN" sz="2600" dirty="0" err="1">
                <a:solidFill>
                  <a:srgbClr val="FF0000"/>
                </a:solidFill>
                <a:latin typeface="宋体" panose="02010600030101010101" pitchFamily="2" charset="-122"/>
                <a:cs typeface="Times New Roman" panose="02020603050405020304" pitchFamily="18" charset="0"/>
              </a:rPr>
              <a:t>StringBuffer</a:t>
            </a:r>
            <a:r>
              <a:rPr lang="en-US" altLang="zh-CN" sz="2600" dirty="0">
                <a:solidFill>
                  <a:srgbClr val="FF0000"/>
                </a:solidFill>
                <a:latin typeface="宋体" panose="02010600030101010101" pitchFamily="2" charset="-122"/>
                <a:cs typeface="Times New Roman" panose="02020603050405020304" pitchFamily="18" charset="0"/>
              </a:rPr>
              <a:t>(  );</a:t>
            </a:r>
            <a:endParaRPr lang="en-US" altLang="zh-CN" sz="2600" dirty="0">
              <a:solidFill>
                <a:srgbClr val="FF0000"/>
              </a:solidFill>
              <a:latin typeface="宋体" panose="02010600030101010101" pitchFamily="2" charset="-122"/>
            </a:endParaRPr>
          </a:p>
          <a:p>
            <a:pPr>
              <a:lnSpc>
                <a:spcPct val="100000"/>
              </a:lnSpc>
            </a:pPr>
            <a:r>
              <a:rPr lang="zh-CN" altLang="en-US" sz="2600" dirty="0">
                <a:latin typeface="宋体" panose="02010600030101010101" pitchFamily="2" charset="-122"/>
                <a:cs typeface="Times New Roman" panose="02020603050405020304" pitchFamily="18" charset="0"/>
              </a:rPr>
              <a:t>这样初始化后的</a:t>
            </a:r>
            <a:r>
              <a:rPr lang="en-US" altLang="zh-CN" sz="2600" dirty="0" err="1">
                <a:latin typeface="宋体" panose="02010600030101010101" pitchFamily="2" charset="-122"/>
                <a:cs typeface="Times New Roman" panose="02020603050405020304" pitchFamily="18" charset="0"/>
              </a:rPr>
              <a:t>StringBuffer</a:t>
            </a:r>
            <a:r>
              <a:rPr lang="zh-CN" altLang="en-US" sz="2600" dirty="0">
                <a:latin typeface="宋体" panose="02010600030101010101" pitchFamily="2" charset="-122"/>
                <a:cs typeface="Times New Roman" panose="02020603050405020304" pitchFamily="18" charset="0"/>
              </a:rPr>
              <a:t>对象是一个空的对象。如果需要创建带有内容的</a:t>
            </a:r>
            <a:r>
              <a:rPr lang="en-US" altLang="zh-CN" sz="2600" dirty="0" err="1">
                <a:latin typeface="宋体" panose="02010600030101010101" pitchFamily="2" charset="-122"/>
                <a:cs typeface="Times New Roman" panose="02020603050405020304" pitchFamily="18" charset="0"/>
              </a:rPr>
              <a:t>StringBuffer</a:t>
            </a:r>
            <a:r>
              <a:rPr lang="zh-CN" altLang="en-US" sz="2600" dirty="0">
                <a:latin typeface="宋体" panose="02010600030101010101" pitchFamily="2" charset="-122"/>
                <a:cs typeface="Times New Roman" panose="02020603050405020304" pitchFamily="18" charset="0"/>
              </a:rPr>
              <a:t>对象，则可以使用：</a:t>
            </a:r>
            <a:endParaRPr lang="zh-CN" altLang="en-US" sz="2600" dirty="0">
              <a:latin typeface="宋体" panose="02010600030101010101" pitchFamily="2" charset="-122"/>
            </a:endParaRPr>
          </a:p>
          <a:p>
            <a:pPr>
              <a:lnSpc>
                <a:spcPct val="100000"/>
              </a:lnSpc>
            </a:pPr>
            <a:r>
              <a:rPr lang="en-US" altLang="zh-CN" sz="2600" dirty="0" err="1">
                <a:solidFill>
                  <a:srgbClr val="FF0000"/>
                </a:solidFill>
                <a:latin typeface="宋体" panose="02010600030101010101" pitchFamily="2" charset="-122"/>
                <a:cs typeface="Times New Roman" panose="02020603050405020304" pitchFamily="18" charset="0"/>
              </a:rPr>
              <a:t>StringBuffer</a:t>
            </a:r>
            <a:r>
              <a:rPr lang="en-US" altLang="zh-CN" sz="2600" dirty="0">
                <a:solidFill>
                  <a:srgbClr val="FF0000"/>
                </a:solidFill>
                <a:latin typeface="宋体" panose="02010600030101010101" pitchFamily="2" charset="-122"/>
                <a:cs typeface="Times New Roman" panose="02020603050405020304" pitchFamily="18" charset="0"/>
              </a:rPr>
              <a:t> s = new </a:t>
            </a:r>
            <a:r>
              <a:rPr lang="en-US" altLang="zh-CN" sz="2600" dirty="0" err="1">
                <a:solidFill>
                  <a:srgbClr val="FF0000"/>
                </a:solidFill>
                <a:latin typeface="宋体" panose="02010600030101010101" pitchFamily="2" charset="-122"/>
                <a:cs typeface="Times New Roman" panose="02020603050405020304" pitchFamily="18" charset="0"/>
              </a:rPr>
              <a:t>StringBuffer</a:t>
            </a:r>
            <a:r>
              <a:rPr lang="en-US" altLang="zh-CN" sz="2600" dirty="0">
                <a:solidFill>
                  <a:srgbClr val="FF0000"/>
                </a:solidFill>
                <a:latin typeface="宋体" panose="02010600030101010101" pitchFamily="2" charset="-122"/>
                <a:cs typeface="Times New Roman" panose="02020603050405020304" pitchFamily="18" charset="0"/>
              </a:rPr>
              <a:t>(</a:t>
            </a:r>
            <a:r>
              <a:rPr lang="zh-CN" altLang="en-US" sz="2600" dirty="0">
                <a:solidFill>
                  <a:srgbClr val="FF0000"/>
                </a:solidFill>
                <a:latin typeface="宋体" panose="02010600030101010101" pitchFamily="2" charset="-122"/>
                <a:cs typeface="Times New Roman" panose="02020603050405020304" pitchFamily="18" charset="0"/>
              </a:rPr>
              <a:t>＂</a:t>
            </a:r>
            <a:r>
              <a:rPr lang="en-US" altLang="zh-CN" sz="2600" dirty="0" err="1">
                <a:solidFill>
                  <a:srgbClr val="FF0000"/>
                </a:solidFill>
                <a:latin typeface="宋体" panose="02010600030101010101" pitchFamily="2" charset="-122"/>
                <a:cs typeface="Times New Roman" panose="02020603050405020304" pitchFamily="18" charset="0"/>
              </a:rPr>
              <a:t>abc</a:t>
            </a:r>
            <a:r>
              <a:rPr lang="zh-CN" altLang="en-US" sz="2600" dirty="0">
                <a:solidFill>
                  <a:srgbClr val="FF0000"/>
                </a:solidFill>
                <a:latin typeface="宋体" panose="02010600030101010101" pitchFamily="2" charset="-122"/>
                <a:cs typeface="Times New Roman" panose="02020603050405020304" pitchFamily="18" charset="0"/>
              </a:rPr>
              <a:t>＂</a:t>
            </a:r>
            <a:r>
              <a:rPr lang="en-US" altLang="zh-CN" sz="2600" dirty="0">
                <a:solidFill>
                  <a:srgbClr val="FF0000"/>
                </a:solidFill>
                <a:latin typeface="宋体" panose="02010600030101010101" pitchFamily="2" charset="-122"/>
                <a:cs typeface="Times New Roman" panose="02020603050405020304" pitchFamily="18" charset="0"/>
              </a:rPr>
              <a:t>);</a:t>
            </a:r>
            <a:endParaRPr lang="en-US" altLang="zh-CN" sz="2600" dirty="0">
              <a:solidFill>
                <a:srgbClr val="FF0000"/>
              </a:solidFill>
              <a:latin typeface="宋体" panose="02010600030101010101" pitchFamily="2" charset="-122"/>
            </a:endParaRPr>
          </a:p>
        </p:txBody>
      </p:sp>
      <p:sp>
        <p:nvSpPr>
          <p:cNvPr id="5" name="标题 2"/>
          <p:cNvSpPr txBox="1"/>
          <p:nvPr/>
        </p:nvSpPr>
        <p:spPr>
          <a:xfrm>
            <a:off x="354094" y="419039"/>
            <a:ext cx="8147318" cy="914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r>
              <a:rPr lang="zh-CN" altLang="en-US" sz="3470"/>
              <a:t>（</a:t>
            </a:r>
            <a:r>
              <a:rPr lang="en-US" altLang="zh-CN" sz="3470"/>
              <a:t>2</a:t>
            </a:r>
            <a:r>
              <a:rPr lang="zh-CN" altLang="en-US" sz="3470"/>
              <a:t>）</a:t>
            </a:r>
            <a:r>
              <a:rPr lang="en-US" altLang="zh-CN" sz="3470"/>
              <a:t>StringBuffer</a:t>
            </a:r>
            <a:r>
              <a:rPr lang="zh-CN" altLang="en-US" sz="3470"/>
              <a:t>类</a:t>
            </a:r>
            <a:endParaRPr lang="zh-CN" altLang="en-US" sz="347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725">
                                            <p:txEl>
                                              <p:pRg st="0" end="0"/>
                                            </p:txEl>
                                          </p:spTgt>
                                        </p:tgtEl>
                                        <p:attrNameLst>
                                          <p:attrName>style.visibility</p:attrName>
                                        </p:attrNameLst>
                                      </p:cBhvr>
                                      <p:to>
                                        <p:strVal val="visible"/>
                                      </p:to>
                                    </p:set>
                                    <p:animEffect transition="in" filter="blinds(horizontal)">
                                      <p:cBhvr>
                                        <p:cTn id="7" dur="500"/>
                                        <p:tgtEl>
                                          <p:spTgt spid="727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2725">
                                            <p:txEl>
                                              <p:pRg st="1" end="1"/>
                                            </p:txEl>
                                          </p:spTgt>
                                        </p:tgtEl>
                                        <p:attrNameLst>
                                          <p:attrName>style.visibility</p:attrName>
                                        </p:attrNameLst>
                                      </p:cBhvr>
                                      <p:to>
                                        <p:strVal val="visible"/>
                                      </p:to>
                                    </p:set>
                                    <p:animEffect transition="in" filter="blinds(horizontal)">
                                      <p:cBhvr>
                                        <p:cTn id="12" dur="500"/>
                                        <p:tgtEl>
                                          <p:spTgt spid="727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2725">
                                            <p:txEl>
                                              <p:pRg st="2" end="2"/>
                                            </p:txEl>
                                          </p:spTgt>
                                        </p:tgtEl>
                                        <p:attrNameLst>
                                          <p:attrName>style.visibility</p:attrName>
                                        </p:attrNameLst>
                                      </p:cBhvr>
                                      <p:to>
                                        <p:strVal val="visible"/>
                                      </p:to>
                                    </p:set>
                                    <p:animEffect transition="in" filter="blinds(horizontal)">
                                      <p:cBhvr>
                                        <p:cTn id="17" dur="500"/>
                                        <p:tgtEl>
                                          <p:spTgt spid="727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内容占位符 1"/>
          <p:cNvSpPr>
            <a:spLocks noGrp="1"/>
          </p:cNvSpPr>
          <p:nvPr>
            <p:ph idx="4294967295"/>
          </p:nvPr>
        </p:nvSpPr>
        <p:spPr>
          <a:xfrm>
            <a:off x="483047" y="1084209"/>
            <a:ext cx="8625863" cy="389033"/>
          </a:xfrm>
        </p:spPr>
        <p:txBody>
          <a:bodyPr>
            <a:normAutofit/>
          </a:bodyPr>
          <a:lstStyle/>
          <a:p>
            <a:pPr marL="0" indent="353060">
              <a:lnSpc>
                <a:spcPct val="80000"/>
              </a:lnSpc>
              <a:buNone/>
            </a:pPr>
            <a:r>
              <a:rPr lang="zh-CN" altLang="en-US" sz="2385" b="1" dirty="0"/>
              <a:t>（</a:t>
            </a:r>
            <a:r>
              <a:rPr lang="en-US" altLang="zh-CN" sz="2385" b="1" dirty="0"/>
              <a:t>1</a:t>
            </a:r>
            <a:r>
              <a:rPr lang="zh-CN" altLang="en-US" sz="2385" b="1" dirty="0"/>
              <a:t>）</a:t>
            </a:r>
            <a:r>
              <a:rPr lang="en-US" altLang="zh-CN" sz="2385" b="1" dirty="0"/>
              <a:t>String</a:t>
            </a:r>
            <a:r>
              <a:rPr lang="zh-CN" altLang="en-US" sz="2385" b="1" dirty="0"/>
              <a:t>类常用方法</a:t>
            </a:r>
            <a:endParaRPr lang="zh-CN" altLang="en-US" sz="2385" b="1" dirty="0"/>
          </a:p>
          <a:p>
            <a:pPr marL="0" indent="353060">
              <a:lnSpc>
                <a:spcPct val="80000"/>
              </a:lnSpc>
              <a:buNone/>
            </a:pPr>
            <a:endParaRPr lang="zh-CN" altLang="en-US" sz="2385" b="1" dirty="0"/>
          </a:p>
        </p:txBody>
      </p:sp>
      <p:sp>
        <p:nvSpPr>
          <p:cNvPr id="77827" name="标题 2"/>
          <p:cNvSpPr>
            <a:spLocks noGrp="1"/>
          </p:cNvSpPr>
          <p:nvPr>
            <p:ph type="title" idx="4294967295"/>
          </p:nvPr>
        </p:nvSpPr>
        <p:spPr>
          <a:xfrm>
            <a:off x="85784" y="93671"/>
            <a:ext cx="8147318" cy="914055"/>
          </a:xfrm>
        </p:spPr>
        <p:txBody>
          <a:bodyPr/>
          <a:lstStyle/>
          <a:p>
            <a:pPr algn="l"/>
            <a:r>
              <a:rPr lang="en-US" altLang="zh-CN" dirty="0"/>
              <a:t>2.9.2  </a:t>
            </a:r>
            <a:r>
              <a:rPr lang="zh-CN" altLang="en-US" dirty="0"/>
              <a:t>字符串常用方法</a:t>
            </a:r>
            <a:endParaRPr lang="zh-CN" altLang="en-US" dirty="0"/>
          </a:p>
        </p:txBody>
      </p:sp>
      <p:graphicFrame>
        <p:nvGraphicFramePr>
          <p:cNvPr id="74756" name="Group 4"/>
          <p:cNvGraphicFramePr>
            <a:graphicFrameLocks noGrp="1"/>
          </p:cNvGraphicFramePr>
          <p:nvPr/>
        </p:nvGraphicFramePr>
        <p:xfrm>
          <a:off x="1913034" y="2189603"/>
          <a:ext cx="8316014" cy="4325843"/>
        </p:xfrm>
        <a:graphic>
          <a:graphicData uri="http://schemas.openxmlformats.org/drawingml/2006/table">
            <a:tbl>
              <a:tblPr/>
              <a:tblGrid>
                <a:gridCol w="4158867"/>
                <a:gridCol w="4157147"/>
              </a:tblGrid>
              <a:tr h="299545">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方法</a:t>
                      </a:r>
                      <a:endParaRPr kumimoji="0" 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说明</a:t>
                      </a:r>
                      <a:endParaRPr kumimoji="0" lang="zh-CN"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7824">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a:t>
                      </a:r>
                      <a:r>
                        <a:rPr kumimoji="0" lang="en-US" sz="18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int</a:t>
                      </a:r>
                      <a:r>
                        <a:rPr kumimoji="0" 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length()</a:t>
                      </a:r>
                      <a:endParaRPr kumimoji="0" lang="zh-CN" altLang="en-US"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返回字符串的长度</a:t>
                      </a:r>
                      <a:endParaRPr kumimoji="0" lang="zh-CN"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43546">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boolean equals(Object anObject)</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将给定字符串与当前字符串相比较，若两个字符串相等，则返回</a:t>
                      </a: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true</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，否则返回</a:t>
                      </a: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62938">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boolean</a:t>
                      </a: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 </a:t>
                      </a: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equalsIgnoreCase (Object anObject)</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将给定字符串与当前字符串相比较，会忽略大小写</a:t>
                      </a:r>
                      <a:endParaRPr kumimoji="0" lang="zh-CN"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9545">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String substring(int beginIndex)</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返回字符串中从</a:t>
                      </a: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beginIndex</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开始的子串</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61905">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String substring(int beginIndex,int endIndex)</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返回从从</a:t>
                      </a: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beginIndex</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开始到</a:t>
                      </a: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endIndex</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的子串</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9545">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char charAt(int index)</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返回</a:t>
                      </a: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index</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指定位置的字符</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9545">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int indexOf(String str)</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返回</a:t>
                      </a: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str</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在字符串中第一次出现的位置</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61905">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String replace(char oldChar,char newChar)</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以</a:t>
                      </a: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newChar</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字符替换串中所有</a:t>
                      </a: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oldChar</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字符</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9545">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String trim()</a:t>
                      </a:r>
                      <a:endParaRPr kumimoji="0" lang="zh-CN" altLang="en-US"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去掉字符串的首尾空格</a:t>
                      </a:r>
                      <a:endParaRPr kumimoji="0" lang="zh-CN" sz="18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7863" name="Rectangle 1"/>
          <p:cNvSpPr>
            <a:spLocks noChangeArrowheads="1"/>
          </p:cNvSpPr>
          <p:nvPr/>
        </p:nvSpPr>
        <p:spPr bwMode="auto">
          <a:xfrm>
            <a:off x="4159443" y="1647180"/>
            <a:ext cx="3602859" cy="41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8925" tIns="39462" rIns="78925" bIns="39462" anchor="ctr">
            <a:spAutoFit/>
          </a:bodyPr>
          <a:lstStyle>
            <a:lvl1pPr defTabSz="727075">
              <a:defRPr sz="2000" b="1">
                <a:solidFill>
                  <a:schemeClr val="tx1"/>
                </a:solidFill>
                <a:latin typeface="Times New Roman" panose="02020603050405020304" pitchFamily="18" charset="0"/>
                <a:ea typeface="宋体" panose="02010600030101010101" pitchFamily="2" charset="-122"/>
              </a:defRPr>
            </a:lvl1pPr>
            <a:lvl2pPr marL="742950" indent="-285750" defTabSz="727075">
              <a:defRPr sz="2000" b="1">
                <a:solidFill>
                  <a:schemeClr val="tx1"/>
                </a:solidFill>
                <a:latin typeface="Times New Roman" panose="02020603050405020304" pitchFamily="18" charset="0"/>
                <a:ea typeface="宋体" panose="02010600030101010101" pitchFamily="2" charset="-122"/>
              </a:defRPr>
            </a:lvl2pPr>
            <a:lvl3pPr marL="1143000" indent="-228600" defTabSz="727075">
              <a:defRPr sz="2000" b="1">
                <a:solidFill>
                  <a:schemeClr val="tx1"/>
                </a:solidFill>
                <a:latin typeface="Times New Roman" panose="02020603050405020304" pitchFamily="18" charset="0"/>
                <a:ea typeface="宋体" panose="02010600030101010101" pitchFamily="2" charset="-122"/>
              </a:defRPr>
            </a:lvl3pPr>
            <a:lvl4pPr marL="1600200" indent="-228600" defTabSz="727075">
              <a:defRPr sz="2000" b="1">
                <a:solidFill>
                  <a:schemeClr val="tx1"/>
                </a:solidFill>
                <a:latin typeface="Times New Roman" panose="02020603050405020304" pitchFamily="18" charset="0"/>
                <a:ea typeface="宋体" panose="02010600030101010101" pitchFamily="2" charset="-122"/>
              </a:defRPr>
            </a:lvl4pPr>
            <a:lvl5pPr marL="2057400" indent="-228600" defTabSz="727075">
              <a:defRPr sz="2000" b="1">
                <a:solidFill>
                  <a:schemeClr val="tx1"/>
                </a:solidFill>
                <a:latin typeface="Times New Roman" panose="02020603050405020304" pitchFamily="18" charset="0"/>
                <a:ea typeface="宋体" panose="02010600030101010101" pitchFamily="2" charset="-122"/>
              </a:defRPr>
            </a:lvl5pPr>
            <a:lvl6pPr marL="25146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defTabSz="727075"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pPr>
            <a:r>
              <a:rPr lang="zh-CN" altLang="en-US" sz="2170">
                <a:cs typeface="Times New Roman" panose="02020603050405020304" pitchFamily="18" charset="0"/>
              </a:rPr>
              <a:t>表</a:t>
            </a:r>
            <a:r>
              <a:rPr lang="en-US" altLang="zh-CN" sz="2170">
                <a:cs typeface="Times New Roman" panose="02020603050405020304" pitchFamily="18" charset="0"/>
              </a:rPr>
              <a:t>2-14 String</a:t>
            </a:r>
            <a:r>
              <a:rPr lang="zh-CN" altLang="en-US" sz="2170">
                <a:cs typeface="Times New Roman" panose="02020603050405020304" pitchFamily="18" charset="0"/>
              </a:rPr>
              <a:t>类常用方法</a:t>
            </a:r>
            <a:endParaRPr lang="zh-CN" altLang="en-US" sz="217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内容占位符 1"/>
          <p:cNvSpPr>
            <a:spLocks noGrp="1"/>
          </p:cNvSpPr>
          <p:nvPr>
            <p:ph idx="4294967295"/>
          </p:nvPr>
        </p:nvSpPr>
        <p:spPr>
          <a:xfrm>
            <a:off x="620289" y="574617"/>
            <a:ext cx="10692479" cy="5189977"/>
          </a:xfrm>
        </p:spPr>
        <p:txBody>
          <a:bodyPr>
            <a:normAutofit/>
          </a:bodyPr>
          <a:lstStyle/>
          <a:p>
            <a:pPr marL="0" indent="353060">
              <a:buNone/>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StringBuffer</a:t>
            </a:r>
            <a:r>
              <a:rPr lang="zh-CN" altLang="en-US" sz="2800" b="1" dirty="0">
                <a:latin typeface="宋体" panose="02010600030101010101" pitchFamily="2" charset="-122"/>
                <a:ea typeface="宋体" panose="02010600030101010101" pitchFamily="2" charset="-122"/>
              </a:rPr>
              <a:t>类常用方法</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err="1">
                <a:latin typeface="宋体" panose="02010600030101010101" pitchFamily="2" charset="-122"/>
                <a:ea typeface="宋体" panose="02010600030101010101" pitchFamily="2" charset="-122"/>
              </a:rPr>
              <a:t>StringBuffer</a:t>
            </a:r>
            <a:r>
              <a:rPr lang="zh-CN" altLang="en-US" sz="2800" b="1" dirty="0">
                <a:latin typeface="宋体" panose="02010600030101010101" pitchFamily="2" charset="-122"/>
                <a:ea typeface="宋体" panose="02010600030101010101" pitchFamily="2" charset="-122"/>
              </a:rPr>
              <a:t>类中的方法主要偏重于对于字符串的变化，如追加、插入和删除等，这个也是</a:t>
            </a:r>
            <a:r>
              <a:rPr lang="en-US" altLang="zh-CN" sz="2800" b="1" dirty="0" err="1">
                <a:latin typeface="宋体" panose="02010600030101010101" pitchFamily="2" charset="-122"/>
                <a:ea typeface="宋体" panose="02010600030101010101" pitchFamily="2" charset="-122"/>
              </a:rPr>
              <a:t>StringBuffer</a:t>
            </a:r>
            <a:r>
              <a:rPr lang="zh-CN" altLang="en-US" sz="2800" b="1" dirty="0">
                <a:latin typeface="宋体" panose="02010600030101010101" pitchFamily="2" charset="-122"/>
                <a:ea typeface="宋体" panose="02010600030101010101" pitchFamily="2" charset="-122"/>
              </a:rPr>
              <a:t>和</a:t>
            </a:r>
            <a:r>
              <a:rPr lang="en-US" altLang="zh-CN" sz="2800" b="1" dirty="0">
                <a:latin typeface="宋体" panose="02010600030101010101" pitchFamily="2" charset="-122"/>
                <a:ea typeface="宋体" panose="02010600030101010101" pitchFamily="2" charset="-122"/>
              </a:rPr>
              <a:t>String</a:t>
            </a:r>
            <a:r>
              <a:rPr lang="zh-CN" altLang="en-US" sz="2800" b="1" dirty="0">
                <a:latin typeface="宋体" panose="02010600030101010101" pitchFamily="2" charset="-122"/>
                <a:ea typeface="宋体" panose="02010600030101010101" pitchFamily="2" charset="-122"/>
              </a:rPr>
              <a:t>类的主要区别。</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graphicFrame>
        <p:nvGraphicFramePr>
          <p:cNvPr id="75779" name="Group 3"/>
          <p:cNvGraphicFramePr>
            <a:graphicFrameLocks noGrp="1"/>
          </p:cNvGraphicFramePr>
          <p:nvPr/>
        </p:nvGraphicFramePr>
        <p:xfrm>
          <a:off x="1835571" y="2499452"/>
          <a:ext cx="8316013" cy="3281306"/>
        </p:xfrm>
        <a:graphic>
          <a:graphicData uri="http://schemas.openxmlformats.org/drawingml/2006/table">
            <a:tbl>
              <a:tblPr/>
              <a:tblGrid>
                <a:gridCol w="4158867"/>
                <a:gridCol w="4157146"/>
              </a:tblGrid>
              <a:tr h="359770">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方法</a:t>
                      </a:r>
                      <a:endParaRPr kumimoji="0" 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Monotype Sorts" pitchFamily="2" charset="2"/>
                        <a:buNone/>
                      </a:pPr>
                      <a:r>
                        <a:rPr kumimoji="0" 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说明</a:t>
                      </a:r>
                      <a:endParaRPr kumimoji="0" 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3470">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StringBuffer append(boolean b)</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追加内容到当前</a:t>
                      </a:r>
                      <a:r>
                        <a:rPr kumimoji="0" 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StringBuffer</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对象的末尾，类似于字符串的连接</a:t>
                      </a:r>
                      <a:endPar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17818">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StringBuffer insert(int offset, boolean b)</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在</a:t>
                      </a:r>
                      <a:r>
                        <a:rPr kumimoji="0" 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StringBuffer</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对象中插入内容，然后形成新的字符串</a:t>
                      </a:r>
                      <a:endPar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5848">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StringBusser reverse( )</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将</a:t>
                      </a:r>
                      <a:r>
                        <a:rPr kumimoji="0" 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StringBuffer</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对象中的内容反转，然后形成新的字符串</a:t>
                      </a:r>
                      <a:endPar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93399">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viod setCharAt(int index, char ch)</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Monotype Sorts" pitchFamily="2" charset="2"/>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修改对象中索引值为</a:t>
                      </a:r>
                      <a:r>
                        <a:rPr kumimoji="0" 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index</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位置的字符为新的字符</a:t>
                      </a:r>
                      <a:r>
                        <a:rPr kumimoji="0" 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ch</a:t>
                      </a:r>
                      <a:endPar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53913" marR="5391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内容占位符 2"/>
          <p:cNvSpPr>
            <a:spLocks noGrp="1"/>
          </p:cNvSpPr>
          <p:nvPr>
            <p:ph idx="4294967295"/>
          </p:nvPr>
        </p:nvSpPr>
        <p:spPr>
          <a:xfrm>
            <a:off x="225140" y="255568"/>
            <a:ext cx="11439322" cy="5577289"/>
          </a:xfrm>
        </p:spPr>
        <p:txBody>
          <a:bodyPr>
            <a:noAutofit/>
          </a:bodyPr>
          <a:lstStyle/>
          <a:p>
            <a:pPr marL="0" indent="353060">
              <a:buNone/>
            </a:pP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例</a:t>
            </a:r>
            <a:r>
              <a:rPr lang="en-US" altLang="zh-CN" sz="2800" b="1" dirty="0">
                <a:latin typeface="宋体" panose="02010600030101010101" pitchFamily="2" charset="-122"/>
                <a:ea typeface="宋体" panose="02010600030101010101" pitchFamily="2" charset="-122"/>
              </a:rPr>
              <a:t>2.23】</a:t>
            </a:r>
            <a:r>
              <a:rPr lang="zh-CN" altLang="en-US" sz="2800" b="1" dirty="0">
                <a:latin typeface="宋体" panose="02010600030101010101" pitchFamily="2" charset="-122"/>
                <a:ea typeface="宋体" panose="02010600030101010101" pitchFamily="2" charset="-122"/>
              </a:rPr>
              <a:t>测试常用的字符串函数。</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String s1 = "Hello </a:t>
            </a:r>
            <a:r>
              <a:rPr lang="en-US" altLang="zh-CN" sz="2800" b="1" dirty="0" err="1">
                <a:latin typeface="宋体" panose="02010600030101010101" pitchFamily="2" charset="-122"/>
                <a:ea typeface="宋体" panose="02010600030101010101" pitchFamily="2" charset="-122"/>
              </a:rPr>
              <a:t>World";String</a:t>
            </a:r>
            <a:r>
              <a:rPr lang="en-US" altLang="zh-CN" sz="2800" b="1" dirty="0">
                <a:latin typeface="宋体" panose="02010600030101010101" pitchFamily="2" charset="-122"/>
                <a:ea typeface="宋体" panose="02010600030101010101" pitchFamily="2" charset="-122"/>
              </a:rPr>
              <a:t> s2 = "hello world";</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System.out.print</a:t>
            </a:r>
            <a:r>
              <a:rPr lang="en-US" altLang="zh-CN" sz="2800" b="1" dirty="0">
                <a:latin typeface="宋体" panose="02010600030101010101" pitchFamily="2" charset="-122"/>
                <a:ea typeface="宋体" panose="02010600030101010101" pitchFamily="2" charset="-122"/>
              </a:rPr>
              <a:t> (s1.charAt (1)+"\t") ;</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System.out.print</a:t>
            </a:r>
            <a:r>
              <a:rPr lang="en-US" altLang="zh-CN" sz="2800" b="1" dirty="0">
                <a:latin typeface="宋体" panose="02010600030101010101" pitchFamily="2" charset="-122"/>
                <a:ea typeface="宋体" panose="02010600030101010101" pitchFamily="2" charset="-122"/>
              </a:rPr>
              <a:t> (s2.length ( )+"\t");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System.out.print</a:t>
            </a:r>
            <a:r>
              <a:rPr lang="en-US" altLang="zh-CN" sz="2800" b="1" dirty="0">
                <a:latin typeface="宋体" panose="02010600030101010101" pitchFamily="2" charset="-122"/>
                <a:ea typeface="宋体" panose="02010600030101010101" pitchFamily="2" charset="-122"/>
              </a:rPr>
              <a:t> (s1.indexOf ("World")+"\t");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System.out.print</a:t>
            </a:r>
            <a:r>
              <a:rPr lang="en-US" altLang="zh-CN" sz="2800" b="1" dirty="0">
                <a:latin typeface="宋体" panose="02010600030101010101" pitchFamily="2" charset="-122"/>
                <a:ea typeface="宋体" panose="02010600030101010101" pitchFamily="2" charset="-122"/>
              </a:rPr>
              <a:t> (s2.indexOf ("World")+"\t");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System.out.print</a:t>
            </a:r>
            <a:r>
              <a:rPr lang="en-US" altLang="zh-CN" sz="2800" b="1" dirty="0">
                <a:latin typeface="宋体" panose="02010600030101010101" pitchFamily="2" charset="-122"/>
                <a:ea typeface="宋体" panose="02010600030101010101" pitchFamily="2" charset="-122"/>
              </a:rPr>
              <a:t> (s1.equals (s2)+"\t");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System.out.print</a:t>
            </a:r>
            <a:r>
              <a:rPr lang="en-US" altLang="zh-CN" sz="2800" b="1" dirty="0">
                <a:latin typeface="宋体" panose="02010600030101010101" pitchFamily="2" charset="-122"/>
                <a:ea typeface="宋体" panose="02010600030101010101" pitchFamily="2" charset="-122"/>
              </a:rPr>
              <a:t> (s1.equalsIgnoreCase (s2)+"\t");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String s ="</a:t>
            </a:r>
            <a:r>
              <a:rPr lang="zh-CN" altLang="en-US" sz="2800" b="1" dirty="0">
                <a:latin typeface="宋体" panose="02010600030101010101" pitchFamily="2" charset="-122"/>
                <a:ea typeface="宋体" panose="02010600030101010101" pitchFamily="2" charset="-122"/>
              </a:rPr>
              <a:t>你好中国</a:t>
            </a:r>
            <a:r>
              <a:rPr lang="en-US" altLang="zh-CN"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String </a:t>
            </a:r>
            <a:r>
              <a:rPr lang="en-US" altLang="zh-CN" sz="2800" b="1" dirty="0" err="1">
                <a:latin typeface="宋体" panose="02010600030101010101" pitchFamily="2" charset="-122"/>
                <a:ea typeface="宋体" panose="02010600030101010101" pitchFamily="2" charset="-122"/>
              </a:rPr>
              <a:t>sr</a:t>
            </a:r>
            <a:r>
              <a:rPr lang="en-US" altLang="zh-CN" sz="2800" b="1" dirty="0">
                <a:latin typeface="宋体" panose="02010600030101010101" pitchFamily="2" charset="-122"/>
                <a:ea typeface="宋体" panose="02010600030101010101" pitchFamily="2" charset="-122"/>
              </a:rPr>
              <a:t> = </a:t>
            </a:r>
            <a:r>
              <a:rPr lang="en-US" altLang="zh-CN" sz="2800" b="1" dirty="0" err="1">
                <a:latin typeface="宋体" panose="02010600030101010101" pitchFamily="2" charset="-122"/>
                <a:ea typeface="宋体" panose="02010600030101010101" pitchFamily="2" charset="-122"/>
              </a:rPr>
              <a:t>s.replace</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你</a:t>
            </a: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我</a:t>
            </a:r>
            <a:r>
              <a:rPr lang="en-US" altLang="zh-CN"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System.out.println</a:t>
            </a:r>
            <a:r>
              <a:rPr lang="en-US" altLang="zh-CN"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sr</a:t>
            </a:r>
            <a:r>
              <a:rPr lang="en-US" altLang="zh-CN" sz="2800" b="1" dirty="0">
                <a:latin typeface="宋体" panose="02010600030101010101" pitchFamily="2" charset="-122"/>
                <a:ea typeface="宋体" panose="02010600030101010101" pitchFamily="2" charset="-122"/>
              </a:rPr>
              <a:t>);  e 11 6 -1 false true </a:t>
            </a:r>
            <a:r>
              <a:rPr lang="zh-CN" altLang="en-US" sz="2800" b="1" dirty="0">
                <a:latin typeface="宋体" panose="02010600030101010101" pitchFamily="2" charset="-122"/>
                <a:ea typeface="宋体" panose="02010600030101010101" pitchFamily="2" charset="-122"/>
              </a:rPr>
              <a:t>我好中国</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79875"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r" eaLnBrk="1" hangingPunct="1">
              <a:lnSpc>
                <a:spcPct val="100000"/>
              </a:lnSpc>
              <a:spcBef>
                <a:spcPct val="50000"/>
              </a:spcBef>
            </a:pPr>
            <a:fld id="{CA271039-FB54-49C0-B434-BF12DDDC39C1}"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
        <p:nvSpPr>
          <p:cNvPr id="2" name="矩形 1"/>
          <p:cNvSpPr/>
          <p:nvPr/>
        </p:nvSpPr>
        <p:spPr>
          <a:xfrm>
            <a:off x="5568462" y="6330462"/>
            <a:ext cx="5498123" cy="5275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内容占位符 2"/>
          <p:cNvSpPr>
            <a:spLocks noGrp="1"/>
          </p:cNvSpPr>
          <p:nvPr>
            <p:ph idx="4294967295"/>
          </p:nvPr>
        </p:nvSpPr>
        <p:spPr>
          <a:xfrm>
            <a:off x="377540" y="260168"/>
            <a:ext cx="11240029" cy="5654752"/>
          </a:xfrm>
        </p:spPr>
        <p:txBody>
          <a:bodyPr>
            <a:noAutofit/>
          </a:bodyPr>
          <a:lstStyle/>
          <a:p>
            <a:pPr marL="0" indent="353060">
              <a:buNone/>
            </a:pP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例</a:t>
            </a:r>
            <a:r>
              <a:rPr lang="en-US" altLang="zh-CN" sz="2800" b="1" dirty="0">
                <a:latin typeface="宋体" panose="02010600030101010101" pitchFamily="2" charset="-122"/>
                <a:ea typeface="宋体" panose="02010600030101010101" pitchFamily="2" charset="-122"/>
              </a:rPr>
              <a:t>2.24】</a:t>
            </a:r>
            <a:r>
              <a:rPr lang="zh-CN" altLang="en-US" sz="2800" b="1" dirty="0">
                <a:latin typeface="宋体" panose="02010600030101010101" pitchFamily="2" charset="-122"/>
                <a:ea typeface="宋体" panose="02010600030101010101" pitchFamily="2" charset="-122"/>
              </a:rPr>
              <a:t>测试</a:t>
            </a:r>
            <a:r>
              <a:rPr lang="en-US" altLang="zh-CN" sz="2800" b="1" dirty="0" err="1">
                <a:latin typeface="宋体" panose="02010600030101010101" pitchFamily="2" charset="-122"/>
                <a:ea typeface="宋体" panose="02010600030101010101" pitchFamily="2" charset="-122"/>
              </a:rPr>
              <a:t>StringBuffer</a:t>
            </a:r>
            <a:r>
              <a:rPr lang="zh-CN" altLang="en-US" sz="2800" b="1" dirty="0">
                <a:latin typeface="宋体" panose="02010600030101010101" pitchFamily="2" charset="-122"/>
                <a:ea typeface="宋体" panose="02010600030101010101" pitchFamily="2" charset="-122"/>
              </a:rPr>
              <a:t>类的</a:t>
            </a:r>
            <a:r>
              <a:rPr lang="en-US" altLang="zh-CN" sz="2800" b="1" dirty="0">
                <a:latin typeface="宋体" panose="02010600030101010101" pitchFamily="2" charset="-122"/>
                <a:ea typeface="宋体" panose="02010600030101010101" pitchFamily="2" charset="-122"/>
              </a:rPr>
              <a:t>append</a:t>
            </a:r>
            <a:r>
              <a:rPr lang="zh-CN" altLang="en-US" sz="2800" b="1" dirty="0">
                <a:latin typeface="宋体" panose="02010600030101010101" pitchFamily="2" charset="-122"/>
                <a:ea typeface="宋体" panose="02010600030101010101" pitchFamily="2" charset="-122"/>
              </a:rPr>
              <a:t>方法。</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String str1 = new String("welcome");</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String str2="to";</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String str3="</a:t>
            </a:r>
            <a:r>
              <a:rPr lang="en-US" altLang="zh-CN" sz="2800" b="1" dirty="0" err="1">
                <a:latin typeface="宋体" panose="02010600030101010101" pitchFamily="2" charset="-122"/>
                <a:ea typeface="宋体" panose="02010600030101010101" pitchFamily="2" charset="-122"/>
              </a:rPr>
              <a:t>beijing</a:t>
            </a:r>
            <a:r>
              <a:rPr lang="en-US" altLang="zh-CN"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StringBuffer</a:t>
            </a: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sb</a:t>
            </a:r>
            <a:r>
              <a:rPr lang="en-US" altLang="zh-CN" sz="2800" b="1" dirty="0">
                <a:latin typeface="宋体" panose="02010600030101010101" pitchFamily="2" charset="-122"/>
                <a:ea typeface="宋体" panose="02010600030101010101" pitchFamily="2" charset="-122"/>
              </a:rPr>
              <a:t> = new </a:t>
            </a:r>
            <a:r>
              <a:rPr lang="en-US" altLang="zh-CN" sz="2800" b="1" dirty="0" err="1">
                <a:latin typeface="宋体" panose="02010600030101010101" pitchFamily="2" charset="-122"/>
                <a:ea typeface="宋体" panose="02010600030101010101" pitchFamily="2" charset="-122"/>
              </a:rPr>
              <a:t>StringBuffer</a:t>
            </a:r>
            <a:r>
              <a:rPr lang="en-US" altLang="zh-CN" sz="2800" b="1" dirty="0">
                <a:latin typeface="宋体" panose="02010600030101010101" pitchFamily="2" charset="-122"/>
                <a:ea typeface="宋体" panose="02010600030101010101" pitchFamily="2" charset="-122"/>
              </a:rPr>
              <a:t>( );</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sb.append</a:t>
            </a:r>
            <a:r>
              <a:rPr lang="en-US" altLang="zh-CN" sz="2800" b="1" dirty="0">
                <a:latin typeface="宋体" panose="02010600030101010101" pitchFamily="2" charset="-122"/>
                <a:ea typeface="宋体" panose="02010600030101010101" pitchFamily="2" charset="-122"/>
              </a:rPr>
              <a:t>(str1).append(str2).append(str3);</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a:latin typeface="宋体" panose="02010600030101010101" pitchFamily="2" charset="-122"/>
                <a:ea typeface="宋体" panose="02010600030101010101" pitchFamily="2" charset="-122"/>
              </a:rPr>
              <a:t>		</a:t>
            </a:r>
            <a:r>
              <a:rPr lang="en-US" altLang="zh-CN" sz="2800" b="1" dirty="0" err="1">
                <a:latin typeface="宋体" panose="02010600030101010101" pitchFamily="2" charset="-122"/>
                <a:ea typeface="宋体" panose="02010600030101010101" pitchFamily="2" charset="-122"/>
              </a:rPr>
              <a:t>System.out.println</a:t>
            </a:r>
            <a:r>
              <a:rPr lang="en-US" altLang="zh-CN" sz="2800" b="1" dirty="0">
                <a:latin typeface="宋体" panose="02010600030101010101" pitchFamily="2" charset="-122"/>
                <a:ea typeface="宋体" panose="02010600030101010101" pitchFamily="2" charset="-122"/>
              </a:rPr>
              <a:t>(</a:t>
            </a:r>
            <a:r>
              <a:rPr lang="en-US" altLang="zh-CN" sz="2800" b="1" dirty="0" err="1">
                <a:latin typeface="宋体" panose="02010600030101010101" pitchFamily="2" charset="-122"/>
                <a:ea typeface="宋体" panose="02010600030101010101" pitchFamily="2" charset="-122"/>
              </a:rPr>
              <a:t>sb</a:t>
            </a:r>
            <a:r>
              <a:rPr lang="en-US" altLang="zh-CN" sz="2800" b="1" dirty="0">
                <a:latin typeface="宋体" panose="02010600030101010101" pitchFamily="2" charset="-122"/>
                <a:ea typeface="宋体" panose="02010600030101010101" pitchFamily="2" charset="-122"/>
              </a:rPr>
              <a:t>);</a:t>
            </a:r>
            <a:endParaRPr lang="zh-CN" altLang="en-US" sz="2800" b="1" dirty="0">
              <a:latin typeface="宋体" panose="02010600030101010101" pitchFamily="2" charset="-122"/>
              <a:ea typeface="宋体" panose="02010600030101010101" pitchFamily="2" charset="-122"/>
            </a:endParaRPr>
          </a:p>
          <a:p>
            <a:pPr marL="0" indent="353060">
              <a:buNone/>
            </a:pPr>
            <a:r>
              <a:rPr lang="zh-CN" altLang="en-US" sz="2800" b="1" dirty="0">
                <a:latin typeface="宋体" panose="02010600030101010101" pitchFamily="2" charset="-122"/>
                <a:ea typeface="宋体" panose="02010600030101010101" pitchFamily="2" charset="-122"/>
              </a:rPr>
              <a:t>运行结果为：</a:t>
            </a:r>
            <a:endParaRPr lang="zh-CN" altLang="en-US" sz="2800" b="1" dirty="0">
              <a:latin typeface="宋体" panose="02010600030101010101" pitchFamily="2" charset="-122"/>
              <a:ea typeface="宋体" panose="02010600030101010101" pitchFamily="2" charset="-122"/>
            </a:endParaRPr>
          </a:p>
          <a:p>
            <a:pPr marL="0" indent="353060">
              <a:buNone/>
            </a:pPr>
            <a:r>
              <a:rPr lang="en-US" altLang="zh-CN" sz="2800" b="1" dirty="0" err="1">
                <a:latin typeface="宋体" panose="02010600030101010101" pitchFamily="2" charset="-122"/>
                <a:ea typeface="宋体" panose="02010600030101010101" pitchFamily="2" charset="-122"/>
              </a:rPr>
              <a:t>welcometobeijing</a:t>
            </a:r>
            <a:endParaRPr lang="zh-CN" altLang="en-US" sz="2800" b="1" dirty="0">
              <a:latin typeface="宋体" panose="02010600030101010101" pitchFamily="2" charset="-122"/>
              <a:ea typeface="宋体" panose="02010600030101010101" pitchFamily="2" charset="-122"/>
            </a:endParaRPr>
          </a:p>
          <a:p>
            <a:pPr marL="0" indent="353060">
              <a:buNone/>
            </a:pPr>
            <a:endParaRPr lang="zh-CN" altLang="en-US" sz="2800" b="1" dirty="0">
              <a:latin typeface="宋体" panose="02010600030101010101" pitchFamily="2" charset="-122"/>
              <a:ea typeface="宋体" panose="02010600030101010101" pitchFamily="2" charset="-122"/>
            </a:endParaRPr>
          </a:p>
        </p:txBody>
      </p:sp>
      <p:sp>
        <p:nvSpPr>
          <p:cNvPr id="80899" name="灯片编号占位符 3"/>
          <p:cNvSpPr txBox="1">
            <a:spLocks noGrp="1" noChangeArrowheads="1"/>
          </p:cNvSpPr>
          <p:nvPr/>
        </p:nvSpPr>
        <p:spPr bwMode="auto">
          <a:xfrm>
            <a:off x="9483687" y="6229695"/>
            <a:ext cx="872743" cy="45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957" tIns="46978" rIns="93957" bIns="46978" anchor="b"/>
          <a:lstStyle>
            <a:lvl1pPr>
              <a:defRPr sz="2000" b="1">
                <a:solidFill>
                  <a:schemeClr val="tx1"/>
                </a:solidFill>
                <a:latin typeface="Times New Roman" panose="02020603050405020304" pitchFamily="18" charset="0"/>
                <a:ea typeface="宋体" panose="02010600030101010101" pitchFamily="2" charset="-122"/>
              </a:defRPr>
            </a:lvl1pPr>
            <a:lvl2pPr marL="742950" indent="-285750">
              <a:defRPr sz="2000" b="1">
                <a:solidFill>
                  <a:schemeClr val="tx1"/>
                </a:solidFill>
                <a:latin typeface="Times New Roman" panose="02020603050405020304" pitchFamily="18" charset="0"/>
                <a:ea typeface="宋体" panose="02010600030101010101" pitchFamily="2" charset="-122"/>
              </a:defRPr>
            </a:lvl2pPr>
            <a:lvl3pPr marL="1143000" indent="-228600">
              <a:defRPr sz="2000" b="1">
                <a:solidFill>
                  <a:schemeClr val="tx1"/>
                </a:solidFill>
                <a:latin typeface="Times New Roman" panose="02020603050405020304" pitchFamily="18" charset="0"/>
                <a:ea typeface="宋体" panose="02010600030101010101" pitchFamily="2" charset="-122"/>
              </a:defRPr>
            </a:lvl3pPr>
            <a:lvl4pPr marL="1600200" indent="-228600">
              <a:defRPr sz="2000" b="1">
                <a:solidFill>
                  <a:schemeClr val="tx1"/>
                </a:solidFill>
                <a:latin typeface="Times New Roman" panose="02020603050405020304" pitchFamily="18" charset="0"/>
                <a:ea typeface="宋体" panose="02010600030101010101" pitchFamily="2" charset="-122"/>
              </a:defRPr>
            </a:lvl4pPr>
            <a:lvl5pPr marL="2057400" indent="-228600">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130000"/>
              </a:lnSpc>
              <a:spcBef>
                <a:spcPct val="0"/>
              </a:spcBef>
              <a:spcAft>
                <a:spcPct val="0"/>
              </a:spcAft>
              <a:buFont typeface="Arial" panose="020B0604020202020204" pitchFamily="34" charset="0"/>
              <a:defRPr sz="2000" b="1">
                <a:solidFill>
                  <a:schemeClr val="tx1"/>
                </a:solidFill>
                <a:latin typeface="Times New Roman" panose="02020603050405020304" pitchFamily="18" charset="0"/>
                <a:ea typeface="宋体" panose="02010600030101010101" pitchFamily="2" charset="-122"/>
              </a:defRPr>
            </a:lvl9pPr>
          </a:lstStyle>
          <a:p>
            <a:pPr algn="r" eaLnBrk="1" hangingPunct="1">
              <a:lnSpc>
                <a:spcPct val="100000"/>
              </a:lnSpc>
              <a:spcBef>
                <a:spcPct val="50000"/>
              </a:spcBef>
            </a:pPr>
            <a:fld id="{2A2CB82F-ABFD-4053-9281-48E7AE01B44C}" type="slidenum">
              <a:rPr lang="en-US" altLang="zh-CN" sz="2275">
                <a:solidFill>
                  <a:schemeClr val="bg2"/>
                </a:solidFill>
                <a:latin typeface="Arial" panose="020B0604020202020204" pitchFamily="34" charset="0"/>
              </a:rPr>
            </a:fld>
            <a:endParaRPr lang="en-US" altLang="zh-CN" sz="2275">
              <a:solidFill>
                <a:schemeClr val="bg2"/>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6802">
                                            <p:txEl>
                                              <p:pRg st="7" end="7"/>
                                            </p:txEl>
                                          </p:spTgt>
                                        </p:tgtEl>
                                        <p:attrNameLst>
                                          <p:attrName>style.visibility</p:attrName>
                                        </p:attrNameLst>
                                      </p:cBhvr>
                                      <p:to>
                                        <p:strVal val="visible"/>
                                      </p:to>
                                    </p:set>
                                    <p:animEffect transition="in" filter="blinds(horizontal)">
                                      <p:cBhvr>
                                        <p:cTn id="7" dur="500"/>
                                        <p:tgtEl>
                                          <p:spTgt spid="76802">
                                            <p:txEl>
                                              <p:pRg st="7" end="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6802">
                                            <p:txEl>
                                              <p:pRg st="8" end="8"/>
                                            </p:txEl>
                                          </p:spTgt>
                                        </p:tgtEl>
                                        <p:attrNameLst>
                                          <p:attrName>style.visibility</p:attrName>
                                        </p:attrNameLst>
                                      </p:cBhvr>
                                      <p:to>
                                        <p:strVal val="visible"/>
                                      </p:to>
                                    </p:set>
                                    <p:animEffect transition="in" filter="blinds(horizontal)">
                                      <p:cBhvr>
                                        <p:cTn id="10" dur="500"/>
                                        <p:tgtEl>
                                          <p:spTgt spid="7680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7215" y="163884"/>
            <a:ext cx="9601200" cy="1142385"/>
          </a:xfrm>
        </p:spPr>
        <p:txBody>
          <a:bodyPr/>
          <a:lstStyle/>
          <a:p>
            <a:r>
              <a:rPr lang="zh-CN" altLang="en-US" dirty="0"/>
              <a:t>练习</a:t>
            </a:r>
            <a:endParaRPr lang="zh-CN" altLang="en-US" dirty="0"/>
          </a:p>
        </p:txBody>
      </p:sp>
      <p:sp>
        <p:nvSpPr>
          <p:cNvPr id="3" name="内容占位符 2"/>
          <p:cNvSpPr>
            <a:spLocks noGrp="1"/>
          </p:cNvSpPr>
          <p:nvPr>
            <p:ph idx="1"/>
          </p:nvPr>
        </p:nvSpPr>
        <p:spPr>
          <a:xfrm>
            <a:off x="571499" y="1306269"/>
            <a:ext cx="10802815" cy="4711210"/>
          </a:xfrm>
        </p:spPr>
        <p:txBody>
          <a:bodyPr>
            <a:normAutofit/>
          </a:bodyPr>
          <a:lstStyle/>
          <a:p>
            <a:pPr marL="0" lvl="0" indent="0">
              <a:buNone/>
            </a:pP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a:t>
            </a:r>
            <a:r>
              <a:rPr lang="zh-CN" altLang="zh-CN" sz="2800" dirty="0">
                <a:latin typeface="宋体" panose="02010600030101010101" pitchFamily="2" charset="-122"/>
                <a:ea typeface="宋体" panose="02010600030101010101" pitchFamily="2" charset="-122"/>
              </a:rPr>
              <a:t>定义一个字符串数组，长度</a:t>
            </a:r>
            <a:r>
              <a:rPr lang="en-US" altLang="zh-CN" sz="2800" dirty="0" err="1">
                <a:latin typeface="宋体" panose="02010600030101010101" pitchFamily="2" charset="-122"/>
                <a:ea typeface="宋体" panose="02010600030101010101" pitchFamily="2" charset="-122"/>
              </a:rPr>
              <a:t>num</a:t>
            </a:r>
            <a:r>
              <a:rPr lang="zh-CN" altLang="zh-CN" sz="2800" dirty="0">
                <a:latin typeface="宋体" panose="02010600030101010101" pitchFamily="2" charset="-122"/>
                <a:ea typeface="宋体" panose="02010600030101010101" pitchFamily="2" charset="-122"/>
              </a:rPr>
              <a:t>由用户输入</a:t>
            </a:r>
            <a:r>
              <a:rPr lang="en-US" altLang="zh-CN" sz="2800" dirty="0">
                <a:latin typeface="宋体" panose="02010600030101010101" pitchFamily="2" charset="-122"/>
                <a:ea typeface="宋体" panose="02010600030101010101" pitchFamily="2" charset="-122"/>
              </a:rPr>
              <a:t>.</a:t>
            </a:r>
            <a:r>
              <a:rPr lang="zh-CN" altLang="zh-CN" sz="2800" dirty="0">
                <a:latin typeface="宋体" panose="02010600030101010101" pitchFamily="2" charset="-122"/>
                <a:ea typeface="宋体" panose="02010600030101010101" pitchFamily="2" charset="-122"/>
              </a:rPr>
              <a:t>用户输入</a:t>
            </a:r>
            <a:r>
              <a:rPr lang="en-US" altLang="zh-CN" sz="2800" dirty="0" err="1">
                <a:latin typeface="宋体" panose="02010600030101010101" pitchFamily="2" charset="-122"/>
                <a:ea typeface="宋体" panose="02010600030101010101" pitchFamily="2" charset="-122"/>
              </a:rPr>
              <a:t>num</a:t>
            </a:r>
            <a:r>
              <a:rPr lang="zh-CN" altLang="zh-CN" sz="2800" dirty="0">
                <a:latin typeface="宋体" panose="02010600030101010101" pitchFamily="2" charset="-122"/>
                <a:ea typeface="宋体" panose="02010600030101010101" pitchFamily="2" charset="-122"/>
              </a:rPr>
              <a:t>个学号，初始化字符串数组</a:t>
            </a:r>
            <a:r>
              <a:rPr lang="en-US" altLang="zh-CN" sz="2800" dirty="0">
                <a:latin typeface="宋体" panose="02010600030101010101" pitchFamily="2" charset="-122"/>
                <a:ea typeface="宋体" panose="02010600030101010101" pitchFamily="2" charset="-122"/>
              </a:rPr>
              <a:t>.</a:t>
            </a:r>
            <a:r>
              <a:rPr lang="zh-CN" altLang="zh-CN" sz="2800" dirty="0">
                <a:latin typeface="宋体" panose="02010600030101010101" pitchFamily="2" charset="-122"/>
                <a:ea typeface="宋体" panose="02010600030101010101" pitchFamily="2" charset="-122"/>
              </a:rPr>
              <a:t>将用户输入的</a:t>
            </a:r>
            <a:r>
              <a:rPr lang="en-US" altLang="zh-CN" sz="2800" dirty="0" err="1">
                <a:latin typeface="宋体" panose="02010600030101010101" pitchFamily="2" charset="-122"/>
                <a:ea typeface="宋体" panose="02010600030101010101" pitchFamily="2" charset="-122"/>
              </a:rPr>
              <a:t>num</a:t>
            </a:r>
            <a:r>
              <a:rPr lang="zh-CN" altLang="zh-CN" sz="2800" dirty="0">
                <a:latin typeface="宋体" panose="02010600030101010101" pitchFamily="2" charset="-122"/>
                <a:ea typeface="宋体" panose="02010600030101010101" pitchFamily="2" charset="-122"/>
              </a:rPr>
              <a:t>个学号依次输出，并输出该学号所属班级，在班级内的学号</a:t>
            </a:r>
            <a:endParaRPr lang="zh-CN" altLang="zh-CN"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a:t>
            </a:r>
            <a:r>
              <a:rPr lang="zh-CN" altLang="zh-CN" sz="2800" dirty="0">
                <a:latin typeface="宋体" panose="02010600030101010101" pitchFamily="2" charset="-122"/>
                <a:ea typeface="宋体" panose="02010600030101010101" pitchFamily="2" charset="-122"/>
              </a:rPr>
              <a:t>有一个字符串，其中包含中文字符、英文字符和数字字符，编写一个</a:t>
            </a:r>
            <a:r>
              <a:rPr lang="en-US" altLang="zh-CN" sz="2800" dirty="0">
                <a:latin typeface="宋体" panose="02010600030101010101" pitchFamily="2" charset="-122"/>
                <a:ea typeface="宋体" panose="02010600030101010101" pitchFamily="2" charset="-122"/>
              </a:rPr>
              <a:t>Java</a:t>
            </a:r>
            <a:r>
              <a:rPr lang="zh-CN" altLang="zh-CN" sz="2800" dirty="0">
                <a:latin typeface="宋体" panose="02010600030101010101" pitchFamily="2" charset="-122"/>
                <a:ea typeface="宋体" panose="02010600030101010101" pitchFamily="2" charset="-122"/>
              </a:rPr>
              <a:t>应用程序，请统计并打印出各类字符的个数。</a:t>
            </a:r>
            <a:endParaRPr lang="en-US" altLang="zh-CN"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、制作一个简单的“加密”程序，输入的字符串，并且将每个字符对应的数值加</a:t>
            </a: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，显示新的字符串。</a:t>
            </a:r>
            <a:endParaRPr lang="en-US" altLang="zh-CN"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4</a:t>
            </a:r>
            <a:r>
              <a:rPr lang="zh-CN" altLang="en-US" sz="2800" dirty="0">
                <a:latin typeface="宋体" panose="02010600030101010101" pitchFamily="2" charset="-122"/>
                <a:ea typeface="宋体" panose="02010600030101010101" pitchFamily="2" charset="-122"/>
              </a:rPr>
              <a:t>、统计一个字符串内有几个“中国”。</a:t>
            </a:r>
            <a:endParaRPr lang="en-US" altLang="zh-CN" sz="2800" dirty="0">
              <a:latin typeface="宋体" panose="02010600030101010101" pitchFamily="2" charset="-122"/>
              <a:ea typeface="宋体" panose="02010600030101010101" pitchFamily="2" charset="-122"/>
            </a:endParaRPr>
          </a:p>
          <a:p>
            <a:pPr marL="0" indent="0">
              <a:buNone/>
            </a:pPr>
            <a:r>
              <a:rPr lang="en-US" altLang="zh-CN" sz="2800" dirty="0">
                <a:latin typeface="宋体" panose="02010600030101010101" pitchFamily="2" charset="-122"/>
                <a:ea typeface="宋体" panose="02010600030101010101" pitchFamily="2" charset="-122"/>
              </a:rPr>
              <a:t>5</a:t>
            </a:r>
            <a:r>
              <a:rPr lang="zh-CN" altLang="en-US" sz="2800" dirty="0">
                <a:latin typeface="宋体" panose="02010600030101010101" pitchFamily="2" charset="-122"/>
                <a:ea typeface="宋体" panose="02010600030101010101" pitchFamily="2" charset="-122"/>
              </a:rPr>
              <a:t>、去掉一个字符串中的所有空格。</a:t>
            </a:r>
            <a:endParaRPr lang="zh-CN" altLang="en-US" sz="28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M_UNIT_TABLE_BEAUTIFY" val="smartTable{06555499-2709-41ad-8406-5bc39b73c63d}"/>
</p:tagLst>
</file>

<file path=ppt/tags/tag2.xml><?xml version="1.0" encoding="utf-8"?>
<p:tagLst xmlns:p="http://schemas.openxmlformats.org/presentationml/2006/main">
  <p:tag name="KSO_WM_UNIT_TABLE_BEAUTIFY" val="smartTable{115a4d73-8270-48aa-a3aa-803c4b99bedd}"/>
</p:tagLst>
</file>

<file path=ppt/tags/tag3.xml><?xml version="1.0" encoding="utf-8"?>
<p:tagLst xmlns:p="http://schemas.openxmlformats.org/presentationml/2006/main">
  <p:tag name="KSO_WM_UNIT_TABLE_BEAUTIFY" val="smartTable{e7a23217-0952-4044-ad7d-ca135f01d3a9}"/>
</p:tagLst>
</file>

<file path=ppt/tags/tag4.xml><?xml version="1.0" encoding="utf-8"?>
<p:tagLst xmlns:p="http://schemas.openxmlformats.org/presentationml/2006/main">
  <p:tag name="KSO_WM_UNIT_TABLE_BEAUTIFY" val="smartTable{845d4771-a8b2-4eb5-8aec-be589bbacadf}"/>
</p:tagLst>
</file>

<file path=ppt/theme/theme1.xml><?xml version="1.0" encoding="utf-8"?>
<a:theme xmlns:a="http://schemas.openxmlformats.org/drawingml/2006/main" name="菱形网格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菱形网格业务演示文稿（宽屏）</Template>
  <TotalTime>0</TotalTime>
  <Words>14860</Words>
  <Application>WPS 演示</Application>
  <PresentationFormat>宽屏</PresentationFormat>
  <Paragraphs>1466</Paragraphs>
  <Slides>85</Slides>
  <Notes>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85</vt:i4>
      </vt:variant>
    </vt:vector>
  </HeadingPairs>
  <TitlesOfParts>
    <vt:vector size="105" baseType="lpstr">
      <vt:lpstr>Arial</vt:lpstr>
      <vt:lpstr>宋体</vt:lpstr>
      <vt:lpstr>Wingdings</vt:lpstr>
      <vt:lpstr>微软雅黑</vt:lpstr>
      <vt:lpstr>Times New Roman</vt:lpstr>
      <vt:lpstr>楷体_GB2312</vt:lpstr>
      <vt:lpstr>新宋体</vt:lpstr>
      <vt:lpstr>Monotype Sorts</vt:lpstr>
      <vt:lpstr>Wingdings</vt:lpstr>
      <vt:lpstr>Calibri</vt:lpstr>
      <vt:lpstr>Courier New</vt:lpstr>
      <vt:lpstr>华文行楷</vt:lpstr>
      <vt:lpstr>Arial Unicode MS</vt:lpstr>
      <vt:lpstr>方正姚体</vt:lpstr>
      <vt:lpstr>幼圆</vt:lpstr>
      <vt:lpstr>Wingdings 3</vt:lpstr>
      <vt:lpstr>Wingdings 2</vt:lpstr>
      <vt:lpstr>黑体</vt:lpstr>
      <vt:lpstr>菱形网格 16x9</vt:lpstr>
      <vt:lpstr>Equation.DSMT4</vt:lpstr>
      <vt:lpstr>PowerPoint 演示文稿</vt:lpstr>
      <vt:lpstr>PowerPoint 演示文稿</vt:lpstr>
      <vt:lpstr>2.1 Java语言数据类型</vt:lpstr>
      <vt:lpstr>1、整数类型</vt:lpstr>
      <vt:lpstr>2、浮点数据类型</vt:lpstr>
      <vt:lpstr>3、字符数据类型</vt:lpstr>
      <vt:lpstr>4、布尔数据类型</vt:lpstr>
      <vt:lpstr>2.2.1 Java标识符的命名规则</vt:lpstr>
      <vt:lpstr>PowerPoint 演示文稿</vt:lpstr>
      <vt:lpstr>2.2.2 Java关键字</vt:lpstr>
      <vt:lpstr>2.3变量和常量</vt:lpstr>
      <vt:lpstr>PowerPoint 演示文稿</vt:lpstr>
      <vt:lpstr>2.3.2 常量</vt:lpstr>
      <vt:lpstr>2、浮点型常量</vt:lpstr>
      <vt:lpstr>3、字符型常量</vt:lpstr>
      <vt:lpstr>PowerPoint 演示文稿</vt:lpstr>
      <vt:lpstr>练习：</vt:lpstr>
      <vt:lpstr>2.4  Java的输入输出</vt:lpstr>
      <vt:lpstr>PowerPoint 演示文稿</vt:lpstr>
      <vt:lpstr>2、控制台输出语句</vt:lpstr>
      <vt:lpstr>2.5 数据类型转换</vt:lpstr>
      <vt:lpstr>2.5.2强制类型转换</vt:lpstr>
      <vt:lpstr>PowerPoint 演示文稿</vt:lpstr>
      <vt:lpstr>2.5.3字符串型数据与数值型数据相互转换</vt:lpstr>
      <vt:lpstr>PowerPoint 演示文稿</vt:lpstr>
      <vt:lpstr>PowerPoint 演示文稿</vt:lpstr>
      <vt:lpstr>练习</vt:lpstr>
      <vt:lpstr>2.6.1 算术运算符及其表达式</vt:lpstr>
      <vt:lpstr>2.6.2 关系运算符及其表达式</vt:lpstr>
      <vt:lpstr>2.6.3 逻辑运算符及其表达式</vt:lpstr>
      <vt:lpstr>2.6.4 赋值运算符及其表达式</vt:lpstr>
      <vt:lpstr>2.6.5 条件运算符及其表达式</vt:lpstr>
      <vt:lpstr>2.6.6 位运算符及其表达式</vt:lpstr>
      <vt:lpstr>2.6.7 运算符的优先级</vt:lpstr>
      <vt:lpstr>练习</vt:lpstr>
      <vt:lpstr>2.7.1 顺序结构</vt:lpstr>
      <vt:lpstr>1、 if语句</vt:lpstr>
      <vt:lpstr>PowerPoint 演示文稿</vt:lpstr>
      <vt:lpstr>PowerPoint 演示文稿</vt:lpstr>
      <vt:lpstr>2、switch语句</vt:lpstr>
      <vt:lpstr>PowerPoint 演示文稿</vt:lpstr>
      <vt:lpstr>常见错误</vt:lpstr>
      <vt:lpstr>常见错误</vt:lpstr>
      <vt:lpstr>常见错误</vt:lpstr>
      <vt:lpstr>PowerPoint 演示文稿</vt:lpstr>
      <vt:lpstr>2.7.3 循环结构</vt:lpstr>
      <vt:lpstr> 1、 while语句</vt:lpstr>
      <vt:lpstr>2、do…while语句</vt:lpstr>
      <vt:lpstr>3、for语句</vt:lpstr>
      <vt:lpstr>for循环常见问题</vt:lpstr>
      <vt:lpstr>for循环常见问题</vt:lpstr>
      <vt:lpstr>练习：</vt:lpstr>
      <vt:lpstr>2.7.4 跳转语句</vt:lpstr>
      <vt:lpstr>PowerPoint 演示文稿</vt:lpstr>
      <vt:lpstr>2、 continue语句</vt:lpstr>
      <vt:lpstr>3、return语句</vt:lpstr>
      <vt:lpstr>练习：</vt:lpstr>
      <vt:lpstr>2.8 数组</vt:lpstr>
      <vt:lpstr>2.8.1  一维数组 1、数组的声明和创建</vt:lpstr>
      <vt:lpstr>PowerPoint 演示文稿</vt:lpstr>
      <vt:lpstr>PowerPoint 演示文稿</vt:lpstr>
      <vt:lpstr>PowerPoint 演示文稿</vt:lpstr>
      <vt:lpstr>PowerPoint 演示文稿</vt:lpstr>
      <vt:lpstr>2、数组的初始化</vt:lpstr>
      <vt:lpstr>PowerPoint 演示文稿</vt:lpstr>
      <vt:lpstr>PowerPoint 演示文稿</vt:lpstr>
      <vt:lpstr>练习： 1、定义一个char数组、float数组、double数组、boolean数组、String数组，不给值，看看里面各个元素的默认值是多少？ 2、编写一个Java 程序，定义一个长度为5的整型数组，要求用户从键盘中为每个元素输入一个整数，然后输出每个数组元素的内容，再输出数组中最大整数值和最小的整数值。       3、创建一维数组存放10个数，然后将其中的所有偶数相加。 4、创建一维数组存放10个数，并按照从大到小的顺序输出。 </vt:lpstr>
      <vt:lpstr>foreach语句与数组</vt:lpstr>
      <vt:lpstr>2.8.2  多维数组</vt:lpstr>
      <vt:lpstr>PowerPoint 演示文稿</vt:lpstr>
      <vt:lpstr>PowerPoint 演示文稿</vt:lpstr>
      <vt:lpstr>PowerPoint 演示文稿</vt:lpstr>
      <vt:lpstr>PowerPoint 演示文稿</vt:lpstr>
      <vt:lpstr>PowerPoint 演示文稿</vt:lpstr>
      <vt:lpstr>练习</vt:lpstr>
      <vt:lpstr>2.9字符串的创建与使用</vt:lpstr>
      <vt:lpstr>2.9.1  String类与StringBuffer类 （1）String类</vt:lpstr>
      <vt:lpstr>PowerPoint 演示文稿</vt:lpstr>
      <vt:lpstr>（2）StringBuffer类</vt:lpstr>
      <vt:lpstr>PowerPoint 演示文稿</vt:lpstr>
      <vt:lpstr>2.9.2  字符串常用方法</vt:lpstr>
      <vt:lpstr>PowerPoint 演示文稿</vt:lpstr>
      <vt:lpstr>PowerPoint 演示文稿</vt:lpstr>
      <vt:lpstr>PowerPoint 演示文稿</vt:lpstr>
      <vt:lpstr>练习</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lxj_job@126.com</dc:creator>
  <cp:lastModifiedBy>Jiong Zhu</cp:lastModifiedBy>
  <cp:revision>36</cp:revision>
  <dcterms:created xsi:type="dcterms:W3CDTF">2019-09-16T08:02:00Z</dcterms:created>
  <dcterms:modified xsi:type="dcterms:W3CDTF">2021-03-10T14:11:02Z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2052-11.1.0.10214</vt:lpwstr>
  </property>
</Properties>
</file>