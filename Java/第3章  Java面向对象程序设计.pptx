
<file path=[Content_Types].xml><?xml version="1.0" encoding="utf-8"?>
<Types xmlns="http://schemas.openxmlformats.org/package/2006/content-types">
  <Default Extension="jpeg" ContentType="image/jpe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18"/>
  </p:notesMasterIdLst>
  <p:handoutMasterIdLst>
    <p:handoutMasterId r:id="rId119"/>
  </p:handoutMasterIdLst>
  <p:sldIdLst>
    <p:sldId id="1235" r:id="rId3"/>
    <p:sldId id="1236" r:id="rId4"/>
    <p:sldId id="1206" r:id="rId5"/>
    <p:sldId id="1208" r:id="rId6"/>
    <p:sldId id="1209" r:id="rId7"/>
    <p:sldId id="1212" r:id="rId8"/>
    <p:sldId id="1295" r:id="rId9"/>
    <p:sldId id="1213" r:id="rId10"/>
    <p:sldId id="1296" r:id="rId11"/>
    <p:sldId id="1297" r:id="rId12"/>
    <p:sldId id="1298" r:id="rId13"/>
    <p:sldId id="1299" r:id="rId14"/>
    <p:sldId id="1300" r:id="rId15"/>
    <p:sldId id="1301" r:id="rId16"/>
    <p:sldId id="1302" r:id="rId17"/>
    <p:sldId id="1303" r:id="rId18"/>
    <p:sldId id="1304" r:id="rId19"/>
    <p:sldId id="1306" r:id="rId20"/>
    <p:sldId id="1307" r:id="rId21"/>
    <p:sldId id="1308" r:id="rId22"/>
    <p:sldId id="1309" r:id="rId23"/>
    <p:sldId id="1310" r:id="rId24"/>
    <p:sldId id="1311" r:id="rId25"/>
    <p:sldId id="1312" r:id="rId26"/>
    <p:sldId id="1313" r:id="rId27"/>
    <p:sldId id="1344" r:id="rId28"/>
    <p:sldId id="1345" r:id="rId29"/>
    <p:sldId id="1314" r:id="rId30"/>
    <p:sldId id="1237" r:id="rId31"/>
    <p:sldId id="1238" r:id="rId32"/>
    <p:sldId id="1239" r:id="rId33"/>
    <p:sldId id="1242" r:id="rId34"/>
    <p:sldId id="1243" r:id="rId35"/>
    <p:sldId id="1244" r:id="rId36"/>
    <p:sldId id="1245" r:id="rId37"/>
    <p:sldId id="1246" r:id="rId38"/>
    <p:sldId id="1247" r:id="rId39"/>
    <p:sldId id="1346" r:id="rId40"/>
    <p:sldId id="1348" r:id="rId41"/>
    <p:sldId id="1347" r:id="rId42"/>
    <p:sldId id="1349" r:id="rId43"/>
    <p:sldId id="1248" r:id="rId44"/>
    <p:sldId id="1249" r:id="rId45"/>
    <p:sldId id="1250" r:id="rId46"/>
    <p:sldId id="1251" r:id="rId47"/>
    <p:sldId id="1252" r:id="rId48"/>
    <p:sldId id="1350" r:id="rId49"/>
    <p:sldId id="1253" r:id="rId50"/>
    <p:sldId id="1255" r:id="rId51"/>
    <p:sldId id="1256" r:id="rId52"/>
    <p:sldId id="1257" r:id="rId53"/>
    <p:sldId id="1351" r:id="rId54"/>
    <p:sldId id="1258" r:id="rId55"/>
    <p:sldId id="1259" r:id="rId56"/>
    <p:sldId id="1260" r:id="rId57"/>
    <p:sldId id="1261" r:id="rId58"/>
    <p:sldId id="1262" r:id="rId59"/>
    <p:sldId id="1263" r:id="rId60"/>
    <p:sldId id="1264" r:id="rId61"/>
    <p:sldId id="1265" r:id="rId62"/>
    <p:sldId id="1266" r:id="rId63"/>
    <p:sldId id="1267" r:id="rId64"/>
    <p:sldId id="1268" r:id="rId65"/>
    <p:sldId id="1269" r:id="rId66"/>
    <p:sldId id="1270" r:id="rId67"/>
    <p:sldId id="1271" r:id="rId68"/>
    <p:sldId id="1352" r:id="rId69"/>
    <p:sldId id="1354" r:id="rId70"/>
    <p:sldId id="1353" r:id="rId71"/>
    <p:sldId id="1355" r:id="rId72"/>
    <p:sldId id="1272" r:id="rId73"/>
    <p:sldId id="1273" r:id="rId74"/>
    <p:sldId id="1274" r:id="rId75"/>
    <p:sldId id="1275" r:id="rId76"/>
    <p:sldId id="1356" r:id="rId77"/>
    <p:sldId id="1276" r:id="rId78"/>
    <p:sldId id="1277" r:id="rId79"/>
    <p:sldId id="1278" r:id="rId80"/>
    <p:sldId id="1280" r:id="rId81"/>
    <p:sldId id="1281" r:id="rId82"/>
    <p:sldId id="1282" r:id="rId83"/>
    <p:sldId id="1284" r:id="rId84"/>
    <p:sldId id="1317" r:id="rId85"/>
    <p:sldId id="1357" r:id="rId86"/>
    <p:sldId id="1358" r:id="rId87"/>
    <p:sldId id="1318" r:id="rId88"/>
    <p:sldId id="1286" r:id="rId89"/>
    <p:sldId id="1319" r:id="rId90"/>
    <p:sldId id="1290" r:id="rId91"/>
    <p:sldId id="1291" r:id="rId92"/>
    <p:sldId id="1320" r:id="rId93"/>
    <p:sldId id="1359" r:id="rId94"/>
    <p:sldId id="1321" r:id="rId95"/>
    <p:sldId id="1325" r:id="rId96"/>
    <p:sldId id="1324" r:id="rId97"/>
    <p:sldId id="1326" r:id="rId98"/>
    <p:sldId id="1327" r:id="rId99"/>
    <p:sldId id="1328" r:id="rId100"/>
    <p:sldId id="1329" r:id="rId101"/>
    <p:sldId id="1330" r:id="rId102"/>
    <p:sldId id="1331" r:id="rId103"/>
    <p:sldId id="1332" r:id="rId104"/>
    <p:sldId id="1334" r:id="rId105"/>
    <p:sldId id="1335" r:id="rId106"/>
    <p:sldId id="1336" r:id="rId107"/>
    <p:sldId id="1337" r:id="rId108"/>
    <p:sldId id="1338" r:id="rId109"/>
    <p:sldId id="1322" r:id="rId110"/>
    <p:sldId id="1339" r:id="rId111"/>
    <p:sldId id="1340" r:id="rId112"/>
    <p:sldId id="1341" r:id="rId113"/>
    <p:sldId id="1342" r:id="rId114"/>
    <p:sldId id="1343" r:id="rId115"/>
    <p:sldId id="1293" r:id="rId116"/>
    <p:sldId id="1294" r:id="rId117"/>
  </p:sldIdLst>
  <p:sldSz cx="12192000" cy="6858000"/>
  <p:notesSz cx="6858000" cy="9144000"/>
  <p:defaultTextStyle>
    <a:defPPr rtl="0">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BC89EF96-8CEA-46FF-86C4-4CE0E7609802}"/>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767" autoAdjust="0"/>
  </p:normalViewPr>
  <p:slideViewPr>
    <p:cSldViewPr snapToGrid="0">
      <p:cViewPr varScale="1">
        <p:scale>
          <a:sx n="66" d="100"/>
          <a:sy n="66" d="100"/>
        </p:scale>
        <p:origin x="668" y="64"/>
      </p:cViewPr>
      <p:guideLst>
        <p:guide pos="3840"/>
        <p:guide orient="horz" pos="216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99" d="100"/>
          <a:sy n="99" d="100"/>
        </p:scale>
        <p:origin x="2820" y="78"/>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2" Type="http://schemas.openxmlformats.org/officeDocument/2006/relationships/tableStyles" Target="tableStyles.xml"/><Relationship Id="rId121" Type="http://schemas.openxmlformats.org/officeDocument/2006/relationships/viewProps" Target="viewProps.xml"/><Relationship Id="rId120" Type="http://schemas.openxmlformats.org/officeDocument/2006/relationships/presProps" Target="presProps.xml"/><Relationship Id="rId12" Type="http://schemas.openxmlformats.org/officeDocument/2006/relationships/slide" Target="slides/slide10.xml"/><Relationship Id="rId119" Type="http://schemas.openxmlformats.org/officeDocument/2006/relationships/handoutMaster" Target="handoutMasters/handoutMaster1.xml"/><Relationship Id="rId118" Type="http://schemas.openxmlformats.org/officeDocument/2006/relationships/notesMaster" Target="notesMasters/notesMaster1.xml"/><Relationship Id="rId117" Type="http://schemas.openxmlformats.org/officeDocument/2006/relationships/slide" Target="slides/slide115.xml"/><Relationship Id="rId116" Type="http://schemas.openxmlformats.org/officeDocument/2006/relationships/slide" Target="slides/slide114.xml"/><Relationship Id="rId115" Type="http://schemas.openxmlformats.org/officeDocument/2006/relationships/slide" Target="slides/slide113.xml"/><Relationship Id="rId114" Type="http://schemas.openxmlformats.org/officeDocument/2006/relationships/slide" Target="slides/slide112.xml"/><Relationship Id="rId113" Type="http://schemas.openxmlformats.org/officeDocument/2006/relationships/slide" Target="slides/slide111.xml"/><Relationship Id="rId112" Type="http://schemas.openxmlformats.org/officeDocument/2006/relationships/slide" Target="slides/slide110.xml"/><Relationship Id="rId111" Type="http://schemas.openxmlformats.org/officeDocument/2006/relationships/slide" Target="slides/slide109.xml"/><Relationship Id="rId110" Type="http://schemas.openxmlformats.org/officeDocument/2006/relationships/slide" Target="slides/slide108.xml"/><Relationship Id="rId11" Type="http://schemas.openxmlformats.org/officeDocument/2006/relationships/slide" Target="slides/slide9.xml"/><Relationship Id="rId109" Type="http://schemas.openxmlformats.org/officeDocument/2006/relationships/slide" Target="slides/slide107.xml"/><Relationship Id="rId108" Type="http://schemas.openxmlformats.org/officeDocument/2006/relationships/slide" Target="slides/slide106.xml"/><Relationship Id="rId107" Type="http://schemas.openxmlformats.org/officeDocument/2006/relationships/slide" Target="slides/slide105.xml"/><Relationship Id="rId106" Type="http://schemas.openxmlformats.org/officeDocument/2006/relationships/slide" Target="slides/slide104.xml"/><Relationship Id="rId105" Type="http://schemas.openxmlformats.org/officeDocument/2006/relationships/slide" Target="slides/slide103.xml"/><Relationship Id="rId104" Type="http://schemas.openxmlformats.org/officeDocument/2006/relationships/slide" Target="slides/slide102.xml"/><Relationship Id="rId103" Type="http://schemas.openxmlformats.org/officeDocument/2006/relationships/slide" Target="slides/slide101.xml"/><Relationship Id="rId102" Type="http://schemas.openxmlformats.org/officeDocument/2006/relationships/slide" Target="slides/slide100.xml"/><Relationship Id="rId101" Type="http://schemas.openxmlformats.org/officeDocument/2006/relationships/slide" Target="slides/slide99.xml"/><Relationship Id="rId100" Type="http://schemas.openxmlformats.org/officeDocument/2006/relationships/slide" Target="slides/slide98.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50176C01-2996-41EA-87C6-D94E8BA12DB2}" type="datetime2">
              <a:rPr lang="zh-CN" altLang="en-US" smtClean="0">
                <a:latin typeface="微软雅黑" panose="020B0503020204020204" pitchFamily="34" charset="-122"/>
                <a:ea typeface="微软雅黑" panose="020B0503020204020204" pitchFamily="34" charset="-122"/>
              </a:rPr>
            </a:fld>
            <a:endParaRPr lang="zh-CN" altLang="en-US" dirty="0">
              <a:latin typeface="微软雅黑" panose="020B0503020204020204" pitchFamily="34" charset="-122"/>
              <a:ea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1604A0D4-B89B-4ADD-AF9E-38636B40EE4E}" type="slidenum">
              <a:rPr lang="en-US" altLang="zh-CN" smtClean="0">
                <a:latin typeface="微软雅黑" panose="020B0503020204020204" pitchFamily="34" charset="-122"/>
                <a:ea typeface="微软雅黑" panose="020B0503020204020204" pitchFamily="34" charset="-122"/>
              </a:rPr>
            </a:fld>
            <a:endParaRPr lang="zh-CN" altLang="en-US" dirty="0">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defRPr>
            </a:lvl1pPr>
          </a:lstStyle>
          <a:p>
            <a:fld id="{EA50F75F-AD11-4973-BAED-59A0098129E9}" type="datetime2">
              <a:rPr lang="zh-CN" altLang="en-US" smtClean="0"/>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zh-CN" altLang="en-US" dirty="0"/>
          </a:p>
        </p:txBody>
      </p:sp>
      <p:sp>
        <p:nvSpPr>
          <p:cNvPr id="5" name="备注占位符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rtl="0"/>
            <a:r>
              <a:rPr lang="zh-CN" altLang="en-US" noProof="0" dirty="0"/>
              <a:t>单击此处编辑母版文本样式</a:t>
            </a:r>
            <a:endParaRPr lang="zh-CN" altLang="en-US" noProof="0" dirty="0"/>
          </a:p>
          <a:p>
            <a:pPr lvl="1" rtl="0"/>
            <a:r>
              <a:rPr lang="zh-CN" altLang="en-US" noProof="0" dirty="0"/>
              <a:t>第二级</a:t>
            </a:r>
            <a:endParaRPr lang="zh-CN" altLang="en-US" noProof="0" dirty="0"/>
          </a:p>
          <a:p>
            <a:pPr lvl="2" rtl="0"/>
            <a:r>
              <a:rPr lang="zh-CN" altLang="en-US" noProof="0" dirty="0"/>
              <a:t>第三级</a:t>
            </a:r>
            <a:endParaRPr lang="zh-CN" altLang="en-US" noProof="0" dirty="0"/>
          </a:p>
          <a:p>
            <a:pPr lvl="3" rtl="0"/>
            <a:r>
              <a:rPr lang="zh-CN" altLang="en-US" noProof="0" dirty="0"/>
              <a:t>第四级</a:t>
            </a:r>
            <a:endParaRPr lang="zh-CN" altLang="en-US" noProof="0" dirty="0"/>
          </a:p>
          <a:p>
            <a:pPr lvl="4" rtl="0"/>
            <a:r>
              <a:rPr lang="zh-CN" altLang="en-US" noProof="0" dirty="0"/>
              <a:t>第五级</a:t>
            </a:r>
            <a:endParaRPr lang="zh-CN" altLang="en-US" noProof="0"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defRPr>
            </a:lvl1pPr>
          </a:lstStyle>
          <a:p>
            <a:fld id="{82869989-EB00-4EE7-BCB5-25BDC5BB29F8}" type="slidenum">
              <a:rPr lang="en-US" altLang="zh-CN" smtClean="0"/>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5" name="组 4"/>
          <p:cNvGrpSpPr/>
          <p:nvPr userDrawn="1"/>
        </p:nvGrpSpPr>
        <p:grpSpPr bwMode="hidden">
          <a:xfrm>
            <a:off x="-1" y="0"/>
            <a:ext cx="12192002" cy="6858000"/>
            <a:chOff x="-1" y="0"/>
            <a:chExt cx="12192002" cy="6858000"/>
          </a:xfrm>
        </p:grpSpPr>
        <p:cxnSp>
          <p:nvCxnSpPr>
            <p:cNvPr id="6" name="直接连接符 5"/>
            <p:cNvCxnSpPr/>
            <p:nvPr/>
          </p:nvCxnSpPr>
          <p:spPr bwMode="hidden">
            <a:xfrm>
              <a:off x="61019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bwMode="hidden">
            <a:xfrm>
              <a:off x="182933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bwMode="hidden">
            <a:xfrm>
              <a:off x="304847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S) 9"/>
            <p:cNvCxnSpPr/>
            <p:nvPr/>
          </p:nvCxnSpPr>
          <p:spPr bwMode="hidden">
            <a:xfrm>
              <a:off x="426760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bwMode="hidden">
            <a:xfrm>
              <a:off x="548674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bwMode="hidden">
            <a:xfrm>
              <a:off x="670588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bwMode="hidden">
            <a:xfrm>
              <a:off x="792502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bwMode="hidden">
            <a:xfrm>
              <a:off x="914416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bwMode="hidden">
            <a:xfrm>
              <a:off x="1036329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bwMode="hidden">
            <a:xfrm>
              <a:off x="1158243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S) 16"/>
            <p:cNvCxnSpPr/>
            <p:nvPr/>
          </p:nvCxnSpPr>
          <p:spPr bwMode="hidden">
            <a:xfrm>
              <a:off x="2819" y="38648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bwMode="hidden">
            <a:xfrm>
              <a:off x="2819" y="1611181"/>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bwMode="hidden">
            <a:xfrm>
              <a:off x="2819" y="2835877"/>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bwMode="hidden">
            <a:xfrm>
              <a:off x="2819" y="4060573"/>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bwMode="hidden">
            <a:xfrm>
              <a:off x="2819" y="5285269"/>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bwMode="hidden">
            <a:xfrm>
              <a:off x="2819" y="650996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23" name="组 22"/>
            <p:cNvGrpSpPr/>
            <p:nvPr userDrawn="1"/>
          </p:nvGrpSpPr>
          <p:grpSpPr bwMode="hidden">
            <a:xfrm>
              <a:off x="-1" y="0"/>
              <a:ext cx="12192001" cy="6858000"/>
              <a:chOff x="-1" y="0"/>
              <a:chExt cx="12192001" cy="6858000"/>
            </a:xfrm>
          </p:grpSpPr>
          <p:cxnSp>
            <p:nvCxnSpPr>
              <p:cNvPr id="41" name="直接连接符 40"/>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S) 43"/>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bwMode="hidden">
              <a:xfrm>
                <a:off x="510650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46" name="组 45"/>
              <p:cNvGrpSpPr/>
              <p:nvPr/>
            </p:nvGrpSpPr>
            <p:grpSpPr bwMode="hidden">
              <a:xfrm>
                <a:off x="6327885" y="0"/>
                <a:ext cx="5864115" cy="5898673"/>
                <a:chOff x="6327885" y="0"/>
                <a:chExt cx="5864115" cy="5898673"/>
              </a:xfrm>
            </p:grpSpPr>
            <p:cxnSp>
              <p:nvCxnSpPr>
                <p:cNvPr id="52" name="直接连接符 51"/>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S) 52"/>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S) 53"/>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S) 54"/>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47" name="直接连接符 46"/>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S) 47"/>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S) 48"/>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nvGrpSpPr>
            <p:cNvPr id="24" name="组 23"/>
            <p:cNvGrpSpPr/>
            <p:nvPr userDrawn="1"/>
          </p:nvGrpSpPr>
          <p:grpSpPr bwMode="hidden">
            <a:xfrm flipH="1">
              <a:off x="0" y="0"/>
              <a:ext cx="12192001" cy="6858000"/>
              <a:chOff x="-1" y="0"/>
              <a:chExt cx="12192001" cy="6858000"/>
            </a:xfrm>
          </p:grpSpPr>
          <p:cxnSp>
            <p:nvCxnSpPr>
              <p:cNvPr id="25" name="直接连接符​​ 24"/>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S) 27"/>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bwMode="hidden">
              <a:xfrm>
                <a:off x="515064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30" name="组 29"/>
              <p:cNvGrpSpPr/>
              <p:nvPr/>
            </p:nvGrpSpPr>
            <p:grpSpPr bwMode="hidden">
              <a:xfrm>
                <a:off x="6327885" y="0"/>
                <a:ext cx="5864115" cy="5898673"/>
                <a:chOff x="6327885" y="0"/>
                <a:chExt cx="5864115" cy="5898673"/>
              </a:xfrm>
            </p:grpSpPr>
            <p:cxnSp>
              <p:nvCxnSpPr>
                <p:cNvPr id="36" name="直接连接符 35"/>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S) 36"/>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S) 37"/>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S) 38"/>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31" name="直接连接符 30"/>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S) 31"/>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S) 32"/>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ctrTitle"/>
          </p:nvPr>
        </p:nvSpPr>
        <p:spPr>
          <a:xfrm>
            <a:off x="1293845" y="1909346"/>
            <a:ext cx="9604310" cy="3383280"/>
          </a:xfrm>
        </p:spPr>
        <p:txBody>
          <a:bodyPr rtlCol="0" anchor="b">
            <a:normAutofit/>
          </a:bodyPr>
          <a:lstStyle>
            <a:lvl1pPr algn="l">
              <a:lnSpc>
                <a:spcPct val="100000"/>
              </a:lnSpc>
              <a:defRPr sz="8000" cap="none" baseline="0">
                <a:solidFill>
                  <a:schemeClr val="tx1"/>
                </a:solidFill>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1293845" y="5432564"/>
            <a:ext cx="9604310" cy="457200"/>
          </a:xfrm>
        </p:spPr>
        <p:txBody>
          <a:bodyPr rtlCol="0">
            <a:normAutofit/>
          </a:bodyPr>
          <a:lstStyle>
            <a:lvl1pPr marL="0" indent="0" algn="l">
              <a:spcBef>
                <a:spcPts val="0"/>
              </a:spcBef>
              <a:buNone/>
              <a:defRPr sz="2000" b="0">
                <a:solidFill>
                  <a:schemeClr val="accent1">
                    <a:lumMod val="75000"/>
                  </a:schemeClr>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zh-CN" altLang="en-US" noProof="0"/>
              <a:t>单击此处编辑母版副标题样式</a:t>
            </a:r>
            <a:endParaRPr lang="zh-CN" altLang="en-US" noProof="0" dirty="0"/>
          </a:p>
        </p:txBody>
      </p:sp>
      <p:cxnSp>
        <p:nvCxnSpPr>
          <p:cNvPr id="58" name="直接连接符​​ 57"/>
          <p:cNvCxnSpPr/>
          <p:nvPr userDrawn="1"/>
        </p:nvCxnSpPr>
        <p:spPr>
          <a:xfrm>
            <a:off x="1295400" y="5294175"/>
            <a:ext cx="9601200" cy="0"/>
          </a:xfrm>
          <a:prstGeom prst="line">
            <a:avLst/>
          </a:prstGeom>
          <a:ln w="12700"/>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a:t>单击此处编辑母版标题样式</a:t>
            </a:r>
            <a:endParaRPr lang="zh-CN" altLang="en-US" dirty="0"/>
          </a:p>
        </p:txBody>
      </p:sp>
      <p:sp>
        <p:nvSpPr>
          <p:cNvPr id="3" name="内容占位符 2"/>
          <p:cNvSpPr>
            <a:spLocks noGrp="1"/>
          </p:cNvSpPr>
          <p:nvPr>
            <p:ph idx="1"/>
          </p:nvPr>
        </p:nvSpPr>
        <p:spPr/>
        <p:txBody>
          <a:bodyPr rtlCol="0"/>
          <a:lstStyle/>
          <a:p>
            <a:pPr lvl="0" rtl="0"/>
            <a:r>
              <a:rPr lang="zh-CN" altLang="en-US"/>
              <a:t>单击此处编辑母版文本样式</a:t>
            </a:r>
            <a:endParaRPr lang="zh-CN" altLang="en-US"/>
          </a:p>
          <a:p>
            <a:pPr lvl="1" rtl="0"/>
            <a:r>
              <a:rPr lang="zh-CN" altLang="en-US"/>
              <a:t>二级</a:t>
            </a:r>
            <a:endParaRPr lang="zh-CN" altLang="en-US"/>
          </a:p>
          <a:p>
            <a:pPr lvl="2" rtl="0"/>
            <a:r>
              <a:rPr lang="zh-CN" altLang="en-US"/>
              <a:t>三级</a:t>
            </a:r>
            <a:endParaRPr lang="zh-CN" altLang="en-US"/>
          </a:p>
          <a:p>
            <a:pPr lvl="3" rtl="0"/>
            <a:r>
              <a:rPr lang="zh-CN" altLang="en-US"/>
              <a:t>四级</a:t>
            </a:r>
            <a:endParaRPr lang="zh-CN" altLang="en-US"/>
          </a:p>
          <a:p>
            <a:pPr lvl="4" rtl="0"/>
            <a:r>
              <a:rPr lang="zh-CN" altLang="en-US"/>
              <a:t>五级</a:t>
            </a:r>
            <a:endParaRPr lang="zh-CN" altLang="en-US" dirty="0"/>
          </a:p>
        </p:txBody>
      </p:sp>
      <p:sp>
        <p:nvSpPr>
          <p:cNvPr id="5" name="页脚占位符 4"/>
          <p:cNvSpPr>
            <a:spLocks noGrp="1"/>
          </p:cNvSpPr>
          <p:nvPr>
            <p:ph type="ftr" sz="quarter" idx="11"/>
          </p:nvPr>
        </p:nvSpPr>
        <p:spPr/>
        <p:txBody>
          <a:bodyPr rtlCol="0"/>
          <a:lstStyle/>
          <a:p>
            <a:pPr rtl="0"/>
            <a:r>
              <a:rPr lang="zh-CN" altLang="en-US" dirty="0"/>
              <a:t>添加页脚</a:t>
            </a:r>
            <a:endParaRPr lang="zh-CN" altLang="en-US" dirty="0"/>
          </a:p>
        </p:txBody>
      </p:sp>
      <p:sp>
        <p:nvSpPr>
          <p:cNvPr id="4" name="日期占位符 3"/>
          <p:cNvSpPr>
            <a:spLocks noGrp="1"/>
          </p:cNvSpPr>
          <p:nvPr>
            <p:ph type="dt" sz="half" idx="10"/>
          </p:nvPr>
        </p:nvSpPr>
        <p:spPr/>
        <p:txBody>
          <a:bodyPr rtlCol="0"/>
          <a:lstStyle>
            <a:lvl1pPr>
              <a:defRPr/>
            </a:lvl1pPr>
          </a:lstStyle>
          <a:p>
            <a:fld id="{5B21F106-0919-44CF-AC0D-F9106B3B2262}" type="datetime2">
              <a:rPr lang="zh-CN" altLang="en-US" smtClean="0"/>
            </a:fld>
            <a:endParaRPr lang="zh-CN" altLang="en-US" dirty="0"/>
          </a:p>
        </p:txBody>
      </p:sp>
      <p:sp>
        <p:nvSpPr>
          <p:cNvPr id="6" name="灯片编号占位符 5"/>
          <p:cNvSpPr>
            <a:spLocks noGrp="1"/>
          </p:cNvSpPr>
          <p:nvPr>
            <p:ph type="sldNum" sz="quarter" idx="12"/>
          </p:nvPr>
        </p:nvSpPr>
        <p:spPr/>
        <p:txBody>
          <a:bodyPr rtlCol="0"/>
          <a:lstStyle/>
          <a:p>
            <a:pPr rtl="0"/>
            <a:fld id="{E31375A4-56A4-47D6-9801-1991572033F7}" type="slidenum">
              <a:rPr lang="en-US" altLang="zh-CN"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bg>
      <p:bgPr>
        <a:gradFill flip="none" rotWithShape="1">
          <a:gsLst>
            <a:gs pos="0">
              <a:schemeClr val="accent1"/>
            </a:gs>
            <a:gs pos="97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7" name="组 6"/>
          <p:cNvGrpSpPr/>
          <p:nvPr userDrawn="1"/>
        </p:nvGrpSpPr>
        <p:grpSpPr bwMode="hidden">
          <a:xfrm>
            <a:off x="-1" y="0"/>
            <a:ext cx="12192002" cy="6858000"/>
            <a:chOff x="-1" y="0"/>
            <a:chExt cx="12192002" cy="6858000"/>
          </a:xfrm>
        </p:grpSpPr>
        <p:cxnSp>
          <p:nvCxnSpPr>
            <p:cNvPr id="8" name="直接连接符​​(S) 7"/>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S) 9"/>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S) 16"/>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4" name="组 23"/>
            <p:cNvGrpSpPr/>
            <p:nvPr userDrawn="1"/>
          </p:nvGrpSpPr>
          <p:grpSpPr bwMode="hidden">
            <a:xfrm>
              <a:off x="-1" y="0"/>
              <a:ext cx="12192001" cy="6858000"/>
              <a:chOff x="-1" y="0"/>
              <a:chExt cx="12192001" cy="6858000"/>
            </a:xfrm>
          </p:grpSpPr>
          <p:cxnSp>
            <p:nvCxnSpPr>
              <p:cNvPr id="42" name="直接连接符​​ 41"/>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S) 43"/>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S) 44"/>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7" name="组 46"/>
              <p:cNvGrpSpPr/>
              <p:nvPr/>
            </p:nvGrpSpPr>
            <p:grpSpPr bwMode="hidden">
              <a:xfrm>
                <a:off x="6327885" y="0"/>
                <a:ext cx="5864115" cy="5898673"/>
                <a:chOff x="6327885" y="0"/>
                <a:chExt cx="5864115" cy="5898673"/>
              </a:xfrm>
            </p:grpSpPr>
            <p:cxnSp>
              <p:nvCxnSpPr>
                <p:cNvPr id="53" name="直接连接符​​ 52"/>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S) 53"/>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S) 54"/>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S) 55"/>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8" name="直接连接符 47"/>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S) 48"/>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5" name="组 24"/>
            <p:cNvGrpSpPr/>
            <p:nvPr userDrawn="1"/>
          </p:nvGrpSpPr>
          <p:grpSpPr bwMode="hidden">
            <a:xfrm flipH="1">
              <a:off x="0" y="0"/>
              <a:ext cx="12192001" cy="6858000"/>
              <a:chOff x="-1" y="0"/>
              <a:chExt cx="12192001" cy="6858000"/>
            </a:xfrm>
          </p:grpSpPr>
          <p:cxnSp>
            <p:nvCxnSpPr>
              <p:cNvPr id="26" name="直接连接符 25"/>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S) 27"/>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S) 28"/>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1" name="组 30"/>
              <p:cNvGrpSpPr/>
              <p:nvPr/>
            </p:nvGrpSpPr>
            <p:grpSpPr bwMode="hidden">
              <a:xfrm>
                <a:off x="6327885" y="0"/>
                <a:ext cx="5864115" cy="5898673"/>
                <a:chOff x="6327885" y="0"/>
                <a:chExt cx="5864115" cy="5898673"/>
              </a:xfrm>
            </p:grpSpPr>
            <p:cxnSp>
              <p:nvCxnSpPr>
                <p:cNvPr id="37" name="直接连接符​​ 36"/>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S) 37"/>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S) 38"/>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S) 39"/>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2" name="直接连接符​​ 31"/>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S) 32"/>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title"/>
          </p:nvPr>
        </p:nvSpPr>
        <p:spPr>
          <a:xfrm>
            <a:off x="1295400" y="2541573"/>
            <a:ext cx="9601200" cy="2743200"/>
          </a:xfrm>
        </p:spPr>
        <p:txBody>
          <a:bodyPr rtlCol="0" anchor="b">
            <a:normAutofit/>
          </a:bodyPr>
          <a:lstStyle>
            <a:lvl1pPr>
              <a:lnSpc>
                <a:spcPct val="85000"/>
              </a:lnSpc>
              <a:defRPr sz="6000" cap="none" baseline="0">
                <a:solidFill>
                  <a:schemeClr val="tx1"/>
                </a:solidFill>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1295400" y="5431536"/>
            <a:ext cx="9601200" cy="457200"/>
          </a:xfrm>
        </p:spPr>
        <p:txBody>
          <a:bodyPr rtlCol="0">
            <a:normAutofit/>
          </a:bodyPr>
          <a:lstStyle>
            <a:lvl1pPr marL="0" indent="0">
              <a:spcBef>
                <a:spcPts val="0"/>
              </a:spcBef>
              <a:buNone/>
              <a:defRPr sz="2000" b="0">
                <a:solidFill>
                  <a:schemeClr val="tx1"/>
                </a:solidFill>
                <a:latin typeface="微软雅黑" panose="020B0503020204020204" pitchFamily="34" charset="-122"/>
                <a:ea typeface="微软雅黑" panose="020B0503020204020204" pitchFamily="34" charset="-122"/>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rtl="0"/>
            <a:r>
              <a:rPr lang="zh-CN" altLang="en-US" noProof="0"/>
              <a:t>单击此处编辑母版文本样式</a:t>
            </a:r>
            <a:endParaRPr lang="zh-CN" altLang="en-US" noProof="0"/>
          </a:p>
        </p:txBody>
      </p:sp>
      <p:cxnSp>
        <p:nvCxnSpPr>
          <p:cNvPr id="58" name="直接连接符​​ 57"/>
          <p:cNvCxnSpPr/>
          <p:nvPr userDrawn="1"/>
        </p:nvCxnSpPr>
        <p:spPr>
          <a:xfrm>
            <a:off x="1295400" y="5294175"/>
            <a:ext cx="9601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a:t>单击此处编辑母版标题样式</a:t>
            </a:r>
            <a:endParaRPr lang="zh-CN" altLang="en-US" dirty="0"/>
          </a:p>
        </p:txBody>
      </p:sp>
      <p:sp>
        <p:nvSpPr>
          <p:cNvPr id="3" name="内容占位符 2"/>
          <p:cNvSpPr>
            <a:spLocks noGrp="1"/>
          </p:cNvSpPr>
          <p:nvPr>
            <p:ph sz="half" idx="1"/>
          </p:nvPr>
        </p:nvSpPr>
        <p:spPr>
          <a:xfrm>
            <a:off x="1295400" y="1981199"/>
            <a:ext cx="4572000" cy="3810001"/>
          </a:xfrm>
        </p:spPr>
        <p:txBody>
          <a:bodyPr rtlCol="0">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rtl="0"/>
            <a:r>
              <a:rPr lang="zh-CN" altLang="en-US"/>
              <a:t>单击此处编辑母版文本样式</a:t>
            </a:r>
            <a:endParaRPr lang="zh-CN" altLang="en-US"/>
          </a:p>
          <a:p>
            <a:pPr lvl="1" rtl="0"/>
            <a:r>
              <a:rPr lang="zh-CN" altLang="en-US"/>
              <a:t>二级</a:t>
            </a:r>
            <a:endParaRPr lang="zh-CN" altLang="en-US"/>
          </a:p>
          <a:p>
            <a:pPr lvl="2" rtl="0"/>
            <a:r>
              <a:rPr lang="zh-CN" altLang="en-US"/>
              <a:t>三级</a:t>
            </a:r>
            <a:endParaRPr lang="zh-CN" altLang="en-US"/>
          </a:p>
          <a:p>
            <a:pPr lvl="3" rtl="0"/>
            <a:r>
              <a:rPr lang="zh-CN" altLang="en-US"/>
              <a:t>四级</a:t>
            </a:r>
            <a:endParaRPr lang="zh-CN" altLang="en-US"/>
          </a:p>
          <a:p>
            <a:pPr lvl="4" rtl="0"/>
            <a:r>
              <a:rPr lang="zh-CN" altLang="en-US"/>
              <a:t>五级</a:t>
            </a:r>
            <a:endParaRPr lang="zh-CN" altLang="en-US" dirty="0"/>
          </a:p>
        </p:txBody>
      </p:sp>
      <p:sp>
        <p:nvSpPr>
          <p:cNvPr id="4" name="内容占位符 3"/>
          <p:cNvSpPr>
            <a:spLocks noGrp="1"/>
          </p:cNvSpPr>
          <p:nvPr>
            <p:ph sz="half" idx="2"/>
          </p:nvPr>
        </p:nvSpPr>
        <p:spPr>
          <a:xfrm>
            <a:off x="6324600" y="1981199"/>
            <a:ext cx="4572000" cy="3810001"/>
          </a:xfrm>
        </p:spPr>
        <p:txBody>
          <a:bodyPr rtlCol="0">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rtl="0"/>
            <a:r>
              <a:rPr lang="zh-CN" altLang="en-US"/>
              <a:t>单击此处编辑母版文本样式</a:t>
            </a:r>
            <a:endParaRPr lang="zh-CN" altLang="en-US"/>
          </a:p>
          <a:p>
            <a:pPr lvl="1" rtl="0"/>
            <a:r>
              <a:rPr lang="zh-CN" altLang="en-US"/>
              <a:t>二级</a:t>
            </a:r>
            <a:endParaRPr lang="zh-CN" altLang="en-US"/>
          </a:p>
          <a:p>
            <a:pPr lvl="2" rtl="0"/>
            <a:r>
              <a:rPr lang="zh-CN" altLang="en-US"/>
              <a:t>三级</a:t>
            </a:r>
            <a:endParaRPr lang="zh-CN" altLang="en-US"/>
          </a:p>
          <a:p>
            <a:pPr lvl="3" rtl="0"/>
            <a:r>
              <a:rPr lang="zh-CN" altLang="en-US"/>
              <a:t>四级</a:t>
            </a:r>
            <a:endParaRPr lang="zh-CN" altLang="en-US"/>
          </a:p>
          <a:p>
            <a:pPr lvl="4" rtl="0"/>
            <a:r>
              <a:rPr lang="zh-CN" altLang="en-US"/>
              <a:t>五级</a:t>
            </a:r>
            <a:endParaRPr lang="zh-CN" altLang="en-US" dirty="0"/>
          </a:p>
        </p:txBody>
      </p:sp>
      <p:sp>
        <p:nvSpPr>
          <p:cNvPr id="6" name="页脚占位符 5"/>
          <p:cNvSpPr>
            <a:spLocks noGrp="1"/>
          </p:cNvSpPr>
          <p:nvPr>
            <p:ph type="ftr" sz="quarter" idx="11"/>
          </p:nvPr>
        </p:nvSpPr>
        <p:spPr/>
        <p:txBody>
          <a:bodyPr rtlCol="0"/>
          <a:lstStyle/>
          <a:p>
            <a:pPr rtl="0"/>
            <a:r>
              <a:rPr lang="zh-CN" altLang="en-US" dirty="0"/>
              <a:t>添加页脚</a:t>
            </a:r>
            <a:endParaRPr lang="zh-CN" altLang="en-US" dirty="0"/>
          </a:p>
        </p:txBody>
      </p:sp>
      <p:sp>
        <p:nvSpPr>
          <p:cNvPr id="5" name="日期占位符 4"/>
          <p:cNvSpPr>
            <a:spLocks noGrp="1"/>
          </p:cNvSpPr>
          <p:nvPr>
            <p:ph type="dt" sz="half" idx="10"/>
          </p:nvPr>
        </p:nvSpPr>
        <p:spPr/>
        <p:txBody>
          <a:bodyPr rtlCol="0"/>
          <a:lstStyle>
            <a:lvl1pPr>
              <a:defRPr/>
            </a:lvl1pPr>
          </a:lstStyle>
          <a:p>
            <a:fld id="{C45AD5DA-9C90-409A-AEC4-BF5AF7FBB0A8}" type="datetime2">
              <a:rPr lang="zh-CN" altLang="en-US" smtClean="0"/>
            </a:fld>
            <a:endParaRPr lang="zh-CN" altLang="en-US" dirty="0"/>
          </a:p>
        </p:txBody>
      </p:sp>
      <p:sp>
        <p:nvSpPr>
          <p:cNvPr id="7" name="灯片编号占位符 6"/>
          <p:cNvSpPr>
            <a:spLocks noGrp="1"/>
          </p:cNvSpPr>
          <p:nvPr>
            <p:ph type="sldNum" sz="quarter" idx="12"/>
          </p:nvPr>
        </p:nvSpPr>
        <p:spPr/>
        <p:txBody>
          <a:bodyPr rtlCol="0"/>
          <a:lstStyle/>
          <a:p>
            <a:pPr rtl="0"/>
            <a:fld id="{E31375A4-56A4-47D6-9801-1991572033F7}" type="slidenum">
              <a:rPr lang="en-US" altLang="zh-CN"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a:t>单击此处编辑母版标题样式</a:t>
            </a:r>
            <a:endParaRPr lang="zh-CN" altLang="en-US" dirty="0"/>
          </a:p>
        </p:txBody>
      </p:sp>
      <p:sp>
        <p:nvSpPr>
          <p:cNvPr id="3" name="文本占位符 2"/>
          <p:cNvSpPr>
            <a:spLocks noGrp="1"/>
          </p:cNvSpPr>
          <p:nvPr>
            <p:ph type="body" idx="1"/>
          </p:nvPr>
        </p:nvSpPr>
        <p:spPr>
          <a:xfrm>
            <a:off x="1295400" y="1818322"/>
            <a:ext cx="4572000" cy="641350"/>
          </a:xfrm>
        </p:spPr>
        <p:txBody>
          <a:bodyPr rtlCol="0" anchor="ctr">
            <a:normAutofit/>
          </a:bodyPr>
          <a:lstStyle>
            <a:lvl1pPr marL="0" indent="0">
              <a:spcBef>
                <a:spcPts val="0"/>
              </a:spcBef>
              <a:buNone/>
              <a:defRPr sz="2000" b="0">
                <a:solidFill>
                  <a:schemeClr val="accent1"/>
                </a:solidFill>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a:t>单击此处编辑母版文本样式</a:t>
            </a:r>
            <a:endParaRPr lang="zh-CN" altLang="en-US"/>
          </a:p>
        </p:txBody>
      </p:sp>
      <p:sp>
        <p:nvSpPr>
          <p:cNvPr id="4" name="内容占位符 3"/>
          <p:cNvSpPr>
            <a:spLocks noGrp="1"/>
          </p:cNvSpPr>
          <p:nvPr>
            <p:ph sz="half" idx="2"/>
          </p:nvPr>
        </p:nvSpPr>
        <p:spPr>
          <a:xfrm>
            <a:off x="1295400" y="2503713"/>
            <a:ext cx="4572000" cy="3287487"/>
          </a:xfrm>
        </p:spPr>
        <p:txBody>
          <a:bodyPr rtlCol="0">
            <a:normAutofit/>
          </a:bodyPr>
          <a:lstStyle>
            <a:lvl1pPr>
              <a:defRPr sz="2000">
                <a:latin typeface="微软雅黑" panose="020B0503020204020204" pitchFamily="34" charset="-122"/>
                <a:ea typeface="微软雅黑" panose="020B0503020204020204" pitchFamily="34" charset="-122"/>
              </a:defRPr>
            </a:lvl1pPr>
            <a:lvl2pPr>
              <a:defRPr sz="1800">
                <a:latin typeface="微软雅黑" panose="020B0503020204020204" pitchFamily="34" charset="-122"/>
                <a:ea typeface="微软雅黑" panose="020B0503020204020204" pitchFamily="34" charset="-122"/>
              </a:defRPr>
            </a:lvl2pPr>
            <a:lvl3pPr>
              <a:defRPr sz="1600">
                <a:latin typeface="微软雅黑" panose="020B0503020204020204" pitchFamily="34" charset="-122"/>
                <a:ea typeface="微软雅黑" panose="020B0503020204020204" pitchFamily="34" charset="-122"/>
              </a:defRPr>
            </a:lvl3pPr>
            <a:lvl4pPr>
              <a:defRPr sz="1400">
                <a:latin typeface="微软雅黑" panose="020B0503020204020204" pitchFamily="34" charset="-122"/>
                <a:ea typeface="微软雅黑" panose="020B0503020204020204" pitchFamily="34" charset="-122"/>
              </a:defRPr>
            </a:lvl4pPr>
            <a:lvl5pPr>
              <a:defRPr sz="1400">
                <a:latin typeface="微软雅黑" panose="020B0503020204020204" pitchFamily="34" charset="-122"/>
                <a:ea typeface="微软雅黑" panose="020B0503020204020204" pitchFamily="34" charset="-122"/>
              </a:defRPr>
            </a:lvl5pPr>
            <a:lvl6pPr>
              <a:defRPr sz="1600"/>
            </a:lvl6pPr>
            <a:lvl7pPr>
              <a:defRPr sz="1600"/>
            </a:lvl7pPr>
            <a:lvl8pPr>
              <a:defRPr sz="1600"/>
            </a:lvl8pPr>
            <a:lvl9pPr>
              <a:defRPr sz="1600"/>
            </a:lvl9pPr>
          </a:lstStyle>
          <a:p>
            <a:pPr lvl="0" rtl="0"/>
            <a:r>
              <a:rPr lang="zh-CN" altLang="en-US"/>
              <a:t>单击此处编辑母版文本样式</a:t>
            </a:r>
            <a:endParaRPr lang="zh-CN" altLang="en-US"/>
          </a:p>
          <a:p>
            <a:pPr lvl="1" rtl="0"/>
            <a:r>
              <a:rPr lang="zh-CN" altLang="en-US"/>
              <a:t>二级</a:t>
            </a:r>
            <a:endParaRPr lang="zh-CN" altLang="en-US"/>
          </a:p>
          <a:p>
            <a:pPr lvl="2" rtl="0"/>
            <a:r>
              <a:rPr lang="zh-CN" altLang="en-US"/>
              <a:t>三级</a:t>
            </a:r>
            <a:endParaRPr lang="zh-CN" altLang="en-US"/>
          </a:p>
          <a:p>
            <a:pPr lvl="3" rtl="0"/>
            <a:r>
              <a:rPr lang="zh-CN" altLang="en-US"/>
              <a:t>四级</a:t>
            </a:r>
            <a:endParaRPr lang="zh-CN" altLang="en-US"/>
          </a:p>
          <a:p>
            <a:pPr lvl="4" rtl="0"/>
            <a:r>
              <a:rPr lang="zh-CN" altLang="en-US"/>
              <a:t>五级</a:t>
            </a:r>
            <a:endParaRPr lang="zh-CN" altLang="en-US" dirty="0"/>
          </a:p>
        </p:txBody>
      </p:sp>
      <p:sp>
        <p:nvSpPr>
          <p:cNvPr id="5" name="文本占位符 4"/>
          <p:cNvSpPr>
            <a:spLocks noGrp="1"/>
          </p:cNvSpPr>
          <p:nvPr>
            <p:ph type="body" sz="quarter" idx="3"/>
          </p:nvPr>
        </p:nvSpPr>
        <p:spPr>
          <a:xfrm>
            <a:off x="6324600" y="1818322"/>
            <a:ext cx="4572000" cy="641350"/>
          </a:xfrm>
        </p:spPr>
        <p:txBody>
          <a:bodyPr rtlCol="0" anchor="ctr">
            <a:normAutofit/>
          </a:bodyPr>
          <a:lstStyle>
            <a:lvl1pPr marL="0" indent="0">
              <a:spcBef>
                <a:spcPts val="0"/>
              </a:spcBef>
              <a:buNone/>
              <a:defRPr sz="2000" b="0">
                <a:solidFill>
                  <a:schemeClr val="accent1"/>
                </a:solidFill>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a:t>单击此处编辑母版文本样式</a:t>
            </a:r>
            <a:endParaRPr lang="zh-CN" altLang="en-US"/>
          </a:p>
        </p:txBody>
      </p:sp>
      <p:sp>
        <p:nvSpPr>
          <p:cNvPr id="6" name="内容占位符 5"/>
          <p:cNvSpPr>
            <a:spLocks noGrp="1"/>
          </p:cNvSpPr>
          <p:nvPr>
            <p:ph sz="quarter" idx="4"/>
          </p:nvPr>
        </p:nvSpPr>
        <p:spPr>
          <a:xfrm>
            <a:off x="6324600" y="2503713"/>
            <a:ext cx="4572000" cy="3287487"/>
          </a:xfrm>
        </p:spPr>
        <p:txBody>
          <a:bodyPr rtlCol="0">
            <a:normAutofit/>
          </a:bodyPr>
          <a:lstStyle>
            <a:lvl1pPr>
              <a:defRPr sz="2000">
                <a:latin typeface="微软雅黑" panose="020B0503020204020204" pitchFamily="34" charset="-122"/>
                <a:ea typeface="微软雅黑" panose="020B0503020204020204" pitchFamily="34" charset="-122"/>
              </a:defRPr>
            </a:lvl1pPr>
            <a:lvl2pPr>
              <a:defRPr sz="1800">
                <a:latin typeface="微软雅黑" panose="020B0503020204020204" pitchFamily="34" charset="-122"/>
                <a:ea typeface="微软雅黑" panose="020B0503020204020204" pitchFamily="34" charset="-122"/>
              </a:defRPr>
            </a:lvl2pPr>
            <a:lvl3pPr>
              <a:defRPr sz="1600">
                <a:latin typeface="微软雅黑" panose="020B0503020204020204" pitchFamily="34" charset="-122"/>
                <a:ea typeface="微软雅黑" panose="020B0503020204020204" pitchFamily="34" charset="-122"/>
              </a:defRPr>
            </a:lvl3pPr>
            <a:lvl4pPr>
              <a:defRPr sz="1400">
                <a:latin typeface="微软雅黑" panose="020B0503020204020204" pitchFamily="34" charset="-122"/>
                <a:ea typeface="微软雅黑" panose="020B0503020204020204" pitchFamily="34" charset="-122"/>
              </a:defRPr>
            </a:lvl4pPr>
            <a:lvl5pPr>
              <a:defRPr sz="1400">
                <a:latin typeface="微软雅黑" panose="020B0503020204020204" pitchFamily="34" charset="-122"/>
                <a:ea typeface="微软雅黑" panose="020B0503020204020204" pitchFamily="34" charset="-122"/>
              </a:defRPr>
            </a:lvl5pPr>
            <a:lvl6pPr>
              <a:defRPr sz="1600"/>
            </a:lvl6pPr>
            <a:lvl7pPr>
              <a:defRPr sz="1600"/>
            </a:lvl7pPr>
            <a:lvl8pPr>
              <a:defRPr sz="1600"/>
            </a:lvl8pPr>
            <a:lvl9pPr>
              <a:defRPr sz="1600"/>
            </a:lvl9pPr>
          </a:lstStyle>
          <a:p>
            <a:pPr lvl="0" rtl="0"/>
            <a:r>
              <a:rPr lang="zh-CN" altLang="en-US"/>
              <a:t>单击此处编辑母版文本样式</a:t>
            </a:r>
            <a:endParaRPr lang="zh-CN" altLang="en-US"/>
          </a:p>
          <a:p>
            <a:pPr lvl="1" rtl="0"/>
            <a:r>
              <a:rPr lang="zh-CN" altLang="en-US"/>
              <a:t>二级</a:t>
            </a:r>
            <a:endParaRPr lang="zh-CN" altLang="en-US"/>
          </a:p>
          <a:p>
            <a:pPr lvl="2" rtl="0"/>
            <a:r>
              <a:rPr lang="zh-CN" altLang="en-US"/>
              <a:t>三级</a:t>
            </a:r>
            <a:endParaRPr lang="zh-CN" altLang="en-US"/>
          </a:p>
          <a:p>
            <a:pPr lvl="3" rtl="0"/>
            <a:r>
              <a:rPr lang="zh-CN" altLang="en-US"/>
              <a:t>四级</a:t>
            </a:r>
            <a:endParaRPr lang="zh-CN" altLang="en-US"/>
          </a:p>
          <a:p>
            <a:pPr lvl="4" rtl="0"/>
            <a:r>
              <a:rPr lang="zh-CN" altLang="en-US"/>
              <a:t>五级</a:t>
            </a:r>
            <a:endParaRPr lang="zh-CN" altLang="en-US" dirty="0"/>
          </a:p>
        </p:txBody>
      </p:sp>
      <p:sp>
        <p:nvSpPr>
          <p:cNvPr id="8" name="页脚占位符 7"/>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r>
              <a:rPr lang="zh-CN" altLang="en-US"/>
              <a:t>添加页脚</a:t>
            </a:r>
            <a:endParaRPr lang="zh-CN" altLang="en-US" dirty="0"/>
          </a:p>
        </p:txBody>
      </p:sp>
      <p:sp>
        <p:nvSpPr>
          <p:cNvPr id="7" name="日期占位符 6"/>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0C804EAB-EB04-4910-A5F0-0C86B02F191A}" type="datetime2">
              <a:rPr lang="zh-CN" altLang="en-US" smtClean="0"/>
            </a:fld>
            <a:endParaRPr lang="zh-CN" altLang="en-US" dirty="0"/>
          </a:p>
        </p:txBody>
      </p:sp>
      <p:sp>
        <p:nvSpPr>
          <p:cNvPr id="9" name="灯片编号占位符 8"/>
          <p:cNvSpPr>
            <a:spLocks noGrp="1"/>
          </p:cNvSpPr>
          <p:nvPr>
            <p:ph type="sldNum" sz="quarter" idx="12"/>
          </p:nvPr>
        </p:nvSpPr>
        <p:spPr/>
        <p:txBody>
          <a:bodyPr rtlCol="0"/>
          <a:lstStyle>
            <a:lvl1pPr>
              <a:defRPr>
                <a:latin typeface="微软雅黑" panose="020B0503020204020204" pitchFamily="34" charset="-122"/>
                <a:ea typeface="微软雅黑" panose="020B0503020204020204" pitchFamily="34" charset="-122"/>
              </a:defRPr>
            </a:lvl1pPr>
          </a:lstStyle>
          <a:p>
            <a:fld id="{E31375A4-56A4-47D6-9801-1991572033F7}" type="slidenum">
              <a:rPr lang="en-US" altLang="zh-CN"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4" name="页脚占位符 3"/>
          <p:cNvSpPr>
            <a:spLocks noGrp="1"/>
          </p:cNvSpPr>
          <p:nvPr>
            <p:ph type="ftr" sz="quarter" idx="11"/>
          </p:nvPr>
        </p:nvSpPr>
        <p:spPr/>
        <p:txBody>
          <a:bodyPr rtlCol="0"/>
          <a:lstStyle/>
          <a:p>
            <a:pPr rtl="0"/>
            <a:r>
              <a:rPr lang="zh-CN" altLang="en-US" noProof="0" dirty="0"/>
              <a:t>添加页脚</a:t>
            </a:r>
            <a:endParaRPr lang="zh-CN" altLang="en-US" noProof="0" dirty="0"/>
          </a:p>
        </p:txBody>
      </p:sp>
      <p:sp>
        <p:nvSpPr>
          <p:cNvPr id="3" name="日期占位符 2"/>
          <p:cNvSpPr>
            <a:spLocks noGrp="1"/>
          </p:cNvSpPr>
          <p:nvPr>
            <p:ph type="dt" sz="half" idx="10"/>
          </p:nvPr>
        </p:nvSpPr>
        <p:spPr/>
        <p:txBody>
          <a:bodyPr rtlCol="0"/>
          <a:lstStyle>
            <a:lvl1pPr>
              <a:defRPr/>
            </a:lvl1pPr>
          </a:lstStyle>
          <a:p>
            <a:fld id="{F188EC63-E32B-433A-83B8-71B34F175A78}" type="datetime2">
              <a:rPr lang="zh-CN" altLang="en-US" smtClean="0"/>
            </a:fld>
            <a:endParaRPr lang="zh-CN" altLang="en-US" dirty="0"/>
          </a:p>
        </p:txBody>
      </p:sp>
      <p:sp>
        <p:nvSpPr>
          <p:cNvPr id="5" name="灯片编号占位符 4"/>
          <p:cNvSpPr>
            <a:spLocks noGrp="1"/>
          </p:cNvSpPr>
          <p:nvPr>
            <p:ph type="sldNum" sz="quarter" idx="12"/>
          </p:nvPr>
        </p:nvSpPr>
        <p:spPr/>
        <p:txBody>
          <a:bodyPr rtlCol="0"/>
          <a:lstStyle/>
          <a:p>
            <a:pPr rtl="0"/>
            <a:fld id="{E31375A4-56A4-47D6-9801-1991572033F7}"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grpSp>
        <p:nvGrpSpPr>
          <p:cNvPr id="161" name="组 160"/>
          <p:cNvGrpSpPr/>
          <p:nvPr userDrawn="1"/>
        </p:nvGrpSpPr>
        <p:grpSpPr bwMode="hidden">
          <a:xfrm>
            <a:off x="-1" y="0"/>
            <a:ext cx="12192002" cy="6858000"/>
            <a:chOff x="-1" y="0"/>
            <a:chExt cx="12192002" cy="6858000"/>
          </a:xfrm>
        </p:grpSpPr>
        <p:cxnSp>
          <p:nvCxnSpPr>
            <p:cNvPr id="162" name="直接连接符​​ 161"/>
            <p:cNvCxnSpPr/>
            <p:nvPr/>
          </p:nvCxnSpPr>
          <p:spPr bwMode="hidden">
            <a:xfrm>
              <a:off x="61019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3" name="直接连接符​​ 162"/>
            <p:cNvCxnSpPr/>
            <p:nvPr/>
          </p:nvCxnSpPr>
          <p:spPr bwMode="hidden">
            <a:xfrm>
              <a:off x="182933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4" name="直接连接符​​ 163"/>
            <p:cNvCxnSpPr/>
            <p:nvPr/>
          </p:nvCxnSpPr>
          <p:spPr bwMode="hidden">
            <a:xfrm>
              <a:off x="304847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5" name="直接连接符​​ 164"/>
            <p:cNvCxnSpPr/>
            <p:nvPr/>
          </p:nvCxnSpPr>
          <p:spPr bwMode="hidden">
            <a:xfrm>
              <a:off x="426760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6" name="直接连接符​​ 165"/>
            <p:cNvCxnSpPr/>
            <p:nvPr/>
          </p:nvCxnSpPr>
          <p:spPr bwMode="hidden">
            <a:xfrm>
              <a:off x="548674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7" name="直接连接符​​ 166"/>
            <p:cNvCxnSpPr/>
            <p:nvPr/>
          </p:nvCxnSpPr>
          <p:spPr bwMode="hidden">
            <a:xfrm>
              <a:off x="670588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8" name="直接连接符​​ 167"/>
            <p:cNvCxnSpPr/>
            <p:nvPr/>
          </p:nvCxnSpPr>
          <p:spPr bwMode="hidden">
            <a:xfrm>
              <a:off x="792502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9" name="直接连接符​​ 168"/>
            <p:cNvCxnSpPr/>
            <p:nvPr/>
          </p:nvCxnSpPr>
          <p:spPr bwMode="hidden">
            <a:xfrm>
              <a:off x="914416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0" name="直接连接符​​ 169"/>
            <p:cNvCxnSpPr/>
            <p:nvPr/>
          </p:nvCxnSpPr>
          <p:spPr bwMode="hidden">
            <a:xfrm>
              <a:off x="1036329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1" name="直接连接符​​ 170"/>
            <p:cNvCxnSpPr/>
            <p:nvPr/>
          </p:nvCxnSpPr>
          <p:spPr bwMode="hidden">
            <a:xfrm>
              <a:off x="1158243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2" name="直接连接符​​ 171"/>
            <p:cNvCxnSpPr/>
            <p:nvPr/>
          </p:nvCxnSpPr>
          <p:spPr bwMode="hidden">
            <a:xfrm>
              <a:off x="2819" y="38648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3" name="直接连接符​​ 172"/>
            <p:cNvCxnSpPr/>
            <p:nvPr/>
          </p:nvCxnSpPr>
          <p:spPr bwMode="hidden">
            <a:xfrm>
              <a:off x="2819" y="1611181"/>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4" name="直接连接符​​ 173"/>
            <p:cNvCxnSpPr/>
            <p:nvPr/>
          </p:nvCxnSpPr>
          <p:spPr bwMode="hidden">
            <a:xfrm>
              <a:off x="2819" y="2835877"/>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5" name="直接连接符​​ 174"/>
            <p:cNvCxnSpPr/>
            <p:nvPr/>
          </p:nvCxnSpPr>
          <p:spPr bwMode="hidden">
            <a:xfrm>
              <a:off x="2819" y="4060573"/>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6" name="直接连接符​​ 175"/>
            <p:cNvCxnSpPr/>
            <p:nvPr/>
          </p:nvCxnSpPr>
          <p:spPr bwMode="hidden">
            <a:xfrm>
              <a:off x="2819" y="5285269"/>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7" name="直接连接符​​ 176"/>
            <p:cNvCxnSpPr/>
            <p:nvPr/>
          </p:nvCxnSpPr>
          <p:spPr bwMode="hidden">
            <a:xfrm>
              <a:off x="2819" y="650996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78" name="组 177"/>
            <p:cNvGrpSpPr/>
            <p:nvPr userDrawn="1"/>
          </p:nvGrpSpPr>
          <p:grpSpPr bwMode="hidden">
            <a:xfrm>
              <a:off x="-1" y="0"/>
              <a:ext cx="12192001" cy="6858000"/>
              <a:chOff x="-1" y="0"/>
              <a:chExt cx="12192001" cy="6858000"/>
            </a:xfrm>
          </p:grpSpPr>
          <p:cxnSp>
            <p:nvCxnSpPr>
              <p:cNvPr id="196" name="直接连接符​​ 195"/>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7" name="直接连接符 196"/>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8" name="直接连接符 197"/>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9" name="直接连接符 198"/>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0" name="直接连接符​​ 199"/>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201" name="组 200"/>
              <p:cNvGrpSpPr/>
              <p:nvPr/>
            </p:nvGrpSpPr>
            <p:grpSpPr bwMode="hidden">
              <a:xfrm>
                <a:off x="6327885" y="0"/>
                <a:ext cx="5864115" cy="5898673"/>
                <a:chOff x="6327885" y="0"/>
                <a:chExt cx="5864115" cy="5898673"/>
              </a:xfrm>
            </p:grpSpPr>
            <p:cxnSp>
              <p:nvCxnSpPr>
                <p:cNvPr id="207" name="直接连接符​​ 206"/>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8" name="直接连接符​​ 207"/>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9" name="直接连接符​​ 208"/>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0" name="直接连接符 209"/>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1" name="直接连接符​​ 210"/>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202" name="直接连接符 201"/>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3" name="直接连接符 202"/>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4" name="直接连接符​​ 203"/>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5" name="直接连接符​​ 204"/>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6" name="直接连接符​​ 205"/>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nvGrpSpPr>
            <p:cNvPr id="179" name="组 178"/>
            <p:cNvGrpSpPr/>
            <p:nvPr userDrawn="1"/>
          </p:nvGrpSpPr>
          <p:grpSpPr bwMode="hidden">
            <a:xfrm flipH="1">
              <a:off x="0" y="0"/>
              <a:ext cx="12192001" cy="6858000"/>
              <a:chOff x="-1" y="0"/>
              <a:chExt cx="12192001" cy="6858000"/>
            </a:xfrm>
          </p:grpSpPr>
          <p:cxnSp>
            <p:nvCxnSpPr>
              <p:cNvPr id="180" name="直接连接符​​ 179"/>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1" name="直接连接符​​ 180"/>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2" name="直接连接符 181"/>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3" name="直接连接符​​ 182"/>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4" name="直接连接符 183"/>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85" name="组 184"/>
              <p:cNvGrpSpPr/>
              <p:nvPr/>
            </p:nvGrpSpPr>
            <p:grpSpPr bwMode="hidden">
              <a:xfrm>
                <a:off x="6327885" y="0"/>
                <a:ext cx="5864115" cy="5898673"/>
                <a:chOff x="6327885" y="0"/>
                <a:chExt cx="5864115" cy="5898673"/>
              </a:xfrm>
            </p:grpSpPr>
            <p:cxnSp>
              <p:nvCxnSpPr>
                <p:cNvPr id="191" name="直接连接符 190"/>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2" name="直接连接符​​ 191"/>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3" name="直接连接符​​ 192"/>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4" name="直接连接符​​ 193"/>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5" name="直接连接符​​ 194"/>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186" name="直接连接符​​ 185"/>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7" name="直接连接符​​ 186"/>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8" name="直接连接符​​ 187"/>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9" name="直接连接符​​ 188"/>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0" name="直接连接符​​ 189"/>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sp>
        <p:nvSpPr>
          <p:cNvPr id="213" name="页脚占位符 212"/>
          <p:cNvSpPr>
            <a:spLocks noGrp="1"/>
          </p:cNvSpPr>
          <p:nvPr>
            <p:ph type="ftr" sz="quarter" idx="11"/>
          </p:nvPr>
        </p:nvSpPr>
        <p:spPr/>
        <p:txBody>
          <a:bodyPr rtlCol="0"/>
          <a:lstStyle/>
          <a:p>
            <a:pPr rtl="0"/>
            <a:r>
              <a:rPr lang="zh-CN" altLang="en-US" dirty="0"/>
              <a:t>添加页脚</a:t>
            </a:r>
            <a:endParaRPr lang="zh-CN" altLang="en-US" dirty="0"/>
          </a:p>
        </p:txBody>
      </p:sp>
      <p:sp>
        <p:nvSpPr>
          <p:cNvPr id="212" name="日期占位符 211"/>
          <p:cNvSpPr>
            <a:spLocks noGrp="1"/>
          </p:cNvSpPr>
          <p:nvPr>
            <p:ph type="dt" sz="half" idx="10"/>
          </p:nvPr>
        </p:nvSpPr>
        <p:spPr/>
        <p:txBody>
          <a:bodyPr rtlCol="0"/>
          <a:lstStyle>
            <a:lvl1pPr>
              <a:defRPr/>
            </a:lvl1pPr>
          </a:lstStyle>
          <a:p>
            <a:fld id="{4AC140E9-DB3B-4723-837F-C99C9DC2784C}" type="datetime2">
              <a:rPr lang="zh-CN" altLang="en-US" smtClean="0"/>
            </a:fld>
            <a:endParaRPr lang="zh-CN" altLang="en-US" dirty="0"/>
          </a:p>
        </p:txBody>
      </p:sp>
      <p:sp>
        <p:nvSpPr>
          <p:cNvPr id="214" name="幻灯片编号占位符 213"/>
          <p:cNvSpPr>
            <a:spLocks noGrp="1"/>
          </p:cNvSpPr>
          <p:nvPr>
            <p:ph type="sldNum" sz="quarter" idx="12"/>
          </p:nvPr>
        </p:nvSpPr>
        <p:spPr/>
        <p:txBody>
          <a:bodyPr rtlCol="0"/>
          <a:lstStyle/>
          <a:p>
            <a:pPr rtl="0"/>
            <a:fld id="{E31375A4-56A4-47D6-9801-1991572033F7}" type="slidenum">
              <a:rPr lang="en-US" altLang="zh-CN"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带标题的内容">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9" name="组 8"/>
          <p:cNvGrpSpPr/>
          <p:nvPr userDrawn="1"/>
        </p:nvGrpSpPr>
        <p:grpSpPr bwMode="hidden">
          <a:xfrm>
            <a:off x="-1" y="0"/>
            <a:ext cx="12192002" cy="6858000"/>
            <a:chOff x="-1" y="0"/>
            <a:chExt cx="12192002" cy="6858000"/>
          </a:xfrm>
        </p:grpSpPr>
        <p:cxnSp>
          <p:nvCxnSpPr>
            <p:cNvPr id="10" name="直接连接符​​(S) 9"/>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S) 16"/>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6" name="组 25"/>
            <p:cNvGrpSpPr/>
            <p:nvPr userDrawn="1"/>
          </p:nvGrpSpPr>
          <p:grpSpPr bwMode="hidden">
            <a:xfrm>
              <a:off x="-1" y="0"/>
              <a:ext cx="12192001" cy="6858000"/>
              <a:chOff x="-1" y="0"/>
              <a:chExt cx="12192001" cy="6858000"/>
            </a:xfrm>
          </p:grpSpPr>
          <p:cxnSp>
            <p:nvCxnSpPr>
              <p:cNvPr id="44" name="直接连接符​​ 43"/>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S) 44"/>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S) 45"/>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S) 46"/>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9" name="组 48"/>
              <p:cNvGrpSpPr/>
              <p:nvPr/>
            </p:nvGrpSpPr>
            <p:grpSpPr bwMode="hidden">
              <a:xfrm>
                <a:off x="6327885" y="0"/>
                <a:ext cx="5864115" cy="5898673"/>
                <a:chOff x="6327885" y="0"/>
                <a:chExt cx="5864115" cy="5898673"/>
              </a:xfrm>
            </p:grpSpPr>
            <p:cxnSp>
              <p:nvCxnSpPr>
                <p:cNvPr id="55" name="直接连接符​​ 54"/>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S) 55"/>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S) 56"/>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50" name="直接连接符​​ 49"/>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S) 51"/>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S) 52"/>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7" name="组 26"/>
            <p:cNvGrpSpPr/>
            <p:nvPr userDrawn="1"/>
          </p:nvGrpSpPr>
          <p:grpSpPr bwMode="hidden">
            <a:xfrm flipH="1">
              <a:off x="0" y="0"/>
              <a:ext cx="12192001" cy="6858000"/>
              <a:chOff x="-1" y="0"/>
              <a:chExt cx="12192001" cy="6858000"/>
            </a:xfrm>
          </p:grpSpPr>
          <p:cxnSp>
            <p:nvCxnSpPr>
              <p:cNvPr id="28" name="直接连接符 27"/>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S) 28"/>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S) 29"/>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S) 30"/>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3" name="组 32"/>
              <p:cNvGrpSpPr/>
              <p:nvPr/>
            </p:nvGrpSpPr>
            <p:grpSpPr bwMode="hidden">
              <a:xfrm>
                <a:off x="6327885" y="0"/>
                <a:ext cx="5864115" cy="5898673"/>
                <a:chOff x="6327885" y="0"/>
                <a:chExt cx="5864115" cy="5898673"/>
              </a:xfrm>
            </p:grpSpPr>
            <p:cxnSp>
              <p:nvCxnSpPr>
                <p:cNvPr id="39" name="直接连接符 38"/>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S) 39"/>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S) 40"/>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4" name="直接连接符​​ 33"/>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S) 35"/>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S) 36"/>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7" name="矩形 6"/>
          <p:cNvSpPr/>
          <p:nvPr userDrawn="1"/>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a:xfrm>
            <a:off x="7913152" y="571500"/>
            <a:ext cx="3657600" cy="2197100"/>
          </a:xfrm>
        </p:spPr>
        <p:txBody>
          <a:bodyPr rtlCol="0" anchor="b">
            <a:normAutofit/>
          </a:bodyPr>
          <a:lstStyle>
            <a:lvl1pPr>
              <a:defRPr sz="2600">
                <a:solidFill>
                  <a:schemeClr val="bg1"/>
                </a:solidFill>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a:xfrm>
            <a:off x="543197" y="571500"/>
            <a:ext cx="6217920" cy="5715000"/>
          </a:xfrm>
        </p:spPr>
        <p:txBody>
          <a:bodyPr rtlCol="0">
            <a:normAutofit/>
          </a:bodyPr>
          <a:lstStyle>
            <a:lvl1pPr>
              <a:defRPr sz="2000">
                <a:latin typeface="微软雅黑" panose="020B0503020204020204" pitchFamily="34" charset="-122"/>
                <a:ea typeface="微软雅黑" panose="020B0503020204020204" pitchFamily="34" charset="-122"/>
              </a:defRPr>
            </a:lvl1pPr>
            <a:lvl2pPr>
              <a:defRPr sz="1800">
                <a:latin typeface="微软雅黑" panose="020B0503020204020204" pitchFamily="34" charset="-122"/>
                <a:ea typeface="微软雅黑" panose="020B0503020204020204" pitchFamily="34" charset="-122"/>
              </a:defRPr>
            </a:lvl2pPr>
            <a:lvl3pPr>
              <a:defRPr sz="1600">
                <a:latin typeface="微软雅黑" panose="020B0503020204020204" pitchFamily="34" charset="-122"/>
                <a:ea typeface="微软雅黑" panose="020B0503020204020204" pitchFamily="34" charset="-122"/>
              </a:defRPr>
            </a:lvl3pPr>
            <a:lvl4pPr>
              <a:defRPr sz="1400">
                <a:latin typeface="微软雅黑" panose="020B0503020204020204" pitchFamily="34" charset="-122"/>
                <a:ea typeface="微软雅黑" panose="020B0503020204020204" pitchFamily="34" charset="-122"/>
              </a:defRPr>
            </a:lvl4pPr>
            <a:lvl5pPr>
              <a:defRPr sz="1400">
                <a:latin typeface="微软雅黑" panose="020B0503020204020204" pitchFamily="34" charset="-122"/>
                <a:ea typeface="微软雅黑" panose="020B0503020204020204" pitchFamily="34" charset="-122"/>
              </a:defRPr>
            </a:lvl5pPr>
            <a:lvl6pPr>
              <a:defRPr sz="2000"/>
            </a:lvl6pPr>
            <a:lvl7pPr>
              <a:defRPr sz="2000"/>
            </a:lvl7pPr>
            <a:lvl8pPr>
              <a:defRPr sz="2000"/>
            </a:lvl8pPr>
            <a:lvl9pPr>
              <a:defRPr sz="2000"/>
            </a:lvl9pPr>
          </a:lstStyle>
          <a:p>
            <a:pPr lvl="0" rtl="0"/>
            <a:r>
              <a:rPr lang="zh-CN" altLang="en-US" noProof="0"/>
              <a:t>单击此处编辑母版文本样式</a:t>
            </a:r>
            <a:endParaRPr lang="zh-CN" altLang="en-US" noProof="0"/>
          </a:p>
          <a:p>
            <a:pPr lvl="1" rtl="0"/>
            <a:r>
              <a:rPr lang="zh-CN" altLang="en-US" noProof="0"/>
              <a:t>二级</a:t>
            </a:r>
            <a:endParaRPr lang="zh-CN" altLang="en-US" noProof="0"/>
          </a:p>
          <a:p>
            <a:pPr lvl="2" rtl="0"/>
            <a:r>
              <a:rPr lang="zh-CN" altLang="en-US" noProof="0"/>
              <a:t>三级</a:t>
            </a:r>
            <a:endParaRPr lang="zh-CN" altLang="en-US" noProof="0"/>
          </a:p>
          <a:p>
            <a:pPr lvl="3" rtl="0"/>
            <a:r>
              <a:rPr lang="zh-CN" altLang="en-US" noProof="0"/>
              <a:t>四级</a:t>
            </a:r>
            <a:endParaRPr lang="zh-CN" altLang="en-US" noProof="0"/>
          </a:p>
          <a:p>
            <a:pPr lvl="4" rtl="0"/>
            <a:r>
              <a:rPr lang="zh-CN" altLang="en-US" noProof="0"/>
              <a:t>五级</a:t>
            </a:r>
            <a:endParaRPr lang="zh-CN" altLang="en-US" noProof="0" dirty="0"/>
          </a:p>
        </p:txBody>
      </p:sp>
      <p:sp>
        <p:nvSpPr>
          <p:cNvPr id="4" name="文本占位符 3"/>
          <p:cNvSpPr>
            <a:spLocks noGrp="1"/>
          </p:cNvSpPr>
          <p:nvPr>
            <p:ph type="body" sz="half" idx="2"/>
          </p:nvPr>
        </p:nvSpPr>
        <p:spPr>
          <a:xfrm>
            <a:off x="7913152" y="2995012"/>
            <a:ext cx="3657600" cy="2285950"/>
          </a:xfrm>
        </p:spPr>
        <p:txBody>
          <a:bodyPr rtlCol="0">
            <a:normAutofit/>
          </a:bodyPr>
          <a:lstStyle>
            <a:lvl1pPr marL="0" indent="0">
              <a:spcBef>
                <a:spcPts val="1200"/>
              </a:spcBef>
              <a:buNone/>
              <a:defRPr sz="1600">
                <a:solidFill>
                  <a:schemeClr val="bg1"/>
                </a:solidFill>
                <a:latin typeface="微软雅黑" panose="020B0503020204020204" pitchFamily="34" charset="-122"/>
                <a:ea typeface="微软雅黑" panose="020B0503020204020204" pitchFamily="34" charset="-122"/>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zh-CN" altLang="en-US" noProof="0"/>
              <a:t>单击此处编辑母版文本样式</a:t>
            </a:r>
            <a:endParaRPr lang="zh-CN" altLang="en-US" noProof="0"/>
          </a:p>
        </p:txBody>
      </p:sp>
      <p:cxnSp>
        <p:nvCxnSpPr>
          <p:cNvPr id="60" name="直接连接符 59"/>
          <p:cNvCxnSpPr/>
          <p:nvPr userDrawn="1"/>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r>
              <a:rPr lang="zh-CN" altLang="en-US" noProof="0" dirty="0"/>
              <a:t>添加页脚</a:t>
            </a:r>
            <a:endParaRPr lang="zh-CN" altLang="en-US" noProof="0" dirty="0"/>
          </a:p>
        </p:txBody>
      </p:sp>
      <p:sp>
        <p:nvSpPr>
          <p:cNvPr id="5" name="日期占位符 4"/>
          <p:cNvSpPr>
            <a:spLocks noGrp="1"/>
          </p:cNvSpPr>
          <p:nvPr>
            <p:ph type="dt" sz="half" idx="10"/>
          </p:nvPr>
        </p:nvSpPr>
        <p:spPr/>
        <p:txBody>
          <a:bodyPr rtlCol="0"/>
          <a:lstStyle>
            <a:lvl1pPr>
              <a:defRPr>
                <a:solidFill>
                  <a:schemeClr val="bg1"/>
                </a:solidFill>
                <a:latin typeface="微软雅黑" panose="020B0503020204020204" pitchFamily="34" charset="-122"/>
                <a:ea typeface="微软雅黑" panose="020B0503020204020204" pitchFamily="34" charset="-122"/>
              </a:defRPr>
            </a:lvl1pPr>
          </a:lstStyle>
          <a:p>
            <a:fld id="{B432DCC3-517C-49BA-ABA2-B2F6E7404DD7}" type="datetime2">
              <a:rPr lang="zh-CN" altLang="en-US" smtClean="0"/>
            </a:fld>
            <a:endParaRPr lang="zh-CN" altLang="en-US" dirty="0"/>
          </a:p>
        </p:txBody>
      </p:sp>
      <p:sp>
        <p:nvSpPr>
          <p:cNvPr id="8" name="幻灯片编号占位符 7"/>
          <p:cNvSpPr>
            <a:spLocks noGrp="1"/>
          </p:cNvSpPr>
          <p:nvPr>
            <p:ph type="sldNum" sz="quarter" idx="12"/>
          </p:nvPr>
        </p:nvSpPr>
        <p:spPr/>
        <p:txBody>
          <a:bodyPr rtlCol="0"/>
          <a:lstStyle>
            <a:lvl1pPr>
              <a:defRPr>
                <a:solidFill>
                  <a:schemeClr val="bg1"/>
                </a:solidFill>
                <a:latin typeface="微软雅黑" panose="020B0503020204020204" pitchFamily="34" charset="-122"/>
                <a:ea typeface="微软雅黑" panose="020B0503020204020204" pitchFamily="34" charset="-122"/>
              </a:defRPr>
            </a:lvl1pPr>
          </a:lstStyle>
          <a:p>
            <a:fld id="{E31375A4-56A4-47D6-9801-1991572033F7}"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带题注的图片">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8" name="组 7"/>
          <p:cNvGrpSpPr/>
          <p:nvPr/>
        </p:nvGrpSpPr>
        <p:grpSpPr bwMode="hidden">
          <a:xfrm>
            <a:off x="-1" y="0"/>
            <a:ext cx="12192002" cy="6858000"/>
            <a:chOff x="-1" y="0"/>
            <a:chExt cx="12192002" cy="6858000"/>
          </a:xfrm>
        </p:grpSpPr>
        <p:cxnSp>
          <p:nvCxnSpPr>
            <p:cNvPr id="9" name="直接连接符 8"/>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S) 9"/>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S) 16"/>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5" name="组 24"/>
            <p:cNvGrpSpPr/>
            <p:nvPr/>
          </p:nvGrpSpPr>
          <p:grpSpPr bwMode="hidden">
            <a:xfrm>
              <a:off x="-1" y="0"/>
              <a:ext cx="12192001" cy="6858000"/>
              <a:chOff x="-1" y="0"/>
              <a:chExt cx="12192001" cy="6858000"/>
            </a:xfrm>
          </p:grpSpPr>
          <p:cxnSp>
            <p:nvCxnSpPr>
              <p:cNvPr id="43" name="直接连接符 42"/>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S) 43"/>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S) 44"/>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S) 45"/>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8" name="组 47"/>
              <p:cNvGrpSpPr/>
              <p:nvPr/>
            </p:nvGrpSpPr>
            <p:grpSpPr bwMode="hidden">
              <a:xfrm>
                <a:off x="6327885" y="0"/>
                <a:ext cx="5864115" cy="5898673"/>
                <a:chOff x="6327885" y="0"/>
                <a:chExt cx="5864115" cy="5898673"/>
              </a:xfrm>
            </p:grpSpPr>
            <p:cxnSp>
              <p:nvCxnSpPr>
                <p:cNvPr id="54" name="直接连接符 53"/>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S) 54"/>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S) 55"/>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S) 56"/>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9" name="直接连接符 48"/>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S) 51"/>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6" name="组 25"/>
            <p:cNvGrpSpPr/>
            <p:nvPr/>
          </p:nvGrpSpPr>
          <p:grpSpPr bwMode="hidden">
            <a:xfrm flipH="1">
              <a:off x="0" y="0"/>
              <a:ext cx="12192001" cy="6858000"/>
              <a:chOff x="-1" y="0"/>
              <a:chExt cx="12192001" cy="6858000"/>
            </a:xfrm>
          </p:grpSpPr>
          <p:cxnSp>
            <p:nvCxnSpPr>
              <p:cNvPr id="27" name="直接连接符​​(S) 26"/>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S) 27"/>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S) 28"/>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S) 29"/>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2" name="组 31"/>
              <p:cNvGrpSpPr/>
              <p:nvPr/>
            </p:nvGrpSpPr>
            <p:grpSpPr bwMode="hidden">
              <a:xfrm>
                <a:off x="6327885" y="0"/>
                <a:ext cx="5864115" cy="5898673"/>
                <a:chOff x="6327885" y="0"/>
                <a:chExt cx="5864115" cy="5898673"/>
              </a:xfrm>
            </p:grpSpPr>
            <p:cxnSp>
              <p:nvCxnSpPr>
                <p:cNvPr id="38" name="直接连接符 37"/>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S) 38"/>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S) 39"/>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S) 40"/>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3" name="直接连接符 32"/>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S) 35"/>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60" name="矩形​ 59"/>
          <p:cNvSpPr/>
          <p:nvPr/>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cxnSp>
        <p:nvCxnSpPr>
          <p:cNvPr id="59" name="直接连接符​​ 58"/>
          <p:cNvCxnSpPr/>
          <p:nvPr/>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a:xfrm>
            <a:off x="7909560" y="576072"/>
            <a:ext cx="3657600" cy="2194560"/>
          </a:xfrm>
        </p:spPr>
        <p:txBody>
          <a:bodyPr rtlCol="0" anchor="b">
            <a:normAutofit/>
          </a:bodyPr>
          <a:lstStyle>
            <a:lvl1pPr>
              <a:defRPr sz="2600">
                <a:solidFill>
                  <a:schemeClr val="bg1"/>
                </a:solidFill>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图片占位符 2" descr="为添加图像预留的空占位符。单击占位符，选择要添加的图像。"/>
          <p:cNvSpPr>
            <a:spLocks noGrp="1"/>
          </p:cNvSpPr>
          <p:nvPr>
            <p:ph type="pic" idx="1"/>
          </p:nvPr>
        </p:nvSpPr>
        <p:spPr>
          <a:xfrm>
            <a:off x="4412" y="-159"/>
            <a:ext cx="7315200" cy="6858000"/>
          </a:xfrm>
        </p:spPr>
        <p:txBody>
          <a:bodyPr tIns="457200" rtlCol="0">
            <a:normAutofit/>
          </a:bodyPr>
          <a:lstStyle>
            <a:lvl1pPr marL="0" indent="0" algn="ctr">
              <a:buNone/>
              <a:defRPr sz="2000">
                <a:latin typeface="微软雅黑" panose="020B0503020204020204" pitchFamily="34" charset="-122"/>
                <a:ea typeface="微软雅黑" panose="020B0503020204020204" pitchFamily="34" charset="-122"/>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zh-CN" altLang="en-US" noProof="0"/>
              <a:t>单击图标添加图片</a:t>
            </a:r>
            <a:endParaRPr lang="zh-CN" altLang="en-US" noProof="0" dirty="0"/>
          </a:p>
        </p:txBody>
      </p:sp>
      <p:sp>
        <p:nvSpPr>
          <p:cNvPr id="4" name="文本占位符 3"/>
          <p:cNvSpPr>
            <a:spLocks noGrp="1"/>
          </p:cNvSpPr>
          <p:nvPr>
            <p:ph type="body" sz="half" idx="2"/>
          </p:nvPr>
        </p:nvSpPr>
        <p:spPr>
          <a:xfrm>
            <a:off x="7909560" y="2999232"/>
            <a:ext cx="3657600" cy="2286000"/>
          </a:xfrm>
        </p:spPr>
        <p:txBody>
          <a:bodyPr rtlCol="0"/>
          <a:lstStyle>
            <a:lvl1pPr marL="0" indent="0">
              <a:spcBef>
                <a:spcPts val="1200"/>
              </a:spcBef>
              <a:buNone/>
              <a:defRPr sz="1600">
                <a:solidFill>
                  <a:schemeClr val="bg1"/>
                </a:solidFill>
                <a:latin typeface="微软雅黑" panose="020B0503020204020204" pitchFamily="34" charset="-122"/>
                <a:ea typeface="微软雅黑" panose="020B0503020204020204" pitchFamily="34" charset="-122"/>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zh-CN" altLang="en-US" noProof="0"/>
              <a:t>单击此处编辑母版文本样式</a:t>
            </a:r>
            <a:endParaRPr lang="zh-CN" altLang="en-US" noProof="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垂直文本占位符 2"/>
          <p:cNvSpPr>
            <a:spLocks noGrp="1"/>
          </p:cNvSpPr>
          <p:nvPr>
            <p:ph type="body" orient="vert" idx="1"/>
          </p:nvPr>
        </p:nvSpPr>
        <p:spPr/>
        <p:txBody>
          <a:bodyPr vert="eaVert" rtlCol="0"/>
          <a:lstStyle/>
          <a:p>
            <a:pPr lvl="0" rtl="0"/>
            <a:r>
              <a:rPr lang="zh-CN" altLang="en-US" noProof="0"/>
              <a:t>单击此处编辑母版文本样式</a:t>
            </a:r>
            <a:endParaRPr lang="zh-CN" altLang="en-US" noProof="0"/>
          </a:p>
          <a:p>
            <a:pPr lvl="1" rtl="0"/>
            <a:r>
              <a:rPr lang="zh-CN" altLang="en-US" noProof="0"/>
              <a:t>二级</a:t>
            </a:r>
            <a:endParaRPr lang="zh-CN" altLang="en-US" noProof="0"/>
          </a:p>
          <a:p>
            <a:pPr lvl="2" rtl="0"/>
            <a:r>
              <a:rPr lang="zh-CN" altLang="en-US" noProof="0"/>
              <a:t>三级</a:t>
            </a:r>
            <a:endParaRPr lang="zh-CN" altLang="en-US" noProof="0"/>
          </a:p>
          <a:p>
            <a:pPr lvl="3" rtl="0"/>
            <a:r>
              <a:rPr lang="zh-CN" altLang="en-US" noProof="0"/>
              <a:t>四级</a:t>
            </a:r>
            <a:endParaRPr lang="zh-CN" altLang="en-US" noProof="0"/>
          </a:p>
          <a:p>
            <a:pPr lvl="4" rtl="0"/>
            <a:r>
              <a:rPr lang="zh-CN" altLang="en-US" noProof="0"/>
              <a:t>五级</a:t>
            </a:r>
            <a:endParaRPr lang="zh-CN" altLang="en-US" noProof="0" dirty="0"/>
          </a:p>
        </p:txBody>
      </p:sp>
      <p:sp>
        <p:nvSpPr>
          <p:cNvPr id="5" name="页脚占位符 4"/>
          <p:cNvSpPr>
            <a:spLocks noGrp="1"/>
          </p:cNvSpPr>
          <p:nvPr>
            <p:ph type="ftr" sz="quarter" idx="11"/>
          </p:nvPr>
        </p:nvSpPr>
        <p:spPr/>
        <p:txBody>
          <a:bodyPr rtlCol="0"/>
          <a:lstStyle/>
          <a:p>
            <a:pPr rtl="0"/>
            <a:r>
              <a:rPr lang="zh-CN" altLang="en-US" noProof="0" dirty="0"/>
              <a:t>添加页脚</a:t>
            </a:r>
            <a:endParaRPr lang="zh-CN" altLang="en-US" noProof="0" dirty="0"/>
          </a:p>
        </p:txBody>
      </p:sp>
      <p:sp>
        <p:nvSpPr>
          <p:cNvPr id="4" name="日期占位符 3"/>
          <p:cNvSpPr>
            <a:spLocks noGrp="1"/>
          </p:cNvSpPr>
          <p:nvPr>
            <p:ph type="dt" sz="half" idx="10"/>
          </p:nvPr>
        </p:nvSpPr>
        <p:spPr/>
        <p:txBody>
          <a:bodyPr rtlCol="0"/>
          <a:lstStyle>
            <a:lvl1pPr>
              <a:defRPr/>
            </a:lvl1pPr>
          </a:lstStyle>
          <a:p>
            <a:fld id="{5449DBDA-CE7C-4E9D-B055-39B80B798BAE}" type="datetime2">
              <a:rPr lang="zh-CN" altLang="en-US" smtClean="0"/>
            </a:fld>
            <a:endParaRPr lang="zh-CN" altLang="en-US" dirty="0"/>
          </a:p>
        </p:txBody>
      </p:sp>
      <p:sp>
        <p:nvSpPr>
          <p:cNvPr id="6" name="灯片编号占位符 5"/>
          <p:cNvSpPr>
            <a:spLocks noGrp="1"/>
          </p:cNvSpPr>
          <p:nvPr>
            <p:ph type="sldNum" sz="quarter" idx="12"/>
          </p:nvPr>
        </p:nvSpPr>
        <p:spPr/>
        <p:txBody>
          <a:bodyPr rtlCol="0"/>
          <a:lstStyle/>
          <a:p>
            <a:pPr rtl="0"/>
            <a:fld id="{E31375A4-56A4-47D6-9801-1991572033F7}"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标题与文本">
    <p:spTree>
      <p:nvGrpSpPr>
        <p:cNvPr id="1" name=""/>
        <p:cNvGrpSpPr/>
        <p:nvPr/>
      </p:nvGrpSpPr>
      <p:grpSpPr>
        <a:xfrm>
          <a:off x="0" y="0"/>
          <a:ext cx="0" cy="0"/>
          <a:chOff x="0" y="0"/>
          <a:chExt cx="0" cy="0"/>
        </a:xfrm>
      </p:grpSpPr>
      <p:sp>
        <p:nvSpPr>
          <p:cNvPr id="2" name="垂直标题 1"/>
          <p:cNvSpPr>
            <a:spLocks noGrp="1"/>
          </p:cNvSpPr>
          <p:nvPr>
            <p:ph type="title" orient="vert"/>
          </p:nvPr>
        </p:nvSpPr>
        <p:spPr>
          <a:xfrm>
            <a:off x="9209314" y="489856"/>
            <a:ext cx="1687286" cy="5301343"/>
          </a:xfrm>
        </p:spPr>
        <p:txBody>
          <a:bodyPr vert="eaVert" rtlCol="0"/>
          <a:lstStyle/>
          <a:p>
            <a:pPr rtl="0"/>
            <a:r>
              <a:rPr lang="zh-CN" altLang="en-US" noProof="0"/>
              <a:t>单击此处编辑母版标题样式</a:t>
            </a:r>
            <a:endParaRPr lang="zh-CN" altLang="en-US" noProof="0" dirty="0"/>
          </a:p>
        </p:txBody>
      </p:sp>
      <p:sp>
        <p:nvSpPr>
          <p:cNvPr id="3" name="垂直文本占位符 2"/>
          <p:cNvSpPr>
            <a:spLocks noGrp="1"/>
          </p:cNvSpPr>
          <p:nvPr>
            <p:ph type="body" orient="vert" idx="1"/>
          </p:nvPr>
        </p:nvSpPr>
        <p:spPr>
          <a:xfrm>
            <a:off x="1295399" y="489856"/>
            <a:ext cx="7587344" cy="5301343"/>
          </a:xfrm>
        </p:spPr>
        <p:txBody>
          <a:bodyPr vert="eaVert" rtlCol="0"/>
          <a:lstStyle/>
          <a:p>
            <a:pPr lvl="0" rtl="0"/>
            <a:r>
              <a:rPr lang="zh-CN" altLang="en-US" noProof="0"/>
              <a:t>单击此处编辑母版文本样式</a:t>
            </a:r>
            <a:endParaRPr lang="zh-CN" altLang="en-US" noProof="0"/>
          </a:p>
          <a:p>
            <a:pPr lvl="1" rtl="0"/>
            <a:r>
              <a:rPr lang="zh-CN" altLang="en-US" noProof="0"/>
              <a:t>二级</a:t>
            </a:r>
            <a:endParaRPr lang="zh-CN" altLang="en-US" noProof="0"/>
          </a:p>
          <a:p>
            <a:pPr lvl="2" rtl="0"/>
            <a:r>
              <a:rPr lang="zh-CN" altLang="en-US" noProof="0"/>
              <a:t>三级</a:t>
            </a:r>
            <a:endParaRPr lang="zh-CN" altLang="en-US" noProof="0"/>
          </a:p>
          <a:p>
            <a:pPr lvl="3" rtl="0"/>
            <a:r>
              <a:rPr lang="zh-CN" altLang="en-US" noProof="0"/>
              <a:t>四级</a:t>
            </a:r>
            <a:endParaRPr lang="zh-CN" altLang="en-US" noProof="0"/>
          </a:p>
          <a:p>
            <a:pPr lvl="4" rtl="0"/>
            <a:r>
              <a:rPr lang="zh-CN" altLang="en-US" noProof="0"/>
              <a:t>五级</a:t>
            </a:r>
            <a:endParaRPr lang="zh-CN" altLang="en-US" noProof="0" dirty="0"/>
          </a:p>
        </p:txBody>
      </p:sp>
      <p:sp>
        <p:nvSpPr>
          <p:cNvPr id="5" name="页脚占位符 4"/>
          <p:cNvSpPr>
            <a:spLocks noGrp="1"/>
          </p:cNvSpPr>
          <p:nvPr>
            <p:ph type="ftr" sz="quarter" idx="11"/>
          </p:nvPr>
        </p:nvSpPr>
        <p:spPr/>
        <p:txBody>
          <a:bodyPr rtlCol="0"/>
          <a:lstStyle/>
          <a:p>
            <a:pPr rtl="0"/>
            <a:r>
              <a:rPr lang="zh-CN" altLang="en-US" noProof="0" dirty="0"/>
              <a:t>添加页脚</a:t>
            </a:r>
            <a:endParaRPr lang="zh-CN" altLang="en-US" noProof="0" dirty="0"/>
          </a:p>
        </p:txBody>
      </p:sp>
      <p:sp>
        <p:nvSpPr>
          <p:cNvPr id="4" name="日期占位符 3"/>
          <p:cNvSpPr>
            <a:spLocks noGrp="1"/>
          </p:cNvSpPr>
          <p:nvPr>
            <p:ph type="dt" sz="half" idx="10"/>
          </p:nvPr>
        </p:nvSpPr>
        <p:spPr/>
        <p:txBody>
          <a:bodyPr rtlCol="0"/>
          <a:lstStyle>
            <a:lvl1pPr>
              <a:defRPr/>
            </a:lvl1pPr>
          </a:lstStyle>
          <a:p>
            <a:fld id="{EF210B5A-AA01-419B-805F-32B7A7B038C7}" type="datetime2">
              <a:rPr lang="zh-CN" altLang="en-US" smtClean="0"/>
            </a:fld>
            <a:endParaRPr lang="zh-CN" altLang="en-US" dirty="0"/>
          </a:p>
        </p:txBody>
      </p:sp>
      <p:sp>
        <p:nvSpPr>
          <p:cNvPr id="6" name="灯片编号占位符 5"/>
          <p:cNvSpPr>
            <a:spLocks noGrp="1"/>
          </p:cNvSpPr>
          <p:nvPr>
            <p:ph type="sldNum" sz="quarter" idx="12"/>
          </p:nvPr>
        </p:nvSpPr>
        <p:spPr/>
        <p:txBody>
          <a:bodyPr rtlCol="0"/>
          <a:lstStyle/>
          <a:p>
            <a:pPr rtl="0"/>
            <a:fld id="{E31375A4-56A4-47D6-9801-1991572033F7}"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3000">
              <a:schemeClr val="bg1"/>
            </a:gs>
            <a:gs pos="0">
              <a:schemeClr val="bg1">
                <a:lumMod val="100000"/>
              </a:schemeClr>
            </a:gs>
            <a:gs pos="100000">
              <a:schemeClr val="bg1">
                <a:lumMod val="95000"/>
                <a:alpha val="65000"/>
              </a:schemeClr>
            </a:gs>
          </a:gsLst>
          <a:lin ang="5400000" scaled="1"/>
          <a:tileRect/>
        </a:gradFill>
        <a:effectLst/>
      </p:bgPr>
    </p:bg>
    <p:spTree>
      <p:nvGrpSpPr>
        <p:cNvPr id="1" name=""/>
        <p:cNvGrpSpPr/>
        <p:nvPr/>
      </p:nvGrpSpPr>
      <p:grpSpPr>
        <a:xfrm>
          <a:off x="0" y="0"/>
          <a:ext cx="0" cy="0"/>
          <a:chOff x="0" y="0"/>
          <a:chExt cx="0" cy="0"/>
        </a:xfrm>
      </p:grpSpPr>
      <p:grpSp>
        <p:nvGrpSpPr>
          <p:cNvPr id="96" name="组 95"/>
          <p:cNvGrpSpPr/>
          <p:nvPr userDrawn="1"/>
        </p:nvGrpSpPr>
        <p:grpSpPr bwMode="hidden">
          <a:xfrm>
            <a:off x="-1" y="-195943"/>
            <a:ext cx="12192002" cy="6858000"/>
            <a:chOff x="-1" y="0"/>
            <a:chExt cx="12192002" cy="6858000"/>
          </a:xfrm>
        </p:grpSpPr>
        <p:cxnSp>
          <p:nvCxnSpPr>
            <p:cNvPr id="97" name="直接连接符 96"/>
            <p:cNvCxnSpPr/>
            <p:nvPr/>
          </p:nvCxnSpPr>
          <p:spPr bwMode="hidden">
            <a:xfrm>
              <a:off x="61019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bwMode="hidden">
            <a:xfrm>
              <a:off x="182933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bwMode="hidden">
            <a:xfrm>
              <a:off x="304847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bwMode="hidden">
            <a:xfrm>
              <a:off x="426760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bwMode="hidden">
            <a:xfrm>
              <a:off x="548674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bwMode="hidden">
            <a:xfrm>
              <a:off x="670588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bwMode="hidden">
            <a:xfrm>
              <a:off x="792502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bwMode="hidden">
            <a:xfrm>
              <a:off x="914416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bwMode="hidden">
            <a:xfrm>
              <a:off x="1036329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bwMode="hidden">
            <a:xfrm>
              <a:off x="1158243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bwMode="hidden">
            <a:xfrm>
              <a:off x="2819" y="38648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bwMode="hidden">
            <a:xfrm>
              <a:off x="2819" y="1611181"/>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bwMode="hidden">
            <a:xfrm>
              <a:off x="2819" y="2835877"/>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bwMode="hidden">
            <a:xfrm>
              <a:off x="2819" y="4060573"/>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bwMode="hidden">
            <a:xfrm>
              <a:off x="2819" y="5285269"/>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bwMode="hidden">
            <a:xfrm>
              <a:off x="2819" y="650996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13" name="组 112"/>
            <p:cNvGrpSpPr/>
            <p:nvPr userDrawn="1"/>
          </p:nvGrpSpPr>
          <p:grpSpPr bwMode="hidden">
            <a:xfrm>
              <a:off x="-1" y="0"/>
              <a:ext cx="12192001" cy="6858000"/>
              <a:chOff x="-1" y="0"/>
              <a:chExt cx="12192001" cy="6858000"/>
            </a:xfrm>
          </p:grpSpPr>
          <p:cxnSp>
            <p:nvCxnSpPr>
              <p:cNvPr id="131" name="直接连接符 130"/>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36" name="组 135"/>
              <p:cNvGrpSpPr/>
              <p:nvPr/>
            </p:nvGrpSpPr>
            <p:grpSpPr bwMode="hidden">
              <a:xfrm>
                <a:off x="6327885" y="0"/>
                <a:ext cx="5864115" cy="5898673"/>
                <a:chOff x="6327885" y="0"/>
                <a:chExt cx="5864115" cy="5898673"/>
              </a:xfrm>
            </p:grpSpPr>
            <p:cxnSp>
              <p:nvCxnSpPr>
                <p:cNvPr id="142" name="直接连接符 141"/>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3" name="直接连接符 142"/>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4" name="直接连接符 143"/>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5" name="直接连接符 144"/>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37" name="直接连接符 136"/>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8" name="直接连接符 137"/>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9" name="直接连接符 138"/>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0" name="直接连接符 139"/>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1" name="直接连接符140"/>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114" name="组 113"/>
            <p:cNvGrpSpPr/>
            <p:nvPr userDrawn="1"/>
          </p:nvGrpSpPr>
          <p:grpSpPr bwMode="hidden">
            <a:xfrm flipH="1">
              <a:off x="0" y="0"/>
              <a:ext cx="12192001" cy="6858000"/>
              <a:chOff x="-1" y="0"/>
              <a:chExt cx="12192001" cy="6858000"/>
            </a:xfrm>
          </p:grpSpPr>
          <p:cxnSp>
            <p:nvCxnSpPr>
              <p:cNvPr id="115" name="直接连接符 114"/>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20" name="组 119"/>
              <p:cNvGrpSpPr/>
              <p:nvPr/>
            </p:nvGrpSpPr>
            <p:grpSpPr bwMode="hidden">
              <a:xfrm>
                <a:off x="6327885" y="0"/>
                <a:ext cx="5864115" cy="5898673"/>
                <a:chOff x="6327885" y="0"/>
                <a:chExt cx="5864115" cy="5898673"/>
              </a:xfrm>
            </p:grpSpPr>
            <p:cxnSp>
              <p:nvCxnSpPr>
                <p:cNvPr id="126" name="直接连接符 125"/>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7" name="直接连接符​​ 126"/>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8" name="直接连接符 127"/>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9" name="直接连接符 128"/>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21" name="直接连接符 120"/>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标题占位符 1"/>
          <p:cNvSpPr>
            <a:spLocks noGrp="1"/>
          </p:cNvSpPr>
          <p:nvPr>
            <p:ph type="title"/>
          </p:nvPr>
        </p:nvSpPr>
        <p:spPr>
          <a:xfrm>
            <a:off x="1295400" y="503853"/>
            <a:ext cx="9601200" cy="1142385"/>
          </a:xfrm>
          <a:prstGeom prst="rect">
            <a:avLst/>
          </a:prstGeom>
        </p:spPr>
        <p:txBody>
          <a:bodyPr vert="horz" lIns="91440" tIns="45720" rIns="91440" bIns="45720" rtlCol="0" anchor="b">
            <a:normAutofit/>
          </a:bodyPr>
          <a:lstStyle/>
          <a:p>
            <a:pPr rtl="0"/>
            <a:r>
              <a:rPr lang="zh-CN" altLang="en-US" noProof="0" dirty="0"/>
              <a:t>单击此处编辑母版标题样式</a:t>
            </a:r>
            <a:endParaRPr lang="zh-CN" altLang="en-US" noProof="0" dirty="0"/>
          </a:p>
        </p:txBody>
      </p:sp>
      <p:sp>
        <p:nvSpPr>
          <p:cNvPr id="3" name="文本占位符 2"/>
          <p:cNvSpPr>
            <a:spLocks noGrp="1"/>
          </p:cNvSpPr>
          <p:nvPr>
            <p:ph type="body" idx="1"/>
          </p:nvPr>
        </p:nvSpPr>
        <p:spPr>
          <a:xfrm>
            <a:off x="1295400" y="1981201"/>
            <a:ext cx="9601200" cy="3809999"/>
          </a:xfrm>
          <a:prstGeom prst="rect">
            <a:avLst/>
          </a:prstGeom>
        </p:spPr>
        <p:txBody>
          <a:bodyPr vert="horz" lIns="91440" tIns="45720" rIns="91440" bIns="45720" rtlCol="0">
            <a:normAutofit/>
          </a:bodyPr>
          <a:lstStyle/>
          <a:p>
            <a:pPr lvl="0" rtl="0"/>
            <a:r>
              <a:rPr lang="zh-CN" altLang="en-US" noProof="0" dirty="0"/>
              <a:t>单击此处编辑母版文本样式</a:t>
            </a:r>
            <a:endParaRPr lang="zh-CN" altLang="en-US" noProof="0" dirty="0"/>
          </a:p>
          <a:p>
            <a:pPr lvl="1" rtl="0"/>
            <a:r>
              <a:rPr lang="zh-CN" altLang="en-US" noProof="0" dirty="0"/>
              <a:t>第二级</a:t>
            </a:r>
            <a:endParaRPr lang="zh-CN" altLang="en-US" noProof="0" dirty="0"/>
          </a:p>
          <a:p>
            <a:pPr lvl="2" rtl="0"/>
            <a:r>
              <a:rPr lang="zh-CN" altLang="en-US" noProof="0" dirty="0"/>
              <a:t>第三级</a:t>
            </a:r>
            <a:endParaRPr lang="zh-CN" altLang="en-US" noProof="0" dirty="0"/>
          </a:p>
          <a:p>
            <a:pPr lvl="3" rtl="0"/>
            <a:r>
              <a:rPr lang="zh-CN" altLang="en-US" noProof="0" dirty="0"/>
              <a:t>第四级</a:t>
            </a:r>
            <a:endParaRPr lang="zh-CN" altLang="en-US" noProof="0" dirty="0"/>
          </a:p>
          <a:p>
            <a:pPr lvl="4" rtl="0"/>
            <a:r>
              <a:rPr lang="zh-CN" altLang="en-US" noProof="0" dirty="0"/>
              <a:t>第五级</a:t>
            </a:r>
            <a:endParaRPr lang="zh-CN" altLang="en-US" noProof="0" dirty="0"/>
          </a:p>
        </p:txBody>
      </p:sp>
      <p:cxnSp>
        <p:nvCxnSpPr>
          <p:cNvPr id="148" name="直接连接符 147"/>
          <p:cNvCxnSpPr/>
          <p:nvPr userDrawn="1"/>
        </p:nvCxnSpPr>
        <p:spPr>
          <a:xfrm>
            <a:off x="609600" y="6172200"/>
            <a:ext cx="10972800"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页脚占位符 4"/>
          <p:cNvSpPr>
            <a:spLocks noGrp="1"/>
          </p:cNvSpPr>
          <p:nvPr>
            <p:ph type="ftr" sz="quarter" idx="3"/>
          </p:nvPr>
        </p:nvSpPr>
        <p:spPr>
          <a:xfrm>
            <a:off x="609601" y="6289679"/>
            <a:ext cx="6128030" cy="222436"/>
          </a:xfrm>
          <a:prstGeom prst="rect">
            <a:avLst/>
          </a:prstGeom>
        </p:spPr>
        <p:txBody>
          <a:bodyPr vert="horz" lIns="91440" tIns="45720" rIns="91440" bIns="45720" rtlCol="0" anchor="ctr"/>
          <a:lstStyle>
            <a:lvl1pPr algn="l">
              <a:defRPr sz="1100">
                <a:solidFill>
                  <a:schemeClr val="tx1">
                    <a:lumMod val="90000"/>
                    <a:lumOff val="10000"/>
                  </a:schemeClr>
                </a:solidFill>
                <a:latin typeface="微软雅黑" panose="020B0503020204020204" pitchFamily="34" charset="-122"/>
                <a:ea typeface="微软雅黑" panose="020B0503020204020204" pitchFamily="34" charset="-122"/>
              </a:defRPr>
            </a:lvl1pPr>
          </a:lstStyle>
          <a:p>
            <a:r>
              <a:rPr lang="zh-CN" altLang="en-US" noProof="0" dirty="0"/>
              <a:t>添加页脚</a:t>
            </a:r>
            <a:endParaRPr lang="zh-CN" altLang="en-US" noProof="0" dirty="0"/>
          </a:p>
        </p:txBody>
      </p:sp>
      <p:sp>
        <p:nvSpPr>
          <p:cNvPr id="4" name="日期占位符 3"/>
          <p:cNvSpPr>
            <a:spLocks noGrp="1"/>
          </p:cNvSpPr>
          <p:nvPr>
            <p:ph type="dt" sz="half" idx="2"/>
          </p:nvPr>
        </p:nvSpPr>
        <p:spPr>
          <a:xfrm>
            <a:off x="8992717" y="6289679"/>
            <a:ext cx="1267271" cy="222436"/>
          </a:xfrm>
          <a:prstGeom prst="rect">
            <a:avLst/>
          </a:prstGeom>
        </p:spPr>
        <p:txBody>
          <a:bodyPr vert="horz" lIns="91440" tIns="45720" rIns="91440" bIns="45720" rtlCol="0" anchor="ctr"/>
          <a:lstStyle>
            <a:lvl1pPr algn="r">
              <a:defRPr sz="1100">
                <a:solidFill>
                  <a:schemeClr val="tx1">
                    <a:lumMod val="90000"/>
                    <a:lumOff val="10000"/>
                  </a:schemeClr>
                </a:solidFill>
                <a:latin typeface="微软雅黑" panose="020B0503020204020204" pitchFamily="34" charset="-122"/>
                <a:ea typeface="微软雅黑" panose="020B0503020204020204" pitchFamily="34" charset="-122"/>
              </a:defRPr>
            </a:lvl1pPr>
          </a:lstStyle>
          <a:p>
            <a:fld id="{842AB2F4-CB8F-4035-AA58-04A5ACD03934}" type="datetime2">
              <a:rPr lang="zh-CN" altLang="en-US" smtClean="0"/>
            </a:fld>
            <a:endParaRPr lang="zh-CN" altLang="en-US" dirty="0"/>
          </a:p>
        </p:txBody>
      </p:sp>
      <p:sp>
        <p:nvSpPr>
          <p:cNvPr id="6" name="灯片编号占位符 5"/>
          <p:cNvSpPr>
            <a:spLocks noGrp="1"/>
          </p:cNvSpPr>
          <p:nvPr>
            <p:ph type="sldNum" sz="quarter" idx="4"/>
          </p:nvPr>
        </p:nvSpPr>
        <p:spPr>
          <a:xfrm>
            <a:off x="10665311" y="6289679"/>
            <a:ext cx="918882" cy="222436"/>
          </a:xfrm>
          <a:prstGeom prst="rect">
            <a:avLst/>
          </a:prstGeom>
        </p:spPr>
        <p:txBody>
          <a:bodyPr vert="horz" lIns="91440" tIns="45720" rIns="91440" bIns="45720" rtlCol="0" anchor="ctr"/>
          <a:lstStyle>
            <a:lvl1pPr algn="r">
              <a:defRPr sz="1100">
                <a:solidFill>
                  <a:schemeClr val="tx1">
                    <a:lumMod val="90000"/>
                    <a:lumOff val="10000"/>
                  </a:schemeClr>
                </a:solidFill>
                <a:latin typeface="微软雅黑" panose="020B0503020204020204" pitchFamily="34" charset="-122"/>
                <a:ea typeface="微软雅黑" panose="020B0503020204020204" pitchFamily="34" charset="-122"/>
              </a:defRPr>
            </a:lvl1pPr>
          </a:lstStyle>
          <a:p>
            <a:fld id="{E31375A4-56A4-47D6-9801-1991572033F7}" type="slidenum">
              <a:rPr lang="en-US" altLang="zh-CN" noProof="0" smtClean="0"/>
            </a:fld>
            <a:endParaRPr lang="zh-CN" altLang="en-US" noProof="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txStyles>
    <p:title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800"/>
        </a:spcBef>
        <a:buClr>
          <a:schemeClr val="accent1">
            <a:lumMod val="75000"/>
          </a:schemeClr>
        </a:buClr>
        <a:buSzPct val="100000"/>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685800" indent="-179705" algn="l" defTabSz="914400" rtl="0" eaLnBrk="1" latinLnBrk="0" hangingPunct="1">
        <a:lnSpc>
          <a:spcPct val="90000"/>
        </a:lnSpc>
        <a:spcBef>
          <a:spcPts val="800"/>
        </a:spcBef>
        <a:buClr>
          <a:schemeClr val="accent1">
            <a:lumMod val="75000"/>
          </a:schemeClr>
        </a:buClr>
        <a:buSzPct val="100000"/>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anose="020B0604020202020204"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1143000" indent="-179705"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Char char="▪"/>
        <a:defRPr sz="1400" kern="1200">
          <a:solidFill>
            <a:schemeClr val="tx1"/>
          </a:solidFill>
          <a:latin typeface="+mn-lt"/>
          <a:ea typeface="+mn-ea"/>
          <a:cs typeface="+mn-cs"/>
        </a:defRPr>
      </a:lvl6pPr>
      <a:lvl7pPr marL="1600200" indent="-179705"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Char char="▪"/>
        <a:defRPr sz="1400" kern="1200">
          <a:solidFill>
            <a:schemeClr val="tx1"/>
          </a:solidFill>
          <a:latin typeface="+mn-lt"/>
          <a:ea typeface="+mn-ea"/>
          <a:cs typeface="+mn-cs"/>
        </a:defRPr>
      </a:lvl8pPr>
      <a:lvl9pPr marL="1877695" indent="0"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None/>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em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10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6"/>
          <p:cNvSpPr txBox="1">
            <a:spLocks noGrp="1" noChangeArrowheads="1"/>
          </p:cNvSpPr>
          <p:nvPr/>
        </p:nvSpPr>
        <p:spPr bwMode="auto">
          <a:xfrm>
            <a:off x="8225355" y="6229695"/>
            <a:ext cx="1917623" cy="514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defTabSz="866775">
              <a:defRPr sz="2000" b="1">
                <a:solidFill>
                  <a:schemeClr val="tx1"/>
                </a:solidFill>
                <a:latin typeface="Times New Roman" panose="02020603050405020304" pitchFamily="18" charset="0"/>
                <a:ea typeface="宋体" panose="02010600030101010101" pitchFamily="2" charset="-122"/>
              </a:defRPr>
            </a:lvl1pPr>
            <a:lvl2pPr marL="742950" indent="-285750" defTabSz="866775">
              <a:defRPr sz="2000" b="1">
                <a:solidFill>
                  <a:schemeClr val="tx1"/>
                </a:solidFill>
                <a:latin typeface="Times New Roman" panose="02020603050405020304" pitchFamily="18" charset="0"/>
                <a:ea typeface="宋体" panose="02010600030101010101" pitchFamily="2" charset="-122"/>
              </a:defRPr>
            </a:lvl2pPr>
            <a:lvl3pPr marL="1143000" indent="-228600" defTabSz="866775">
              <a:defRPr sz="2000" b="1">
                <a:solidFill>
                  <a:schemeClr val="tx1"/>
                </a:solidFill>
                <a:latin typeface="Times New Roman" panose="02020603050405020304" pitchFamily="18" charset="0"/>
                <a:ea typeface="宋体" panose="02010600030101010101" pitchFamily="2" charset="-122"/>
              </a:defRPr>
            </a:lvl3pPr>
            <a:lvl4pPr marL="1600200" indent="-228600" defTabSz="866775">
              <a:defRPr sz="2000" b="1">
                <a:solidFill>
                  <a:schemeClr val="tx1"/>
                </a:solidFill>
                <a:latin typeface="Times New Roman" panose="02020603050405020304" pitchFamily="18" charset="0"/>
                <a:ea typeface="宋体" panose="02010600030101010101" pitchFamily="2" charset="-122"/>
              </a:defRPr>
            </a:lvl4pPr>
            <a:lvl5pPr marL="2057400" indent="-228600" defTabSz="866775">
              <a:defRPr sz="2000" b="1">
                <a:solidFill>
                  <a:schemeClr val="tx1"/>
                </a:solidFill>
                <a:latin typeface="Times New Roman" panose="02020603050405020304" pitchFamily="18" charset="0"/>
                <a:ea typeface="宋体" panose="02010600030101010101" pitchFamily="2" charset="-122"/>
              </a:defRPr>
            </a:lvl5pPr>
            <a:lvl6pPr marL="2514600" indent="-228600" defTabSz="866775"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defTabSz="866775"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defTabSz="866775"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defTabSz="866775"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2CD02CDD-C206-4EC6-B892-048E2FA8A340}" type="slidenum">
              <a:rPr lang="en-US" altLang="zh-CN" sz="1410">
                <a:solidFill>
                  <a:srgbClr val="5E574E"/>
                </a:solidFill>
                <a:latin typeface="Arial" panose="020B0604020202020204" pitchFamily="34" charset="0"/>
              </a:rPr>
            </a:fld>
            <a:endParaRPr lang="en-US" altLang="zh-CN" sz="1410">
              <a:solidFill>
                <a:srgbClr val="5E574E"/>
              </a:solidFill>
              <a:latin typeface="Arial" panose="020B0604020202020204" pitchFamily="34" charset="0"/>
            </a:endParaRPr>
          </a:p>
        </p:txBody>
      </p:sp>
      <p:sp>
        <p:nvSpPr>
          <p:cNvPr id="3075" name="Text Box 1033"/>
          <p:cNvSpPr txBox="1">
            <a:spLocks noChangeArrowheads="1"/>
          </p:cNvSpPr>
          <p:nvPr/>
        </p:nvSpPr>
        <p:spPr bwMode="auto">
          <a:xfrm>
            <a:off x="2129928" y="661012"/>
            <a:ext cx="8345277" cy="509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ctr">
              <a:spcBef>
                <a:spcPct val="50000"/>
              </a:spcBef>
              <a:buFont typeface="Arial" panose="020B0604020202020204" pitchFamily="34" charset="0"/>
              <a:buNone/>
            </a:pPr>
            <a:endParaRPr lang="zh-CN" altLang="en-US" sz="2710"/>
          </a:p>
        </p:txBody>
      </p:sp>
      <p:sp>
        <p:nvSpPr>
          <p:cNvPr id="3076" name="Text Box 1037"/>
          <p:cNvSpPr txBox="1">
            <a:spLocks noChangeArrowheads="1"/>
          </p:cNvSpPr>
          <p:nvPr/>
        </p:nvSpPr>
        <p:spPr bwMode="auto">
          <a:xfrm>
            <a:off x="1795979" y="2644049"/>
            <a:ext cx="8987354" cy="944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nSpc>
                <a:spcPct val="130000"/>
              </a:lnSpc>
              <a:buFont typeface="Arial" panose="020B0604020202020204" pitchFamily="34" charset="0"/>
              <a:buNone/>
            </a:pPr>
            <a:r>
              <a:rPr lang="zh-CN" altLang="en-US" sz="4770"/>
              <a:t>第三章</a:t>
            </a:r>
            <a:r>
              <a:rPr lang="en-US" altLang="zh-CN" sz="4770"/>
              <a:t>  Java</a:t>
            </a:r>
            <a:r>
              <a:rPr lang="zh-CN" altLang="en-US" sz="4770"/>
              <a:t>面向对象程序设计</a:t>
            </a:r>
            <a:endParaRPr lang="zh-CN" altLang="en-US" sz="477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内容占位符 1"/>
          <p:cNvSpPr>
            <a:spLocks noGrp="1"/>
          </p:cNvSpPr>
          <p:nvPr>
            <p:ph idx="4294967295"/>
          </p:nvPr>
        </p:nvSpPr>
        <p:spPr>
          <a:xfrm>
            <a:off x="629947" y="1411849"/>
            <a:ext cx="10470093" cy="4344057"/>
          </a:xfrm>
        </p:spPr>
        <p:txBody>
          <a:bodyPr>
            <a:normAutofit/>
          </a:bodyPr>
          <a:lstStyle/>
          <a:p>
            <a:pPr marL="0" indent="0">
              <a:buNone/>
            </a:pPr>
            <a:r>
              <a:rPr lang="en-US" altLang="zh-CN" sz="2800" b="1" dirty="0">
                <a:solidFill>
                  <a:schemeClr val="accent1"/>
                </a:solidFill>
                <a:latin typeface="宋体" panose="02010600030101010101" pitchFamily="2" charset="-122"/>
                <a:ea typeface="宋体" panose="02010600030101010101" pitchFamily="2" charset="-122"/>
              </a:rPr>
              <a:t>1</a:t>
            </a:r>
            <a:r>
              <a:rPr lang="zh-CN" altLang="en-US" sz="2800" b="1" dirty="0">
                <a:solidFill>
                  <a:schemeClr val="accent1"/>
                </a:solidFill>
                <a:latin typeface="宋体" panose="02010600030101010101" pitchFamily="2" charset="-122"/>
                <a:ea typeface="宋体" panose="02010600030101010101" pitchFamily="2" charset="-122"/>
              </a:rPr>
              <a:t>、软件开发方法</a:t>
            </a:r>
            <a:r>
              <a:rPr lang="en-US" altLang="zh-CN" sz="2800" b="1" dirty="0">
                <a:solidFill>
                  <a:schemeClr val="accent1"/>
                </a:solidFill>
                <a:latin typeface="宋体" panose="02010600030101010101" pitchFamily="2" charset="-122"/>
                <a:ea typeface="宋体" panose="02010600030101010101" pitchFamily="2" charset="-122"/>
              </a:rPr>
              <a:t>——</a:t>
            </a:r>
            <a:r>
              <a:rPr lang="zh-CN" altLang="en-US" sz="2800" b="1" dirty="0">
                <a:solidFill>
                  <a:schemeClr val="accent1"/>
                </a:solidFill>
                <a:latin typeface="宋体" panose="02010600030101010101" pitchFamily="2" charset="-122"/>
                <a:ea typeface="宋体" panose="02010600030101010101" pitchFamily="2" charset="-122"/>
              </a:rPr>
              <a:t>面向过程</a:t>
            </a:r>
            <a:endParaRPr lang="en-US" altLang="zh-CN" sz="2800" b="1" dirty="0">
              <a:solidFill>
                <a:schemeClr val="accent1"/>
              </a:solidFill>
              <a:latin typeface="宋体" panose="02010600030101010101" pitchFamily="2" charset="-122"/>
              <a:ea typeface="宋体" panose="02010600030101010101" pitchFamily="2" charset="-122"/>
            </a:endParaRPr>
          </a:p>
          <a:p>
            <a:pPr marL="0" indent="353060">
              <a:buNone/>
            </a:pPr>
            <a:r>
              <a:rPr lang="zh-CN" altLang="en-US" sz="2800" b="1" dirty="0">
                <a:solidFill>
                  <a:srgbClr val="FF0000"/>
                </a:solidFill>
                <a:latin typeface="宋体" panose="02010600030101010101" pitchFamily="2" charset="-122"/>
                <a:ea typeface="宋体" panose="02010600030101010101" pitchFamily="2" charset="-122"/>
              </a:rPr>
              <a:t>  面向过程程序设计</a:t>
            </a:r>
            <a:r>
              <a:rPr lang="zh-CN" altLang="en-US" sz="2800" b="1" dirty="0">
                <a:latin typeface="宋体" panose="02010600030101010101" pitchFamily="2" charset="-122"/>
                <a:ea typeface="宋体" panose="02010600030101010101" pitchFamily="2" charset="-122"/>
              </a:rPr>
              <a:t>主要是将程序设计的工作围绕设计解题过程来进行，使用传统的</a:t>
            </a:r>
            <a:r>
              <a:rPr lang="zh-CN" altLang="en-US" sz="2800" b="1" dirty="0">
                <a:solidFill>
                  <a:srgbClr val="FF0000"/>
                </a:solidFill>
                <a:latin typeface="宋体" panose="02010600030101010101" pitchFamily="2" charset="-122"/>
                <a:ea typeface="宋体" panose="02010600030101010101" pitchFamily="2" charset="-122"/>
              </a:rPr>
              <a:t>过程设计语言</a:t>
            </a:r>
            <a:r>
              <a:rPr lang="zh-CN" altLang="en-US" sz="2800" b="1" dirty="0">
                <a:latin typeface="宋体" panose="02010600030101010101" pitchFamily="2" charset="-122"/>
                <a:ea typeface="宋体" panose="02010600030101010101" pitchFamily="2" charset="-122"/>
              </a:rPr>
              <a:t>，程序采用</a:t>
            </a:r>
            <a:r>
              <a:rPr lang="zh-CN" altLang="en-US" sz="2800" b="1" dirty="0">
                <a:solidFill>
                  <a:srgbClr val="FF0000"/>
                </a:solidFill>
                <a:latin typeface="宋体" panose="02010600030101010101" pitchFamily="2" charset="-122"/>
                <a:ea typeface="宋体" panose="02010600030101010101" pitchFamily="2" charset="-122"/>
              </a:rPr>
              <a:t>模块化结构</a:t>
            </a:r>
            <a:r>
              <a:rPr lang="zh-CN" altLang="en-US" sz="2800" b="1" dirty="0">
                <a:latin typeface="宋体" panose="02010600030101010101" pitchFamily="2" charset="-122"/>
                <a:ea typeface="宋体" panose="02010600030101010101" pitchFamily="2" charset="-122"/>
              </a:rPr>
              <a:t>，基于</a:t>
            </a:r>
            <a:r>
              <a:rPr lang="zh-CN" altLang="en-US" sz="2800" b="1" dirty="0">
                <a:solidFill>
                  <a:srgbClr val="FF0000"/>
                </a:solidFill>
                <a:latin typeface="宋体" panose="02010600030101010101" pitchFamily="2" charset="-122"/>
                <a:ea typeface="宋体" panose="02010600030101010101" pitchFamily="2" charset="-122"/>
              </a:rPr>
              <a:t>功能分解</a:t>
            </a:r>
            <a:r>
              <a:rPr lang="zh-CN" altLang="en-US" sz="2800" b="1" dirty="0">
                <a:latin typeface="宋体" panose="02010600030101010101" pitchFamily="2" charset="-122"/>
                <a:ea typeface="宋体" panose="02010600030101010101" pitchFamily="2" charset="-122"/>
              </a:rPr>
              <a:t>，程序的功能通过</a:t>
            </a:r>
            <a:r>
              <a:rPr lang="zh-CN" altLang="en-US" sz="2800" b="1" dirty="0">
                <a:solidFill>
                  <a:srgbClr val="FF0000"/>
                </a:solidFill>
                <a:latin typeface="宋体" panose="02010600030101010101" pitchFamily="2" charset="-122"/>
                <a:ea typeface="宋体" panose="02010600030101010101" pitchFamily="2" charset="-122"/>
              </a:rPr>
              <a:t>程序模块之间的相互调用</a:t>
            </a:r>
            <a:r>
              <a:rPr lang="zh-CN" altLang="en-US" sz="2800" b="1" dirty="0">
                <a:latin typeface="宋体" panose="02010600030101010101" pitchFamily="2" charset="-122"/>
                <a:ea typeface="宋体" panose="02010600030101010101" pitchFamily="2" charset="-122"/>
              </a:rPr>
              <a:t>完成。采用自顶向下逐步求精（逐步抽象）方法和单入口单出口的控制结构。</a:t>
            </a:r>
            <a:endParaRPr lang="en-US" altLang="zh-CN" sz="2800" b="1" dirty="0">
              <a:latin typeface="宋体" panose="02010600030101010101" pitchFamily="2" charset="-122"/>
              <a:ea typeface="宋体" panose="02010600030101010101" pitchFamily="2" charset="-122"/>
            </a:endParaRPr>
          </a:p>
          <a:p>
            <a:pPr marL="0" indent="353060">
              <a:buNone/>
            </a:pPr>
            <a:r>
              <a:rPr lang="zh-CN" altLang="en-US" sz="2800" b="1" dirty="0">
                <a:solidFill>
                  <a:srgbClr val="FF0000"/>
                </a:solidFill>
                <a:latin typeface="宋体" panose="02010600030101010101" pitchFamily="2" charset="-122"/>
                <a:ea typeface="宋体" panose="02010600030101010101" pitchFamily="2" charset="-122"/>
              </a:rPr>
              <a:t>  不足之处</a:t>
            </a:r>
            <a:r>
              <a:rPr lang="zh-CN" altLang="en-US" sz="2800" b="1" dirty="0">
                <a:latin typeface="宋体" panose="02010600030101010101" pitchFamily="2" charset="-122"/>
                <a:ea typeface="宋体" panose="02010600030101010101" pitchFamily="2" charset="-122"/>
              </a:rPr>
              <a:t>在于：数据与操作的描述分离；数据缺乏保护；不能适应需求的改变。</a:t>
            </a:r>
            <a:endParaRPr lang="zh-CN" altLang="en-US" sz="2800" b="1" dirty="0">
              <a:latin typeface="宋体" panose="02010600030101010101" pitchFamily="2" charset="-122"/>
              <a:ea typeface="宋体" panose="02010600030101010101" pitchFamily="2" charset="-122"/>
            </a:endParaRPr>
          </a:p>
        </p:txBody>
      </p:sp>
      <p:sp>
        <p:nvSpPr>
          <p:cNvPr id="4099" name="标题 2"/>
          <p:cNvSpPr>
            <a:spLocks noGrp="1"/>
          </p:cNvSpPr>
          <p:nvPr>
            <p:ph type="title" idx="4294967295"/>
          </p:nvPr>
        </p:nvSpPr>
        <p:spPr>
          <a:xfrm>
            <a:off x="148632" y="275350"/>
            <a:ext cx="8147318" cy="914056"/>
          </a:xfrm>
        </p:spPr>
        <p:txBody>
          <a:bodyPr/>
          <a:lstStyle/>
          <a:p>
            <a:r>
              <a:rPr lang="en-US" altLang="zh-CN" dirty="0">
                <a:latin typeface="宋体" panose="02010600030101010101" pitchFamily="2" charset="-122"/>
                <a:ea typeface="宋体" panose="02010600030101010101" pitchFamily="2" charset="-122"/>
              </a:rPr>
              <a:t>3.1 </a:t>
            </a:r>
            <a:r>
              <a:rPr lang="zh-CN" altLang="en-US" dirty="0">
                <a:latin typeface="宋体" panose="02010600030101010101" pitchFamily="2" charset="-122"/>
                <a:ea typeface="宋体" panose="02010600030101010101" pitchFamily="2" charset="-122"/>
              </a:rPr>
              <a:t>面向对象程序设计概述</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idx="4294967295"/>
          </p:nvPr>
        </p:nvSpPr>
        <p:spPr>
          <a:xfrm>
            <a:off x="1303663" y="304686"/>
            <a:ext cx="8147318" cy="79184"/>
          </a:xfrm>
        </p:spPr>
        <p:txBody>
          <a:bodyPr>
            <a:normAutofit fontScale="90000"/>
          </a:bodyPr>
          <a:lstStyle/>
          <a:p>
            <a:r>
              <a:rPr lang="en-US" altLang="zh-CN"/>
              <a:t>  </a:t>
            </a:r>
            <a:endParaRPr lang="zh-CN" altLang="en-US"/>
          </a:p>
        </p:txBody>
      </p:sp>
      <p:sp>
        <p:nvSpPr>
          <p:cNvPr id="5123" name="内容占位符 2"/>
          <p:cNvSpPr>
            <a:spLocks noGrp="1"/>
          </p:cNvSpPr>
          <p:nvPr>
            <p:ph idx="4294967295"/>
          </p:nvPr>
        </p:nvSpPr>
        <p:spPr>
          <a:xfrm>
            <a:off x="754515" y="1273632"/>
            <a:ext cx="10805426" cy="4428303"/>
          </a:xfrm>
        </p:spPr>
        <p:txBody>
          <a:bodyPr>
            <a:normAutofit/>
          </a:bodyPr>
          <a:lstStyle/>
          <a:p>
            <a:pPr marL="0" indent="0">
              <a:buNone/>
            </a:pPr>
            <a:r>
              <a:rPr lang="en-US" altLang="zh-CN" sz="2800" b="1" dirty="0">
                <a:solidFill>
                  <a:schemeClr val="accent1"/>
                </a:solidFill>
                <a:latin typeface="宋体" panose="02010600030101010101" pitchFamily="2" charset="-122"/>
                <a:ea typeface="宋体" panose="02010600030101010101" pitchFamily="2" charset="-122"/>
              </a:rPr>
              <a:t>1</a:t>
            </a:r>
            <a:r>
              <a:rPr lang="zh-CN" altLang="en-US" sz="2800" b="1" dirty="0">
                <a:solidFill>
                  <a:schemeClr val="accent1"/>
                </a:solidFill>
                <a:latin typeface="宋体" panose="02010600030101010101" pitchFamily="2" charset="-122"/>
                <a:ea typeface="宋体" panose="02010600030101010101" pitchFamily="2" charset="-122"/>
              </a:rPr>
              <a:t>、软件开发方法</a:t>
            </a:r>
            <a:r>
              <a:rPr lang="en-US" altLang="zh-CN" sz="2800" b="1" dirty="0">
                <a:solidFill>
                  <a:schemeClr val="accent1"/>
                </a:solidFill>
                <a:latin typeface="宋体" panose="02010600030101010101" pitchFamily="2" charset="-122"/>
                <a:ea typeface="宋体" panose="02010600030101010101" pitchFamily="2" charset="-122"/>
              </a:rPr>
              <a:t>——</a:t>
            </a:r>
            <a:r>
              <a:rPr lang="zh-CN" altLang="en-US" sz="2800" b="1" dirty="0">
                <a:solidFill>
                  <a:schemeClr val="accent1"/>
                </a:solidFill>
                <a:latin typeface="宋体" panose="02010600030101010101" pitchFamily="2" charset="-122"/>
                <a:ea typeface="宋体" panose="02010600030101010101" pitchFamily="2" charset="-122"/>
              </a:rPr>
              <a:t>面向对象</a:t>
            </a:r>
            <a:endParaRPr lang="en-US" altLang="zh-CN" sz="2800" b="1" dirty="0">
              <a:solidFill>
                <a:schemeClr val="accent1"/>
              </a:solidFill>
              <a:latin typeface="宋体" panose="02010600030101010101" pitchFamily="2" charset="-122"/>
              <a:ea typeface="宋体" panose="02010600030101010101" pitchFamily="2" charset="-122"/>
            </a:endParaRPr>
          </a:p>
          <a:p>
            <a:pPr marL="0" indent="353060">
              <a:buNone/>
            </a:pPr>
            <a:r>
              <a:rPr lang="zh-CN" altLang="en-US" sz="2800" b="1" dirty="0">
                <a:solidFill>
                  <a:srgbClr val="FF0000"/>
                </a:solidFill>
                <a:latin typeface="宋体" panose="02010600030101010101" pitchFamily="2" charset="-122"/>
                <a:ea typeface="宋体" panose="02010600030101010101" pitchFamily="2" charset="-122"/>
              </a:rPr>
              <a:t>  面向对象程序设计</a:t>
            </a:r>
            <a:r>
              <a:rPr lang="zh-CN" altLang="en-US" sz="2800" b="1" dirty="0">
                <a:latin typeface="宋体" panose="02010600030101010101" pitchFamily="2" charset="-122"/>
                <a:ea typeface="宋体" panose="02010600030101010101" pitchFamily="2" charset="-122"/>
              </a:rPr>
              <a:t>是把求解问题中的事物看作不同的对象，</a:t>
            </a:r>
            <a:r>
              <a:rPr lang="zh-CN" altLang="en-US" sz="2800" b="1" dirty="0">
                <a:solidFill>
                  <a:srgbClr val="FF0000"/>
                </a:solidFill>
                <a:latin typeface="宋体" panose="02010600030101010101" pitchFamily="2" charset="-122"/>
                <a:ea typeface="宋体" panose="02010600030101010101" pitchFamily="2" charset="-122"/>
              </a:rPr>
              <a:t>每个对象由一些数据和对这些数据所实施的操作构成</a:t>
            </a:r>
            <a:r>
              <a:rPr lang="zh-CN" altLang="en-US" sz="2800" b="1" dirty="0">
                <a:latin typeface="宋体" panose="02010600030101010101" pitchFamily="2" charset="-122"/>
                <a:ea typeface="宋体" panose="02010600030101010101" pitchFamily="2" charset="-122"/>
              </a:rPr>
              <a:t>；对数据的操作是通过向包含数据的对象发送</a:t>
            </a:r>
            <a:r>
              <a:rPr lang="zh-CN" altLang="en-US" sz="2800" b="1" dirty="0">
                <a:solidFill>
                  <a:srgbClr val="FF0000"/>
                </a:solidFill>
                <a:latin typeface="宋体" panose="02010600030101010101" pitchFamily="2" charset="-122"/>
                <a:ea typeface="宋体" panose="02010600030101010101" pitchFamily="2" charset="-122"/>
              </a:rPr>
              <a:t>消息</a:t>
            </a:r>
            <a:r>
              <a:rPr lang="zh-CN" altLang="en-US" sz="2800" b="1" dirty="0">
                <a:latin typeface="宋体" panose="02010600030101010101" pitchFamily="2" charset="-122"/>
                <a:ea typeface="宋体" panose="02010600030101010101" pitchFamily="2" charset="-122"/>
              </a:rPr>
              <a:t>来实现。把具有共同特征的对象归属为一个类，</a:t>
            </a:r>
            <a:r>
              <a:rPr lang="zh-CN" altLang="en-US" sz="2800" b="1" dirty="0">
                <a:solidFill>
                  <a:srgbClr val="FF0000"/>
                </a:solidFill>
                <a:latin typeface="宋体" panose="02010600030101010101" pitchFamily="2" charset="-122"/>
                <a:ea typeface="宋体" panose="02010600030101010101" pitchFamily="2" charset="-122"/>
              </a:rPr>
              <a:t>类是对象的抽象描述</a:t>
            </a:r>
            <a:r>
              <a:rPr lang="zh-CN" altLang="en-US" sz="2800" b="1" dirty="0">
                <a:latin typeface="宋体" panose="02010600030101010101" pitchFamily="2" charset="-122"/>
                <a:ea typeface="宋体" panose="02010600030101010101" pitchFamily="2" charset="-122"/>
              </a:rPr>
              <a:t>。</a:t>
            </a:r>
            <a:endParaRPr lang="zh-CN" altLang="en-US" sz="2800" b="1" dirty="0">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  面向对象程序设计强调的是数据抽象，一方面加强了数据保护，另一方面实现了对现实世界活动的直接模拟，能较好地适应需求的变化。面向对象程序设计实现了数据及其操作的封装。稳定性好，当系统的功能需求发生变化时不会引起软件结构的整体变化。</a:t>
            </a:r>
            <a:endParaRPr lang="zh-CN" altLang="en-US" sz="2800" b="1" dirty="0">
              <a:latin typeface="宋体" panose="02010600030101010101" pitchFamily="2" charset="-122"/>
              <a:ea typeface="宋体" panose="02010600030101010101" pitchFamily="2" charset="-122"/>
            </a:endParaRPr>
          </a:p>
          <a:p>
            <a:pPr marL="0" indent="353060">
              <a:buNone/>
            </a:pPr>
            <a:endParaRPr lang="zh-CN" altLang="en-US" sz="2800" b="1" dirty="0">
              <a:latin typeface="宋体" panose="02010600030101010101" pitchFamily="2" charset="-122"/>
              <a:ea typeface="宋体" panose="02010600030101010101" pitchFamily="2" charset="-122"/>
            </a:endParaRPr>
          </a:p>
        </p:txBody>
      </p:sp>
      <p:sp>
        <p:nvSpPr>
          <p:cNvPr id="5124"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7D92D0FA-8A1F-4E3F-B81C-0E1EE81FCF29}"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2"/>
          <p:cNvSpPr txBox="1"/>
          <p:nvPr/>
        </p:nvSpPr>
        <p:spPr>
          <a:xfrm>
            <a:off x="148632" y="275350"/>
            <a:ext cx="8147318" cy="91405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3.1 </a:t>
            </a:r>
            <a:r>
              <a:rPr lang="zh-CN" altLang="en-US" dirty="0">
                <a:latin typeface="宋体" panose="02010600030101010101" pitchFamily="2" charset="-122"/>
                <a:ea typeface="宋体" panose="02010600030101010101" pitchFamily="2" charset="-122"/>
              </a:rPr>
              <a:t>面向对象程序设计概述</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idx="4294967295"/>
          </p:nvPr>
        </p:nvSpPr>
        <p:spPr>
          <a:xfrm>
            <a:off x="264135" y="1012944"/>
            <a:ext cx="8147318" cy="755689"/>
          </a:xfrm>
        </p:spPr>
        <p:txBody>
          <a:bodyPr>
            <a:normAutofit/>
          </a:bodyPr>
          <a:lstStyle/>
          <a:p>
            <a:r>
              <a:rPr lang="en-US" altLang="zh-CN" sz="2800" dirty="0">
                <a:latin typeface="宋体" panose="02010600030101010101" pitchFamily="2" charset="-122"/>
                <a:ea typeface="宋体" panose="02010600030101010101" pitchFamily="2" charset="-122"/>
              </a:rPr>
              <a:t>2</a:t>
            </a:r>
            <a:r>
              <a:rPr lang="zh-CN" altLang="en-US" sz="2800" dirty="0">
                <a:latin typeface="宋体" panose="02010600030101010101" pitchFamily="2" charset="-122"/>
                <a:ea typeface="宋体" panose="02010600030101010101" pitchFamily="2" charset="-122"/>
              </a:rPr>
              <a:t>、面向对象语言的基本特点</a:t>
            </a:r>
            <a:endParaRPr lang="zh-CN" altLang="en-US" sz="2800" dirty="0">
              <a:latin typeface="宋体" panose="02010600030101010101" pitchFamily="2" charset="-122"/>
              <a:ea typeface="宋体" panose="02010600030101010101" pitchFamily="2" charset="-122"/>
            </a:endParaRPr>
          </a:p>
        </p:txBody>
      </p:sp>
      <p:sp>
        <p:nvSpPr>
          <p:cNvPr id="6147" name="内容占位符 2"/>
          <p:cNvSpPr>
            <a:spLocks noGrp="1"/>
          </p:cNvSpPr>
          <p:nvPr>
            <p:ph idx="4294967295"/>
          </p:nvPr>
        </p:nvSpPr>
        <p:spPr>
          <a:xfrm>
            <a:off x="427761" y="1909672"/>
            <a:ext cx="11315057" cy="2056424"/>
          </a:xfrm>
        </p:spPr>
        <p:txBody>
          <a:bodyPr>
            <a:normAutofit/>
          </a:bodyPr>
          <a:lstStyle/>
          <a:p>
            <a:pPr marL="0" indent="353060">
              <a:buNone/>
            </a:pP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1</a:t>
            </a:r>
            <a:r>
              <a:rPr lang="zh-CN" altLang="en-US" sz="2800" b="1" dirty="0">
                <a:latin typeface="宋体" panose="02010600030101010101" pitchFamily="2" charset="-122"/>
                <a:ea typeface="宋体" panose="02010600030101010101" pitchFamily="2" charset="-122"/>
              </a:rPr>
              <a:t>）抽象</a:t>
            </a:r>
            <a:endParaRPr lang="zh-CN" altLang="en-US" sz="2800" b="1" dirty="0">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  面向对象方法中的抽象是对具体事物进行概括，抽出事物的公共性质并加以描述的过程。事实上，对事物进行抽象的过程，就是一个分析问题、认识问题的过程。</a:t>
            </a:r>
            <a:endParaRPr lang="zh-CN" altLang="en-US" sz="2800" b="1" dirty="0">
              <a:latin typeface="宋体" panose="02010600030101010101" pitchFamily="2" charset="-122"/>
              <a:ea typeface="宋体" panose="02010600030101010101" pitchFamily="2" charset="-122"/>
            </a:endParaRPr>
          </a:p>
          <a:p>
            <a:pPr marL="0" indent="353060">
              <a:buNone/>
            </a:pPr>
            <a:endParaRPr lang="zh-CN" altLang="en-US" sz="2800" b="1" dirty="0">
              <a:latin typeface="宋体" panose="02010600030101010101" pitchFamily="2" charset="-122"/>
              <a:ea typeface="宋体" panose="02010600030101010101" pitchFamily="2" charset="-122"/>
            </a:endParaRPr>
          </a:p>
        </p:txBody>
      </p:sp>
      <p:sp>
        <p:nvSpPr>
          <p:cNvPr id="6148"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4C4BFDE0-7846-4AD6-BD38-113B27260D75}"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2"/>
          <p:cNvSpPr txBox="1"/>
          <p:nvPr/>
        </p:nvSpPr>
        <p:spPr>
          <a:xfrm>
            <a:off x="158257" y="148505"/>
            <a:ext cx="8147318" cy="91405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3.1 </a:t>
            </a:r>
            <a:r>
              <a:rPr lang="zh-CN" altLang="en-US" dirty="0">
                <a:latin typeface="宋体" panose="02010600030101010101" pitchFamily="2" charset="-122"/>
                <a:ea typeface="宋体" panose="02010600030101010101" pitchFamily="2" charset="-122"/>
              </a:rPr>
              <a:t>面向对象程序设计概述</a:t>
            </a:r>
            <a:endParaRPr lang="zh-CN" altLang="en-US" dirty="0">
              <a:latin typeface="宋体" panose="02010600030101010101" pitchFamily="2" charset="-122"/>
              <a:ea typeface="宋体" panose="02010600030101010101" pitchFamily="2" charset="-122"/>
            </a:endParaRPr>
          </a:p>
        </p:txBody>
      </p:sp>
      <p:sp>
        <p:nvSpPr>
          <p:cNvPr id="6" name="内容占位符 2"/>
          <p:cNvSpPr txBox="1"/>
          <p:nvPr/>
        </p:nvSpPr>
        <p:spPr>
          <a:xfrm>
            <a:off x="567327" y="3785314"/>
            <a:ext cx="11035923" cy="27502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685800" indent="-179705" algn="l" defTabSz="914400" rtl="0" eaLnBrk="1" latinLnBrk="0" hangingPunct="1">
              <a:lnSpc>
                <a:spcPct val="90000"/>
              </a:lnSpc>
              <a:spcBef>
                <a:spcPts val="800"/>
              </a:spcBef>
              <a:buClr>
                <a:schemeClr val="accent1">
                  <a:lumMod val="75000"/>
                </a:schemeClr>
              </a:buClr>
              <a:buSzPct val="100000"/>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anose="020B0604020202020204"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1143000" indent="-179705"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Char char="▪"/>
              <a:defRPr sz="1400" kern="1200">
                <a:solidFill>
                  <a:schemeClr val="tx1"/>
                </a:solidFill>
                <a:latin typeface="+mn-lt"/>
                <a:ea typeface="+mn-ea"/>
                <a:cs typeface="+mn-cs"/>
              </a:defRPr>
            </a:lvl6pPr>
            <a:lvl7pPr marL="1600200" indent="-179705"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Char char="▪"/>
              <a:defRPr sz="1400" kern="1200">
                <a:solidFill>
                  <a:schemeClr val="tx1"/>
                </a:solidFill>
                <a:latin typeface="+mn-lt"/>
                <a:ea typeface="+mn-ea"/>
                <a:cs typeface="+mn-cs"/>
              </a:defRPr>
            </a:lvl8pPr>
            <a:lvl9pPr marL="1877695" indent="0"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None/>
              <a:defRPr sz="1400" kern="1200">
                <a:solidFill>
                  <a:schemeClr val="tx1"/>
                </a:solidFill>
                <a:latin typeface="+mn-lt"/>
                <a:ea typeface="+mn-ea"/>
                <a:cs typeface="+mn-cs"/>
              </a:defRPr>
            </a:lvl9pPr>
          </a:lstStyle>
          <a:p>
            <a:pPr marL="0" indent="353060">
              <a:buFont typeface="Arial" panose="020B0604020202020204" pitchFamily="34" charset="0"/>
              <a:buNone/>
            </a:pP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2</a:t>
            </a:r>
            <a:r>
              <a:rPr lang="zh-CN" altLang="en-US" sz="2800" b="1" dirty="0">
                <a:latin typeface="宋体" panose="02010600030101010101" pitchFamily="2" charset="-122"/>
                <a:ea typeface="宋体" panose="02010600030101010101" pitchFamily="2" charset="-122"/>
              </a:rPr>
              <a:t>）封装</a:t>
            </a:r>
            <a:endParaRPr lang="zh-CN" altLang="en-US" sz="2800" b="1" dirty="0">
              <a:latin typeface="宋体" panose="02010600030101010101" pitchFamily="2" charset="-122"/>
              <a:ea typeface="宋体" panose="02010600030101010101" pitchFamily="2" charset="-122"/>
            </a:endParaRPr>
          </a:p>
          <a:p>
            <a:pPr marL="0" indent="353060">
              <a:buFont typeface="Arial" panose="020B0604020202020204" pitchFamily="34" charset="0"/>
              <a:buNone/>
            </a:pPr>
            <a:r>
              <a:rPr lang="zh-CN" altLang="en-US" sz="2800" b="1" dirty="0">
                <a:latin typeface="宋体" panose="02010600030101010101" pitchFamily="2" charset="-122"/>
                <a:ea typeface="宋体" panose="02010600030101010101" pitchFamily="2" charset="-122"/>
              </a:rPr>
              <a:t>  将抽象得到的数据成员和代码成员相结合形成一个有机的整体，即</a:t>
            </a:r>
            <a:r>
              <a:rPr lang="zh-CN" altLang="en-US" sz="2800" b="1" dirty="0">
                <a:solidFill>
                  <a:srgbClr val="FF0000"/>
                </a:solidFill>
                <a:latin typeface="宋体" panose="02010600030101010101" pitchFamily="2" charset="-122"/>
                <a:ea typeface="宋体" panose="02010600030101010101" pitchFamily="2" charset="-122"/>
              </a:rPr>
              <a:t>数据与操作数据的行为的有机结合，这样的结合就是封装</a:t>
            </a:r>
            <a:r>
              <a:rPr lang="zh-CN" altLang="en-US" sz="2800" b="1" dirty="0">
                <a:latin typeface="宋体" panose="02010600030101010101" pitchFamily="2" charset="-122"/>
                <a:ea typeface="宋体" panose="02010600030101010101" pitchFamily="2" charset="-122"/>
              </a:rPr>
              <a:t>。通过对抽象结果进行封装，将一部分行为作为对外部的接口，而将数据和其它行为进行有效的隐藏，就可以达到对数据访问权限的合理控制。</a:t>
            </a:r>
            <a:endParaRPr lang="zh-CN" altLang="en-US" sz="2800" b="1"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内容占位符 2"/>
          <p:cNvSpPr>
            <a:spLocks noGrp="1"/>
          </p:cNvSpPr>
          <p:nvPr>
            <p:ph idx="4294967295"/>
          </p:nvPr>
        </p:nvSpPr>
        <p:spPr>
          <a:xfrm>
            <a:off x="558940" y="2007997"/>
            <a:ext cx="11074119" cy="1957612"/>
          </a:xfrm>
        </p:spPr>
        <p:txBody>
          <a:bodyPr>
            <a:normAutofit/>
          </a:bodyPr>
          <a:lstStyle/>
          <a:p>
            <a:pPr marL="0" indent="353060">
              <a:buNone/>
            </a:pP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3</a:t>
            </a:r>
            <a:r>
              <a:rPr lang="zh-CN" altLang="en-US" sz="2800" b="1" dirty="0">
                <a:latin typeface="宋体" panose="02010600030101010101" pitchFamily="2" charset="-122"/>
                <a:ea typeface="宋体" panose="02010600030101010101" pitchFamily="2" charset="-122"/>
              </a:rPr>
              <a:t>）继承</a:t>
            </a:r>
            <a:endParaRPr lang="zh-CN" altLang="en-US" sz="2800" b="1" dirty="0">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  当一个类拥有另一个类的属性和操作时，就称这个类是继承过来的类。继承的优点在于：继承实现了代码的重用，加速了编程速度，提高了效率，减少代码的冗余。</a:t>
            </a:r>
            <a:endParaRPr lang="zh-CN" altLang="en-US" sz="2800" b="1" dirty="0">
              <a:latin typeface="宋体" panose="02010600030101010101" pitchFamily="2" charset="-122"/>
              <a:ea typeface="宋体" panose="02010600030101010101" pitchFamily="2" charset="-122"/>
            </a:endParaRPr>
          </a:p>
        </p:txBody>
      </p:sp>
      <p:sp>
        <p:nvSpPr>
          <p:cNvPr id="8195"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83C5CBC1-AD0D-412E-A607-79CA690F814D}"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4" name="标题 2"/>
          <p:cNvSpPr txBox="1"/>
          <p:nvPr/>
        </p:nvSpPr>
        <p:spPr>
          <a:xfrm>
            <a:off x="158257" y="148505"/>
            <a:ext cx="8147318" cy="91405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3.1 </a:t>
            </a:r>
            <a:r>
              <a:rPr lang="zh-CN" altLang="en-US" dirty="0">
                <a:latin typeface="宋体" panose="02010600030101010101" pitchFamily="2" charset="-122"/>
                <a:ea typeface="宋体" panose="02010600030101010101" pitchFamily="2" charset="-122"/>
              </a:rPr>
              <a:t>面向对象程序设计概述</a:t>
            </a:r>
            <a:endParaRPr lang="zh-CN" altLang="en-US" dirty="0">
              <a:latin typeface="宋体" panose="02010600030101010101" pitchFamily="2" charset="-122"/>
              <a:ea typeface="宋体" panose="02010600030101010101" pitchFamily="2" charset="-122"/>
            </a:endParaRPr>
          </a:p>
        </p:txBody>
      </p:sp>
      <p:sp>
        <p:nvSpPr>
          <p:cNvPr id="5" name="标题 1"/>
          <p:cNvSpPr txBox="1"/>
          <p:nvPr/>
        </p:nvSpPr>
        <p:spPr>
          <a:xfrm>
            <a:off x="264135" y="1012944"/>
            <a:ext cx="8147318" cy="755689"/>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a:latin typeface="宋体" panose="02010600030101010101" pitchFamily="2" charset="-122"/>
                <a:ea typeface="宋体" panose="02010600030101010101" pitchFamily="2" charset="-122"/>
              </a:rPr>
              <a:t>2</a:t>
            </a:r>
            <a:r>
              <a:rPr lang="zh-CN" altLang="en-US" sz="2800">
                <a:latin typeface="宋体" panose="02010600030101010101" pitchFamily="2" charset="-122"/>
                <a:ea typeface="宋体" panose="02010600030101010101" pitchFamily="2" charset="-122"/>
              </a:rPr>
              <a:t>、面向对象语言的基本特点</a:t>
            </a:r>
            <a:endParaRPr lang="zh-CN" altLang="en-US" sz="2800" dirty="0">
              <a:latin typeface="宋体" panose="02010600030101010101" pitchFamily="2" charset="-122"/>
              <a:ea typeface="宋体" panose="02010600030101010101" pitchFamily="2" charset="-122"/>
            </a:endParaRPr>
          </a:p>
        </p:txBody>
      </p:sp>
      <p:sp>
        <p:nvSpPr>
          <p:cNvPr id="6" name="内容占位符 2"/>
          <p:cNvSpPr txBox="1"/>
          <p:nvPr/>
        </p:nvSpPr>
        <p:spPr>
          <a:xfrm>
            <a:off x="558940" y="3963491"/>
            <a:ext cx="11074119" cy="176354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685800" indent="-179705" algn="l" defTabSz="914400" rtl="0" eaLnBrk="1" latinLnBrk="0" hangingPunct="1">
              <a:lnSpc>
                <a:spcPct val="90000"/>
              </a:lnSpc>
              <a:spcBef>
                <a:spcPts val="800"/>
              </a:spcBef>
              <a:buClr>
                <a:schemeClr val="accent1">
                  <a:lumMod val="75000"/>
                </a:schemeClr>
              </a:buClr>
              <a:buSzPct val="100000"/>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anose="020B0604020202020204"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1143000" indent="-179705"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Char char="▪"/>
              <a:defRPr sz="1400" kern="1200">
                <a:solidFill>
                  <a:schemeClr val="tx1"/>
                </a:solidFill>
                <a:latin typeface="+mn-lt"/>
                <a:ea typeface="+mn-ea"/>
                <a:cs typeface="+mn-cs"/>
              </a:defRPr>
            </a:lvl6pPr>
            <a:lvl7pPr marL="1600200" indent="-179705"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Char char="▪"/>
              <a:defRPr sz="1400" kern="1200">
                <a:solidFill>
                  <a:schemeClr val="tx1"/>
                </a:solidFill>
                <a:latin typeface="+mn-lt"/>
                <a:ea typeface="+mn-ea"/>
                <a:cs typeface="+mn-cs"/>
              </a:defRPr>
            </a:lvl8pPr>
            <a:lvl9pPr marL="1877695" indent="0"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None/>
              <a:defRPr sz="1400" kern="1200">
                <a:solidFill>
                  <a:schemeClr val="tx1"/>
                </a:solidFill>
                <a:latin typeface="+mn-lt"/>
                <a:ea typeface="+mn-ea"/>
                <a:cs typeface="+mn-cs"/>
              </a:defRPr>
            </a:lvl9pPr>
          </a:lstStyle>
          <a:p>
            <a:pPr marL="0" indent="353060">
              <a:buFont typeface="Arial" panose="020B0604020202020204" pitchFamily="34" charset="0"/>
              <a:buNone/>
            </a:pP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4</a:t>
            </a:r>
            <a:r>
              <a:rPr lang="zh-CN" altLang="en-US" sz="2800" b="1" dirty="0">
                <a:latin typeface="宋体" panose="02010600030101010101" pitchFamily="2" charset="-122"/>
                <a:ea typeface="宋体" panose="02010600030101010101" pitchFamily="2" charset="-122"/>
              </a:rPr>
              <a:t>）多态</a:t>
            </a:r>
            <a:endParaRPr lang="zh-CN" altLang="en-US" sz="2800" b="1" dirty="0">
              <a:latin typeface="宋体" panose="02010600030101010101" pitchFamily="2" charset="-122"/>
              <a:ea typeface="宋体" panose="02010600030101010101" pitchFamily="2" charset="-122"/>
            </a:endParaRPr>
          </a:p>
          <a:p>
            <a:pPr marL="0" indent="353060">
              <a:buFont typeface="Arial" panose="020B0604020202020204" pitchFamily="34" charset="0"/>
              <a:buNone/>
            </a:pPr>
            <a:r>
              <a:rPr lang="en-US" altLang="zh-CN" sz="2800" b="1" dirty="0">
                <a:latin typeface="宋体" panose="02010600030101010101" pitchFamily="2" charset="-122"/>
                <a:ea typeface="宋体" panose="02010600030101010101" pitchFamily="2" charset="-122"/>
              </a:rPr>
              <a:t>  </a:t>
            </a:r>
            <a:r>
              <a:rPr lang="zh-CN" altLang="en-US" sz="2800" b="1" dirty="0">
                <a:latin typeface="宋体" panose="02010600030101010101" pitchFamily="2" charset="-122"/>
                <a:ea typeface="宋体" panose="02010600030101010101" pitchFamily="2" charset="-122"/>
              </a:rPr>
              <a:t>多态，是指类中具有相似功能的不同函数使用同一个名称来实现的现象。</a:t>
            </a:r>
            <a:r>
              <a:rPr lang="en-US" altLang="zh-CN" sz="2800" b="1" dirty="0">
                <a:latin typeface="宋体" panose="02010600030101010101" pitchFamily="2" charset="-122"/>
                <a:ea typeface="宋体" panose="02010600030101010101" pitchFamily="2" charset="-122"/>
              </a:rPr>
              <a:t> </a:t>
            </a:r>
            <a:endParaRPr lang="zh-CN" altLang="en-US" sz="2800" b="1"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idx="4294967295"/>
          </p:nvPr>
        </p:nvSpPr>
        <p:spPr>
          <a:xfrm>
            <a:off x="659099" y="287637"/>
            <a:ext cx="8147318" cy="914055"/>
          </a:xfrm>
        </p:spPr>
        <p:txBody>
          <a:bodyPr/>
          <a:lstStyle/>
          <a:p>
            <a:r>
              <a:rPr lang="en-US" altLang="zh-CN" dirty="0">
                <a:latin typeface="宋体" panose="02010600030101010101" pitchFamily="2" charset="-122"/>
                <a:ea typeface="宋体" panose="02010600030101010101" pitchFamily="2" charset="-122"/>
              </a:rPr>
              <a:t>3.2 </a:t>
            </a:r>
            <a:r>
              <a:rPr lang="zh-CN" altLang="en-US" dirty="0">
                <a:latin typeface="宋体" panose="02010600030101010101" pitchFamily="2" charset="-122"/>
                <a:ea typeface="宋体" panose="02010600030101010101" pitchFamily="2" charset="-122"/>
              </a:rPr>
              <a:t>类与对象</a:t>
            </a:r>
            <a:endParaRPr lang="zh-CN" altLang="en-US" dirty="0">
              <a:latin typeface="宋体" panose="02010600030101010101" pitchFamily="2" charset="-122"/>
              <a:ea typeface="宋体" panose="02010600030101010101" pitchFamily="2" charset="-122"/>
            </a:endParaRPr>
          </a:p>
        </p:txBody>
      </p:sp>
      <p:sp>
        <p:nvSpPr>
          <p:cNvPr id="10243"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5A661D29-FC94-45D0-81E6-6EB59EC70965}"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grpSp>
        <p:nvGrpSpPr>
          <p:cNvPr id="10244" name="Group 4"/>
          <p:cNvGrpSpPr/>
          <p:nvPr/>
        </p:nvGrpSpPr>
        <p:grpSpPr bwMode="auto">
          <a:xfrm>
            <a:off x="3023327" y="1454572"/>
            <a:ext cx="6830458" cy="4677004"/>
            <a:chOff x="0" y="0"/>
            <a:chExt cx="5100" cy="3588"/>
          </a:xfrm>
        </p:grpSpPr>
        <p:grpSp>
          <p:nvGrpSpPr>
            <p:cNvPr id="10245" name="Group 5"/>
            <p:cNvGrpSpPr/>
            <p:nvPr/>
          </p:nvGrpSpPr>
          <p:grpSpPr bwMode="auto">
            <a:xfrm>
              <a:off x="0" y="0"/>
              <a:ext cx="5100" cy="3024"/>
              <a:chOff x="0" y="0"/>
              <a:chExt cx="5100" cy="3024"/>
            </a:xfrm>
          </p:grpSpPr>
          <p:grpSp>
            <p:nvGrpSpPr>
              <p:cNvPr id="10247" name="Group 6"/>
              <p:cNvGrpSpPr/>
              <p:nvPr/>
            </p:nvGrpSpPr>
            <p:grpSpPr bwMode="auto">
              <a:xfrm>
                <a:off x="0" y="0"/>
                <a:ext cx="5100" cy="2808"/>
                <a:chOff x="0" y="0"/>
                <a:chExt cx="5100" cy="2808"/>
              </a:xfrm>
            </p:grpSpPr>
            <p:grpSp>
              <p:nvGrpSpPr>
                <p:cNvPr id="10251" name="Group 7"/>
                <p:cNvGrpSpPr>
                  <a:grpSpLocks noChangeAspect="1"/>
                </p:cNvGrpSpPr>
                <p:nvPr/>
              </p:nvGrpSpPr>
              <p:grpSpPr bwMode="auto">
                <a:xfrm>
                  <a:off x="0" y="1754"/>
                  <a:ext cx="5100" cy="1054"/>
                  <a:chOff x="0" y="0"/>
                  <a:chExt cx="5100" cy="1054"/>
                </a:xfrm>
              </p:grpSpPr>
              <p:pic>
                <p:nvPicPr>
                  <p:cNvPr id="10259" name="Picture 6" descr="qc"/>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40" y="4"/>
                    <a:ext cx="1500" cy="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0" name="Picture 7" descr="qc"/>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600" y="4"/>
                    <a:ext cx="1500" cy="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1" name="Picture 8" descr="qc"/>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500" cy="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252" name="Line 9"/>
                <p:cNvSpPr>
                  <a:spLocks noChangeShapeType="1"/>
                </p:cNvSpPr>
                <p:nvPr/>
              </p:nvSpPr>
              <p:spPr bwMode="auto">
                <a:xfrm flipV="1">
                  <a:off x="720" y="1560"/>
                  <a:ext cx="37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950"/>
                </a:p>
              </p:txBody>
            </p:sp>
            <p:sp>
              <p:nvSpPr>
                <p:cNvPr id="10253" name="Line 10"/>
                <p:cNvSpPr>
                  <a:spLocks noChangeShapeType="1"/>
                </p:cNvSpPr>
                <p:nvPr/>
              </p:nvSpPr>
              <p:spPr bwMode="auto">
                <a:xfrm>
                  <a:off x="720" y="1560"/>
                  <a:ext cx="0" cy="468"/>
                </a:xfrm>
                <a:prstGeom prst="line">
                  <a:avLst/>
                </a:prstGeom>
                <a:noFill/>
                <a:ln w="9525">
                  <a:solidFill>
                    <a:srgbClr val="000000"/>
                  </a:solidFill>
                  <a:round/>
                  <a:tailEnd type="triangle" w="sm" len="sm"/>
                </a:ln>
                <a:extLst>
                  <a:ext uri="{909E8E84-426E-40DD-AFC4-6F175D3DCCD1}">
                    <a14:hiddenFill xmlns:a14="http://schemas.microsoft.com/office/drawing/2010/main">
                      <a:noFill/>
                    </a14:hiddenFill>
                  </a:ext>
                </a:extLst>
              </p:spPr>
              <p:txBody>
                <a:bodyPr/>
                <a:lstStyle/>
                <a:p>
                  <a:endParaRPr lang="zh-CN" altLang="en-US" sz="1950"/>
                </a:p>
              </p:txBody>
            </p:sp>
            <p:sp>
              <p:nvSpPr>
                <p:cNvPr id="10254" name="Line 11"/>
                <p:cNvSpPr>
                  <a:spLocks noChangeShapeType="1"/>
                </p:cNvSpPr>
                <p:nvPr/>
              </p:nvSpPr>
              <p:spPr bwMode="auto">
                <a:xfrm>
                  <a:off x="2595" y="1248"/>
                  <a:ext cx="0" cy="780"/>
                </a:xfrm>
                <a:prstGeom prst="line">
                  <a:avLst/>
                </a:prstGeom>
                <a:noFill/>
                <a:ln w="9525">
                  <a:solidFill>
                    <a:srgbClr val="000000"/>
                  </a:solidFill>
                  <a:round/>
                  <a:tailEnd type="triangle" w="sm" len="sm"/>
                </a:ln>
                <a:extLst>
                  <a:ext uri="{909E8E84-426E-40DD-AFC4-6F175D3DCCD1}">
                    <a14:hiddenFill xmlns:a14="http://schemas.microsoft.com/office/drawing/2010/main">
                      <a:noFill/>
                    </a14:hiddenFill>
                  </a:ext>
                </a:extLst>
              </p:spPr>
              <p:txBody>
                <a:bodyPr/>
                <a:lstStyle/>
                <a:p>
                  <a:endParaRPr lang="zh-CN" altLang="en-US" sz="1950"/>
                </a:p>
              </p:txBody>
            </p:sp>
            <p:sp>
              <p:nvSpPr>
                <p:cNvPr id="10255" name="Line 12"/>
                <p:cNvSpPr>
                  <a:spLocks noChangeShapeType="1"/>
                </p:cNvSpPr>
                <p:nvPr/>
              </p:nvSpPr>
              <p:spPr bwMode="auto">
                <a:xfrm>
                  <a:off x="4500" y="1560"/>
                  <a:ext cx="0" cy="468"/>
                </a:xfrm>
                <a:prstGeom prst="line">
                  <a:avLst/>
                </a:prstGeom>
                <a:noFill/>
                <a:ln w="9525">
                  <a:solidFill>
                    <a:srgbClr val="000000"/>
                  </a:solidFill>
                  <a:round/>
                  <a:tailEnd type="triangle" w="sm" len="sm"/>
                </a:ln>
                <a:extLst>
                  <a:ext uri="{909E8E84-426E-40DD-AFC4-6F175D3DCCD1}">
                    <a14:hiddenFill xmlns:a14="http://schemas.microsoft.com/office/drawing/2010/main">
                      <a:noFill/>
                    </a14:hiddenFill>
                  </a:ext>
                </a:extLst>
              </p:spPr>
              <p:txBody>
                <a:bodyPr/>
                <a:lstStyle/>
                <a:p>
                  <a:endParaRPr lang="zh-CN" altLang="en-US" sz="1950"/>
                </a:p>
              </p:txBody>
            </p:sp>
            <p:grpSp>
              <p:nvGrpSpPr>
                <p:cNvPr id="10256" name="Group 15"/>
                <p:cNvGrpSpPr/>
                <p:nvPr/>
              </p:nvGrpSpPr>
              <p:grpSpPr bwMode="auto">
                <a:xfrm>
                  <a:off x="1605" y="0"/>
                  <a:ext cx="1980" cy="1404"/>
                  <a:chOff x="0" y="0"/>
                  <a:chExt cx="1980" cy="1404"/>
                </a:xfrm>
              </p:grpSpPr>
              <p:sp>
                <p:nvSpPr>
                  <p:cNvPr id="10257" name="Rectangle 14"/>
                  <p:cNvSpPr>
                    <a:spLocks noChangeArrowheads="1"/>
                  </p:cNvSpPr>
                  <p:nvPr/>
                </p:nvSpPr>
                <p:spPr bwMode="auto">
                  <a:xfrm>
                    <a:off x="0" y="0"/>
                    <a:ext cx="1980" cy="1404"/>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nSpc>
                        <a:spcPct val="130000"/>
                      </a:lnSpc>
                      <a:buFont typeface="Arial" panose="020B0604020202020204" pitchFamily="34" charset="0"/>
                      <a:buNone/>
                    </a:pPr>
                    <a:r>
                      <a:rPr lang="zh-CN" altLang="en-US" sz="1735"/>
                      <a:t>汽车设计图</a:t>
                    </a:r>
                    <a:endParaRPr lang="zh-CN" altLang="en-US" sz="1735"/>
                  </a:p>
                  <a:p>
                    <a:pPr algn="ctr">
                      <a:lnSpc>
                        <a:spcPct val="130000"/>
                      </a:lnSpc>
                      <a:buFont typeface="Arial" panose="020B0604020202020204" pitchFamily="34" charset="0"/>
                      <a:buNone/>
                    </a:pPr>
                    <a:endParaRPr lang="zh-CN" altLang="en-US" sz="1735"/>
                  </a:p>
                </p:txBody>
              </p:sp>
              <p:pic>
                <p:nvPicPr>
                  <p:cNvPr id="10258" name="Picture 15" descr="qc"/>
                  <p:cNvPicPr>
                    <a:picLocks noChangeAspect="1" noChangeArrowheads="1"/>
                  </p:cNvPicPr>
                  <p:nvPr/>
                </p:nvPicPr>
                <p:blipFill>
                  <a:blip r:embed="rId1">
                    <a:grayscl/>
                    <a:lum bright="40000" contrast="-52000"/>
                    <a:extLst>
                      <a:ext uri="{28A0092B-C50C-407E-A947-70E740481C1C}">
                        <a14:useLocalDpi xmlns:a14="http://schemas.microsoft.com/office/drawing/2010/main" val="0"/>
                      </a:ext>
                    </a:extLst>
                  </a:blip>
                  <a:srcRect/>
                  <a:stretch>
                    <a:fillRect/>
                  </a:stretch>
                </p:blipFill>
                <p:spPr bwMode="auto">
                  <a:xfrm>
                    <a:off x="255" y="354"/>
                    <a:ext cx="1500" cy="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10248" name="Rectangle 16"/>
              <p:cNvSpPr>
                <a:spLocks noChangeArrowheads="1"/>
              </p:cNvSpPr>
              <p:nvPr/>
            </p:nvSpPr>
            <p:spPr bwMode="auto">
              <a:xfrm>
                <a:off x="420" y="2712"/>
                <a:ext cx="72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ctr">
                  <a:lnSpc>
                    <a:spcPct val="130000"/>
                  </a:lnSpc>
                  <a:buFont typeface="Arial" panose="020B0604020202020204" pitchFamily="34" charset="0"/>
                  <a:buNone/>
                </a:pPr>
                <a:r>
                  <a:rPr lang="zh-CN" altLang="en-US" sz="1735"/>
                  <a:t>第</a:t>
                </a:r>
                <a:r>
                  <a:rPr lang="en-US" altLang="zh-CN" sz="1735"/>
                  <a:t>1</a:t>
                </a:r>
                <a:r>
                  <a:rPr lang="zh-CN" altLang="en-US" sz="1735"/>
                  <a:t>辆</a:t>
                </a:r>
                <a:endParaRPr lang="zh-CN" altLang="en-US" sz="1735"/>
              </a:p>
            </p:txBody>
          </p:sp>
          <p:sp>
            <p:nvSpPr>
              <p:cNvPr id="10249" name="Rectangle 17"/>
              <p:cNvSpPr>
                <a:spLocks noChangeArrowheads="1"/>
              </p:cNvSpPr>
              <p:nvPr/>
            </p:nvSpPr>
            <p:spPr bwMode="auto">
              <a:xfrm>
                <a:off x="2190" y="2712"/>
                <a:ext cx="72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ctr">
                  <a:lnSpc>
                    <a:spcPct val="130000"/>
                  </a:lnSpc>
                  <a:buFont typeface="Arial" panose="020B0604020202020204" pitchFamily="34" charset="0"/>
                  <a:buNone/>
                </a:pPr>
                <a:r>
                  <a:rPr lang="zh-CN" altLang="en-US" sz="1735"/>
                  <a:t>第</a:t>
                </a:r>
                <a:r>
                  <a:rPr lang="en-US" altLang="zh-CN" sz="1735"/>
                  <a:t>2</a:t>
                </a:r>
                <a:r>
                  <a:rPr lang="zh-CN" altLang="en-US" sz="1735"/>
                  <a:t>辆</a:t>
                </a:r>
                <a:endParaRPr lang="zh-CN" altLang="en-US" sz="1735"/>
              </a:p>
            </p:txBody>
          </p:sp>
          <p:sp>
            <p:nvSpPr>
              <p:cNvPr id="10250" name="Rectangle 18"/>
              <p:cNvSpPr>
                <a:spLocks noChangeArrowheads="1"/>
              </p:cNvSpPr>
              <p:nvPr/>
            </p:nvSpPr>
            <p:spPr bwMode="auto">
              <a:xfrm>
                <a:off x="4035" y="2697"/>
                <a:ext cx="72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ctr">
                  <a:lnSpc>
                    <a:spcPct val="130000"/>
                  </a:lnSpc>
                  <a:buFont typeface="Arial" panose="020B0604020202020204" pitchFamily="34" charset="0"/>
                  <a:buNone/>
                </a:pPr>
                <a:r>
                  <a:rPr lang="zh-CN" altLang="en-US" sz="1735"/>
                  <a:t>第</a:t>
                </a:r>
                <a:r>
                  <a:rPr lang="en-US" altLang="zh-CN" sz="1735"/>
                  <a:t>3</a:t>
                </a:r>
                <a:r>
                  <a:rPr lang="zh-CN" altLang="en-US" sz="1735"/>
                  <a:t>辆</a:t>
                </a:r>
                <a:endParaRPr lang="zh-CN" altLang="en-US" sz="1735"/>
              </a:p>
            </p:txBody>
          </p:sp>
        </p:grpSp>
        <p:sp>
          <p:nvSpPr>
            <p:cNvPr id="10246" name="Rectangle 19"/>
            <p:cNvSpPr>
              <a:spLocks noChangeArrowheads="1"/>
            </p:cNvSpPr>
            <p:nvPr/>
          </p:nvSpPr>
          <p:spPr bwMode="auto">
            <a:xfrm>
              <a:off x="975" y="3276"/>
              <a:ext cx="3135"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ctr">
                <a:lnSpc>
                  <a:spcPct val="130000"/>
                </a:lnSpc>
                <a:buFont typeface="Arial" panose="020B0604020202020204" pitchFamily="34" charset="0"/>
                <a:buNone/>
              </a:pPr>
              <a:r>
                <a:rPr lang="zh-CN" altLang="en-US" sz="1735"/>
                <a:t>汽车类与汽车的实例</a:t>
              </a:r>
              <a:endParaRPr lang="zh-CN" altLang="en-US" sz="1735"/>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idx="4294967295"/>
          </p:nvPr>
        </p:nvSpPr>
        <p:spPr>
          <a:xfrm>
            <a:off x="466265" y="317595"/>
            <a:ext cx="8147318" cy="914055"/>
          </a:xfrm>
        </p:spPr>
        <p:txBody>
          <a:bodyPr/>
          <a:lstStyle/>
          <a:p>
            <a:r>
              <a:rPr lang="en-US" altLang="zh-CN" dirty="0">
                <a:latin typeface="宋体" panose="02010600030101010101" pitchFamily="2" charset="-122"/>
                <a:ea typeface="宋体" panose="02010600030101010101" pitchFamily="2" charset="-122"/>
              </a:rPr>
              <a:t>3.2 </a:t>
            </a:r>
            <a:r>
              <a:rPr lang="zh-CN" altLang="en-US" dirty="0">
                <a:latin typeface="宋体" panose="02010600030101010101" pitchFamily="2" charset="-122"/>
                <a:ea typeface="宋体" panose="02010600030101010101" pitchFamily="2" charset="-122"/>
              </a:rPr>
              <a:t>类与对象</a:t>
            </a:r>
            <a:endParaRPr lang="zh-CN" altLang="en-US" dirty="0">
              <a:latin typeface="宋体" panose="02010600030101010101" pitchFamily="2" charset="-122"/>
              <a:ea typeface="宋体" panose="02010600030101010101" pitchFamily="2" charset="-122"/>
            </a:endParaRPr>
          </a:p>
        </p:txBody>
      </p:sp>
      <p:sp>
        <p:nvSpPr>
          <p:cNvPr id="11267" name="内容占位符 2"/>
          <p:cNvSpPr>
            <a:spLocks noGrp="1"/>
          </p:cNvSpPr>
          <p:nvPr>
            <p:ph idx="4294967295"/>
          </p:nvPr>
        </p:nvSpPr>
        <p:spPr>
          <a:xfrm>
            <a:off x="610643" y="1447613"/>
            <a:ext cx="11228431" cy="4683890"/>
          </a:xfrm>
        </p:spPr>
        <p:txBody>
          <a:bodyPr/>
          <a:lstStyle/>
          <a:p>
            <a:pPr marL="0" indent="353060">
              <a:buNone/>
            </a:pPr>
            <a:r>
              <a:rPr lang="zh-CN" altLang="en-US" sz="2820" b="1" dirty="0">
                <a:latin typeface="宋体" panose="02010600030101010101" pitchFamily="2" charset="-122"/>
                <a:ea typeface="宋体" panose="02010600030101010101" pitchFamily="2" charset="-122"/>
              </a:rPr>
              <a:t>  </a:t>
            </a:r>
            <a:r>
              <a:rPr lang="zh-CN" altLang="en-US" sz="2820" b="1" dirty="0">
                <a:solidFill>
                  <a:schemeClr val="accent1"/>
                </a:solidFill>
                <a:latin typeface="宋体" panose="02010600030101010101" pitchFamily="2" charset="-122"/>
                <a:ea typeface="宋体" panose="02010600030101010101" pitchFamily="2" charset="-122"/>
              </a:rPr>
              <a:t>类是对具有共同属性和行为的一类事物的抽象描述</a:t>
            </a:r>
            <a:r>
              <a:rPr lang="zh-CN" altLang="en-US" sz="2820" b="1" dirty="0">
                <a:latin typeface="宋体" panose="02010600030101010101" pitchFamily="2" charset="-122"/>
                <a:ea typeface="宋体" panose="02010600030101010101" pitchFamily="2" charset="-122"/>
              </a:rPr>
              <a:t>，共同属性被描述为类中的数据成员，共同行为被描述为类中的成员方法。</a:t>
            </a:r>
            <a:endParaRPr lang="zh-CN" altLang="en-US" sz="2820" b="1" dirty="0">
              <a:latin typeface="宋体" panose="02010600030101010101" pitchFamily="2" charset="-122"/>
              <a:ea typeface="宋体" panose="02010600030101010101" pitchFamily="2" charset="-122"/>
            </a:endParaRPr>
          </a:p>
          <a:p>
            <a:pPr marL="0" indent="353060">
              <a:buNone/>
            </a:pPr>
            <a:r>
              <a:rPr lang="zh-CN" altLang="en-US" sz="2820" b="1" dirty="0">
                <a:latin typeface="宋体" panose="02010600030101010101" pitchFamily="2" charset="-122"/>
                <a:ea typeface="宋体" panose="02010600030101010101" pitchFamily="2" charset="-122"/>
              </a:rPr>
              <a:t>  </a:t>
            </a:r>
            <a:r>
              <a:rPr lang="zh-CN" altLang="en-US" sz="2820" b="1" dirty="0">
                <a:solidFill>
                  <a:schemeClr val="accent1"/>
                </a:solidFill>
                <a:latin typeface="宋体" panose="02010600030101010101" pitchFamily="2" charset="-122"/>
                <a:ea typeface="宋体" panose="02010600030101010101" pitchFamily="2" charset="-122"/>
              </a:rPr>
              <a:t>对象</a:t>
            </a:r>
            <a:r>
              <a:rPr lang="zh-CN" altLang="en-US" sz="2820" b="1" dirty="0">
                <a:latin typeface="宋体" panose="02010600030101010101" pitchFamily="2" charset="-122"/>
                <a:ea typeface="宋体" panose="02010600030101010101" pitchFamily="2" charset="-122"/>
              </a:rPr>
              <a:t>是系统中用来描述客观事物的一个实体，</a:t>
            </a:r>
            <a:r>
              <a:rPr lang="zh-CN" altLang="en-US" sz="2820" b="1" dirty="0">
                <a:solidFill>
                  <a:schemeClr val="accent1"/>
                </a:solidFill>
                <a:latin typeface="宋体" panose="02010600030101010101" pitchFamily="2" charset="-122"/>
                <a:ea typeface="宋体" panose="02010600030101010101" pitchFamily="2" charset="-122"/>
              </a:rPr>
              <a:t>是类的一个实例</a:t>
            </a:r>
            <a:r>
              <a:rPr lang="zh-CN" altLang="en-US" sz="2820" b="1" dirty="0">
                <a:latin typeface="宋体" panose="02010600030101010101" pitchFamily="2" charset="-122"/>
                <a:ea typeface="宋体" panose="02010600030101010101" pitchFamily="2" charset="-122"/>
              </a:rPr>
              <a:t>，它是构成系统的一个基本单位。一个对象由一组属性和对这组属性进行的操作组成的。</a:t>
            </a:r>
            <a:endParaRPr lang="zh-CN" altLang="en-US" sz="2820" b="1" dirty="0">
              <a:latin typeface="宋体" panose="02010600030101010101" pitchFamily="2" charset="-122"/>
              <a:ea typeface="宋体" panose="02010600030101010101" pitchFamily="2" charset="-122"/>
            </a:endParaRPr>
          </a:p>
          <a:p>
            <a:pPr marL="0" indent="353060">
              <a:buNone/>
            </a:pPr>
            <a:endParaRPr lang="zh-CN" altLang="en-US" sz="2820" b="1" dirty="0">
              <a:latin typeface="宋体" panose="02010600030101010101" pitchFamily="2" charset="-122"/>
              <a:ea typeface="宋体" panose="02010600030101010101" pitchFamily="2" charset="-122"/>
            </a:endParaRPr>
          </a:p>
        </p:txBody>
      </p:sp>
      <p:sp>
        <p:nvSpPr>
          <p:cNvPr id="11268"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15CBC5DE-3619-4415-B47D-8725D75CCC3A}"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idx="4294967295"/>
          </p:nvPr>
        </p:nvSpPr>
        <p:spPr>
          <a:xfrm>
            <a:off x="342908" y="612451"/>
            <a:ext cx="8147318" cy="750524"/>
          </a:xfrm>
        </p:spPr>
        <p:txBody>
          <a:bodyPr>
            <a:normAutofit/>
          </a:bodyPr>
          <a:lstStyle/>
          <a:p>
            <a:r>
              <a:rPr lang="en-US" altLang="zh-CN" sz="2800" dirty="0">
                <a:latin typeface="宋体" panose="02010600030101010101" pitchFamily="2" charset="-122"/>
                <a:ea typeface="宋体" panose="02010600030101010101" pitchFamily="2" charset="-122"/>
              </a:rPr>
              <a:t>1</a:t>
            </a:r>
            <a:r>
              <a:rPr lang="zh-CN" altLang="en-US" sz="2800" dirty="0">
                <a:latin typeface="宋体" panose="02010600030101010101" pitchFamily="2" charset="-122"/>
                <a:ea typeface="宋体" panose="02010600030101010101" pitchFamily="2" charset="-122"/>
              </a:rPr>
              <a:t>、类的声明</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类的声明格式</a:t>
            </a:r>
            <a:endParaRPr lang="zh-CN" altLang="en-US" sz="2800" dirty="0">
              <a:latin typeface="宋体" panose="02010600030101010101" pitchFamily="2" charset="-122"/>
              <a:ea typeface="宋体" panose="02010600030101010101" pitchFamily="2" charset="-122"/>
            </a:endParaRPr>
          </a:p>
        </p:txBody>
      </p:sp>
      <p:sp>
        <p:nvSpPr>
          <p:cNvPr id="12291" name="内容占位符 2"/>
          <p:cNvSpPr>
            <a:spLocks noGrp="1"/>
          </p:cNvSpPr>
          <p:nvPr>
            <p:ph idx="4294967295"/>
          </p:nvPr>
        </p:nvSpPr>
        <p:spPr>
          <a:xfrm>
            <a:off x="475890" y="1455377"/>
            <a:ext cx="10901564" cy="5229122"/>
          </a:xfrm>
        </p:spPr>
        <p:txBody>
          <a:bodyPr>
            <a:noAutofit/>
          </a:bodyPr>
          <a:lstStyle/>
          <a:p>
            <a:pPr marL="0" indent="353060">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类修饰符</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 class </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类名称</a:t>
            </a:r>
            <a:endParaRPr lang="zh-CN" altLang="en-US"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 [</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修饰符</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 </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数据类型 成员变量名称；</a:t>
            </a:r>
            <a:endParaRPr lang="zh-CN" altLang="en-US"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r>
              <a:rPr lang="zh-CN" altLang="en-US" sz="2800" b="1" dirty="0">
                <a:latin typeface="宋体" panose="02010600030101010101" pitchFamily="2" charset="-122"/>
                <a:ea typeface="宋体" panose="02010600030101010101" pitchFamily="2" charset="-122"/>
                <a:cs typeface="Times New Roman" panose="02020603050405020304" pitchFamily="18" charset="0"/>
              </a:rPr>
              <a:t>  </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  [</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修饰符</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 </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返回值的数据类型 方法名（参数</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1,</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参数</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2,……</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a:t>
            </a:r>
            <a:endParaRPr lang="zh-CN" altLang="en-US"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r>
              <a:rPr lang="zh-CN" altLang="en-US" sz="2800" b="1" dirty="0">
                <a:latin typeface="宋体" panose="02010600030101010101" pitchFamily="2" charset="-122"/>
                <a:ea typeface="宋体" panose="02010600030101010101" pitchFamily="2" charset="-122"/>
                <a:cs typeface="Times New Roman" panose="02020603050405020304" pitchFamily="18" charset="0"/>
              </a:rPr>
              <a:t>  </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  </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语句序列；</a:t>
            </a:r>
            <a:endParaRPr lang="zh-CN" altLang="en-US"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r>
              <a:rPr lang="zh-CN" altLang="en-US" sz="2800" b="1" dirty="0">
                <a:latin typeface="宋体" panose="02010600030101010101" pitchFamily="2" charset="-122"/>
                <a:ea typeface="宋体" panose="02010600030101010101" pitchFamily="2" charset="-122"/>
                <a:cs typeface="Times New Roman" panose="02020603050405020304" pitchFamily="18" charset="0"/>
              </a:rPr>
              <a:t>      </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return [</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表达式</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a:t>
            </a:r>
            <a:endParaRPr lang="zh-CN" altLang="en-US"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r>
              <a:rPr lang="zh-CN" altLang="en-US" sz="2800" b="1" dirty="0">
                <a:latin typeface="宋体" panose="02010600030101010101" pitchFamily="2" charset="-122"/>
                <a:ea typeface="宋体" panose="02010600030101010101" pitchFamily="2" charset="-122"/>
                <a:cs typeface="Times New Roman" panose="02020603050405020304" pitchFamily="18" charset="0"/>
              </a:rPr>
              <a:t>  </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12292"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E1FC41F0-BF75-41D0-9624-6958668015EB}"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244884" y="173502"/>
            <a:ext cx="8147318" cy="60643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3.2 </a:t>
            </a:r>
            <a:r>
              <a:rPr lang="zh-CN" altLang="en-US" dirty="0">
                <a:latin typeface="宋体" panose="02010600030101010101" pitchFamily="2" charset="-122"/>
                <a:ea typeface="宋体" panose="02010600030101010101" pitchFamily="2" charset="-122"/>
              </a:rPr>
              <a:t>类与对象</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13315" name="内容占位符 2"/>
          <p:cNvSpPr>
            <a:spLocks noGrp="1"/>
          </p:cNvSpPr>
          <p:nvPr>
            <p:ph idx="4294967295"/>
          </p:nvPr>
        </p:nvSpPr>
        <p:spPr>
          <a:xfrm>
            <a:off x="539016" y="1569555"/>
            <a:ext cx="10789920" cy="4675994"/>
          </a:xfrm>
        </p:spPr>
        <p:txBody>
          <a:bodyPr>
            <a:normAutofit/>
          </a:bodyPr>
          <a:lstStyle/>
          <a:p>
            <a:pPr marL="0" indent="353060">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class Person {</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	 String name;</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	 int age;</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	 public void tell() {</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		</a:t>
            </a:r>
            <a:r>
              <a:rPr lang="en-US" altLang="zh-CN" sz="2800" b="1" dirty="0" err="1">
                <a:latin typeface="宋体" panose="02010600030101010101" pitchFamily="2" charset="-122"/>
                <a:ea typeface="宋体" panose="02010600030101010101" pitchFamily="2" charset="-122"/>
                <a:cs typeface="Times New Roman" panose="02020603050405020304" pitchFamily="18" charset="0"/>
              </a:rPr>
              <a:t>System.out.println</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姓名：</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 + name + "</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，年龄：</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 + age);</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endParaRPr lang="zh-CN" altLang="en-US" sz="2800" b="1" dirty="0">
              <a:latin typeface="宋体" panose="02010600030101010101" pitchFamily="2" charset="-122"/>
              <a:ea typeface="宋体" panose="02010600030101010101" pitchFamily="2" charset="-122"/>
            </a:endParaRPr>
          </a:p>
        </p:txBody>
      </p:sp>
      <p:sp>
        <p:nvSpPr>
          <p:cNvPr id="13316"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A67010CA-251C-445B-915E-8832ED084E46}"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pic>
        <p:nvPicPr>
          <p:cNvPr id="13317"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r="78128"/>
          <a:stretch>
            <a:fillRect/>
          </a:stretch>
        </p:blipFill>
        <p:spPr bwMode="auto">
          <a:xfrm>
            <a:off x="9450981" y="2174831"/>
            <a:ext cx="1672283" cy="1191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标题 1"/>
          <p:cNvSpPr txBox="1"/>
          <p:nvPr/>
        </p:nvSpPr>
        <p:spPr>
          <a:xfrm>
            <a:off x="342908" y="612451"/>
            <a:ext cx="8147318" cy="75052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dirty="0">
                <a:latin typeface="宋体" panose="02010600030101010101" pitchFamily="2" charset="-122"/>
                <a:ea typeface="宋体" panose="02010600030101010101" pitchFamily="2" charset="-122"/>
              </a:rPr>
              <a:t>1</a:t>
            </a:r>
            <a:r>
              <a:rPr lang="zh-CN" altLang="en-US" sz="2800" dirty="0">
                <a:latin typeface="宋体" panose="02010600030101010101" pitchFamily="2" charset="-122"/>
                <a:ea typeface="宋体" panose="02010600030101010101" pitchFamily="2" charset="-122"/>
              </a:rPr>
              <a:t>、类的声明</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类的声明格式</a:t>
            </a:r>
            <a:endParaRPr lang="zh-CN" altLang="en-US" sz="2800" dirty="0">
              <a:latin typeface="宋体" panose="02010600030101010101" pitchFamily="2" charset="-122"/>
              <a:ea typeface="宋体" panose="02010600030101010101" pitchFamily="2" charset="-122"/>
            </a:endParaRPr>
          </a:p>
        </p:txBody>
      </p:sp>
      <p:sp>
        <p:nvSpPr>
          <p:cNvPr id="7" name="标题 1"/>
          <p:cNvSpPr txBox="1"/>
          <p:nvPr/>
        </p:nvSpPr>
        <p:spPr>
          <a:xfrm>
            <a:off x="244884" y="173502"/>
            <a:ext cx="8147318" cy="60643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3.2 </a:t>
            </a:r>
            <a:r>
              <a:rPr lang="zh-CN" altLang="en-US" dirty="0">
                <a:latin typeface="宋体" panose="02010600030101010101" pitchFamily="2" charset="-122"/>
                <a:ea typeface="宋体" panose="02010600030101010101" pitchFamily="2" charset="-122"/>
              </a:rPr>
              <a:t>类与对象</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graphicFrame>
        <p:nvGraphicFramePr>
          <p:cNvPr id="16387" name="Group 3"/>
          <p:cNvGraphicFramePr>
            <a:graphicFrameLocks noGrp="1"/>
          </p:cNvGraphicFramePr>
          <p:nvPr>
            <p:ph idx="4294967295"/>
          </p:nvPr>
        </p:nvGraphicFramePr>
        <p:xfrm>
          <a:off x="1303663" y="1657690"/>
          <a:ext cx="9212855" cy="4215675"/>
        </p:xfrm>
        <a:graphic>
          <a:graphicData uri="http://schemas.openxmlformats.org/drawingml/2006/table">
            <a:tbl>
              <a:tblPr/>
              <a:tblGrid>
                <a:gridCol w="1170542"/>
                <a:gridCol w="8042313"/>
              </a:tblGrid>
              <a:tr h="841758">
                <a:tc>
                  <a:txBody>
                    <a:bodyPr/>
                    <a:lstStyle/>
                    <a:p>
                      <a:pPr marL="0" marR="0" lvl="0" indent="171450" algn="just" defTabSz="866775" rtl="0" eaLnBrk="1" fontAlgn="base" latinLnBrk="0" hangingPunct="1">
                        <a:lnSpc>
                          <a:spcPct val="120000"/>
                        </a:lnSpc>
                        <a:spcBef>
                          <a:spcPct val="0"/>
                        </a:spcBef>
                        <a:spcAft>
                          <a:spcPct val="0"/>
                        </a:spcAft>
                        <a:buClrTx/>
                        <a:buSzTx/>
                        <a:buFontTx/>
                        <a:buNone/>
                      </a:pPr>
                      <a:r>
                        <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修饰符</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86" marR="6886"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AE7"/>
                    </a:solidFill>
                  </a:tcPr>
                </a:tc>
                <a:tc>
                  <a:txBody>
                    <a:bodyPr/>
                    <a:lstStyle/>
                    <a:p>
                      <a:pPr marL="0" marR="0" lvl="0" indent="171450" algn="just" defTabSz="866775" rtl="0" eaLnBrk="1" fontAlgn="base" latinLnBrk="0" hangingPunct="1">
                        <a:lnSpc>
                          <a:spcPct val="120000"/>
                        </a:lnSpc>
                        <a:spcBef>
                          <a:spcPct val="0"/>
                        </a:spcBef>
                        <a:spcAft>
                          <a:spcPct val="0"/>
                        </a:spcAft>
                        <a:buClrTx/>
                        <a:buSzTx/>
                        <a:buFontTx/>
                        <a:buNone/>
                      </a:pPr>
                      <a:r>
                        <a:rPr kumimoji="0" lang="en-US" sz="22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2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含</a:t>
                      </a:r>
                      <a:r>
                        <a:rPr kumimoji="0" lang="en-US" sz="22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2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义</a:t>
                      </a:r>
                      <a:endParaRPr kumimoji="0" lang="zh-CN" altLang="en-US" sz="22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86" marR="6886"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AE7"/>
                    </a:solidFill>
                  </a:tcPr>
                </a:tc>
              </a:tr>
              <a:tr h="845201">
                <a:tc>
                  <a:txBody>
                    <a:bodyPr/>
                    <a:lstStyle/>
                    <a:p>
                      <a:pPr marL="0" marR="0" lvl="0" indent="171450" algn="just" defTabSz="866775" rtl="0" eaLnBrk="1" fontAlgn="base" latinLnBrk="0" hangingPunct="1">
                        <a:lnSpc>
                          <a:spcPct val="120000"/>
                        </a:lnSpc>
                        <a:spcBef>
                          <a:spcPct val="0"/>
                        </a:spcBef>
                        <a:spcAft>
                          <a:spcPct val="0"/>
                        </a:spcAft>
                        <a:buClrTx/>
                        <a:buSzTx/>
                        <a:buFontTx/>
                        <a:buNone/>
                      </a:pPr>
                      <a:r>
                        <a:rPr kumimoji="0" 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public</a:t>
                      </a:r>
                      <a:endParaRPr kumimoji="0" 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86" marR="6886"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AE7"/>
                    </a:solidFill>
                  </a:tcPr>
                </a:tc>
                <a:tc>
                  <a:txBody>
                    <a:bodyPr/>
                    <a:lstStyle/>
                    <a:p>
                      <a:pPr marL="0" marR="0" lvl="0" indent="171450" algn="just" defTabSz="866775" rtl="0" eaLnBrk="1" fontAlgn="base" latinLnBrk="0" hangingPunct="1">
                        <a:lnSpc>
                          <a:spcPct val="120000"/>
                        </a:lnSpc>
                        <a:spcBef>
                          <a:spcPct val="0"/>
                        </a:spcBef>
                        <a:spcAft>
                          <a:spcPct val="0"/>
                        </a:spcAft>
                        <a:buClrTx/>
                        <a:buSzTx/>
                        <a:buFontTx/>
                        <a:buNone/>
                      </a:pPr>
                      <a:r>
                        <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将一个类声明为公共类，它可以被任何对象访问，一个程序的主类必须是公共类。</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86" marR="6886"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AE7"/>
                    </a:solidFill>
                  </a:tcPr>
                </a:tc>
              </a:tr>
              <a:tr h="843479">
                <a:tc>
                  <a:txBody>
                    <a:bodyPr/>
                    <a:lstStyle/>
                    <a:p>
                      <a:pPr marL="0" marR="0" lvl="0" indent="171450" algn="just" defTabSz="866775" rtl="0" eaLnBrk="1" fontAlgn="base" latinLnBrk="0" hangingPunct="1">
                        <a:lnSpc>
                          <a:spcPct val="120000"/>
                        </a:lnSpc>
                        <a:spcBef>
                          <a:spcPct val="0"/>
                        </a:spcBef>
                        <a:spcAft>
                          <a:spcPct val="0"/>
                        </a:spcAft>
                        <a:buClrTx/>
                        <a:buSzTx/>
                        <a:buFontTx/>
                        <a:buNone/>
                      </a:pPr>
                      <a:r>
                        <a:rPr kumimoji="0" 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abstract</a:t>
                      </a:r>
                      <a:endParaRPr kumimoji="0" 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86" marR="6886"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AE7"/>
                    </a:solidFill>
                  </a:tcPr>
                </a:tc>
                <a:tc>
                  <a:txBody>
                    <a:bodyPr/>
                    <a:lstStyle/>
                    <a:p>
                      <a:pPr marL="0" marR="0" lvl="0" indent="171450" algn="just" defTabSz="866775" rtl="0" eaLnBrk="1" fontAlgn="base" latinLnBrk="0" hangingPunct="1">
                        <a:lnSpc>
                          <a:spcPct val="120000"/>
                        </a:lnSpc>
                        <a:spcBef>
                          <a:spcPct val="0"/>
                        </a:spcBef>
                        <a:spcAft>
                          <a:spcPct val="0"/>
                        </a:spcAft>
                        <a:buClrTx/>
                        <a:buSzTx/>
                        <a:buFontTx/>
                        <a:buNone/>
                      </a:pPr>
                      <a:r>
                        <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将一个类声明为抽象类，没有实现的方法，需要子类提供方法的实现。</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86" marR="6886"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AE7"/>
                    </a:solidFill>
                  </a:tcPr>
                </a:tc>
              </a:tr>
              <a:tr h="843479">
                <a:tc>
                  <a:txBody>
                    <a:bodyPr/>
                    <a:lstStyle/>
                    <a:p>
                      <a:pPr marL="0" marR="0" lvl="0" indent="171450" algn="just" defTabSz="866775" rtl="0" eaLnBrk="1" fontAlgn="base" latinLnBrk="0" hangingPunct="1">
                        <a:lnSpc>
                          <a:spcPct val="120000"/>
                        </a:lnSpc>
                        <a:spcBef>
                          <a:spcPct val="0"/>
                        </a:spcBef>
                        <a:spcAft>
                          <a:spcPct val="0"/>
                        </a:spcAft>
                        <a:buClrTx/>
                        <a:buSzTx/>
                        <a:buFontTx/>
                        <a:buNone/>
                      </a:pPr>
                      <a:r>
                        <a:rPr kumimoji="0" 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final</a:t>
                      </a:r>
                      <a:endParaRPr kumimoji="0" 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86" marR="6886"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AE7"/>
                    </a:solidFill>
                  </a:tcPr>
                </a:tc>
                <a:tc>
                  <a:txBody>
                    <a:bodyPr/>
                    <a:lstStyle/>
                    <a:p>
                      <a:pPr marL="0" marR="0" lvl="0" indent="171450" algn="just" defTabSz="866775" rtl="0" eaLnBrk="1" fontAlgn="base" latinLnBrk="0" hangingPunct="1">
                        <a:lnSpc>
                          <a:spcPct val="120000"/>
                        </a:lnSpc>
                        <a:spcBef>
                          <a:spcPct val="0"/>
                        </a:spcBef>
                        <a:spcAft>
                          <a:spcPct val="0"/>
                        </a:spcAft>
                        <a:buClrTx/>
                        <a:buSzTx/>
                        <a:buFontTx/>
                        <a:buNone/>
                      </a:pPr>
                      <a:r>
                        <a:rPr kumimoji="0" lang="zh-CN" altLang="en-US" sz="22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将一个类声明为最终类即非继承类，表示它不能被其他类所继承。</a:t>
                      </a:r>
                      <a:endParaRPr kumimoji="0" lang="zh-CN" altLang="en-US" sz="22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86" marR="6886"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AE7"/>
                    </a:solidFill>
                  </a:tcPr>
                </a:tc>
              </a:tr>
              <a:tr h="841758">
                <a:tc>
                  <a:txBody>
                    <a:bodyPr/>
                    <a:lstStyle/>
                    <a:p>
                      <a:pPr marL="0" marR="0" lvl="0" indent="171450" algn="just" defTabSz="866775" rtl="0" eaLnBrk="1" fontAlgn="base" latinLnBrk="0" hangingPunct="1">
                        <a:lnSpc>
                          <a:spcPct val="120000"/>
                        </a:lnSpc>
                        <a:spcBef>
                          <a:spcPct val="0"/>
                        </a:spcBef>
                        <a:spcAft>
                          <a:spcPct val="0"/>
                        </a:spcAft>
                        <a:buClrTx/>
                        <a:buSzTx/>
                        <a:buFontTx/>
                        <a:buNone/>
                      </a:pPr>
                      <a:r>
                        <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缺省</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86" marR="6886"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AE7"/>
                    </a:solidFill>
                  </a:tcPr>
                </a:tc>
                <a:tc>
                  <a:txBody>
                    <a:bodyPr/>
                    <a:lstStyle/>
                    <a:p>
                      <a:pPr marL="0" marR="0" lvl="0" indent="171450" algn="just" defTabSz="866775" rtl="0" eaLnBrk="1" fontAlgn="base" latinLnBrk="0" hangingPunct="1">
                        <a:lnSpc>
                          <a:spcPct val="120000"/>
                        </a:lnSpc>
                        <a:spcBef>
                          <a:spcPct val="0"/>
                        </a:spcBef>
                        <a:spcAft>
                          <a:spcPct val="0"/>
                        </a:spcAft>
                        <a:buClrTx/>
                        <a:buSzTx/>
                        <a:buFontTx/>
                        <a:buNone/>
                      </a:pPr>
                      <a:r>
                        <a:rPr kumimoji="0" lang="zh-CN" altLang="en-US" sz="22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默认的修饰符，只有在相同包中的对象才能使用这样的类。</a:t>
                      </a:r>
                      <a:endParaRPr kumimoji="0" lang="zh-CN" altLang="en-US" sz="22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86" marR="6886"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AE7"/>
                    </a:solidFill>
                  </a:tcPr>
                </a:tc>
              </a:tr>
            </a:tbl>
          </a:graphicData>
        </a:graphic>
      </p:graphicFrame>
      <p:sp>
        <p:nvSpPr>
          <p:cNvPr id="14359"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8A7EE2B4-0132-4E4A-A813-44A4A61A722F}"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6" name="标题 1"/>
          <p:cNvSpPr txBox="1"/>
          <p:nvPr/>
        </p:nvSpPr>
        <p:spPr>
          <a:xfrm>
            <a:off x="342908" y="612451"/>
            <a:ext cx="8147318" cy="75052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dirty="0">
                <a:latin typeface="宋体" panose="02010600030101010101" pitchFamily="2" charset="-122"/>
                <a:ea typeface="宋体" panose="02010600030101010101" pitchFamily="2" charset="-122"/>
              </a:rPr>
              <a:t>1</a:t>
            </a:r>
            <a:r>
              <a:rPr lang="zh-CN" altLang="en-US" sz="2800" dirty="0">
                <a:latin typeface="宋体" panose="02010600030101010101" pitchFamily="2" charset="-122"/>
                <a:ea typeface="宋体" panose="02010600030101010101" pitchFamily="2" charset="-122"/>
              </a:rPr>
              <a:t>、类的声明</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类修饰符</a:t>
            </a:r>
            <a:endParaRPr lang="zh-CN" altLang="en-US" sz="2800" dirty="0">
              <a:latin typeface="宋体" panose="02010600030101010101" pitchFamily="2" charset="-122"/>
              <a:ea typeface="宋体" panose="02010600030101010101" pitchFamily="2" charset="-122"/>
            </a:endParaRPr>
          </a:p>
        </p:txBody>
      </p:sp>
      <p:sp>
        <p:nvSpPr>
          <p:cNvPr id="7" name="标题 1"/>
          <p:cNvSpPr txBox="1"/>
          <p:nvPr/>
        </p:nvSpPr>
        <p:spPr>
          <a:xfrm>
            <a:off x="244884" y="173502"/>
            <a:ext cx="8147318" cy="60643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3.2 </a:t>
            </a:r>
            <a:r>
              <a:rPr lang="zh-CN" altLang="en-US" dirty="0">
                <a:latin typeface="宋体" panose="02010600030101010101" pitchFamily="2" charset="-122"/>
                <a:ea typeface="宋体" panose="02010600030101010101" pitchFamily="2" charset="-122"/>
              </a:rPr>
              <a:t>类与对象</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内容占位符 2"/>
          <p:cNvSpPr>
            <a:spLocks noGrp="1"/>
          </p:cNvSpPr>
          <p:nvPr>
            <p:ph idx="4294967295"/>
          </p:nvPr>
        </p:nvSpPr>
        <p:spPr>
          <a:xfrm>
            <a:off x="803150" y="1490720"/>
            <a:ext cx="11266930" cy="4515444"/>
          </a:xfrm>
        </p:spPr>
        <p:txBody>
          <a:bodyPr>
            <a:normAutofit/>
          </a:bodyPr>
          <a:lstStyle/>
          <a:p>
            <a:pPr marL="0" indent="353060">
              <a:buNone/>
            </a:pPr>
            <a:r>
              <a:rPr lang="zh-CN" altLang="en-US" sz="2800" b="1" dirty="0">
                <a:latin typeface="宋体" panose="02010600030101010101" pitchFamily="2" charset="-122"/>
                <a:ea typeface="宋体" panose="02010600030101010101" pitchFamily="2" charset="-122"/>
              </a:rPr>
              <a:t>成员变量定义的一般形式为：</a:t>
            </a:r>
            <a:endParaRPr lang="zh-CN" altLang="en-US" sz="2800" b="1" dirty="0">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          </a:t>
            </a:r>
            <a:r>
              <a:rPr lang="en-US" altLang="zh-CN" sz="2800" b="1" dirty="0">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变量修饰符</a:t>
            </a:r>
            <a:r>
              <a:rPr lang="en-US" altLang="zh-CN" sz="2800" b="1" dirty="0">
                <a:latin typeface="宋体" panose="02010600030101010101" pitchFamily="2" charset="-122"/>
                <a:ea typeface="宋体" panose="02010600030101010101" pitchFamily="2" charset="-122"/>
              </a:rPr>
              <a:t>] &lt;</a:t>
            </a:r>
            <a:r>
              <a:rPr lang="zh-CN" altLang="en-US" sz="2800" b="1" dirty="0">
                <a:latin typeface="宋体" panose="02010600030101010101" pitchFamily="2" charset="-122"/>
                <a:ea typeface="宋体" panose="02010600030101010101" pitchFamily="2" charset="-122"/>
              </a:rPr>
              <a:t>变量类型</a:t>
            </a:r>
            <a:r>
              <a:rPr lang="en-US" altLang="zh-CN" sz="2800" b="1" dirty="0">
                <a:latin typeface="宋体" panose="02010600030101010101" pitchFamily="2" charset="-122"/>
                <a:ea typeface="宋体" panose="02010600030101010101" pitchFamily="2" charset="-122"/>
              </a:rPr>
              <a:t>&gt; &lt;</a:t>
            </a:r>
            <a:r>
              <a:rPr lang="zh-CN" altLang="en-US" sz="2800" b="1" dirty="0">
                <a:latin typeface="宋体" panose="02010600030101010101" pitchFamily="2" charset="-122"/>
                <a:ea typeface="宋体" panose="02010600030101010101" pitchFamily="2" charset="-122"/>
              </a:rPr>
              <a:t>变量名</a:t>
            </a:r>
            <a:r>
              <a:rPr lang="en-US" altLang="zh-CN" sz="2800" b="1" dirty="0">
                <a:latin typeface="宋体" panose="02010600030101010101" pitchFamily="2" charset="-122"/>
                <a:ea typeface="宋体" panose="02010600030101010101" pitchFamily="2" charset="-122"/>
              </a:rPr>
              <a:t>&gt;</a:t>
            </a:r>
            <a:endParaRPr lang="en-US" altLang="zh-CN" sz="2800" b="1" dirty="0">
              <a:latin typeface="宋体" panose="02010600030101010101" pitchFamily="2" charset="-122"/>
              <a:ea typeface="宋体" panose="02010600030101010101" pitchFamily="2" charset="-122"/>
            </a:endParaRPr>
          </a:p>
          <a:p>
            <a:pPr>
              <a:buFont typeface="Wingdings" panose="05000000000000000000" pitchFamily="2" charset="2"/>
              <a:buChar char="u"/>
            </a:pPr>
            <a:r>
              <a:rPr lang="zh-CN" altLang="en-US" sz="2800" b="1" dirty="0">
                <a:latin typeface="宋体" panose="02010600030101010101" pitchFamily="2" charset="-122"/>
                <a:ea typeface="宋体" panose="02010600030101010101" pitchFamily="2" charset="-122"/>
              </a:rPr>
              <a:t>变量名是</a:t>
            </a:r>
            <a:r>
              <a:rPr lang="en-US" altLang="zh-CN" sz="2800" b="1" dirty="0">
                <a:latin typeface="宋体" panose="02010600030101010101" pitchFamily="2" charset="-122"/>
                <a:ea typeface="宋体" panose="02010600030101010101" pitchFamily="2" charset="-122"/>
              </a:rPr>
              <a:t>Java</a:t>
            </a:r>
            <a:r>
              <a:rPr lang="zh-CN" altLang="en-US" sz="2800" b="1" dirty="0">
                <a:latin typeface="宋体" panose="02010600030101010101" pitchFamily="2" charset="-122"/>
                <a:ea typeface="宋体" panose="02010600030101010101" pitchFamily="2" charset="-122"/>
              </a:rPr>
              <a:t>语言合法的标识符；</a:t>
            </a:r>
            <a:endParaRPr lang="en-US" altLang="zh-CN" sz="2800" b="1" dirty="0">
              <a:latin typeface="宋体" panose="02010600030101010101" pitchFamily="2" charset="-122"/>
              <a:ea typeface="宋体" panose="02010600030101010101" pitchFamily="2" charset="-122"/>
            </a:endParaRPr>
          </a:p>
          <a:p>
            <a:pPr>
              <a:buFont typeface="Wingdings" panose="05000000000000000000" pitchFamily="2" charset="2"/>
              <a:buChar char="u"/>
            </a:pPr>
            <a:r>
              <a:rPr lang="zh-CN" altLang="en-US" sz="2800" b="1" dirty="0">
                <a:latin typeface="宋体" panose="02010600030101010101" pitchFamily="2" charset="-122"/>
                <a:ea typeface="宋体" panose="02010600030101010101" pitchFamily="2" charset="-122"/>
              </a:rPr>
              <a:t>变量的类型可以是符合</a:t>
            </a:r>
            <a:r>
              <a:rPr lang="en-US" altLang="zh-CN" sz="2800" b="1" dirty="0">
                <a:latin typeface="宋体" panose="02010600030101010101" pitchFamily="2" charset="-122"/>
                <a:ea typeface="宋体" panose="02010600030101010101" pitchFamily="2" charset="-122"/>
              </a:rPr>
              <a:t>Java</a:t>
            </a:r>
            <a:r>
              <a:rPr lang="zh-CN" altLang="en-US" sz="2800" b="1" dirty="0">
                <a:latin typeface="宋体" panose="02010600030101010101" pitchFamily="2" charset="-122"/>
                <a:ea typeface="宋体" panose="02010600030101010101" pitchFamily="2" charset="-122"/>
              </a:rPr>
              <a:t>语法的任意数据类型；</a:t>
            </a:r>
            <a:endParaRPr lang="en-US" altLang="zh-CN" sz="2800" b="1" dirty="0">
              <a:latin typeface="宋体" panose="02010600030101010101" pitchFamily="2" charset="-122"/>
              <a:ea typeface="宋体" panose="02010600030101010101" pitchFamily="2" charset="-122"/>
            </a:endParaRPr>
          </a:p>
          <a:p>
            <a:pPr>
              <a:buFont typeface="Wingdings" panose="05000000000000000000" pitchFamily="2" charset="2"/>
              <a:buChar char="u"/>
            </a:pPr>
            <a:r>
              <a:rPr lang="zh-CN" altLang="en-US" sz="2800" b="1" dirty="0">
                <a:latin typeface="宋体" panose="02010600030101010101" pitchFamily="2" charset="-122"/>
                <a:ea typeface="宋体" panose="02010600030101010101" pitchFamily="2" charset="-122"/>
              </a:rPr>
              <a:t>变量修饰符包含了用于说明变量的访问权限、类变量及常量的修饰符。</a:t>
            </a:r>
            <a:endParaRPr lang="zh-CN" altLang="en-US" sz="2800" b="1" dirty="0">
              <a:latin typeface="宋体" panose="02010600030101010101" pitchFamily="2" charset="-122"/>
              <a:ea typeface="宋体" panose="02010600030101010101" pitchFamily="2" charset="-122"/>
            </a:endParaRPr>
          </a:p>
        </p:txBody>
      </p:sp>
      <p:sp>
        <p:nvSpPr>
          <p:cNvPr id="15363"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AC2EAF2D-2FDC-4143-B67C-BF8B40E7E0CC}"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4" name="标题 1"/>
          <p:cNvSpPr txBox="1"/>
          <p:nvPr/>
        </p:nvSpPr>
        <p:spPr>
          <a:xfrm>
            <a:off x="342908" y="612451"/>
            <a:ext cx="8147318" cy="75052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dirty="0">
                <a:latin typeface="宋体" panose="02010600030101010101" pitchFamily="2" charset="-122"/>
                <a:ea typeface="宋体" panose="02010600030101010101" pitchFamily="2" charset="-122"/>
              </a:rPr>
              <a:t>1</a:t>
            </a:r>
            <a:r>
              <a:rPr lang="zh-CN" altLang="en-US" sz="2800" dirty="0">
                <a:latin typeface="宋体" panose="02010600030101010101" pitchFamily="2" charset="-122"/>
                <a:ea typeface="宋体" panose="02010600030101010101" pitchFamily="2" charset="-122"/>
              </a:rPr>
              <a:t>、类的声明</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成员变量和成员方法</a:t>
            </a:r>
            <a:endParaRPr lang="zh-CN" altLang="en-US" sz="2800" dirty="0">
              <a:latin typeface="宋体" panose="02010600030101010101" pitchFamily="2" charset="-122"/>
              <a:ea typeface="宋体" panose="02010600030101010101" pitchFamily="2" charset="-122"/>
            </a:endParaRPr>
          </a:p>
        </p:txBody>
      </p:sp>
      <p:sp>
        <p:nvSpPr>
          <p:cNvPr id="5" name="标题 1"/>
          <p:cNvSpPr txBox="1"/>
          <p:nvPr/>
        </p:nvSpPr>
        <p:spPr>
          <a:xfrm>
            <a:off x="244884" y="173502"/>
            <a:ext cx="8147318" cy="60643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3.2 </a:t>
            </a:r>
            <a:r>
              <a:rPr lang="zh-CN" altLang="en-US" dirty="0">
                <a:latin typeface="宋体" panose="02010600030101010101" pitchFamily="2" charset="-122"/>
                <a:ea typeface="宋体" panose="02010600030101010101" pitchFamily="2" charset="-122"/>
              </a:rPr>
              <a:t>类与对象</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16388"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852A88D5-A544-47F8-AC80-C7F82F8CC6F0}"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graphicFrame>
        <p:nvGraphicFramePr>
          <p:cNvPr id="18437" name="Group 5"/>
          <p:cNvGraphicFramePr>
            <a:graphicFrameLocks noGrp="1"/>
          </p:cNvGraphicFramePr>
          <p:nvPr/>
        </p:nvGraphicFramePr>
        <p:xfrm>
          <a:off x="1162774" y="1657690"/>
          <a:ext cx="8978747" cy="5019560"/>
        </p:xfrm>
        <a:graphic>
          <a:graphicData uri="http://schemas.openxmlformats.org/drawingml/2006/table">
            <a:tbl>
              <a:tblPr/>
              <a:tblGrid>
                <a:gridCol w="1859096"/>
                <a:gridCol w="7119651"/>
              </a:tblGrid>
              <a:tr h="416611">
                <a:tc>
                  <a:txBody>
                    <a:bodyPr/>
                    <a:lstStyle/>
                    <a:p>
                      <a:pPr marL="0" marR="0" lvl="0" indent="0" algn="just" defTabSz="866775" rtl="0" eaLnBrk="1" fontAlgn="base" latinLnBrk="0" hangingPunct="1">
                        <a:lnSpc>
                          <a:spcPct val="120000"/>
                        </a:lnSpc>
                        <a:spcBef>
                          <a:spcPct val="0"/>
                        </a:spcBef>
                        <a:spcAft>
                          <a:spcPct val="0"/>
                        </a:spcAft>
                        <a:buClrTx/>
                        <a:buSzTx/>
                        <a:buFontTx/>
                        <a:buNone/>
                      </a:pPr>
                      <a:r>
                        <a:rPr kumimoji="0" lang="zh-CN" altLang="en-US" sz="1700" b="1" i="0" u="none" strike="noStrike" cap="none" normalizeH="0" baseline="0">
                          <a:ln>
                            <a:noFill/>
                          </a:ln>
                          <a:solidFill>
                            <a:srgbClr val="000000"/>
                          </a:solidFill>
                          <a:effectLst/>
                          <a:latin typeface="Tahoma" panose="020B0604030504040204" pitchFamily="34" charset="0"/>
                          <a:ea typeface="宋体" panose="02010600030101010101" pitchFamily="2" charset="-122"/>
                        </a:rPr>
                        <a:t>修饰符</a:t>
                      </a:r>
                      <a:endParaRPr kumimoji="0" lang="zh-CN" altLang="en-US" sz="1700" b="1" i="0" u="none" strike="noStrike" cap="none" normalizeH="0" baseline="0">
                        <a:ln>
                          <a:noFill/>
                        </a:ln>
                        <a:solidFill>
                          <a:srgbClr val="000000"/>
                        </a:solidFill>
                        <a:effectLst/>
                        <a:latin typeface="Tahoma" panose="020B0604030504040204" pitchFamily="34" charset="0"/>
                        <a:ea typeface="宋体" panose="02010600030101010101" pitchFamily="2" charset="-122"/>
                        <a:cs typeface="Times New Roman" panose="02020603050405020304" pitchFamily="18" charset="0"/>
                      </a:endParaRPr>
                    </a:p>
                  </a:txBody>
                  <a:tcPr marL="99145" marR="99145" marT="49588" marB="495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AE7"/>
                    </a:solidFill>
                  </a:tcPr>
                </a:tc>
                <a:tc>
                  <a:txBody>
                    <a:bodyPr/>
                    <a:lstStyle/>
                    <a:p>
                      <a:pPr marL="0" marR="0" lvl="0" indent="1606550" algn="just" defTabSz="866775" rtl="0" eaLnBrk="1" fontAlgn="base" latinLnBrk="0" hangingPunct="1">
                        <a:lnSpc>
                          <a:spcPct val="120000"/>
                        </a:lnSpc>
                        <a:spcBef>
                          <a:spcPct val="0"/>
                        </a:spcBef>
                        <a:spcAft>
                          <a:spcPct val="0"/>
                        </a:spcAft>
                        <a:buClrTx/>
                        <a:buSzTx/>
                        <a:buFontTx/>
                        <a:buNone/>
                      </a:pPr>
                      <a:r>
                        <a:rPr kumimoji="0" lang="zh-CN" altLang="en-US" sz="1700" b="1" i="0" u="none" strike="noStrike" cap="none" normalizeH="0" baseline="0">
                          <a:ln>
                            <a:noFill/>
                          </a:ln>
                          <a:solidFill>
                            <a:srgbClr val="000000"/>
                          </a:solidFill>
                          <a:effectLst/>
                          <a:latin typeface="Tahoma" panose="020B0604030504040204" pitchFamily="34" charset="0"/>
                          <a:ea typeface="宋体" panose="02010600030101010101" pitchFamily="2" charset="-122"/>
                        </a:rPr>
                        <a:t>含</a:t>
                      </a:r>
                      <a:r>
                        <a:rPr kumimoji="0" lang="en-US" sz="1700" b="1" i="0" u="none" strike="noStrike" cap="none" normalizeH="0" baseline="0">
                          <a:ln>
                            <a:noFill/>
                          </a:ln>
                          <a:solidFill>
                            <a:srgbClr val="000000"/>
                          </a:solidFill>
                          <a:effectLst/>
                          <a:latin typeface="Tahoma" panose="020B0604030504040204" pitchFamily="34" charset="0"/>
                          <a:ea typeface="宋体" panose="02010600030101010101" pitchFamily="2" charset="-122"/>
                        </a:rPr>
                        <a:t>     </a:t>
                      </a:r>
                      <a:r>
                        <a:rPr kumimoji="0" lang="zh-CN" altLang="en-US" sz="1700" b="1" i="0" u="none" strike="noStrike" cap="none" normalizeH="0" baseline="0">
                          <a:ln>
                            <a:noFill/>
                          </a:ln>
                          <a:solidFill>
                            <a:srgbClr val="000000"/>
                          </a:solidFill>
                          <a:effectLst/>
                          <a:latin typeface="Tahoma" panose="020B0604030504040204" pitchFamily="34" charset="0"/>
                          <a:ea typeface="宋体" panose="02010600030101010101" pitchFamily="2" charset="-122"/>
                        </a:rPr>
                        <a:t>义</a:t>
                      </a:r>
                      <a:endParaRPr kumimoji="0" lang="zh-CN" altLang="en-US" sz="1700" b="1" i="0" u="none" strike="noStrike" cap="none" normalizeH="0" baseline="0">
                        <a:ln>
                          <a:noFill/>
                        </a:ln>
                        <a:solidFill>
                          <a:srgbClr val="000000"/>
                        </a:solidFill>
                        <a:effectLst/>
                        <a:latin typeface="Tahoma" panose="020B0604030504040204" pitchFamily="34" charset="0"/>
                        <a:ea typeface="宋体" panose="02010600030101010101" pitchFamily="2" charset="-122"/>
                        <a:cs typeface="Times New Roman" panose="02020603050405020304" pitchFamily="18" charset="0"/>
                      </a:endParaRPr>
                    </a:p>
                  </a:txBody>
                  <a:tcPr marL="99145" marR="99145" marT="49588" marB="495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AE7"/>
                    </a:solidFill>
                  </a:tcPr>
                </a:tc>
              </a:tr>
              <a:tr h="416611">
                <a:tc>
                  <a:txBody>
                    <a:bodyPr/>
                    <a:lstStyle/>
                    <a:p>
                      <a:pPr marL="0" marR="0" lvl="0" indent="0" algn="just" defTabSz="866775" rtl="0" eaLnBrk="1" fontAlgn="base" latinLnBrk="0" hangingPunct="1">
                        <a:lnSpc>
                          <a:spcPct val="120000"/>
                        </a:lnSpc>
                        <a:spcBef>
                          <a:spcPct val="0"/>
                        </a:spcBef>
                        <a:spcAft>
                          <a:spcPct val="0"/>
                        </a:spcAft>
                        <a:buClrTx/>
                        <a:buSzTx/>
                        <a:buFontTx/>
                        <a:buNone/>
                      </a:pPr>
                      <a:r>
                        <a:rPr kumimoji="0" lang="en-US" sz="1700" b="1" i="0" u="none" strike="noStrike" cap="none" normalizeH="0" baseline="0">
                          <a:ln>
                            <a:noFill/>
                          </a:ln>
                          <a:solidFill>
                            <a:srgbClr val="000000"/>
                          </a:solidFill>
                          <a:effectLst/>
                          <a:latin typeface="Tahoma" panose="020B0604030504040204" pitchFamily="34" charset="0"/>
                          <a:ea typeface="宋体" panose="02010600030101010101" pitchFamily="2" charset="-122"/>
                        </a:rPr>
                        <a:t>public</a:t>
                      </a:r>
                      <a:endParaRPr kumimoji="0" lang="en-US" sz="1700" b="1" i="0" u="none" strike="noStrike" cap="none" normalizeH="0" baseline="0">
                        <a:ln>
                          <a:noFill/>
                        </a:ln>
                        <a:solidFill>
                          <a:srgbClr val="000000"/>
                        </a:solidFill>
                        <a:effectLst/>
                        <a:latin typeface="Tahoma" panose="020B0604030504040204" pitchFamily="34" charset="0"/>
                        <a:ea typeface="宋体" panose="02010600030101010101" pitchFamily="2" charset="-122"/>
                        <a:cs typeface="Times New Roman" panose="02020603050405020304" pitchFamily="18" charset="0"/>
                      </a:endParaRPr>
                    </a:p>
                  </a:txBody>
                  <a:tcPr marL="99145" marR="99145" marT="49588" marB="495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AE7"/>
                    </a:solidFill>
                  </a:tcPr>
                </a:tc>
                <a:tc>
                  <a:txBody>
                    <a:bodyPr/>
                    <a:lstStyle/>
                    <a:p>
                      <a:pPr marL="0" marR="0" lvl="0" indent="0" algn="just" defTabSz="866775" rtl="0" eaLnBrk="1" fontAlgn="base" latinLnBrk="0" hangingPunct="1">
                        <a:lnSpc>
                          <a:spcPct val="120000"/>
                        </a:lnSpc>
                        <a:spcBef>
                          <a:spcPct val="0"/>
                        </a:spcBef>
                        <a:spcAft>
                          <a:spcPct val="0"/>
                        </a:spcAft>
                        <a:buClrTx/>
                        <a:buSzTx/>
                        <a:buFontTx/>
                        <a:buNone/>
                      </a:pPr>
                      <a:r>
                        <a:rPr kumimoji="0" lang="zh-CN" altLang="en-US" sz="1700" b="1" i="0" u="none" strike="noStrike" cap="none" normalizeH="0" baseline="0">
                          <a:ln>
                            <a:noFill/>
                          </a:ln>
                          <a:solidFill>
                            <a:srgbClr val="000000"/>
                          </a:solidFill>
                          <a:effectLst/>
                          <a:latin typeface="Tahoma" panose="020B0604030504040204" pitchFamily="34" charset="0"/>
                          <a:ea typeface="宋体" panose="02010600030101010101" pitchFamily="2" charset="-122"/>
                        </a:rPr>
                        <a:t>公共访问控制符。指定该变量为公共的，它可以被任何对象的方法访问。</a:t>
                      </a:r>
                      <a:endParaRPr kumimoji="0" lang="zh-CN" altLang="en-US" sz="1700" b="1" i="0" u="none" strike="noStrike" cap="none" normalizeH="0" baseline="0">
                        <a:ln>
                          <a:noFill/>
                        </a:ln>
                        <a:solidFill>
                          <a:srgbClr val="000000"/>
                        </a:solidFill>
                        <a:effectLst/>
                        <a:latin typeface="Tahoma" panose="020B0604030504040204" pitchFamily="34" charset="0"/>
                        <a:ea typeface="宋体" panose="02010600030101010101" pitchFamily="2" charset="-122"/>
                        <a:cs typeface="Times New Roman" panose="02020603050405020304" pitchFamily="18" charset="0"/>
                      </a:endParaRPr>
                    </a:p>
                  </a:txBody>
                  <a:tcPr marL="99145" marR="99145" marT="49588" marB="495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AE7"/>
                    </a:solidFill>
                  </a:tcPr>
                </a:tc>
              </a:tr>
              <a:tr h="733803">
                <a:tc>
                  <a:txBody>
                    <a:bodyPr/>
                    <a:lstStyle/>
                    <a:p>
                      <a:pPr marL="0" marR="0" lvl="0" indent="0" algn="just" defTabSz="866775" rtl="0" eaLnBrk="1" fontAlgn="base" latinLnBrk="0" hangingPunct="1">
                        <a:lnSpc>
                          <a:spcPct val="120000"/>
                        </a:lnSpc>
                        <a:spcBef>
                          <a:spcPct val="0"/>
                        </a:spcBef>
                        <a:spcAft>
                          <a:spcPct val="0"/>
                        </a:spcAft>
                        <a:buClrTx/>
                        <a:buSzTx/>
                        <a:buFontTx/>
                        <a:buNone/>
                      </a:pPr>
                      <a:r>
                        <a:rPr kumimoji="0" lang="en-US" sz="1700" b="1" i="0" u="none" strike="noStrike" cap="none" normalizeH="0" baseline="0">
                          <a:ln>
                            <a:noFill/>
                          </a:ln>
                          <a:solidFill>
                            <a:srgbClr val="000000"/>
                          </a:solidFill>
                          <a:effectLst/>
                          <a:latin typeface="Tahoma" panose="020B0604030504040204" pitchFamily="34" charset="0"/>
                          <a:ea typeface="宋体" panose="02010600030101010101" pitchFamily="2" charset="-122"/>
                        </a:rPr>
                        <a:t>private</a:t>
                      </a:r>
                      <a:endParaRPr kumimoji="0" lang="en-US" sz="1700" b="1" i="0" u="none" strike="noStrike" cap="none" normalizeH="0" baseline="0">
                        <a:ln>
                          <a:noFill/>
                        </a:ln>
                        <a:solidFill>
                          <a:srgbClr val="000000"/>
                        </a:solidFill>
                        <a:effectLst/>
                        <a:latin typeface="Tahoma" panose="020B0604030504040204" pitchFamily="34" charset="0"/>
                        <a:ea typeface="宋体" panose="02010600030101010101" pitchFamily="2" charset="-122"/>
                        <a:cs typeface="Times New Roman" panose="02020603050405020304" pitchFamily="18" charset="0"/>
                      </a:endParaRPr>
                    </a:p>
                  </a:txBody>
                  <a:tcPr marL="99145" marR="99145" marT="49588" marB="495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AE7"/>
                    </a:solidFill>
                  </a:tcPr>
                </a:tc>
                <a:tc>
                  <a:txBody>
                    <a:bodyPr/>
                    <a:lstStyle/>
                    <a:p>
                      <a:pPr marL="0" marR="0" lvl="0" indent="0" algn="just" defTabSz="866775" rtl="0" eaLnBrk="1" fontAlgn="base" latinLnBrk="0" hangingPunct="1">
                        <a:lnSpc>
                          <a:spcPct val="120000"/>
                        </a:lnSpc>
                        <a:spcBef>
                          <a:spcPct val="0"/>
                        </a:spcBef>
                        <a:spcAft>
                          <a:spcPct val="0"/>
                        </a:spcAft>
                        <a:buClrTx/>
                        <a:buSzTx/>
                        <a:buFontTx/>
                        <a:buNone/>
                      </a:pPr>
                      <a:r>
                        <a:rPr kumimoji="0" lang="zh-CN" altLang="en-US" sz="1700" b="1" i="0" u="none" strike="noStrike" cap="none" normalizeH="0" baseline="0">
                          <a:ln>
                            <a:noFill/>
                          </a:ln>
                          <a:solidFill>
                            <a:srgbClr val="000000"/>
                          </a:solidFill>
                          <a:effectLst/>
                          <a:latin typeface="Tahoma" panose="020B0604030504040204" pitchFamily="34" charset="0"/>
                          <a:ea typeface="宋体" panose="02010600030101010101" pitchFamily="2" charset="-122"/>
                        </a:rPr>
                        <a:t>私有访问控制符。指定该变量只允许自己类的方法访问，其他任何类（包括子类）中的方法均不能访问此变量。</a:t>
                      </a:r>
                      <a:endParaRPr kumimoji="0" lang="zh-CN" altLang="en-US" sz="1700" b="1" i="0" u="none" strike="noStrike" cap="none" normalizeH="0" baseline="0">
                        <a:ln>
                          <a:noFill/>
                        </a:ln>
                        <a:solidFill>
                          <a:srgbClr val="000000"/>
                        </a:solidFill>
                        <a:effectLst/>
                        <a:latin typeface="Tahoma" panose="020B0604030504040204" pitchFamily="34" charset="0"/>
                        <a:ea typeface="宋体" panose="02010600030101010101" pitchFamily="2" charset="-122"/>
                        <a:cs typeface="Times New Roman" panose="02020603050405020304" pitchFamily="18" charset="0"/>
                      </a:endParaRPr>
                    </a:p>
                  </a:txBody>
                  <a:tcPr marL="99145" marR="99145" marT="49588" marB="495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AE7"/>
                    </a:solidFill>
                  </a:tcPr>
                </a:tc>
              </a:tr>
              <a:tr h="735096">
                <a:tc>
                  <a:txBody>
                    <a:bodyPr/>
                    <a:lstStyle/>
                    <a:p>
                      <a:pPr marL="0" marR="0" lvl="0" indent="0" algn="just" defTabSz="866775" rtl="0" eaLnBrk="1" fontAlgn="base" latinLnBrk="0" hangingPunct="1">
                        <a:lnSpc>
                          <a:spcPct val="120000"/>
                        </a:lnSpc>
                        <a:spcBef>
                          <a:spcPct val="0"/>
                        </a:spcBef>
                        <a:spcAft>
                          <a:spcPct val="0"/>
                        </a:spcAft>
                        <a:buClrTx/>
                        <a:buSzTx/>
                        <a:buFontTx/>
                        <a:buNone/>
                      </a:pPr>
                      <a:r>
                        <a:rPr kumimoji="0" lang="en-US" sz="1700" b="1" i="0" u="none" strike="noStrike" cap="none" normalizeH="0" baseline="0">
                          <a:ln>
                            <a:noFill/>
                          </a:ln>
                          <a:solidFill>
                            <a:srgbClr val="000000"/>
                          </a:solidFill>
                          <a:effectLst/>
                          <a:latin typeface="Tahoma" panose="020B0604030504040204" pitchFamily="34" charset="0"/>
                          <a:ea typeface="宋体" panose="02010600030101010101" pitchFamily="2" charset="-122"/>
                        </a:rPr>
                        <a:t>protected</a:t>
                      </a:r>
                      <a:endParaRPr kumimoji="0" lang="en-US" sz="1700" b="1" i="0" u="none" strike="noStrike" cap="none" normalizeH="0" baseline="0">
                        <a:ln>
                          <a:noFill/>
                        </a:ln>
                        <a:solidFill>
                          <a:srgbClr val="000000"/>
                        </a:solidFill>
                        <a:effectLst/>
                        <a:latin typeface="Tahoma" panose="020B0604030504040204" pitchFamily="34" charset="0"/>
                        <a:ea typeface="宋体" panose="02010600030101010101" pitchFamily="2" charset="-122"/>
                        <a:cs typeface="Times New Roman" panose="02020603050405020304" pitchFamily="18" charset="0"/>
                      </a:endParaRPr>
                    </a:p>
                  </a:txBody>
                  <a:tcPr marL="99145" marR="99145" marT="49588" marB="495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AE7"/>
                    </a:solidFill>
                  </a:tcPr>
                </a:tc>
                <a:tc>
                  <a:txBody>
                    <a:bodyPr/>
                    <a:lstStyle/>
                    <a:p>
                      <a:pPr marL="0" marR="0" lvl="0" indent="0" algn="just" defTabSz="866775" rtl="0" eaLnBrk="1" fontAlgn="base" latinLnBrk="0" hangingPunct="1">
                        <a:lnSpc>
                          <a:spcPct val="120000"/>
                        </a:lnSpc>
                        <a:spcBef>
                          <a:spcPct val="0"/>
                        </a:spcBef>
                        <a:spcAft>
                          <a:spcPct val="0"/>
                        </a:spcAft>
                        <a:buClrTx/>
                        <a:buSzTx/>
                        <a:buFontTx/>
                        <a:buNone/>
                      </a:pPr>
                      <a:r>
                        <a:rPr kumimoji="0" lang="zh-CN" altLang="en-US" sz="1700" b="1" i="0" u="none" strike="noStrike" cap="none" normalizeH="0" baseline="0">
                          <a:ln>
                            <a:noFill/>
                          </a:ln>
                          <a:solidFill>
                            <a:srgbClr val="000000"/>
                          </a:solidFill>
                          <a:effectLst/>
                          <a:latin typeface="Tahoma" panose="020B0604030504040204" pitchFamily="34" charset="0"/>
                          <a:ea typeface="宋体" panose="02010600030101010101" pitchFamily="2" charset="-122"/>
                        </a:rPr>
                        <a:t>保护访问控制符。指定该变量可以被它自己的类及其子类访问，在子类中可以覆盖此变量。</a:t>
                      </a:r>
                      <a:endParaRPr kumimoji="0" lang="zh-CN" altLang="en-US" sz="1700" b="1" i="0" u="none" strike="noStrike" cap="none" normalizeH="0" baseline="0">
                        <a:ln>
                          <a:noFill/>
                        </a:ln>
                        <a:solidFill>
                          <a:srgbClr val="000000"/>
                        </a:solidFill>
                        <a:effectLst/>
                        <a:latin typeface="Tahoma" panose="020B0604030504040204" pitchFamily="34" charset="0"/>
                        <a:ea typeface="宋体" panose="02010600030101010101" pitchFamily="2" charset="-122"/>
                        <a:cs typeface="Times New Roman" panose="02020603050405020304" pitchFamily="18" charset="0"/>
                      </a:endParaRPr>
                    </a:p>
                  </a:txBody>
                  <a:tcPr marL="99145" marR="99145" marT="49588" marB="495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AE7"/>
                    </a:solidFill>
                  </a:tcPr>
                </a:tc>
              </a:tr>
              <a:tr h="733803">
                <a:tc>
                  <a:txBody>
                    <a:bodyPr/>
                    <a:lstStyle/>
                    <a:p>
                      <a:pPr marL="0" marR="0" lvl="0" indent="0" algn="just" defTabSz="866775" rtl="0" eaLnBrk="1" fontAlgn="base" latinLnBrk="0" hangingPunct="1">
                        <a:lnSpc>
                          <a:spcPct val="120000"/>
                        </a:lnSpc>
                        <a:spcBef>
                          <a:spcPct val="0"/>
                        </a:spcBef>
                        <a:spcAft>
                          <a:spcPct val="0"/>
                        </a:spcAft>
                        <a:buClrTx/>
                        <a:buSzTx/>
                        <a:buFontTx/>
                        <a:buNone/>
                      </a:pPr>
                      <a:r>
                        <a:rPr kumimoji="0" lang="zh-CN" altLang="en-US" sz="1700" b="1" i="0" u="none" strike="noStrike" cap="none" normalizeH="0" baseline="0">
                          <a:ln>
                            <a:noFill/>
                          </a:ln>
                          <a:solidFill>
                            <a:srgbClr val="000000"/>
                          </a:solidFill>
                          <a:effectLst/>
                          <a:latin typeface="Tahoma" panose="020B0604030504040204" pitchFamily="34" charset="0"/>
                          <a:ea typeface="宋体" panose="02010600030101010101" pitchFamily="2" charset="-122"/>
                        </a:rPr>
                        <a:t>缺 省</a:t>
                      </a:r>
                      <a:endParaRPr kumimoji="0" lang="zh-CN" altLang="en-US" sz="1700" b="1" i="0" u="none" strike="noStrike" cap="none" normalizeH="0" baseline="0">
                        <a:ln>
                          <a:noFill/>
                        </a:ln>
                        <a:solidFill>
                          <a:srgbClr val="000000"/>
                        </a:solidFill>
                        <a:effectLst/>
                        <a:latin typeface="Tahoma" panose="020B0604030504040204" pitchFamily="34" charset="0"/>
                        <a:ea typeface="宋体" panose="02010600030101010101" pitchFamily="2" charset="-122"/>
                        <a:cs typeface="Times New Roman" panose="02020603050405020304" pitchFamily="18" charset="0"/>
                      </a:endParaRPr>
                    </a:p>
                  </a:txBody>
                  <a:tcPr marL="99145" marR="99145" marT="49588" marB="495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AE7"/>
                    </a:solidFill>
                  </a:tcPr>
                </a:tc>
                <a:tc>
                  <a:txBody>
                    <a:bodyPr/>
                    <a:lstStyle/>
                    <a:p>
                      <a:pPr marL="0" marR="0" lvl="0" indent="0" algn="just" defTabSz="866775" rtl="0" eaLnBrk="1" fontAlgn="base" latinLnBrk="0" hangingPunct="1">
                        <a:lnSpc>
                          <a:spcPct val="120000"/>
                        </a:lnSpc>
                        <a:spcBef>
                          <a:spcPct val="0"/>
                        </a:spcBef>
                        <a:spcAft>
                          <a:spcPct val="0"/>
                        </a:spcAft>
                        <a:buClrTx/>
                        <a:buSzTx/>
                        <a:buFontTx/>
                        <a:buNone/>
                      </a:pPr>
                      <a:r>
                        <a:rPr kumimoji="0" lang="zh-CN" altLang="en-US" sz="1700" b="1" i="0" u="none" strike="noStrike" cap="none" normalizeH="0" baseline="0">
                          <a:ln>
                            <a:noFill/>
                          </a:ln>
                          <a:solidFill>
                            <a:srgbClr val="000000"/>
                          </a:solidFill>
                          <a:effectLst/>
                          <a:latin typeface="Tahoma" panose="020B0604030504040204" pitchFamily="34" charset="0"/>
                          <a:ea typeface="宋体" panose="02010600030101010101" pitchFamily="2" charset="-122"/>
                        </a:rPr>
                        <a:t>缺省控制符，在同一个包中的其他类可以访问此变量，而其他包中的类不能访问该变量。</a:t>
                      </a:r>
                      <a:endParaRPr kumimoji="0" lang="zh-CN" altLang="en-US" sz="1700" b="1" i="0" u="none" strike="noStrike" cap="none" normalizeH="0" baseline="0">
                        <a:ln>
                          <a:noFill/>
                        </a:ln>
                        <a:solidFill>
                          <a:srgbClr val="000000"/>
                        </a:solidFill>
                        <a:effectLst/>
                        <a:latin typeface="Tahoma" panose="020B0604030504040204" pitchFamily="34" charset="0"/>
                        <a:ea typeface="宋体" panose="02010600030101010101" pitchFamily="2" charset="-122"/>
                        <a:cs typeface="Times New Roman" panose="02020603050405020304" pitchFamily="18" charset="0"/>
                      </a:endParaRPr>
                    </a:p>
                  </a:txBody>
                  <a:tcPr marL="99145" marR="99145" marT="49588" marB="495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AE7"/>
                    </a:solidFill>
                  </a:tcPr>
                </a:tc>
              </a:tr>
              <a:tr h="416611">
                <a:tc>
                  <a:txBody>
                    <a:bodyPr/>
                    <a:lstStyle/>
                    <a:p>
                      <a:pPr marL="0" marR="0" lvl="0" indent="0" algn="just" defTabSz="866775" rtl="0" eaLnBrk="1" fontAlgn="base" latinLnBrk="0" hangingPunct="1">
                        <a:lnSpc>
                          <a:spcPct val="120000"/>
                        </a:lnSpc>
                        <a:spcBef>
                          <a:spcPct val="0"/>
                        </a:spcBef>
                        <a:spcAft>
                          <a:spcPct val="0"/>
                        </a:spcAft>
                        <a:buClrTx/>
                        <a:buSzTx/>
                        <a:buFontTx/>
                        <a:buNone/>
                      </a:pPr>
                      <a:r>
                        <a:rPr kumimoji="0" lang="en-US" sz="1700" b="1" i="0" u="none" strike="noStrike" cap="none" normalizeH="0" baseline="0">
                          <a:ln>
                            <a:noFill/>
                          </a:ln>
                          <a:solidFill>
                            <a:srgbClr val="000000"/>
                          </a:solidFill>
                          <a:effectLst/>
                          <a:latin typeface="Tahoma" panose="020B0604030504040204" pitchFamily="34" charset="0"/>
                          <a:ea typeface="宋体" panose="02010600030101010101" pitchFamily="2" charset="-122"/>
                        </a:rPr>
                        <a:t>final</a:t>
                      </a:r>
                      <a:endParaRPr kumimoji="0" lang="en-US" sz="1700" b="1" i="0" u="none" strike="noStrike" cap="none" normalizeH="0" baseline="0">
                        <a:ln>
                          <a:noFill/>
                        </a:ln>
                        <a:solidFill>
                          <a:srgbClr val="000000"/>
                        </a:solidFill>
                        <a:effectLst/>
                        <a:latin typeface="Tahoma" panose="020B0604030504040204" pitchFamily="34" charset="0"/>
                        <a:ea typeface="宋体" panose="02010600030101010101" pitchFamily="2" charset="-122"/>
                        <a:cs typeface="Times New Roman" panose="02020603050405020304" pitchFamily="18" charset="0"/>
                      </a:endParaRPr>
                    </a:p>
                  </a:txBody>
                  <a:tcPr marL="99145" marR="99145" marT="49588" marB="495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AE7"/>
                    </a:solidFill>
                  </a:tcPr>
                </a:tc>
                <a:tc>
                  <a:txBody>
                    <a:bodyPr/>
                    <a:lstStyle/>
                    <a:p>
                      <a:pPr marL="0" marR="0" lvl="0" indent="0" algn="just" defTabSz="866775" rtl="0" eaLnBrk="1" fontAlgn="base" latinLnBrk="0" hangingPunct="1">
                        <a:lnSpc>
                          <a:spcPct val="120000"/>
                        </a:lnSpc>
                        <a:spcBef>
                          <a:spcPct val="0"/>
                        </a:spcBef>
                        <a:spcAft>
                          <a:spcPct val="0"/>
                        </a:spcAft>
                        <a:buClrTx/>
                        <a:buSzTx/>
                        <a:buFontTx/>
                        <a:buNone/>
                      </a:pPr>
                      <a:r>
                        <a:rPr kumimoji="0" lang="zh-CN" altLang="en-US" sz="1700" b="1" i="0" u="none" strike="noStrike" cap="none" normalizeH="0" baseline="0">
                          <a:ln>
                            <a:noFill/>
                          </a:ln>
                          <a:solidFill>
                            <a:srgbClr val="000000"/>
                          </a:solidFill>
                          <a:effectLst/>
                          <a:latin typeface="Tahoma" panose="020B0604030504040204" pitchFamily="34" charset="0"/>
                          <a:ea typeface="宋体" panose="02010600030101010101" pitchFamily="2" charset="-122"/>
                        </a:rPr>
                        <a:t>最终修饰符。指定此变量的值不能改变。</a:t>
                      </a:r>
                      <a:endParaRPr kumimoji="0" lang="zh-CN" altLang="en-US" sz="1700" b="1" i="0" u="none" strike="noStrike" cap="none" normalizeH="0" baseline="0">
                        <a:ln>
                          <a:noFill/>
                        </a:ln>
                        <a:solidFill>
                          <a:srgbClr val="000000"/>
                        </a:solidFill>
                        <a:effectLst/>
                        <a:latin typeface="Tahoma" panose="020B0604030504040204" pitchFamily="34" charset="0"/>
                        <a:ea typeface="宋体" panose="02010600030101010101" pitchFamily="2" charset="-122"/>
                        <a:cs typeface="Times New Roman" panose="02020603050405020304" pitchFamily="18" charset="0"/>
                      </a:endParaRPr>
                    </a:p>
                  </a:txBody>
                  <a:tcPr marL="99145" marR="99145" marT="49588" marB="495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AE7"/>
                    </a:solidFill>
                  </a:tcPr>
                </a:tc>
              </a:tr>
              <a:tr h="733803">
                <a:tc>
                  <a:txBody>
                    <a:bodyPr/>
                    <a:lstStyle/>
                    <a:p>
                      <a:pPr marL="0" marR="0" lvl="0" indent="0" algn="just" defTabSz="866775" rtl="0" eaLnBrk="1" fontAlgn="base" latinLnBrk="0" hangingPunct="1">
                        <a:lnSpc>
                          <a:spcPct val="120000"/>
                        </a:lnSpc>
                        <a:spcBef>
                          <a:spcPct val="0"/>
                        </a:spcBef>
                        <a:spcAft>
                          <a:spcPct val="0"/>
                        </a:spcAft>
                        <a:buClrTx/>
                        <a:buSzTx/>
                        <a:buFontTx/>
                        <a:buNone/>
                      </a:pPr>
                      <a:r>
                        <a:rPr kumimoji="0" lang="en-US" sz="1700" b="1" i="0" u="none" strike="noStrike" cap="none" normalizeH="0" baseline="0">
                          <a:ln>
                            <a:noFill/>
                          </a:ln>
                          <a:solidFill>
                            <a:srgbClr val="000000"/>
                          </a:solidFill>
                          <a:effectLst/>
                          <a:latin typeface="Tahoma" panose="020B0604030504040204" pitchFamily="34" charset="0"/>
                          <a:ea typeface="宋体" panose="02010600030101010101" pitchFamily="2" charset="-122"/>
                        </a:rPr>
                        <a:t>static</a:t>
                      </a:r>
                      <a:endParaRPr kumimoji="0" lang="en-US" sz="1700" b="1" i="0" u="none" strike="noStrike" cap="none" normalizeH="0" baseline="0">
                        <a:ln>
                          <a:noFill/>
                        </a:ln>
                        <a:solidFill>
                          <a:srgbClr val="000000"/>
                        </a:solidFill>
                        <a:effectLst/>
                        <a:latin typeface="Tahoma" panose="020B0604030504040204" pitchFamily="34" charset="0"/>
                        <a:ea typeface="宋体" panose="02010600030101010101" pitchFamily="2" charset="-122"/>
                        <a:cs typeface="Times New Roman" panose="02020603050405020304" pitchFamily="18" charset="0"/>
                      </a:endParaRPr>
                    </a:p>
                  </a:txBody>
                  <a:tcPr marL="99145" marR="99145" marT="49588" marB="495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AE7"/>
                    </a:solidFill>
                  </a:tcPr>
                </a:tc>
                <a:tc>
                  <a:txBody>
                    <a:bodyPr/>
                    <a:lstStyle/>
                    <a:p>
                      <a:pPr marL="0" marR="0" lvl="0" indent="0" algn="just" defTabSz="866775" rtl="0" eaLnBrk="1" fontAlgn="base" latinLnBrk="0" hangingPunct="1">
                        <a:lnSpc>
                          <a:spcPct val="120000"/>
                        </a:lnSpc>
                        <a:spcBef>
                          <a:spcPct val="0"/>
                        </a:spcBef>
                        <a:spcAft>
                          <a:spcPct val="0"/>
                        </a:spcAft>
                        <a:buClrTx/>
                        <a:buSzTx/>
                        <a:buFontTx/>
                        <a:buNone/>
                      </a:pPr>
                      <a:r>
                        <a:rPr kumimoji="0" lang="zh-CN" altLang="en-US" sz="1700" b="1" i="0" u="none" strike="noStrike" cap="none" normalizeH="0" baseline="0">
                          <a:ln>
                            <a:noFill/>
                          </a:ln>
                          <a:solidFill>
                            <a:srgbClr val="000000"/>
                          </a:solidFill>
                          <a:effectLst/>
                          <a:latin typeface="Tahoma" panose="020B0604030504040204" pitchFamily="34" charset="0"/>
                          <a:ea typeface="宋体" panose="02010600030101010101" pitchFamily="2" charset="-122"/>
                        </a:rPr>
                        <a:t>静态修饰符。指定该变量被所有对象共享，即所有的实例都可使用该变量。</a:t>
                      </a:r>
                      <a:endParaRPr kumimoji="0" lang="zh-CN" altLang="en-US" sz="1700" b="1" i="0" u="none" strike="noStrike" cap="none" normalizeH="0" baseline="0">
                        <a:ln>
                          <a:noFill/>
                        </a:ln>
                        <a:solidFill>
                          <a:srgbClr val="000000"/>
                        </a:solidFill>
                        <a:effectLst/>
                        <a:latin typeface="Tahoma" panose="020B0604030504040204" pitchFamily="34" charset="0"/>
                        <a:ea typeface="宋体" panose="02010600030101010101" pitchFamily="2" charset="-122"/>
                        <a:cs typeface="Times New Roman" panose="02020603050405020304" pitchFamily="18" charset="0"/>
                      </a:endParaRPr>
                    </a:p>
                  </a:txBody>
                  <a:tcPr marL="99145" marR="99145" marT="49588" marB="495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AE7"/>
                    </a:solidFill>
                  </a:tcPr>
                </a:tc>
              </a:tr>
              <a:tr h="416611">
                <a:tc>
                  <a:txBody>
                    <a:bodyPr/>
                    <a:lstStyle/>
                    <a:p>
                      <a:pPr marL="0" marR="0" lvl="0" indent="0" algn="just" defTabSz="866775" rtl="0" eaLnBrk="1" fontAlgn="base" latinLnBrk="0" hangingPunct="1">
                        <a:lnSpc>
                          <a:spcPct val="120000"/>
                        </a:lnSpc>
                        <a:spcBef>
                          <a:spcPct val="0"/>
                        </a:spcBef>
                        <a:spcAft>
                          <a:spcPct val="0"/>
                        </a:spcAft>
                        <a:buClrTx/>
                        <a:buSzTx/>
                        <a:buFontTx/>
                        <a:buNone/>
                      </a:pPr>
                      <a:r>
                        <a:rPr kumimoji="0" lang="en-US" sz="1700" b="1" i="0" u="none" strike="noStrike" cap="none" normalizeH="0" baseline="0">
                          <a:ln>
                            <a:noFill/>
                          </a:ln>
                          <a:solidFill>
                            <a:srgbClr val="000000"/>
                          </a:solidFill>
                          <a:effectLst/>
                          <a:latin typeface="Tahoma" panose="020B0604030504040204" pitchFamily="34" charset="0"/>
                          <a:ea typeface="宋体" panose="02010600030101010101" pitchFamily="2" charset="-122"/>
                        </a:rPr>
                        <a:t>transient</a:t>
                      </a:r>
                      <a:endParaRPr kumimoji="0" lang="en-US" sz="1700" b="1" i="0" u="none" strike="noStrike" cap="none" normalizeH="0" baseline="0">
                        <a:ln>
                          <a:noFill/>
                        </a:ln>
                        <a:solidFill>
                          <a:srgbClr val="000000"/>
                        </a:solidFill>
                        <a:effectLst/>
                        <a:latin typeface="Tahoma" panose="020B0604030504040204" pitchFamily="34" charset="0"/>
                        <a:ea typeface="宋体" panose="02010600030101010101" pitchFamily="2" charset="-122"/>
                        <a:cs typeface="Times New Roman" panose="02020603050405020304" pitchFamily="18" charset="0"/>
                      </a:endParaRPr>
                    </a:p>
                  </a:txBody>
                  <a:tcPr marL="99145" marR="99145" marT="49588" marB="495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AE7"/>
                    </a:solidFill>
                  </a:tcPr>
                </a:tc>
                <a:tc>
                  <a:txBody>
                    <a:bodyPr/>
                    <a:lstStyle/>
                    <a:p>
                      <a:pPr marL="0" marR="0" lvl="0" indent="0" algn="just" defTabSz="866775" rtl="0" eaLnBrk="1" fontAlgn="base" latinLnBrk="0" hangingPunct="1">
                        <a:lnSpc>
                          <a:spcPct val="120000"/>
                        </a:lnSpc>
                        <a:spcBef>
                          <a:spcPct val="0"/>
                        </a:spcBef>
                        <a:spcAft>
                          <a:spcPct val="0"/>
                        </a:spcAft>
                        <a:buClrTx/>
                        <a:buSzTx/>
                        <a:buFontTx/>
                        <a:buNone/>
                      </a:pPr>
                      <a:r>
                        <a:rPr kumimoji="0" lang="zh-CN" altLang="en-US" sz="1700" b="1" i="0" u="none" strike="noStrike" cap="none" normalizeH="0" baseline="0">
                          <a:ln>
                            <a:noFill/>
                          </a:ln>
                          <a:solidFill>
                            <a:srgbClr val="000000"/>
                          </a:solidFill>
                          <a:effectLst/>
                          <a:latin typeface="Tahoma" panose="020B0604030504040204" pitchFamily="34" charset="0"/>
                          <a:ea typeface="宋体" panose="02010600030101010101" pitchFamily="2" charset="-122"/>
                        </a:rPr>
                        <a:t>过渡修饰符。指定该变量是一个系统保留，暂无特别作用的临时性变量。</a:t>
                      </a:r>
                      <a:endParaRPr kumimoji="0" lang="zh-CN" altLang="en-US" sz="1700" b="1" i="0" u="none" strike="noStrike" cap="none" normalizeH="0" baseline="0">
                        <a:ln>
                          <a:noFill/>
                        </a:ln>
                        <a:solidFill>
                          <a:srgbClr val="000000"/>
                        </a:solidFill>
                        <a:effectLst/>
                        <a:latin typeface="Tahoma" panose="020B0604030504040204" pitchFamily="34" charset="0"/>
                        <a:ea typeface="宋体" panose="02010600030101010101" pitchFamily="2" charset="-122"/>
                        <a:cs typeface="Times New Roman" panose="02020603050405020304" pitchFamily="18" charset="0"/>
                      </a:endParaRPr>
                    </a:p>
                  </a:txBody>
                  <a:tcPr marL="99145" marR="99145" marT="49588" marB="495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AE7"/>
                    </a:solidFill>
                  </a:tcPr>
                </a:tc>
              </a:tr>
              <a:tr h="416611">
                <a:tc>
                  <a:txBody>
                    <a:bodyPr/>
                    <a:lstStyle/>
                    <a:p>
                      <a:pPr marL="0" marR="0" lvl="0" indent="0" algn="just" defTabSz="866775" rtl="0" eaLnBrk="1" fontAlgn="base" latinLnBrk="0" hangingPunct="1">
                        <a:lnSpc>
                          <a:spcPct val="120000"/>
                        </a:lnSpc>
                        <a:spcBef>
                          <a:spcPct val="0"/>
                        </a:spcBef>
                        <a:spcAft>
                          <a:spcPct val="0"/>
                        </a:spcAft>
                        <a:buClrTx/>
                        <a:buSzTx/>
                        <a:buFontTx/>
                        <a:buNone/>
                      </a:pPr>
                      <a:r>
                        <a:rPr kumimoji="0" lang="en-US" sz="1700" b="1" i="0" u="none" strike="noStrike" cap="none" normalizeH="0" baseline="0">
                          <a:ln>
                            <a:noFill/>
                          </a:ln>
                          <a:solidFill>
                            <a:srgbClr val="000000"/>
                          </a:solidFill>
                          <a:effectLst/>
                          <a:latin typeface="Tahoma" panose="020B0604030504040204" pitchFamily="34" charset="0"/>
                          <a:ea typeface="宋体" panose="02010600030101010101" pitchFamily="2" charset="-122"/>
                        </a:rPr>
                        <a:t>volatile</a:t>
                      </a:r>
                      <a:endParaRPr kumimoji="0" lang="en-US" sz="1700" b="1" i="0" u="none" strike="noStrike" cap="none" normalizeH="0" baseline="0">
                        <a:ln>
                          <a:noFill/>
                        </a:ln>
                        <a:solidFill>
                          <a:srgbClr val="000000"/>
                        </a:solidFill>
                        <a:effectLst/>
                        <a:latin typeface="Tahoma" panose="020B0604030504040204" pitchFamily="34" charset="0"/>
                        <a:ea typeface="宋体" panose="02010600030101010101" pitchFamily="2" charset="-122"/>
                        <a:cs typeface="Times New Roman" panose="02020603050405020304" pitchFamily="18" charset="0"/>
                      </a:endParaRPr>
                    </a:p>
                  </a:txBody>
                  <a:tcPr marL="99145" marR="99145" marT="49588" marB="495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AE7"/>
                    </a:solidFill>
                  </a:tcPr>
                </a:tc>
                <a:tc>
                  <a:txBody>
                    <a:bodyPr/>
                    <a:lstStyle/>
                    <a:p>
                      <a:pPr marL="0" marR="0" lvl="0" indent="0" algn="just" defTabSz="866775" rtl="0" eaLnBrk="1" fontAlgn="base" latinLnBrk="0" hangingPunct="1">
                        <a:lnSpc>
                          <a:spcPct val="120000"/>
                        </a:lnSpc>
                        <a:spcBef>
                          <a:spcPct val="0"/>
                        </a:spcBef>
                        <a:spcAft>
                          <a:spcPct val="0"/>
                        </a:spcAft>
                        <a:buClrTx/>
                        <a:buSzTx/>
                        <a:buFontTx/>
                        <a:buNone/>
                      </a:pPr>
                      <a:r>
                        <a:rPr kumimoji="0" lang="zh-CN" altLang="en-US" sz="1700" b="1" i="0" u="none" strike="noStrike" cap="none" normalizeH="0" baseline="0" dirty="0">
                          <a:ln>
                            <a:noFill/>
                          </a:ln>
                          <a:solidFill>
                            <a:srgbClr val="000000"/>
                          </a:solidFill>
                          <a:effectLst/>
                          <a:latin typeface="Tahoma" panose="020B0604030504040204" pitchFamily="34" charset="0"/>
                          <a:ea typeface="宋体" panose="02010600030101010101" pitchFamily="2" charset="-122"/>
                        </a:rPr>
                        <a:t>易失修饰符。指定该变量可以同时被几个线程控制和修改。</a:t>
                      </a:r>
                      <a:endParaRPr kumimoji="0" lang="zh-CN" altLang="en-US" sz="1700" b="1" i="0" u="none" strike="noStrike" cap="none" normalizeH="0" baseline="0" dirty="0">
                        <a:ln>
                          <a:noFill/>
                        </a:ln>
                        <a:solidFill>
                          <a:srgbClr val="000000"/>
                        </a:solidFill>
                        <a:effectLst/>
                        <a:latin typeface="Tahoma" panose="020B0604030504040204" pitchFamily="34" charset="0"/>
                        <a:ea typeface="宋体" panose="02010600030101010101" pitchFamily="2" charset="-122"/>
                        <a:cs typeface="Times New Roman" panose="02020603050405020304" pitchFamily="18" charset="0"/>
                      </a:endParaRPr>
                    </a:p>
                  </a:txBody>
                  <a:tcPr marL="99145" marR="99145" marT="49588" marB="495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AE7"/>
                    </a:solidFill>
                  </a:tcPr>
                </a:tc>
              </a:tr>
            </a:tbl>
          </a:graphicData>
        </a:graphic>
      </p:graphicFrame>
      <p:sp>
        <p:nvSpPr>
          <p:cNvPr id="6" name="标题 1"/>
          <p:cNvSpPr txBox="1"/>
          <p:nvPr/>
        </p:nvSpPr>
        <p:spPr>
          <a:xfrm>
            <a:off x="342908" y="612451"/>
            <a:ext cx="8147318" cy="75052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dirty="0">
                <a:latin typeface="宋体" panose="02010600030101010101" pitchFamily="2" charset="-122"/>
                <a:ea typeface="宋体" panose="02010600030101010101" pitchFamily="2" charset="-122"/>
              </a:rPr>
              <a:t>1</a:t>
            </a:r>
            <a:r>
              <a:rPr lang="zh-CN" altLang="en-US" sz="2800" dirty="0">
                <a:latin typeface="宋体" panose="02010600030101010101" pitchFamily="2" charset="-122"/>
                <a:ea typeface="宋体" panose="02010600030101010101" pitchFamily="2" charset="-122"/>
              </a:rPr>
              <a:t>、类的声明</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成员变量和成员方法</a:t>
            </a:r>
            <a:endParaRPr lang="zh-CN" altLang="en-US" sz="2800" dirty="0">
              <a:latin typeface="宋体" panose="02010600030101010101" pitchFamily="2" charset="-122"/>
              <a:ea typeface="宋体" panose="02010600030101010101" pitchFamily="2" charset="-122"/>
            </a:endParaRPr>
          </a:p>
        </p:txBody>
      </p:sp>
      <p:sp>
        <p:nvSpPr>
          <p:cNvPr id="7" name="标题 1"/>
          <p:cNvSpPr txBox="1"/>
          <p:nvPr/>
        </p:nvSpPr>
        <p:spPr>
          <a:xfrm>
            <a:off x="244884" y="173502"/>
            <a:ext cx="8147318" cy="60643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3.2 </a:t>
            </a:r>
            <a:r>
              <a:rPr lang="zh-CN" altLang="en-US" dirty="0">
                <a:latin typeface="宋体" panose="02010600030101010101" pitchFamily="2" charset="-122"/>
                <a:ea typeface="宋体" panose="02010600030101010101" pitchFamily="2" charset="-122"/>
              </a:rPr>
              <a:t>类与对象</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idx="4294967295"/>
          </p:nvPr>
        </p:nvSpPr>
        <p:spPr>
          <a:xfrm>
            <a:off x="1303663" y="304686"/>
            <a:ext cx="8147318" cy="914055"/>
          </a:xfrm>
        </p:spPr>
        <p:txBody>
          <a:bodyPr/>
          <a:lstStyle/>
          <a:p>
            <a:r>
              <a:rPr lang="en-US" altLang="zh-CN" dirty="0"/>
              <a:t>  </a:t>
            </a:r>
            <a:endParaRPr lang="zh-CN" altLang="en-US" dirty="0"/>
          </a:p>
        </p:txBody>
      </p:sp>
      <p:sp>
        <p:nvSpPr>
          <p:cNvPr id="17411" name="内容占位符 2"/>
          <p:cNvSpPr>
            <a:spLocks noGrp="1"/>
          </p:cNvSpPr>
          <p:nvPr>
            <p:ph idx="4294967295"/>
          </p:nvPr>
        </p:nvSpPr>
        <p:spPr>
          <a:xfrm>
            <a:off x="664274" y="1526507"/>
            <a:ext cx="11155549" cy="3103246"/>
          </a:xfrm>
        </p:spPr>
        <p:txBody>
          <a:bodyPr>
            <a:normAutofit/>
          </a:bodyPr>
          <a:lstStyle/>
          <a:p>
            <a:pPr marL="0" indent="353060">
              <a:buNone/>
            </a:pPr>
            <a:r>
              <a:rPr lang="zh-CN" altLang="en-US" sz="2800" b="1" dirty="0">
                <a:latin typeface="宋体" panose="02010600030101010101" pitchFamily="2" charset="-122"/>
                <a:ea typeface="宋体" panose="02010600030101010101" pitchFamily="2" charset="-122"/>
              </a:rPr>
              <a:t>成员方法定义的一般形式为：</a:t>
            </a:r>
            <a:endParaRPr lang="zh-CN" altLang="en-US" sz="2800" b="1" dirty="0">
              <a:latin typeface="宋体" panose="02010600030101010101" pitchFamily="2" charset="-122"/>
              <a:ea typeface="宋体" panose="02010600030101010101" pitchFamily="2" charset="-122"/>
            </a:endParaRPr>
          </a:p>
          <a:p>
            <a:pPr marL="0" indent="353060">
              <a:buNone/>
            </a:pPr>
            <a:r>
              <a:rPr lang="de-DE" altLang="en-US" sz="2800" b="1" dirty="0">
                <a:latin typeface="宋体" panose="02010600030101010101" pitchFamily="2" charset="-122"/>
                <a:ea typeface="宋体" panose="02010600030101010101" pitchFamily="2" charset="-122"/>
              </a:rPr>
              <a:t> [</a:t>
            </a:r>
            <a:r>
              <a:rPr lang="zh-CN" altLang="en-US" sz="2800" b="1" dirty="0">
                <a:latin typeface="宋体" panose="02010600030101010101" pitchFamily="2" charset="-122"/>
                <a:ea typeface="宋体" panose="02010600030101010101" pitchFamily="2" charset="-122"/>
              </a:rPr>
              <a:t>方法修饰符</a:t>
            </a:r>
            <a:r>
              <a:rPr lang="de-DE" altLang="en-US" sz="2800" b="1" dirty="0">
                <a:latin typeface="宋体" panose="02010600030101010101" pitchFamily="2" charset="-122"/>
                <a:ea typeface="宋体" panose="02010600030101010101" pitchFamily="2" charset="-122"/>
              </a:rPr>
              <a:t>] &lt;</a:t>
            </a:r>
            <a:r>
              <a:rPr lang="zh-CN" altLang="en-US" sz="2800" b="1" dirty="0">
                <a:latin typeface="宋体" panose="02010600030101010101" pitchFamily="2" charset="-122"/>
                <a:ea typeface="宋体" panose="02010600030101010101" pitchFamily="2" charset="-122"/>
              </a:rPr>
              <a:t>方法返回值类型</a:t>
            </a:r>
            <a:r>
              <a:rPr lang="de-DE" altLang="en-US" sz="2800" b="1" dirty="0">
                <a:latin typeface="宋体" panose="02010600030101010101" pitchFamily="2" charset="-122"/>
                <a:ea typeface="宋体" panose="02010600030101010101" pitchFamily="2" charset="-122"/>
              </a:rPr>
              <a:t>&gt; &lt;</a:t>
            </a:r>
            <a:r>
              <a:rPr lang="zh-CN" altLang="en-US" sz="2800" b="1" dirty="0">
                <a:latin typeface="宋体" panose="02010600030101010101" pitchFamily="2" charset="-122"/>
                <a:ea typeface="宋体" panose="02010600030101010101" pitchFamily="2" charset="-122"/>
              </a:rPr>
              <a:t>方法名</a:t>
            </a:r>
            <a:r>
              <a:rPr lang="de-DE" altLang="en-US" sz="2800" b="1" dirty="0">
                <a:latin typeface="宋体" panose="02010600030101010101" pitchFamily="2" charset="-122"/>
                <a:ea typeface="宋体" panose="02010600030101010101" pitchFamily="2" charset="-122"/>
              </a:rPr>
              <a:t>&gt;</a:t>
            </a:r>
            <a:r>
              <a:rPr lang="zh-CN" altLang="en-US" sz="2800" b="1" dirty="0">
                <a:latin typeface="宋体" panose="02010600030101010101" pitchFamily="2" charset="-122"/>
                <a:ea typeface="宋体" panose="02010600030101010101" pitchFamily="2" charset="-122"/>
              </a:rPr>
              <a:t>（</a:t>
            </a:r>
            <a:r>
              <a:rPr lang="de-DE" altLang="en-US" sz="2800" b="1" dirty="0">
                <a:latin typeface="宋体" panose="02010600030101010101" pitchFamily="2" charset="-122"/>
                <a:ea typeface="宋体" panose="02010600030101010101" pitchFamily="2" charset="-122"/>
              </a:rPr>
              <a:t>[&lt;</a:t>
            </a:r>
            <a:r>
              <a:rPr lang="zh-CN" altLang="en-US" sz="2800" b="1" dirty="0">
                <a:latin typeface="宋体" panose="02010600030101010101" pitchFamily="2" charset="-122"/>
                <a:ea typeface="宋体" panose="02010600030101010101" pitchFamily="2" charset="-122"/>
              </a:rPr>
              <a:t>参数列表</a:t>
            </a:r>
            <a:r>
              <a:rPr lang="de-DE" altLang="en-US" sz="2800" b="1" dirty="0">
                <a:latin typeface="宋体" panose="02010600030101010101" pitchFamily="2" charset="-122"/>
                <a:ea typeface="宋体" panose="02010600030101010101" pitchFamily="2" charset="-122"/>
              </a:rPr>
              <a:t>&gt;]</a:t>
            </a:r>
            <a:r>
              <a:rPr lang="zh-CN" altLang="en-US" sz="2800" b="1" dirty="0">
                <a:latin typeface="宋体" panose="02010600030101010101" pitchFamily="2" charset="-122"/>
                <a:ea typeface="宋体" panose="02010600030101010101" pitchFamily="2" charset="-122"/>
              </a:rPr>
              <a:t>）</a:t>
            </a:r>
            <a:endParaRPr lang="zh-CN" altLang="en-US" sz="2800" b="1" dirty="0">
              <a:latin typeface="宋体" panose="02010600030101010101" pitchFamily="2" charset="-122"/>
              <a:ea typeface="宋体" panose="02010600030101010101" pitchFamily="2" charset="-122"/>
            </a:endParaRPr>
          </a:p>
          <a:p>
            <a:pPr marL="0" indent="353060">
              <a:buNone/>
            </a:pPr>
            <a:r>
              <a:rPr lang="de-DE" altLang="en-US" sz="2800" b="1" dirty="0">
                <a:latin typeface="宋体" panose="02010600030101010101" pitchFamily="2" charset="-122"/>
                <a:ea typeface="宋体" panose="02010600030101010101" pitchFamily="2" charset="-122"/>
              </a:rPr>
              <a:t>  {</a:t>
            </a:r>
            <a:endParaRPr lang="zh-CN" altLang="en-US" sz="2800" b="1" dirty="0">
              <a:latin typeface="宋体" panose="02010600030101010101" pitchFamily="2" charset="-122"/>
              <a:ea typeface="宋体" panose="02010600030101010101" pitchFamily="2" charset="-122"/>
            </a:endParaRPr>
          </a:p>
          <a:p>
            <a:pPr marL="0" indent="353060">
              <a:buNone/>
            </a:pPr>
            <a:r>
              <a:rPr lang="de-DE" altLang="en-US" sz="2800" b="1" dirty="0">
                <a:latin typeface="宋体" panose="02010600030101010101" pitchFamily="2" charset="-122"/>
                <a:ea typeface="宋体" panose="02010600030101010101" pitchFamily="2" charset="-122"/>
              </a:rPr>
              <a:t>       </a:t>
            </a:r>
            <a:r>
              <a:rPr lang="zh-CN" altLang="en-US" sz="2800" b="1" dirty="0">
                <a:latin typeface="宋体" panose="02010600030101010101" pitchFamily="2" charset="-122"/>
                <a:ea typeface="宋体" panose="02010600030101010101" pitchFamily="2" charset="-122"/>
              </a:rPr>
              <a:t>方法体</a:t>
            </a:r>
            <a:endParaRPr lang="zh-CN" altLang="en-US" sz="2800" b="1" dirty="0">
              <a:latin typeface="宋体" panose="02010600030101010101" pitchFamily="2" charset="-122"/>
              <a:ea typeface="宋体" panose="02010600030101010101" pitchFamily="2" charset="-122"/>
            </a:endParaRPr>
          </a:p>
          <a:p>
            <a:pPr marL="0" indent="353060">
              <a:buNone/>
            </a:pPr>
            <a:r>
              <a:rPr lang="de-DE" altLang="en-US" sz="2800" b="1" dirty="0">
                <a:latin typeface="宋体" panose="02010600030101010101" pitchFamily="2" charset="-122"/>
                <a:ea typeface="宋体" panose="02010600030101010101" pitchFamily="2" charset="-122"/>
              </a:rPr>
              <a:t>   }</a:t>
            </a:r>
            <a:endParaRPr lang="zh-CN" altLang="en-US" sz="2800" b="1" dirty="0">
              <a:latin typeface="宋体" panose="02010600030101010101" pitchFamily="2" charset="-122"/>
              <a:ea typeface="宋体" panose="02010600030101010101" pitchFamily="2" charset="-122"/>
            </a:endParaRPr>
          </a:p>
          <a:p>
            <a:pPr marL="0" indent="353060">
              <a:buNone/>
            </a:pPr>
            <a:endParaRPr lang="zh-CN" altLang="en-US" sz="2800" b="1" dirty="0">
              <a:latin typeface="宋体" panose="02010600030101010101" pitchFamily="2" charset="-122"/>
              <a:ea typeface="宋体" panose="02010600030101010101" pitchFamily="2" charset="-122"/>
            </a:endParaRPr>
          </a:p>
        </p:txBody>
      </p:sp>
      <p:sp>
        <p:nvSpPr>
          <p:cNvPr id="17412"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A3115ED2-F23F-49FE-9B17-12C7B140FEDC}"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342908" y="612451"/>
            <a:ext cx="8147318" cy="75052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dirty="0">
                <a:latin typeface="宋体" panose="02010600030101010101" pitchFamily="2" charset="-122"/>
                <a:ea typeface="宋体" panose="02010600030101010101" pitchFamily="2" charset="-122"/>
              </a:rPr>
              <a:t>1</a:t>
            </a:r>
            <a:r>
              <a:rPr lang="zh-CN" altLang="en-US" sz="2800" dirty="0">
                <a:latin typeface="宋体" panose="02010600030101010101" pitchFamily="2" charset="-122"/>
                <a:ea typeface="宋体" panose="02010600030101010101" pitchFamily="2" charset="-122"/>
              </a:rPr>
              <a:t>、类的声明</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成员变量和成员方法</a:t>
            </a:r>
            <a:endParaRPr lang="zh-CN" altLang="en-US" sz="2800" dirty="0">
              <a:latin typeface="宋体" panose="02010600030101010101" pitchFamily="2" charset="-122"/>
              <a:ea typeface="宋体" panose="02010600030101010101" pitchFamily="2" charset="-122"/>
            </a:endParaRPr>
          </a:p>
        </p:txBody>
      </p:sp>
      <p:sp>
        <p:nvSpPr>
          <p:cNvPr id="6" name="标题 1"/>
          <p:cNvSpPr txBox="1"/>
          <p:nvPr/>
        </p:nvSpPr>
        <p:spPr>
          <a:xfrm>
            <a:off x="244884" y="173502"/>
            <a:ext cx="8147318" cy="60643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3.2 </a:t>
            </a:r>
            <a:r>
              <a:rPr lang="zh-CN" altLang="en-US" dirty="0">
                <a:latin typeface="宋体" panose="02010600030101010101" pitchFamily="2" charset="-122"/>
                <a:ea typeface="宋体" panose="02010600030101010101" pitchFamily="2" charset="-122"/>
              </a:rPr>
              <a:t>类与对象</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18436"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12A70BB3-2C99-469C-AB14-F53DD6258D9D}"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graphicFrame>
        <p:nvGraphicFramePr>
          <p:cNvPr id="20485" name="Group 5"/>
          <p:cNvGraphicFramePr>
            <a:graphicFrameLocks noGrp="1"/>
          </p:cNvGraphicFramePr>
          <p:nvPr/>
        </p:nvGraphicFramePr>
        <p:xfrm>
          <a:off x="1646218" y="1670740"/>
          <a:ext cx="8899563" cy="4885293"/>
        </p:xfrm>
        <a:graphic>
          <a:graphicData uri="http://schemas.openxmlformats.org/drawingml/2006/table">
            <a:tbl>
              <a:tblPr/>
              <a:tblGrid>
                <a:gridCol w="1709335"/>
                <a:gridCol w="7190228"/>
              </a:tblGrid>
              <a:tr h="449339">
                <a:tc>
                  <a:txBody>
                    <a:bodyPr/>
                    <a:lstStyle/>
                    <a:p>
                      <a:pPr marL="0" marR="0" lvl="0" indent="0" algn="ctr" defTabSz="866775" rtl="0" eaLnBrk="1" fontAlgn="base" latinLnBrk="0" hangingPunct="1">
                        <a:lnSpc>
                          <a:spcPct val="120000"/>
                        </a:lnSpc>
                        <a:spcBef>
                          <a:spcPts val="500"/>
                        </a:spcBef>
                        <a:spcAft>
                          <a:spcPts val="500"/>
                        </a:spcAft>
                        <a:buClrTx/>
                        <a:buSzTx/>
                        <a:buFontTx/>
                        <a:buNone/>
                      </a:pPr>
                      <a:r>
                        <a:rPr kumimoji="0" lang="zh-CN" altLang="en-US" sz="17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修饰符</a:t>
                      </a:r>
                      <a:endParaRPr kumimoji="0" lang="zh-CN" altLang="en-US" sz="17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84" marR="6884"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AE7"/>
                    </a:solidFill>
                  </a:tcPr>
                </a:tc>
                <a:tc>
                  <a:txBody>
                    <a:bodyPr/>
                    <a:lstStyle/>
                    <a:p>
                      <a:pPr marL="0" marR="0" lvl="0" indent="0" algn="l" defTabSz="866775" rtl="0" eaLnBrk="1" fontAlgn="base" latinLnBrk="0" hangingPunct="1">
                        <a:lnSpc>
                          <a:spcPct val="120000"/>
                        </a:lnSpc>
                        <a:spcBef>
                          <a:spcPts val="500"/>
                        </a:spcBef>
                        <a:spcAft>
                          <a:spcPts val="500"/>
                        </a:spcAft>
                        <a:buClrTx/>
                        <a:buSzTx/>
                        <a:buFontTx/>
                        <a:buNone/>
                      </a:pPr>
                      <a:r>
                        <a:rPr kumimoji="0" lang="zh-CN" altLang="en-US" sz="17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含</a:t>
                      </a:r>
                      <a:r>
                        <a:rPr kumimoji="0" lang="en-US" sz="1700" b="1" i="0" u="none" strike="noStrike" cap="none" normalizeH="0" baseline="0">
                          <a:ln>
                            <a:noFill/>
                          </a:ln>
                          <a:solidFill>
                            <a:srgbClr val="000000"/>
                          </a:solidFill>
                          <a:effectLst/>
                          <a:latin typeface="Tahoma" panose="020B0604030504040204"/>
                          <a:ea typeface="宋体" panose="02010600030101010101" pitchFamily="2" charset="-122"/>
                          <a:cs typeface="Times New Roman" panose="02020603050405020304" pitchFamily="18" charset="0"/>
                        </a:rPr>
                        <a:t>     </a:t>
                      </a:r>
                      <a:r>
                        <a:rPr kumimoji="0" lang="zh-CN" altLang="en-US" sz="17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义</a:t>
                      </a:r>
                      <a:endParaRPr kumimoji="0" lang="zh-CN" altLang="en-US" sz="17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84" marR="6884"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AE7"/>
                    </a:solidFill>
                  </a:tcPr>
                </a:tc>
              </a:tr>
              <a:tr h="318497">
                <a:tc>
                  <a:txBody>
                    <a:bodyPr/>
                    <a:lstStyle/>
                    <a:p>
                      <a:pPr marL="0" marR="0" lvl="0" indent="0" algn="l" defTabSz="866775" rtl="0" eaLnBrk="1" fontAlgn="base" latinLnBrk="0" hangingPunct="1">
                        <a:lnSpc>
                          <a:spcPct val="120000"/>
                        </a:lnSpc>
                        <a:spcBef>
                          <a:spcPts val="500"/>
                        </a:spcBef>
                        <a:spcAft>
                          <a:spcPts val="500"/>
                        </a:spcAft>
                        <a:buClrTx/>
                        <a:buSzTx/>
                        <a:buFontTx/>
                        <a:buNone/>
                      </a:pPr>
                      <a:r>
                        <a:rPr kumimoji="0" lang="en-US" sz="17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public</a:t>
                      </a:r>
                      <a:endParaRPr kumimoji="0" lang="en-US" sz="17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84" marR="688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AE7"/>
                    </a:solidFill>
                  </a:tcPr>
                </a:tc>
                <a:tc>
                  <a:txBody>
                    <a:bodyPr/>
                    <a:lstStyle/>
                    <a:p>
                      <a:pPr marL="0" marR="0" lvl="0" indent="0" algn="l" defTabSz="866775" rtl="0" eaLnBrk="1" fontAlgn="base" latinLnBrk="0" hangingPunct="1">
                        <a:lnSpc>
                          <a:spcPct val="120000"/>
                        </a:lnSpc>
                        <a:spcBef>
                          <a:spcPts val="500"/>
                        </a:spcBef>
                        <a:spcAft>
                          <a:spcPts val="500"/>
                        </a:spcAft>
                        <a:buClrTx/>
                        <a:buSzTx/>
                        <a:buFontTx/>
                        <a:buNone/>
                      </a:pPr>
                      <a:r>
                        <a:rPr kumimoji="0" lang="zh-CN" altLang="en-US" sz="17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公共访问控制符。指定该方法为公共的，它可以被任何对象的方法访问。</a:t>
                      </a:r>
                      <a:endParaRPr kumimoji="0" lang="zh-CN" altLang="en-US" sz="17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84" marR="688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AE7"/>
                    </a:solidFill>
                  </a:tcPr>
                </a:tc>
              </a:tr>
              <a:tr h="793659">
                <a:tc>
                  <a:txBody>
                    <a:bodyPr/>
                    <a:lstStyle/>
                    <a:p>
                      <a:pPr marL="0" marR="0" lvl="0" indent="0" algn="l" defTabSz="866775" rtl="0" eaLnBrk="1" fontAlgn="base" latinLnBrk="0" hangingPunct="1">
                        <a:lnSpc>
                          <a:spcPct val="120000"/>
                        </a:lnSpc>
                        <a:spcBef>
                          <a:spcPts val="500"/>
                        </a:spcBef>
                        <a:spcAft>
                          <a:spcPts val="500"/>
                        </a:spcAft>
                        <a:buClrTx/>
                        <a:buSzTx/>
                        <a:buFontTx/>
                        <a:buNone/>
                      </a:pPr>
                      <a:r>
                        <a:rPr kumimoji="0" lang="en-US" sz="17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private</a:t>
                      </a:r>
                      <a:endParaRPr kumimoji="0" lang="en-US" sz="17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84" marR="688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AE7"/>
                    </a:solidFill>
                  </a:tcPr>
                </a:tc>
                <a:tc>
                  <a:txBody>
                    <a:bodyPr/>
                    <a:lstStyle/>
                    <a:p>
                      <a:pPr marL="0" marR="0" lvl="0" indent="0" algn="l" defTabSz="866775" rtl="0" eaLnBrk="1" fontAlgn="base" latinLnBrk="0" hangingPunct="1">
                        <a:lnSpc>
                          <a:spcPct val="120000"/>
                        </a:lnSpc>
                        <a:spcBef>
                          <a:spcPts val="500"/>
                        </a:spcBef>
                        <a:spcAft>
                          <a:spcPts val="500"/>
                        </a:spcAft>
                        <a:buClrTx/>
                        <a:buSzTx/>
                        <a:buFontTx/>
                        <a:buNone/>
                      </a:pPr>
                      <a:r>
                        <a:rPr kumimoji="0" lang="zh-CN" altLang="en-US" sz="17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私有访问控制符。指定该方法只允许自己类的方法访问，其他任何类（包括子类）中的方法均不能访问此方法。</a:t>
                      </a:r>
                      <a:endParaRPr kumimoji="0" lang="zh-CN" altLang="en-US" sz="17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84" marR="688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AE7"/>
                    </a:solidFill>
                  </a:tcPr>
                </a:tc>
              </a:tr>
              <a:tr h="466555">
                <a:tc>
                  <a:txBody>
                    <a:bodyPr/>
                    <a:lstStyle/>
                    <a:p>
                      <a:pPr marL="0" marR="0" lvl="0" indent="0" algn="l" defTabSz="866775" rtl="0" eaLnBrk="1" fontAlgn="base" latinLnBrk="0" hangingPunct="1">
                        <a:lnSpc>
                          <a:spcPct val="120000"/>
                        </a:lnSpc>
                        <a:spcBef>
                          <a:spcPts val="500"/>
                        </a:spcBef>
                        <a:spcAft>
                          <a:spcPts val="500"/>
                        </a:spcAft>
                        <a:buClrTx/>
                        <a:buSzTx/>
                        <a:buFontTx/>
                        <a:buNone/>
                      </a:pPr>
                      <a:r>
                        <a:rPr kumimoji="0" lang="en-US" sz="17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protected</a:t>
                      </a:r>
                      <a:endParaRPr kumimoji="0" lang="en-US" sz="17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84" marR="688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AE7"/>
                    </a:solidFill>
                  </a:tcPr>
                </a:tc>
                <a:tc>
                  <a:txBody>
                    <a:bodyPr/>
                    <a:lstStyle/>
                    <a:p>
                      <a:pPr marL="0" marR="0" lvl="0" indent="0" algn="l" defTabSz="866775" rtl="0" eaLnBrk="1" fontAlgn="base" latinLnBrk="0" hangingPunct="1">
                        <a:lnSpc>
                          <a:spcPct val="120000"/>
                        </a:lnSpc>
                        <a:spcBef>
                          <a:spcPts val="500"/>
                        </a:spcBef>
                        <a:spcAft>
                          <a:spcPts val="500"/>
                        </a:spcAft>
                        <a:buClrTx/>
                        <a:buSzTx/>
                        <a:buFontTx/>
                        <a:buNone/>
                      </a:pPr>
                      <a:r>
                        <a:rPr kumimoji="0" lang="zh-CN" altLang="en-US" sz="17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保护访问控制符。指定该方法可以被它的类及其子类访问。</a:t>
                      </a:r>
                      <a:endParaRPr kumimoji="0" lang="zh-CN" altLang="en-US" sz="17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84" marR="688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AE7"/>
                    </a:solidFill>
                  </a:tcPr>
                </a:tc>
              </a:tr>
              <a:tr h="635272">
                <a:tc>
                  <a:txBody>
                    <a:bodyPr/>
                    <a:lstStyle/>
                    <a:p>
                      <a:pPr marL="0" marR="0" lvl="0" indent="0" algn="l" defTabSz="866775" rtl="0" eaLnBrk="1" fontAlgn="base" latinLnBrk="0" hangingPunct="1">
                        <a:lnSpc>
                          <a:spcPct val="120000"/>
                        </a:lnSpc>
                        <a:spcBef>
                          <a:spcPts val="500"/>
                        </a:spcBef>
                        <a:spcAft>
                          <a:spcPts val="500"/>
                        </a:spcAft>
                        <a:buClrTx/>
                        <a:buSzTx/>
                        <a:buFontTx/>
                        <a:buNone/>
                      </a:pPr>
                      <a:r>
                        <a:rPr kumimoji="0" lang="zh-CN" altLang="en-US" sz="17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缺省</a:t>
                      </a:r>
                      <a:endParaRPr kumimoji="0" lang="zh-CN" altLang="en-US" sz="17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84" marR="688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AE7"/>
                    </a:solidFill>
                  </a:tcPr>
                </a:tc>
                <a:tc>
                  <a:txBody>
                    <a:bodyPr/>
                    <a:lstStyle/>
                    <a:p>
                      <a:pPr marL="0" marR="0" lvl="0" indent="0" algn="l" defTabSz="866775" rtl="0" eaLnBrk="1" fontAlgn="base" latinLnBrk="0" hangingPunct="1">
                        <a:lnSpc>
                          <a:spcPct val="120000"/>
                        </a:lnSpc>
                        <a:spcBef>
                          <a:spcPts val="500"/>
                        </a:spcBef>
                        <a:spcAft>
                          <a:spcPts val="500"/>
                        </a:spcAft>
                        <a:buClrTx/>
                        <a:buSzTx/>
                        <a:buFontTx/>
                        <a:buNone/>
                      </a:pPr>
                      <a:r>
                        <a:rPr kumimoji="0" lang="zh-CN" altLang="en-US" sz="17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默认的友元访问控制符，在同一个包中的其他类可以访问此方法，而其他包中的类不能访问该方法。</a:t>
                      </a:r>
                      <a:endParaRPr kumimoji="0" lang="zh-CN" altLang="en-US" sz="17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84" marR="688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AE7"/>
                    </a:solidFill>
                  </a:tcPr>
                </a:tc>
              </a:tr>
              <a:tr h="317326">
                <a:tc>
                  <a:txBody>
                    <a:bodyPr/>
                    <a:lstStyle/>
                    <a:p>
                      <a:pPr marL="0" marR="0" lvl="0" indent="0" algn="l" defTabSz="866775" rtl="0" eaLnBrk="1" fontAlgn="base" latinLnBrk="0" hangingPunct="1">
                        <a:lnSpc>
                          <a:spcPct val="120000"/>
                        </a:lnSpc>
                        <a:spcBef>
                          <a:spcPts val="500"/>
                        </a:spcBef>
                        <a:spcAft>
                          <a:spcPts val="500"/>
                        </a:spcAft>
                        <a:buClrTx/>
                        <a:buSzTx/>
                        <a:buFontTx/>
                        <a:buNone/>
                      </a:pPr>
                      <a:r>
                        <a:rPr kumimoji="0" lang="en-US" sz="17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final</a:t>
                      </a:r>
                      <a:endParaRPr kumimoji="0" lang="en-US" sz="17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84" marR="688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AE7"/>
                    </a:solidFill>
                  </a:tcPr>
                </a:tc>
                <a:tc>
                  <a:txBody>
                    <a:bodyPr/>
                    <a:lstStyle/>
                    <a:p>
                      <a:pPr marL="0" marR="0" lvl="0" indent="0" algn="l" defTabSz="866775" rtl="0" eaLnBrk="1" fontAlgn="base" latinLnBrk="0" hangingPunct="1">
                        <a:lnSpc>
                          <a:spcPct val="120000"/>
                        </a:lnSpc>
                        <a:spcBef>
                          <a:spcPts val="500"/>
                        </a:spcBef>
                        <a:spcAft>
                          <a:spcPts val="500"/>
                        </a:spcAft>
                        <a:buClrTx/>
                        <a:buSzTx/>
                        <a:buFontTx/>
                        <a:buNone/>
                      </a:pPr>
                      <a:r>
                        <a:rPr kumimoji="0" lang="zh-CN" altLang="en-US" sz="17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最终修饰符。指定该方法不能被重载。</a:t>
                      </a:r>
                      <a:endParaRPr kumimoji="0" lang="zh-CN" altLang="en-US" sz="17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84" marR="688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AE7"/>
                    </a:solidFill>
                  </a:tcPr>
                </a:tc>
              </a:tr>
              <a:tr h="317326">
                <a:tc>
                  <a:txBody>
                    <a:bodyPr/>
                    <a:lstStyle/>
                    <a:p>
                      <a:pPr marL="0" marR="0" lvl="0" indent="0" algn="l" defTabSz="866775" rtl="0" eaLnBrk="1" fontAlgn="base" latinLnBrk="0" hangingPunct="1">
                        <a:lnSpc>
                          <a:spcPct val="120000"/>
                        </a:lnSpc>
                        <a:spcBef>
                          <a:spcPts val="500"/>
                        </a:spcBef>
                        <a:spcAft>
                          <a:spcPts val="500"/>
                        </a:spcAft>
                        <a:buClrTx/>
                        <a:buSzTx/>
                        <a:buFontTx/>
                        <a:buNone/>
                      </a:pPr>
                      <a:r>
                        <a:rPr kumimoji="0" lang="en-US" sz="17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static</a:t>
                      </a:r>
                      <a:endParaRPr kumimoji="0" lang="en-US" sz="17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84" marR="688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AE7"/>
                    </a:solidFill>
                  </a:tcPr>
                </a:tc>
                <a:tc>
                  <a:txBody>
                    <a:bodyPr/>
                    <a:lstStyle/>
                    <a:p>
                      <a:pPr marL="0" marR="0" lvl="0" indent="0" algn="l" defTabSz="866775" rtl="0" eaLnBrk="1" fontAlgn="base" latinLnBrk="0" hangingPunct="1">
                        <a:lnSpc>
                          <a:spcPct val="120000"/>
                        </a:lnSpc>
                        <a:spcBef>
                          <a:spcPts val="500"/>
                        </a:spcBef>
                        <a:spcAft>
                          <a:spcPts val="500"/>
                        </a:spcAft>
                        <a:buClrTx/>
                        <a:buSzTx/>
                        <a:buFontTx/>
                        <a:buNone/>
                      </a:pPr>
                      <a:r>
                        <a:rPr kumimoji="0" lang="zh-CN" altLang="en-US" sz="17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静态修饰符。指定不需要实例化一个对象就可以激活的方法。</a:t>
                      </a:r>
                      <a:endParaRPr kumimoji="0" lang="zh-CN" altLang="en-US" sz="17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84" marR="688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AE7"/>
                    </a:solidFill>
                  </a:tcPr>
                </a:tc>
              </a:tr>
              <a:tr h="952047">
                <a:tc>
                  <a:txBody>
                    <a:bodyPr/>
                    <a:lstStyle/>
                    <a:p>
                      <a:pPr marL="0" marR="0" lvl="0" indent="0" algn="l" defTabSz="866775" rtl="0" eaLnBrk="1" fontAlgn="base" latinLnBrk="0" hangingPunct="1">
                        <a:lnSpc>
                          <a:spcPct val="120000"/>
                        </a:lnSpc>
                        <a:spcBef>
                          <a:spcPts val="500"/>
                        </a:spcBef>
                        <a:spcAft>
                          <a:spcPts val="500"/>
                        </a:spcAft>
                        <a:buClrTx/>
                        <a:buSzTx/>
                        <a:buFontTx/>
                        <a:buNone/>
                      </a:pPr>
                      <a:r>
                        <a:rPr kumimoji="0" lang="en-US" sz="17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abstract</a:t>
                      </a:r>
                      <a:endParaRPr kumimoji="0" lang="en-US" sz="17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84" marR="688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AE7"/>
                    </a:solidFill>
                  </a:tcPr>
                </a:tc>
                <a:tc>
                  <a:txBody>
                    <a:bodyPr/>
                    <a:lstStyle/>
                    <a:p>
                      <a:pPr marL="0" marR="0" lvl="0" indent="0" algn="just" defTabSz="866775" rtl="0" eaLnBrk="1" fontAlgn="base" latinLnBrk="0" hangingPunct="1">
                        <a:lnSpc>
                          <a:spcPct val="120000"/>
                        </a:lnSpc>
                        <a:spcBef>
                          <a:spcPct val="0"/>
                        </a:spcBef>
                        <a:spcAft>
                          <a:spcPct val="0"/>
                        </a:spcAft>
                        <a:buClrTx/>
                        <a:buSzTx/>
                        <a:buFontTx/>
                        <a:buNone/>
                      </a:pPr>
                      <a:r>
                        <a:rPr kumimoji="0" lang="zh-CN" altLang="en-US" sz="17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用</a:t>
                      </a:r>
                      <a:r>
                        <a:rPr kumimoji="0" lang="en-US" sz="17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abstract</a:t>
                      </a:r>
                      <a:r>
                        <a:rPr kumimoji="0" lang="zh-CN" altLang="en-US" sz="17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说明方法是抽象方法，该方法只有方法说明，没有方法体。方法体由该抽象方法所在类的子类中被具体实现。抽象方法所在的类被称为抽象类。</a:t>
                      </a:r>
                      <a:endParaRPr kumimoji="0" lang="zh-CN" altLang="en-US" sz="17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84" marR="688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AE7"/>
                    </a:solidFill>
                  </a:tcPr>
                </a:tc>
              </a:tr>
              <a:tr h="635272">
                <a:tc>
                  <a:txBody>
                    <a:bodyPr/>
                    <a:lstStyle/>
                    <a:p>
                      <a:pPr marL="0" marR="0" lvl="0" indent="0" algn="l" defTabSz="866775" rtl="0" eaLnBrk="1" fontAlgn="base" latinLnBrk="0" hangingPunct="1">
                        <a:lnSpc>
                          <a:spcPct val="120000"/>
                        </a:lnSpc>
                        <a:spcBef>
                          <a:spcPts val="500"/>
                        </a:spcBef>
                        <a:spcAft>
                          <a:spcPts val="500"/>
                        </a:spcAft>
                        <a:buClrTx/>
                        <a:buSzTx/>
                        <a:buFontTx/>
                        <a:buNone/>
                      </a:pPr>
                      <a:r>
                        <a:rPr kumimoji="0" lang="en-US" sz="17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synchronized</a:t>
                      </a:r>
                      <a:endParaRPr kumimoji="0" lang="en-US" sz="17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84" marR="688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AE7"/>
                    </a:solidFill>
                  </a:tcPr>
                </a:tc>
                <a:tc>
                  <a:txBody>
                    <a:bodyPr/>
                    <a:lstStyle/>
                    <a:p>
                      <a:pPr marL="0" marR="0" lvl="0" indent="0" algn="l" defTabSz="866775" rtl="0" eaLnBrk="1" fontAlgn="base" latinLnBrk="0" hangingPunct="1">
                        <a:lnSpc>
                          <a:spcPct val="120000"/>
                        </a:lnSpc>
                        <a:spcBef>
                          <a:spcPts val="500"/>
                        </a:spcBef>
                        <a:spcAft>
                          <a:spcPts val="500"/>
                        </a:spcAft>
                        <a:buClrTx/>
                        <a:buSzTx/>
                        <a:buFontTx/>
                        <a:buNone/>
                      </a:pPr>
                      <a:r>
                        <a:rPr kumimoji="0" lang="zh-CN" altLang="en-US" sz="17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同步修饰符。在多线程程序中，该修饰符用于在运行前，对它所属的方法加锁，以防止其他线程访问，运行结束后解锁。</a:t>
                      </a:r>
                      <a:endParaRPr kumimoji="0" lang="zh-CN" altLang="en-US" sz="17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84" marR="688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AE7"/>
                    </a:solidFill>
                  </a:tcPr>
                </a:tc>
              </a:tr>
            </a:tbl>
          </a:graphicData>
        </a:graphic>
      </p:graphicFrame>
      <p:sp>
        <p:nvSpPr>
          <p:cNvPr id="6" name="标题 1"/>
          <p:cNvSpPr txBox="1"/>
          <p:nvPr/>
        </p:nvSpPr>
        <p:spPr>
          <a:xfrm>
            <a:off x="342908" y="612451"/>
            <a:ext cx="8147318" cy="75052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dirty="0">
                <a:latin typeface="宋体" panose="02010600030101010101" pitchFamily="2" charset="-122"/>
                <a:ea typeface="宋体" panose="02010600030101010101" pitchFamily="2" charset="-122"/>
              </a:rPr>
              <a:t>1</a:t>
            </a:r>
            <a:r>
              <a:rPr lang="zh-CN" altLang="en-US" sz="2800" dirty="0">
                <a:latin typeface="宋体" panose="02010600030101010101" pitchFamily="2" charset="-122"/>
                <a:ea typeface="宋体" panose="02010600030101010101" pitchFamily="2" charset="-122"/>
              </a:rPr>
              <a:t>、类的声明</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成员变量和成员方法</a:t>
            </a:r>
            <a:endParaRPr lang="zh-CN" altLang="en-US" sz="2800" dirty="0">
              <a:latin typeface="宋体" panose="02010600030101010101" pitchFamily="2" charset="-122"/>
              <a:ea typeface="宋体" panose="02010600030101010101" pitchFamily="2" charset="-122"/>
            </a:endParaRPr>
          </a:p>
        </p:txBody>
      </p:sp>
      <p:sp>
        <p:nvSpPr>
          <p:cNvPr id="7" name="标题 1"/>
          <p:cNvSpPr txBox="1"/>
          <p:nvPr/>
        </p:nvSpPr>
        <p:spPr>
          <a:xfrm>
            <a:off x="244884" y="173502"/>
            <a:ext cx="8147318" cy="60643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3.2 </a:t>
            </a:r>
            <a:r>
              <a:rPr lang="zh-CN" altLang="en-US" dirty="0">
                <a:latin typeface="宋体" panose="02010600030101010101" pitchFamily="2" charset="-122"/>
                <a:ea typeface="宋体" panose="02010600030101010101" pitchFamily="2" charset="-122"/>
              </a:rPr>
              <a:t>类与对象</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19459" name="内容占位符 2"/>
          <p:cNvSpPr>
            <a:spLocks noGrp="1"/>
          </p:cNvSpPr>
          <p:nvPr>
            <p:ph idx="4294967295"/>
          </p:nvPr>
        </p:nvSpPr>
        <p:spPr>
          <a:xfrm>
            <a:off x="774273" y="1526506"/>
            <a:ext cx="10987799" cy="4104273"/>
          </a:xfrm>
        </p:spPr>
        <p:txBody>
          <a:bodyPr/>
          <a:lstStyle/>
          <a:p>
            <a:pPr marL="0" indent="353060">
              <a:buNone/>
            </a:pPr>
            <a:r>
              <a:rPr lang="zh-CN" altLang="en-US" sz="2820" b="1" dirty="0">
                <a:latin typeface="宋体" panose="02010600030101010101" pitchFamily="2" charset="-122"/>
                <a:ea typeface="宋体" panose="02010600030101010101" pitchFamily="2" charset="-122"/>
              </a:rPr>
              <a:t>方法的返回值类型</a:t>
            </a:r>
            <a:endParaRPr lang="zh-CN" altLang="en-US" sz="2820" b="1" dirty="0">
              <a:latin typeface="宋体" panose="02010600030101010101" pitchFamily="2" charset="-122"/>
              <a:ea typeface="宋体" panose="02010600030101010101" pitchFamily="2" charset="-122"/>
            </a:endParaRPr>
          </a:p>
          <a:p>
            <a:pPr marL="0" indent="353060">
              <a:buFont typeface="Arial" panose="020B0604020202020204" pitchFamily="34" charset="0"/>
              <a:buChar char="•"/>
            </a:pPr>
            <a:r>
              <a:rPr lang="en-US" altLang="zh-CN" sz="2820" b="1" dirty="0">
                <a:latin typeface="宋体" panose="02010600030101010101" pitchFamily="2" charset="-122"/>
                <a:ea typeface="宋体" panose="02010600030101010101" pitchFamily="2" charset="-122"/>
              </a:rPr>
              <a:t>Java</a:t>
            </a:r>
            <a:r>
              <a:rPr lang="zh-CN" altLang="en-US" sz="2820" b="1" dirty="0">
                <a:latin typeface="宋体" panose="02010600030101010101" pitchFamily="2" charset="-122"/>
                <a:ea typeface="宋体" panose="02010600030101010101" pitchFamily="2" charset="-122"/>
              </a:rPr>
              <a:t>语言要求在成员方法说明中必须指明方法返回值的类型。</a:t>
            </a:r>
            <a:endParaRPr lang="en-US" altLang="zh-CN" sz="2820" b="1" dirty="0">
              <a:latin typeface="宋体" panose="02010600030101010101" pitchFamily="2" charset="-122"/>
              <a:ea typeface="宋体" panose="02010600030101010101" pitchFamily="2" charset="-122"/>
            </a:endParaRPr>
          </a:p>
          <a:p>
            <a:pPr marL="0" indent="353060">
              <a:buFont typeface="Arial" panose="020B0604020202020204" pitchFamily="34" charset="0"/>
              <a:buChar char="•"/>
            </a:pPr>
            <a:r>
              <a:rPr lang="zh-CN" altLang="en-US" sz="2820" b="1" dirty="0">
                <a:latin typeface="宋体" panose="02010600030101010101" pitchFamily="2" charset="-122"/>
                <a:ea typeface="宋体" panose="02010600030101010101" pitchFamily="2" charset="-122"/>
              </a:rPr>
              <a:t>如果一个成员方法不需要返回值，则其返回值类型被说明为</a:t>
            </a:r>
            <a:r>
              <a:rPr lang="en-US" altLang="zh-CN" sz="2820" b="1" dirty="0">
                <a:latin typeface="宋体" panose="02010600030101010101" pitchFamily="2" charset="-122"/>
                <a:ea typeface="宋体" panose="02010600030101010101" pitchFamily="2" charset="-122"/>
              </a:rPr>
              <a:t>void</a:t>
            </a:r>
            <a:r>
              <a:rPr lang="zh-CN" altLang="en-US" sz="2820" b="1" dirty="0">
                <a:latin typeface="宋体" panose="02010600030101010101" pitchFamily="2" charset="-122"/>
                <a:ea typeface="宋体" panose="02010600030101010101" pitchFamily="2" charset="-122"/>
              </a:rPr>
              <a:t>。</a:t>
            </a:r>
            <a:endParaRPr lang="en-US" altLang="zh-CN" sz="2820" b="1" dirty="0">
              <a:latin typeface="宋体" panose="02010600030101010101" pitchFamily="2" charset="-122"/>
              <a:ea typeface="宋体" panose="02010600030101010101" pitchFamily="2" charset="-122"/>
            </a:endParaRPr>
          </a:p>
          <a:p>
            <a:pPr marL="0" indent="353060">
              <a:buFont typeface="Arial" panose="020B0604020202020204" pitchFamily="34" charset="0"/>
              <a:buChar char="•"/>
            </a:pPr>
            <a:r>
              <a:rPr lang="zh-CN" altLang="en-US" sz="2820" b="1" dirty="0">
                <a:latin typeface="宋体" panose="02010600030101010101" pitchFamily="2" charset="-122"/>
                <a:ea typeface="宋体" panose="02010600030101010101" pitchFamily="2" charset="-122"/>
              </a:rPr>
              <a:t>方法返回值用</a:t>
            </a:r>
            <a:r>
              <a:rPr lang="en-US" altLang="zh-CN" sz="2820" b="1" dirty="0">
                <a:latin typeface="宋体" panose="02010600030101010101" pitchFamily="2" charset="-122"/>
                <a:ea typeface="宋体" panose="02010600030101010101" pitchFamily="2" charset="-122"/>
              </a:rPr>
              <a:t>return</a:t>
            </a:r>
            <a:r>
              <a:rPr lang="zh-CN" altLang="en-US" sz="2820" b="1" dirty="0">
                <a:latin typeface="宋体" panose="02010600030101010101" pitchFamily="2" charset="-122"/>
                <a:ea typeface="宋体" panose="02010600030101010101" pitchFamily="2" charset="-122"/>
              </a:rPr>
              <a:t>语句来实现，如果有返回值，那么</a:t>
            </a:r>
            <a:r>
              <a:rPr lang="en-US" altLang="zh-CN" sz="2820" b="1" dirty="0">
                <a:latin typeface="宋体" panose="02010600030101010101" pitchFamily="2" charset="-122"/>
                <a:ea typeface="宋体" panose="02010600030101010101" pitchFamily="2" charset="-122"/>
              </a:rPr>
              <a:t>return</a:t>
            </a:r>
            <a:r>
              <a:rPr lang="zh-CN" altLang="en-US" sz="2820" b="1" dirty="0">
                <a:latin typeface="宋体" panose="02010600030101010101" pitchFamily="2" charset="-122"/>
                <a:ea typeface="宋体" panose="02010600030101010101" pitchFamily="2" charset="-122"/>
              </a:rPr>
              <a:t>语句要带参数，并且</a:t>
            </a:r>
            <a:r>
              <a:rPr lang="en-US" altLang="zh-CN" sz="2820" b="1" dirty="0">
                <a:latin typeface="宋体" panose="02010600030101010101" pitchFamily="2" charset="-122"/>
                <a:ea typeface="宋体" panose="02010600030101010101" pitchFamily="2" charset="-122"/>
              </a:rPr>
              <a:t>return</a:t>
            </a:r>
            <a:r>
              <a:rPr lang="zh-CN" altLang="en-US" sz="2820" b="1" dirty="0">
                <a:latin typeface="宋体" panose="02010600030101010101" pitchFamily="2" charset="-122"/>
                <a:ea typeface="宋体" panose="02010600030101010101" pitchFamily="2" charset="-122"/>
              </a:rPr>
              <a:t>语句中返回的数据类型必须与方法说明中的方法返回值类型一致。</a:t>
            </a:r>
            <a:endParaRPr lang="en-US" altLang="zh-CN" sz="2820" b="1" dirty="0">
              <a:latin typeface="宋体" panose="02010600030101010101" pitchFamily="2" charset="-122"/>
              <a:ea typeface="宋体" panose="02010600030101010101" pitchFamily="2" charset="-122"/>
            </a:endParaRPr>
          </a:p>
          <a:p>
            <a:pPr marL="0" indent="353060">
              <a:buFont typeface="Arial" panose="020B0604020202020204" pitchFamily="34" charset="0"/>
              <a:buChar char="•"/>
            </a:pPr>
            <a:r>
              <a:rPr lang="zh-CN" altLang="en-US" sz="2820" b="1" dirty="0">
                <a:latin typeface="宋体" panose="02010600030101010101" pitchFamily="2" charset="-122"/>
                <a:ea typeface="宋体" panose="02010600030101010101" pitchFamily="2" charset="-122"/>
              </a:rPr>
              <a:t>返回值类型为</a:t>
            </a:r>
            <a:r>
              <a:rPr lang="en-US" altLang="zh-CN" sz="2820" b="1" dirty="0">
                <a:latin typeface="宋体" panose="02010600030101010101" pitchFamily="2" charset="-122"/>
                <a:ea typeface="宋体" panose="02010600030101010101" pitchFamily="2" charset="-122"/>
              </a:rPr>
              <a:t>Java</a:t>
            </a:r>
            <a:r>
              <a:rPr lang="zh-CN" altLang="en-US" sz="2820" b="1" dirty="0">
                <a:latin typeface="宋体" panose="02010600030101010101" pitchFamily="2" charset="-122"/>
                <a:ea typeface="宋体" panose="02010600030101010101" pitchFamily="2" charset="-122"/>
              </a:rPr>
              <a:t>语言的任何数据类型。</a:t>
            </a:r>
            <a:endParaRPr lang="zh-CN" altLang="en-US" sz="2820" b="1" dirty="0">
              <a:latin typeface="宋体" panose="02010600030101010101" pitchFamily="2" charset="-122"/>
              <a:ea typeface="宋体" panose="02010600030101010101" pitchFamily="2" charset="-122"/>
            </a:endParaRPr>
          </a:p>
          <a:p>
            <a:pPr marL="0" indent="353060">
              <a:buNone/>
            </a:pPr>
            <a:endParaRPr lang="zh-CN" altLang="en-US" sz="2820" b="1" dirty="0">
              <a:latin typeface="宋体" panose="02010600030101010101" pitchFamily="2" charset="-122"/>
              <a:ea typeface="宋体" panose="02010600030101010101" pitchFamily="2" charset="-122"/>
            </a:endParaRPr>
          </a:p>
        </p:txBody>
      </p:sp>
      <p:sp>
        <p:nvSpPr>
          <p:cNvPr id="19460"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D3AE929D-7B00-4DEB-82A7-F193DB80A259}"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342908" y="612451"/>
            <a:ext cx="8147318" cy="75052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dirty="0">
                <a:latin typeface="宋体" panose="02010600030101010101" pitchFamily="2" charset="-122"/>
                <a:ea typeface="宋体" panose="02010600030101010101" pitchFamily="2" charset="-122"/>
              </a:rPr>
              <a:t>1</a:t>
            </a:r>
            <a:r>
              <a:rPr lang="zh-CN" altLang="en-US" sz="2800" dirty="0">
                <a:latin typeface="宋体" panose="02010600030101010101" pitchFamily="2" charset="-122"/>
                <a:ea typeface="宋体" panose="02010600030101010101" pitchFamily="2" charset="-122"/>
              </a:rPr>
              <a:t>、类的声明</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成员变量和成员方法</a:t>
            </a:r>
            <a:endParaRPr lang="zh-CN" altLang="en-US" sz="2800" dirty="0">
              <a:latin typeface="宋体" panose="02010600030101010101" pitchFamily="2" charset="-122"/>
              <a:ea typeface="宋体" panose="02010600030101010101" pitchFamily="2" charset="-122"/>
            </a:endParaRPr>
          </a:p>
        </p:txBody>
      </p:sp>
      <p:sp>
        <p:nvSpPr>
          <p:cNvPr id="6" name="标题 1"/>
          <p:cNvSpPr txBox="1"/>
          <p:nvPr/>
        </p:nvSpPr>
        <p:spPr>
          <a:xfrm>
            <a:off x="244884" y="173502"/>
            <a:ext cx="8147318" cy="60643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3.2 </a:t>
            </a:r>
            <a:r>
              <a:rPr lang="zh-CN" altLang="en-US" dirty="0">
                <a:latin typeface="宋体" panose="02010600030101010101" pitchFamily="2" charset="-122"/>
                <a:ea typeface="宋体" panose="02010600030101010101" pitchFamily="2" charset="-122"/>
              </a:rPr>
              <a:t>类与对象</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21507" name="内容占位符 2"/>
          <p:cNvSpPr>
            <a:spLocks noGrp="1"/>
          </p:cNvSpPr>
          <p:nvPr>
            <p:ph idx="4294967295"/>
          </p:nvPr>
        </p:nvSpPr>
        <p:spPr>
          <a:xfrm>
            <a:off x="502872" y="1526506"/>
            <a:ext cx="11028193" cy="4265170"/>
          </a:xfrm>
        </p:spPr>
        <p:txBody>
          <a:bodyPr>
            <a:normAutofit/>
          </a:bodyPr>
          <a:lstStyle/>
          <a:p>
            <a:pPr marL="0" indent="353060">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例</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3.1】</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定义一个人类（类名用</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Person</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），描述人类的姓名、年龄、身高、体重，定义一个方法</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check</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用来检验人的体重是否在正常范围之内，定义一个方法</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out</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用于输出个人资料。体重指数的计算公式如下：</a:t>
            </a:r>
            <a:endParaRPr lang="zh-CN" altLang="en-US"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r>
              <a:rPr lang="zh-CN" altLang="en-US" sz="2800" b="1" dirty="0">
                <a:latin typeface="宋体" panose="02010600030101010101" pitchFamily="2" charset="-122"/>
                <a:ea typeface="宋体" panose="02010600030101010101" pitchFamily="2" charset="-122"/>
                <a:cs typeface="Times New Roman" panose="02020603050405020304" pitchFamily="18" charset="0"/>
              </a:rPr>
              <a:t>体重指数</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 </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体重（公斤）</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（身高（米）的平方）</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kg/m2 </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r>
              <a:rPr lang="zh-CN" altLang="en-US" sz="2800" b="1" dirty="0">
                <a:latin typeface="宋体" panose="02010600030101010101" pitchFamily="2" charset="-122"/>
                <a:ea typeface="宋体" panose="02010600030101010101" pitchFamily="2" charset="-122"/>
                <a:cs typeface="Times New Roman" panose="02020603050405020304" pitchFamily="18" charset="0"/>
              </a:rPr>
              <a:t>正常体重：体重指数</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=18-25 </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r>
              <a:rPr lang="zh-CN" altLang="en-US" sz="2800" b="1" dirty="0">
                <a:latin typeface="宋体" panose="02010600030101010101" pitchFamily="2" charset="-122"/>
                <a:ea typeface="宋体" panose="02010600030101010101" pitchFamily="2" charset="-122"/>
                <a:cs typeface="Times New Roman" panose="02020603050405020304" pitchFamily="18" charset="0"/>
              </a:rPr>
              <a:t>偏瘦：体重指数</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&lt;18</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r>
              <a:rPr lang="zh-CN" altLang="en-US" sz="2800" b="1" dirty="0">
                <a:latin typeface="宋体" panose="02010600030101010101" pitchFamily="2" charset="-122"/>
                <a:ea typeface="宋体" panose="02010600030101010101" pitchFamily="2" charset="-122"/>
                <a:cs typeface="Times New Roman" panose="02020603050405020304" pitchFamily="18" charset="0"/>
              </a:rPr>
              <a:t>偏胖：体重指数</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&gt;25 </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endParaRPr lang="zh-CN" altLang="en-US" sz="2800"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21508"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F40E8F30-1697-435B-9AE0-C5686725A35B}"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342908" y="612451"/>
            <a:ext cx="8147318" cy="75052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dirty="0">
                <a:latin typeface="宋体" panose="02010600030101010101" pitchFamily="2" charset="-122"/>
                <a:ea typeface="宋体" panose="02010600030101010101" pitchFamily="2" charset="-122"/>
              </a:rPr>
              <a:t>1</a:t>
            </a:r>
            <a:r>
              <a:rPr lang="zh-CN" altLang="en-US" sz="2800" dirty="0">
                <a:latin typeface="宋体" panose="02010600030101010101" pitchFamily="2" charset="-122"/>
                <a:ea typeface="宋体" panose="02010600030101010101" pitchFamily="2" charset="-122"/>
              </a:rPr>
              <a:t>、类的声明</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成员变量和成员方法</a:t>
            </a:r>
            <a:endParaRPr lang="zh-CN" altLang="en-US" sz="2800" dirty="0">
              <a:latin typeface="宋体" panose="02010600030101010101" pitchFamily="2" charset="-122"/>
              <a:ea typeface="宋体" panose="02010600030101010101" pitchFamily="2" charset="-122"/>
            </a:endParaRPr>
          </a:p>
        </p:txBody>
      </p:sp>
      <p:sp>
        <p:nvSpPr>
          <p:cNvPr id="6" name="标题 1"/>
          <p:cNvSpPr txBox="1"/>
          <p:nvPr/>
        </p:nvSpPr>
        <p:spPr>
          <a:xfrm>
            <a:off x="244884" y="173502"/>
            <a:ext cx="8147318" cy="60643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3.2 </a:t>
            </a:r>
            <a:r>
              <a:rPr lang="zh-CN" altLang="en-US" dirty="0">
                <a:latin typeface="宋体" panose="02010600030101010101" pitchFamily="2" charset="-122"/>
                <a:ea typeface="宋体" panose="02010600030101010101" pitchFamily="2" charset="-122"/>
              </a:rPr>
              <a:t>类与对象</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22531" name="内容占位符 2"/>
          <p:cNvSpPr>
            <a:spLocks noGrp="1"/>
          </p:cNvSpPr>
          <p:nvPr>
            <p:ph idx="4294967295"/>
          </p:nvPr>
        </p:nvSpPr>
        <p:spPr>
          <a:xfrm>
            <a:off x="102668" y="1449602"/>
            <a:ext cx="4914256" cy="5331494"/>
          </a:xfrm>
        </p:spPr>
        <p:txBody>
          <a:bodyPr>
            <a:normAutofit fontScale="92500" lnSpcReduction="20000"/>
          </a:bodyPr>
          <a:lstStyle/>
          <a:p>
            <a:pPr marL="0" indent="353060">
              <a:lnSpc>
                <a:spcPct val="120000"/>
              </a:lnSpc>
              <a:spcBef>
                <a:spcPts val="0"/>
              </a:spcBef>
              <a:buNone/>
            </a:pPr>
            <a:r>
              <a:rPr lang="en-US" altLang="zh-CN" sz="2170" b="1" dirty="0">
                <a:latin typeface="Times New Roman" panose="02020603050405020304" pitchFamily="18" charset="0"/>
                <a:cs typeface="Times New Roman" panose="02020603050405020304" pitchFamily="18" charset="0"/>
              </a:rPr>
              <a:t>public class Person</a:t>
            </a:r>
            <a:endParaRPr lang="zh-CN" altLang="en-US" sz="2170" b="1" dirty="0">
              <a:latin typeface="Times New Roman" panose="02020603050405020304" pitchFamily="18" charset="0"/>
              <a:cs typeface="Times New Roman" panose="02020603050405020304" pitchFamily="18" charset="0"/>
            </a:endParaRPr>
          </a:p>
          <a:p>
            <a:pPr marL="0" indent="353060">
              <a:lnSpc>
                <a:spcPct val="120000"/>
              </a:lnSpc>
              <a:spcBef>
                <a:spcPts val="0"/>
              </a:spcBef>
              <a:buNone/>
            </a:pPr>
            <a:r>
              <a:rPr lang="en-US" altLang="zh-CN" sz="2170" b="1" dirty="0">
                <a:latin typeface="Times New Roman" panose="02020603050405020304" pitchFamily="18" charset="0"/>
                <a:cs typeface="Times New Roman" panose="02020603050405020304" pitchFamily="18" charset="0"/>
              </a:rPr>
              <a:t>{</a:t>
            </a:r>
            <a:endParaRPr lang="zh-CN" altLang="en-US" sz="2170" b="1" dirty="0">
              <a:latin typeface="Times New Roman" panose="02020603050405020304" pitchFamily="18" charset="0"/>
              <a:cs typeface="Times New Roman" panose="02020603050405020304" pitchFamily="18" charset="0"/>
            </a:endParaRPr>
          </a:p>
          <a:p>
            <a:pPr marL="0" indent="353060">
              <a:lnSpc>
                <a:spcPct val="120000"/>
              </a:lnSpc>
              <a:spcBef>
                <a:spcPts val="0"/>
              </a:spcBef>
              <a:buNone/>
            </a:pPr>
            <a:r>
              <a:rPr lang="en-US" altLang="zh-CN" sz="2170" b="1" dirty="0">
                <a:latin typeface="Times New Roman" panose="02020603050405020304" pitchFamily="18" charset="0"/>
                <a:cs typeface="Times New Roman" panose="02020603050405020304" pitchFamily="18" charset="0"/>
              </a:rPr>
              <a:t>	String name;</a:t>
            </a:r>
            <a:endParaRPr lang="zh-CN" altLang="en-US" sz="2170" b="1" dirty="0">
              <a:latin typeface="Times New Roman" panose="02020603050405020304" pitchFamily="18" charset="0"/>
              <a:cs typeface="Times New Roman" panose="02020603050405020304" pitchFamily="18" charset="0"/>
            </a:endParaRPr>
          </a:p>
          <a:p>
            <a:pPr marL="0" indent="353060">
              <a:lnSpc>
                <a:spcPct val="120000"/>
              </a:lnSpc>
              <a:spcBef>
                <a:spcPts val="0"/>
              </a:spcBef>
              <a:buNone/>
            </a:pPr>
            <a:r>
              <a:rPr lang="en-US" altLang="zh-CN" sz="2170" b="1" dirty="0">
                <a:latin typeface="Times New Roman" panose="02020603050405020304" pitchFamily="18" charset="0"/>
                <a:cs typeface="Times New Roman" panose="02020603050405020304" pitchFamily="18" charset="0"/>
              </a:rPr>
              <a:t>	int age; </a:t>
            </a:r>
            <a:endParaRPr lang="zh-CN" altLang="en-US" sz="2170" b="1" dirty="0">
              <a:latin typeface="Times New Roman" panose="02020603050405020304" pitchFamily="18" charset="0"/>
              <a:cs typeface="Times New Roman" panose="02020603050405020304" pitchFamily="18" charset="0"/>
            </a:endParaRPr>
          </a:p>
          <a:p>
            <a:pPr marL="0" indent="353060">
              <a:lnSpc>
                <a:spcPct val="120000"/>
              </a:lnSpc>
              <a:spcBef>
                <a:spcPts val="0"/>
              </a:spcBef>
              <a:buNone/>
            </a:pPr>
            <a:r>
              <a:rPr lang="en-US" altLang="zh-CN" sz="2170" b="1" dirty="0">
                <a:latin typeface="Times New Roman" panose="02020603050405020304" pitchFamily="18" charset="0"/>
                <a:cs typeface="Times New Roman" panose="02020603050405020304" pitchFamily="18" charset="0"/>
              </a:rPr>
              <a:t>	float </a:t>
            </a:r>
            <a:r>
              <a:rPr lang="en-US" altLang="zh-CN" sz="2170" b="1" dirty="0" err="1">
                <a:latin typeface="Times New Roman" panose="02020603050405020304" pitchFamily="18" charset="0"/>
                <a:cs typeface="Times New Roman" panose="02020603050405020304" pitchFamily="18" charset="0"/>
              </a:rPr>
              <a:t>weight,height</a:t>
            </a:r>
            <a:r>
              <a:rPr lang="en-US" altLang="zh-CN" sz="2170" b="1" dirty="0">
                <a:latin typeface="Times New Roman" panose="02020603050405020304" pitchFamily="18" charset="0"/>
                <a:cs typeface="Times New Roman" panose="02020603050405020304" pitchFamily="18" charset="0"/>
              </a:rPr>
              <a:t>;</a:t>
            </a:r>
            <a:endParaRPr lang="zh-CN" altLang="en-US" sz="2170" b="1" dirty="0">
              <a:latin typeface="Times New Roman" panose="02020603050405020304" pitchFamily="18" charset="0"/>
              <a:cs typeface="Times New Roman" panose="02020603050405020304" pitchFamily="18" charset="0"/>
            </a:endParaRPr>
          </a:p>
          <a:p>
            <a:pPr marL="0" indent="353060">
              <a:lnSpc>
                <a:spcPct val="120000"/>
              </a:lnSpc>
              <a:spcBef>
                <a:spcPts val="0"/>
              </a:spcBef>
              <a:buNone/>
            </a:pPr>
            <a:r>
              <a:rPr lang="en-US" altLang="zh-CN" sz="2170" b="1" dirty="0">
                <a:latin typeface="Times New Roman" panose="02020603050405020304" pitchFamily="18" charset="0"/>
                <a:cs typeface="Times New Roman" panose="02020603050405020304" pitchFamily="18" charset="0"/>
              </a:rPr>
              <a:t>	String check()</a:t>
            </a:r>
            <a:endParaRPr lang="zh-CN" altLang="en-US" sz="2170" b="1" dirty="0">
              <a:latin typeface="Times New Roman" panose="02020603050405020304" pitchFamily="18" charset="0"/>
              <a:cs typeface="Times New Roman" panose="02020603050405020304" pitchFamily="18" charset="0"/>
            </a:endParaRPr>
          </a:p>
          <a:p>
            <a:pPr marL="0" indent="353060">
              <a:lnSpc>
                <a:spcPct val="120000"/>
              </a:lnSpc>
              <a:spcBef>
                <a:spcPts val="0"/>
              </a:spcBef>
              <a:buNone/>
            </a:pPr>
            <a:r>
              <a:rPr lang="en-US" altLang="zh-CN" sz="2170" b="1" dirty="0">
                <a:latin typeface="Times New Roman" panose="02020603050405020304" pitchFamily="18" charset="0"/>
                <a:cs typeface="Times New Roman" panose="02020603050405020304" pitchFamily="18" charset="0"/>
              </a:rPr>
              <a:t>	{</a:t>
            </a:r>
            <a:endParaRPr lang="zh-CN" altLang="en-US" sz="2170" b="1" dirty="0">
              <a:latin typeface="Times New Roman" panose="02020603050405020304" pitchFamily="18" charset="0"/>
              <a:cs typeface="Times New Roman" panose="02020603050405020304" pitchFamily="18" charset="0"/>
            </a:endParaRPr>
          </a:p>
          <a:p>
            <a:pPr marL="0" indent="353060">
              <a:lnSpc>
                <a:spcPct val="120000"/>
              </a:lnSpc>
              <a:spcBef>
                <a:spcPts val="0"/>
              </a:spcBef>
              <a:buNone/>
            </a:pPr>
            <a:r>
              <a:rPr lang="en-US" altLang="zh-CN" sz="2170" b="1" dirty="0">
                <a:latin typeface="Times New Roman" panose="02020603050405020304" pitchFamily="18" charset="0"/>
                <a:cs typeface="Times New Roman" panose="02020603050405020304" pitchFamily="18" charset="0"/>
              </a:rPr>
              <a:t>		float exp;</a:t>
            </a:r>
            <a:endParaRPr lang="zh-CN" altLang="en-US" sz="2170" b="1" dirty="0">
              <a:latin typeface="Times New Roman" panose="02020603050405020304" pitchFamily="18" charset="0"/>
              <a:cs typeface="Times New Roman" panose="02020603050405020304" pitchFamily="18" charset="0"/>
            </a:endParaRPr>
          </a:p>
          <a:p>
            <a:pPr marL="0" indent="353060">
              <a:lnSpc>
                <a:spcPct val="120000"/>
              </a:lnSpc>
              <a:spcBef>
                <a:spcPts val="0"/>
              </a:spcBef>
              <a:buNone/>
            </a:pPr>
            <a:r>
              <a:rPr lang="en-US" altLang="zh-CN" sz="2170" b="1" dirty="0">
                <a:latin typeface="Times New Roman" panose="02020603050405020304" pitchFamily="18" charset="0"/>
                <a:cs typeface="Times New Roman" panose="02020603050405020304" pitchFamily="18" charset="0"/>
              </a:rPr>
              <a:t>		exp=weight/(height*height);</a:t>
            </a:r>
            <a:endParaRPr lang="zh-CN" altLang="en-US" sz="2170" b="1" dirty="0">
              <a:latin typeface="Times New Roman" panose="02020603050405020304" pitchFamily="18" charset="0"/>
              <a:cs typeface="Times New Roman" panose="02020603050405020304" pitchFamily="18" charset="0"/>
            </a:endParaRPr>
          </a:p>
          <a:p>
            <a:pPr marL="0" indent="353060">
              <a:lnSpc>
                <a:spcPct val="120000"/>
              </a:lnSpc>
              <a:spcBef>
                <a:spcPts val="0"/>
              </a:spcBef>
              <a:buNone/>
            </a:pPr>
            <a:r>
              <a:rPr lang="en-US" altLang="zh-CN" sz="2170" b="1" dirty="0">
                <a:latin typeface="Times New Roman" panose="02020603050405020304" pitchFamily="18" charset="0"/>
                <a:cs typeface="Times New Roman" panose="02020603050405020304" pitchFamily="18" charset="0"/>
              </a:rPr>
              <a:t>		if(exp&lt;18)</a:t>
            </a:r>
            <a:endParaRPr lang="zh-CN" altLang="en-US" sz="2170" b="1" dirty="0">
              <a:latin typeface="Times New Roman" panose="02020603050405020304" pitchFamily="18" charset="0"/>
              <a:cs typeface="Times New Roman" panose="02020603050405020304" pitchFamily="18" charset="0"/>
            </a:endParaRPr>
          </a:p>
          <a:p>
            <a:pPr marL="0" indent="353060">
              <a:lnSpc>
                <a:spcPct val="120000"/>
              </a:lnSpc>
              <a:spcBef>
                <a:spcPts val="0"/>
              </a:spcBef>
              <a:buNone/>
            </a:pPr>
            <a:r>
              <a:rPr lang="en-US" altLang="zh-CN" sz="2170" b="1" dirty="0">
                <a:latin typeface="Times New Roman" panose="02020603050405020304" pitchFamily="18" charset="0"/>
                <a:cs typeface="Times New Roman" panose="02020603050405020304" pitchFamily="18" charset="0"/>
              </a:rPr>
              <a:t>			return "</a:t>
            </a:r>
            <a:r>
              <a:rPr lang="zh-CN" altLang="en-US" sz="2170" b="1" dirty="0">
                <a:latin typeface="Times New Roman" panose="02020603050405020304" pitchFamily="18" charset="0"/>
                <a:cs typeface="Times New Roman" panose="02020603050405020304" pitchFamily="18" charset="0"/>
              </a:rPr>
              <a:t>偏瘦</a:t>
            </a:r>
            <a:r>
              <a:rPr lang="en-US" altLang="zh-CN" sz="2170" b="1" dirty="0">
                <a:latin typeface="Times New Roman" panose="02020603050405020304" pitchFamily="18" charset="0"/>
                <a:cs typeface="Times New Roman" panose="02020603050405020304" pitchFamily="18" charset="0"/>
              </a:rPr>
              <a:t>";</a:t>
            </a:r>
            <a:endParaRPr lang="zh-CN" altLang="en-US" sz="2170" b="1" dirty="0">
              <a:latin typeface="Times New Roman" panose="02020603050405020304" pitchFamily="18" charset="0"/>
              <a:cs typeface="Times New Roman" panose="02020603050405020304" pitchFamily="18" charset="0"/>
            </a:endParaRPr>
          </a:p>
          <a:p>
            <a:pPr marL="0" indent="353060">
              <a:lnSpc>
                <a:spcPct val="120000"/>
              </a:lnSpc>
              <a:spcBef>
                <a:spcPts val="0"/>
              </a:spcBef>
              <a:buNone/>
            </a:pPr>
            <a:r>
              <a:rPr lang="en-US" altLang="zh-CN" sz="2170" b="1" dirty="0">
                <a:latin typeface="Times New Roman" panose="02020603050405020304" pitchFamily="18" charset="0"/>
                <a:cs typeface="Times New Roman" panose="02020603050405020304" pitchFamily="18" charset="0"/>
              </a:rPr>
              <a:t>		else if(exp&lt;=25)</a:t>
            </a:r>
            <a:endParaRPr lang="zh-CN" altLang="en-US" sz="2170" b="1" dirty="0">
              <a:latin typeface="Times New Roman" panose="02020603050405020304" pitchFamily="18" charset="0"/>
              <a:cs typeface="Times New Roman" panose="02020603050405020304" pitchFamily="18" charset="0"/>
            </a:endParaRPr>
          </a:p>
          <a:p>
            <a:pPr marL="0" indent="353060">
              <a:lnSpc>
                <a:spcPct val="120000"/>
              </a:lnSpc>
              <a:spcBef>
                <a:spcPts val="0"/>
              </a:spcBef>
              <a:buNone/>
            </a:pPr>
            <a:r>
              <a:rPr lang="en-US" altLang="zh-CN" sz="2170" b="1" dirty="0">
                <a:latin typeface="Times New Roman" panose="02020603050405020304" pitchFamily="18" charset="0"/>
                <a:cs typeface="Times New Roman" panose="02020603050405020304" pitchFamily="18" charset="0"/>
              </a:rPr>
              <a:t>			return "</a:t>
            </a:r>
            <a:r>
              <a:rPr lang="zh-CN" altLang="en-US" sz="2170" b="1" dirty="0">
                <a:latin typeface="Times New Roman" panose="02020603050405020304" pitchFamily="18" charset="0"/>
                <a:cs typeface="Times New Roman" panose="02020603050405020304" pitchFamily="18" charset="0"/>
              </a:rPr>
              <a:t>正常</a:t>
            </a:r>
            <a:r>
              <a:rPr lang="en-US" altLang="zh-CN" sz="2170" b="1" dirty="0">
                <a:latin typeface="Times New Roman" panose="02020603050405020304" pitchFamily="18" charset="0"/>
                <a:cs typeface="Times New Roman" panose="02020603050405020304" pitchFamily="18" charset="0"/>
              </a:rPr>
              <a:t>";</a:t>
            </a:r>
            <a:endParaRPr lang="zh-CN" altLang="en-US" sz="2170" b="1" dirty="0">
              <a:latin typeface="Times New Roman" panose="02020603050405020304" pitchFamily="18" charset="0"/>
              <a:cs typeface="Times New Roman" panose="02020603050405020304" pitchFamily="18" charset="0"/>
            </a:endParaRPr>
          </a:p>
          <a:p>
            <a:pPr marL="0" indent="353060">
              <a:lnSpc>
                <a:spcPct val="120000"/>
              </a:lnSpc>
              <a:spcBef>
                <a:spcPts val="0"/>
              </a:spcBef>
              <a:buNone/>
            </a:pPr>
            <a:r>
              <a:rPr lang="en-US" altLang="zh-CN" sz="2170" b="1" dirty="0">
                <a:latin typeface="Times New Roman" panose="02020603050405020304" pitchFamily="18" charset="0"/>
                <a:cs typeface="Times New Roman" panose="02020603050405020304" pitchFamily="18" charset="0"/>
              </a:rPr>
              <a:t>		else</a:t>
            </a:r>
            <a:endParaRPr lang="zh-CN" altLang="en-US" sz="2170" b="1" dirty="0">
              <a:latin typeface="Times New Roman" panose="02020603050405020304" pitchFamily="18" charset="0"/>
              <a:cs typeface="Times New Roman" panose="02020603050405020304" pitchFamily="18" charset="0"/>
            </a:endParaRPr>
          </a:p>
          <a:p>
            <a:pPr marL="0" indent="353060">
              <a:lnSpc>
                <a:spcPct val="120000"/>
              </a:lnSpc>
              <a:spcBef>
                <a:spcPts val="0"/>
              </a:spcBef>
              <a:buNone/>
            </a:pPr>
            <a:r>
              <a:rPr lang="en-US" altLang="zh-CN" sz="2170" b="1" dirty="0">
                <a:latin typeface="Times New Roman" panose="02020603050405020304" pitchFamily="18" charset="0"/>
                <a:cs typeface="Times New Roman" panose="02020603050405020304" pitchFamily="18" charset="0"/>
              </a:rPr>
              <a:t>			return "</a:t>
            </a:r>
            <a:r>
              <a:rPr lang="zh-CN" altLang="en-US" sz="2170" b="1" dirty="0">
                <a:latin typeface="Times New Roman" panose="02020603050405020304" pitchFamily="18" charset="0"/>
                <a:cs typeface="Times New Roman" panose="02020603050405020304" pitchFamily="18" charset="0"/>
              </a:rPr>
              <a:t>偏胖</a:t>
            </a:r>
            <a:r>
              <a:rPr lang="en-US" altLang="zh-CN" sz="2170" b="1" dirty="0">
                <a:latin typeface="Times New Roman" panose="02020603050405020304" pitchFamily="18" charset="0"/>
                <a:cs typeface="Times New Roman" panose="02020603050405020304" pitchFamily="18" charset="0"/>
              </a:rPr>
              <a:t>";</a:t>
            </a:r>
            <a:endParaRPr lang="zh-CN" altLang="en-US" sz="2170" b="1" dirty="0">
              <a:latin typeface="Times New Roman" panose="02020603050405020304" pitchFamily="18" charset="0"/>
              <a:cs typeface="Times New Roman" panose="02020603050405020304" pitchFamily="18" charset="0"/>
            </a:endParaRPr>
          </a:p>
          <a:p>
            <a:pPr marL="0" indent="353060">
              <a:lnSpc>
                <a:spcPct val="120000"/>
              </a:lnSpc>
              <a:spcBef>
                <a:spcPts val="0"/>
              </a:spcBef>
              <a:buNone/>
            </a:pPr>
            <a:r>
              <a:rPr lang="en-US" altLang="zh-CN" sz="2170" b="1" dirty="0">
                <a:latin typeface="Times New Roman" panose="02020603050405020304" pitchFamily="18" charset="0"/>
                <a:cs typeface="Times New Roman" panose="02020603050405020304" pitchFamily="18" charset="0"/>
              </a:rPr>
              <a:t>	}</a:t>
            </a:r>
            <a:endParaRPr lang="zh-CN" altLang="en-US" sz="2170" b="1" dirty="0">
              <a:latin typeface="Times New Roman" panose="02020603050405020304" pitchFamily="18" charset="0"/>
              <a:cs typeface="Times New Roman" panose="02020603050405020304" pitchFamily="18" charset="0"/>
            </a:endParaRPr>
          </a:p>
        </p:txBody>
      </p:sp>
      <p:sp>
        <p:nvSpPr>
          <p:cNvPr id="22532"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8FF8E66F-B360-463A-886C-DA05EE7560C8}"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342908" y="612451"/>
            <a:ext cx="8147318" cy="75052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dirty="0">
                <a:latin typeface="宋体" panose="02010600030101010101" pitchFamily="2" charset="-122"/>
                <a:ea typeface="宋体" panose="02010600030101010101" pitchFamily="2" charset="-122"/>
              </a:rPr>
              <a:t>1</a:t>
            </a:r>
            <a:r>
              <a:rPr lang="zh-CN" altLang="en-US" sz="2800" dirty="0">
                <a:latin typeface="宋体" panose="02010600030101010101" pitchFamily="2" charset="-122"/>
                <a:ea typeface="宋体" panose="02010600030101010101" pitchFamily="2" charset="-122"/>
              </a:rPr>
              <a:t>、类的声明</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成员变量和成员方法</a:t>
            </a:r>
            <a:endParaRPr lang="zh-CN" altLang="en-US" sz="2800" dirty="0">
              <a:latin typeface="宋体" panose="02010600030101010101" pitchFamily="2" charset="-122"/>
              <a:ea typeface="宋体" panose="02010600030101010101" pitchFamily="2" charset="-122"/>
            </a:endParaRPr>
          </a:p>
        </p:txBody>
      </p:sp>
      <p:sp>
        <p:nvSpPr>
          <p:cNvPr id="6" name="标题 1"/>
          <p:cNvSpPr txBox="1"/>
          <p:nvPr/>
        </p:nvSpPr>
        <p:spPr>
          <a:xfrm>
            <a:off x="244884" y="173502"/>
            <a:ext cx="8147318" cy="60643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3.2 </a:t>
            </a:r>
            <a:r>
              <a:rPr lang="zh-CN" altLang="en-US" dirty="0">
                <a:latin typeface="宋体" panose="02010600030101010101" pitchFamily="2" charset="-122"/>
                <a:ea typeface="宋体" panose="02010600030101010101" pitchFamily="2" charset="-122"/>
              </a:rPr>
              <a:t>类与对象</a:t>
            </a:r>
            <a:endParaRPr lang="zh-CN" altLang="en-US" dirty="0">
              <a:latin typeface="宋体" panose="02010600030101010101" pitchFamily="2" charset="-122"/>
              <a:ea typeface="宋体" panose="02010600030101010101" pitchFamily="2" charset="-122"/>
            </a:endParaRPr>
          </a:p>
        </p:txBody>
      </p:sp>
      <p:sp>
        <p:nvSpPr>
          <p:cNvPr id="7" name="内容占位符 2"/>
          <p:cNvSpPr txBox="1"/>
          <p:nvPr/>
        </p:nvSpPr>
        <p:spPr>
          <a:xfrm>
            <a:off x="5237292" y="1657690"/>
            <a:ext cx="6852040" cy="390410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685800" indent="-179705" algn="l" defTabSz="914400" rtl="0" eaLnBrk="1" latinLnBrk="0" hangingPunct="1">
              <a:lnSpc>
                <a:spcPct val="90000"/>
              </a:lnSpc>
              <a:spcBef>
                <a:spcPts val="800"/>
              </a:spcBef>
              <a:buClr>
                <a:schemeClr val="accent1">
                  <a:lumMod val="75000"/>
                </a:schemeClr>
              </a:buClr>
              <a:buSzPct val="100000"/>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anose="020B0604020202020204"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1143000" indent="-179705"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Char char="▪"/>
              <a:defRPr sz="1400" kern="1200">
                <a:solidFill>
                  <a:schemeClr val="tx1"/>
                </a:solidFill>
                <a:latin typeface="+mn-lt"/>
                <a:ea typeface="+mn-ea"/>
                <a:cs typeface="+mn-cs"/>
              </a:defRPr>
            </a:lvl6pPr>
            <a:lvl7pPr marL="1600200" indent="-179705"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Char char="▪"/>
              <a:defRPr sz="1400" kern="1200">
                <a:solidFill>
                  <a:schemeClr val="tx1"/>
                </a:solidFill>
                <a:latin typeface="+mn-lt"/>
                <a:ea typeface="+mn-ea"/>
                <a:cs typeface="+mn-cs"/>
              </a:defRPr>
            </a:lvl8pPr>
            <a:lvl9pPr marL="1877695" indent="0"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None/>
              <a:defRPr sz="1400" kern="1200">
                <a:solidFill>
                  <a:schemeClr val="tx1"/>
                </a:solidFill>
                <a:latin typeface="+mn-lt"/>
                <a:ea typeface="+mn-ea"/>
                <a:cs typeface="+mn-cs"/>
              </a:defRPr>
            </a:lvl9pPr>
          </a:lstStyle>
          <a:p>
            <a:pPr marL="0" indent="0">
              <a:lnSpc>
                <a:spcPct val="120000"/>
              </a:lnSpc>
              <a:spcBef>
                <a:spcPts val="0"/>
              </a:spcBef>
              <a:buFont typeface="Arial" panose="020B0604020202020204" pitchFamily="34" charset="0"/>
              <a:buNone/>
            </a:pPr>
            <a:r>
              <a:rPr lang="en-US" altLang="zh-CN" sz="2170" b="1">
                <a:latin typeface="Times New Roman" panose="02020603050405020304" pitchFamily="18" charset="0"/>
                <a:cs typeface="Times New Roman" panose="02020603050405020304" pitchFamily="18" charset="0"/>
              </a:rPr>
              <a:t>void out()</a:t>
            </a:r>
            <a:endParaRPr lang="zh-CN" altLang="en-US" sz="2170" b="1">
              <a:latin typeface="Times New Roman" panose="02020603050405020304" pitchFamily="18" charset="0"/>
              <a:cs typeface="Times New Roman" panose="02020603050405020304" pitchFamily="18" charset="0"/>
            </a:endParaRPr>
          </a:p>
          <a:p>
            <a:pPr marL="0" indent="0">
              <a:lnSpc>
                <a:spcPct val="120000"/>
              </a:lnSpc>
              <a:spcBef>
                <a:spcPts val="0"/>
              </a:spcBef>
              <a:buFont typeface="Arial" panose="020B0604020202020204" pitchFamily="34" charset="0"/>
              <a:buNone/>
            </a:pPr>
            <a:r>
              <a:rPr lang="en-US" altLang="zh-CN" sz="2170" b="1">
                <a:latin typeface="Times New Roman" panose="02020603050405020304" pitchFamily="18" charset="0"/>
                <a:cs typeface="Times New Roman" panose="02020603050405020304" pitchFamily="18" charset="0"/>
              </a:rPr>
              <a:t>{</a:t>
            </a:r>
            <a:endParaRPr lang="zh-CN" altLang="en-US" sz="2170" b="1">
              <a:latin typeface="Times New Roman" panose="02020603050405020304" pitchFamily="18" charset="0"/>
              <a:cs typeface="Times New Roman" panose="02020603050405020304" pitchFamily="18" charset="0"/>
            </a:endParaRPr>
          </a:p>
          <a:p>
            <a:pPr marL="0" indent="0">
              <a:lnSpc>
                <a:spcPct val="120000"/>
              </a:lnSpc>
              <a:spcBef>
                <a:spcPts val="0"/>
              </a:spcBef>
              <a:buFont typeface="Arial" panose="020B0604020202020204" pitchFamily="34" charset="0"/>
              <a:buNone/>
            </a:pPr>
            <a:r>
              <a:rPr lang="en-US" altLang="zh-CN" sz="2170" b="1">
                <a:latin typeface="Times New Roman" panose="02020603050405020304" pitchFamily="18" charset="0"/>
                <a:cs typeface="Times New Roman" panose="02020603050405020304" pitchFamily="18" charset="0"/>
              </a:rPr>
              <a:t>	System.out.println ("</a:t>
            </a:r>
            <a:r>
              <a:rPr lang="zh-CN" altLang="en-US" sz="2170" b="1">
                <a:latin typeface="Times New Roman" panose="02020603050405020304" pitchFamily="18" charset="0"/>
                <a:cs typeface="Times New Roman" panose="02020603050405020304" pitchFamily="18" charset="0"/>
              </a:rPr>
              <a:t>姓名：</a:t>
            </a:r>
            <a:r>
              <a:rPr lang="en-US" altLang="zh-CN" sz="2170" b="1">
                <a:latin typeface="Times New Roman" panose="02020603050405020304" pitchFamily="18" charset="0"/>
                <a:cs typeface="Times New Roman" panose="02020603050405020304" pitchFamily="18" charset="0"/>
              </a:rPr>
              <a:t>"+name);</a:t>
            </a:r>
            <a:endParaRPr lang="zh-CN" altLang="en-US" sz="2170" b="1">
              <a:latin typeface="Times New Roman" panose="02020603050405020304" pitchFamily="18" charset="0"/>
              <a:cs typeface="Times New Roman" panose="02020603050405020304" pitchFamily="18" charset="0"/>
            </a:endParaRPr>
          </a:p>
          <a:p>
            <a:pPr marL="0" indent="0">
              <a:lnSpc>
                <a:spcPct val="120000"/>
              </a:lnSpc>
              <a:spcBef>
                <a:spcPts val="0"/>
              </a:spcBef>
              <a:buFont typeface="Arial" panose="020B0604020202020204" pitchFamily="34" charset="0"/>
              <a:buNone/>
            </a:pPr>
            <a:r>
              <a:rPr lang="en-US" altLang="zh-CN" sz="2170" b="1">
                <a:latin typeface="Times New Roman" panose="02020603050405020304" pitchFamily="18" charset="0"/>
                <a:cs typeface="Times New Roman" panose="02020603050405020304" pitchFamily="18" charset="0"/>
              </a:rPr>
              <a:t>	System.out.println ("</a:t>
            </a:r>
            <a:r>
              <a:rPr lang="zh-CN" altLang="en-US" sz="2170" b="1">
                <a:latin typeface="Times New Roman" panose="02020603050405020304" pitchFamily="18" charset="0"/>
                <a:cs typeface="Times New Roman" panose="02020603050405020304" pitchFamily="18" charset="0"/>
              </a:rPr>
              <a:t>年龄：</a:t>
            </a:r>
            <a:r>
              <a:rPr lang="en-US" altLang="zh-CN" sz="2170" b="1">
                <a:latin typeface="Times New Roman" panose="02020603050405020304" pitchFamily="18" charset="0"/>
                <a:cs typeface="Times New Roman" panose="02020603050405020304" pitchFamily="18" charset="0"/>
              </a:rPr>
              <a:t>"+age);</a:t>
            </a:r>
            <a:endParaRPr lang="zh-CN" altLang="en-US" sz="2170" b="1">
              <a:latin typeface="Times New Roman" panose="02020603050405020304" pitchFamily="18" charset="0"/>
              <a:cs typeface="Times New Roman" panose="02020603050405020304" pitchFamily="18" charset="0"/>
            </a:endParaRPr>
          </a:p>
          <a:p>
            <a:pPr marL="0" indent="0">
              <a:lnSpc>
                <a:spcPct val="120000"/>
              </a:lnSpc>
              <a:spcBef>
                <a:spcPts val="0"/>
              </a:spcBef>
              <a:buFont typeface="Arial" panose="020B0604020202020204" pitchFamily="34" charset="0"/>
              <a:buNone/>
            </a:pPr>
            <a:r>
              <a:rPr lang="en-US" altLang="zh-CN" sz="2170" b="1">
                <a:latin typeface="Times New Roman" panose="02020603050405020304" pitchFamily="18" charset="0"/>
                <a:cs typeface="Times New Roman" panose="02020603050405020304" pitchFamily="18" charset="0"/>
              </a:rPr>
              <a:t>	System.out.println ("</a:t>
            </a:r>
            <a:r>
              <a:rPr lang="zh-CN" altLang="en-US" sz="2170" b="1">
                <a:latin typeface="Times New Roman" panose="02020603050405020304" pitchFamily="18" charset="0"/>
                <a:cs typeface="Times New Roman" panose="02020603050405020304" pitchFamily="18" charset="0"/>
              </a:rPr>
              <a:t>身高：</a:t>
            </a:r>
            <a:r>
              <a:rPr lang="en-US" altLang="zh-CN" sz="2170" b="1">
                <a:latin typeface="Times New Roman" panose="02020603050405020304" pitchFamily="18" charset="0"/>
                <a:cs typeface="Times New Roman" panose="02020603050405020304" pitchFamily="18" charset="0"/>
              </a:rPr>
              <a:t>"+height+"</a:t>
            </a:r>
            <a:r>
              <a:rPr lang="zh-CN" altLang="en-US" sz="2170" b="1">
                <a:latin typeface="Times New Roman" panose="02020603050405020304" pitchFamily="18" charset="0"/>
                <a:cs typeface="Times New Roman" panose="02020603050405020304" pitchFamily="18" charset="0"/>
              </a:rPr>
              <a:t>米</a:t>
            </a:r>
            <a:r>
              <a:rPr lang="en-US" altLang="zh-CN" sz="2170" b="1">
                <a:latin typeface="Times New Roman" panose="02020603050405020304" pitchFamily="18" charset="0"/>
                <a:cs typeface="Times New Roman" panose="02020603050405020304" pitchFamily="18" charset="0"/>
              </a:rPr>
              <a:t>");</a:t>
            </a:r>
            <a:endParaRPr lang="zh-CN" altLang="en-US" sz="2170" b="1">
              <a:latin typeface="Times New Roman" panose="02020603050405020304" pitchFamily="18" charset="0"/>
              <a:cs typeface="Times New Roman" panose="02020603050405020304" pitchFamily="18" charset="0"/>
            </a:endParaRPr>
          </a:p>
          <a:p>
            <a:pPr marL="0" indent="0">
              <a:lnSpc>
                <a:spcPct val="120000"/>
              </a:lnSpc>
              <a:spcBef>
                <a:spcPts val="0"/>
              </a:spcBef>
              <a:buFont typeface="Arial" panose="020B0604020202020204" pitchFamily="34" charset="0"/>
              <a:buNone/>
            </a:pPr>
            <a:r>
              <a:rPr lang="en-US" altLang="zh-CN" sz="2170" b="1">
                <a:latin typeface="Times New Roman" panose="02020603050405020304" pitchFamily="18" charset="0"/>
                <a:cs typeface="Times New Roman" panose="02020603050405020304" pitchFamily="18" charset="0"/>
              </a:rPr>
              <a:t>	System.out.println ("</a:t>
            </a:r>
            <a:r>
              <a:rPr lang="zh-CN" altLang="en-US" sz="2170" b="1">
                <a:latin typeface="Times New Roman" panose="02020603050405020304" pitchFamily="18" charset="0"/>
                <a:cs typeface="Times New Roman" panose="02020603050405020304" pitchFamily="18" charset="0"/>
              </a:rPr>
              <a:t>体重：</a:t>
            </a:r>
            <a:r>
              <a:rPr lang="en-US" altLang="zh-CN" sz="2170" b="1">
                <a:latin typeface="Times New Roman" panose="02020603050405020304" pitchFamily="18" charset="0"/>
                <a:cs typeface="Times New Roman" panose="02020603050405020304" pitchFamily="18" charset="0"/>
              </a:rPr>
              <a:t>"+weight+"</a:t>
            </a:r>
            <a:r>
              <a:rPr lang="zh-CN" altLang="en-US" sz="2170" b="1">
                <a:latin typeface="Times New Roman" panose="02020603050405020304" pitchFamily="18" charset="0"/>
                <a:cs typeface="Times New Roman" panose="02020603050405020304" pitchFamily="18" charset="0"/>
              </a:rPr>
              <a:t>公斤</a:t>
            </a:r>
            <a:r>
              <a:rPr lang="en-US" altLang="zh-CN" sz="2170" b="1">
                <a:latin typeface="Times New Roman" panose="02020603050405020304" pitchFamily="18" charset="0"/>
                <a:cs typeface="Times New Roman" panose="02020603050405020304" pitchFamily="18" charset="0"/>
              </a:rPr>
              <a:t>");</a:t>
            </a:r>
            <a:endParaRPr lang="zh-CN" altLang="en-US" sz="2170" b="1">
              <a:latin typeface="Times New Roman" panose="02020603050405020304" pitchFamily="18" charset="0"/>
              <a:cs typeface="Times New Roman" panose="02020603050405020304" pitchFamily="18" charset="0"/>
            </a:endParaRPr>
          </a:p>
          <a:p>
            <a:pPr marL="0" indent="0">
              <a:lnSpc>
                <a:spcPct val="120000"/>
              </a:lnSpc>
              <a:spcBef>
                <a:spcPts val="0"/>
              </a:spcBef>
              <a:buFont typeface="Arial" panose="020B0604020202020204" pitchFamily="34" charset="0"/>
              <a:buNone/>
            </a:pPr>
            <a:r>
              <a:rPr lang="en-US" altLang="zh-CN" sz="2170" b="1">
                <a:latin typeface="Times New Roman" panose="02020603050405020304" pitchFamily="18" charset="0"/>
                <a:cs typeface="Times New Roman" panose="02020603050405020304" pitchFamily="18" charset="0"/>
              </a:rPr>
              <a:t>	System.out.println ("</a:t>
            </a:r>
            <a:r>
              <a:rPr lang="zh-CN" altLang="en-US" sz="2170" b="1">
                <a:latin typeface="Times New Roman" panose="02020603050405020304" pitchFamily="18" charset="0"/>
                <a:cs typeface="Times New Roman" panose="02020603050405020304" pitchFamily="18" charset="0"/>
              </a:rPr>
              <a:t>体重评价：</a:t>
            </a:r>
            <a:r>
              <a:rPr lang="en-US" altLang="zh-CN" sz="2170" b="1">
                <a:latin typeface="Times New Roman" panose="02020603050405020304" pitchFamily="18" charset="0"/>
                <a:cs typeface="Times New Roman" panose="02020603050405020304" pitchFamily="18" charset="0"/>
              </a:rPr>
              <a:t>"+check());</a:t>
            </a:r>
            <a:endParaRPr lang="zh-CN" altLang="en-US" sz="2170" b="1">
              <a:latin typeface="Times New Roman" panose="02020603050405020304" pitchFamily="18" charset="0"/>
              <a:cs typeface="Times New Roman" panose="02020603050405020304" pitchFamily="18" charset="0"/>
            </a:endParaRPr>
          </a:p>
          <a:p>
            <a:pPr marL="0" indent="0">
              <a:lnSpc>
                <a:spcPct val="120000"/>
              </a:lnSpc>
              <a:spcBef>
                <a:spcPts val="0"/>
              </a:spcBef>
              <a:buFont typeface="Arial" panose="020B0604020202020204" pitchFamily="34" charset="0"/>
              <a:buNone/>
            </a:pPr>
            <a:r>
              <a:rPr lang="en-US" altLang="zh-CN" sz="2170" b="1">
                <a:latin typeface="Times New Roman" panose="02020603050405020304" pitchFamily="18" charset="0"/>
                <a:cs typeface="Times New Roman" panose="02020603050405020304" pitchFamily="18" charset="0"/>
              </a:rPr>
              <a:t>}</a:t>
            </a:r>
            <a:endParaRPr lang="zh-CN" altLang="en-US" sz="2170" b="1">
              <a:latin typeface="Times New Roman" panose="02020603050405020304" pitchFamily="18" charset="0"/>
              <a:cs typeface="Times New Roman" panose="02020603050405020304" pitchFamily="18" charset="0"/>
            </a:endParaRPr>
          </a:p>
          <a:p>
            <a:pPr marL="0" indent="0">
              <a:lnSpc>
                <a:spcPct val="120000"/>
              </a:lnSpc>
              <a:spcBef>
                <a:spcPts val="0"/>
              </a:spcBef>
              <a:buFont typeface="Arial" panose="020B0604020202020204" pitchFamily="34" charset="0"/>
              <a:buNone/>
            </a:pPr>
            <a:r>
              <a:rPr lang="en-US" altLang="zh-CN" sz="2170" b="1">
                <a:latin typeface="Times New Roman" panose="02020603050405020304" pitchFamily="18" charset="0"/>
                <a:cs typeface="Times New Roman" panose="02020603050405020304" pitchFamily="18" charset="0"/>
              </a:rPr>
              <a:t>}</a:t>
            </a:r>
            <a:endParaRPr lang="zh-CN" altLang="en-US" sz="2170" b="1">
              <a:latin typeface="Times New Roman" panose="02020603050405020304" pitchFamily="18" charset="0"/>
              <a:cs typeface="Times New Roman" panose="02020603050405020304" pitchFamily="18" charset="0"/>
            </a:endParaRPr>
          </a:p>
          <a:p>
            <a:pPr marL="0" indent="0">
              <a:lnSpc>
                <a:spcPct val="120000"/>
              </a:lnSpc>
              <a:spcBef>
                <a:spcPts val="0"/>
              </a:spcBef>
              <a:buFont typeface="Arial" panose="020B0604020202020204" pitchFamily="34" charset="0"/>
              <a:buNone/>
            </a:pPr>
            <a:endParaRPr lang="zh-CN" altLang="en-US" sz="2170" b="1"/>
          </a:p>
          <a:p>
            <a:pPr marL="0" indent="0">
              <a:lnSpc>
                <a:spcPct val="120000"/>
              </a:lnSpc>
              <a:spcBef>
                <a:spcPts val="0"/>
              </a:spcBef>
              <a:buFont typeface="Arial" panose="020B0604020202020204" pitchFamily="34" charset="0"/>
              <a:buNone/>
            </a:pPr>
            <a:endParaRPr lang="zh-CN" altLang="en-US" sz="2170"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4"/>
          <p:cNvSpPr>
            <a:spLocks noChangeArrowheads="1"/>
          </p:cNvSpPr>
          <p:nvPr/>
        </p:nvSpPr>
        <p:spPr bwMode="auto">
          <a:xfrm>
            <a:off x="1290544" y="1426786"/>
            <a:ext cx="8510530" cy="4673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buFont typeface="Arial" panose="020B0604020202020204" pitchFamily="34" charset="0"/>
              <a:buNone/>
            </a:pPr>
            <a:r>
              <a:rPr lang="en-US" altLang="zh-CN" sz="2170" dirty="0"/>
              <a:t>public class Person</a:t>
            </a:r>
            <a:endParaRPr lang="en-US" altLang="zh-CN" sz="2170" dirty="0"/>
          </a:p>
          <a:p>
            <a:pPr>
              <a:buFont typeface="Arial" panose="020B0604020202020204" pitchFamily="34" charset="0"/>
              <a:buNone/>
            </a:pPr>
            <a:r>
              <a:rPr lang="en-US" altLang="zh-CN" sz="2170" dirty="0"/>
              <a:t>{</a:t>
            </a:r>
            <a:endParaRPr lang="en-US" altLang="zh-CN" sz="2170" dirty="0"/>
          </a:p>
          <a:p>
            <a:pPr>
              <a:buFont typeface="Arial" panose="020B0604020202020204" pitchFamily="34" charset="0"/>
              <a:buNone/>
            </a:pPr>
            <a:r>
              <a:rPr lang="en-US" altLang="zh-CN" sz="2170" dirty="0"/>
              <a:t>     private String name;</a:t>
            </a:r>
            <a:endParaRPr lang="en-US" altLang="zh-CN" sz="2170" dirty="0"/>
          </a:p>
          <a:p>
            <a:pPr>
              <a:buFont typeface="Arial" panose="020B0604020202020204" pitchFamily="34" charset="0"/>
              <a:buNone/>
            </a:pPr>
            <a:r>
              <a:rPr lang="en-US" altLang="zh-CN" sz="2170" dirty="0"/>
              <a:t>     private int age; </a:t>
            </a:r>
            <a:endParaRPr lang="en-US" altLang="zh-CN" sz="2170" dirty="0"/>
          </a:p>
          <a:p>
            <a:pPr>
              <a:buFont typeface="Arial" panose="020B0604020202020204" pitchFamily="34" charset="0"/>
              <a:buNone/>
            </a:pPr>
            <a:r>
              <a:rPr lang="en-US" altLang="zh-CN" sz="2170" dirty="0"/>
              <a:t>     private float </a:t>
            </a:r>
            <a:r>
              <a:rPr lang="en-US" altLang="zh-CN" sz="2170" dirty="0" err="1"/>
              <a:t>weight,height</a:t>
            </a:r>
            <a:r>
              <a:rPr lang="en-US" altLang="zh-CN" sz="2170" dirty="0"/>
              <a:t>;</a:t>
            </a:r>
            <a:endParaRPr lang="en-US" altLang="zh-CN" sz="2170" dirty="0"/>
          </a:p>
          <a:p>
            <a:pPr>
              <a:buFont typeface="Arial" panose="020B0604020202020204" pitchFamily="34" charset="0"/>
              <a:buNone/>
            </a:pPr>
            <a:r>
              <a:rPr lang="en-US" altLang="zh-CN" sz="2170" dirty="0"/>
              <a:t>    public String </a:t>
            </a:r>
            <a:r>
              <a:rPr lang="en-US" altLang="zh-CN" sz="2170" dirty="0" err="1"/>
              <a:t>GetName</a:t>
            </a:r>
            <a:r>
              <a:rPr lang="en-US" altLang="zh-CN" sz="2170" dirty="0"/>
              <a:t>()</a:t>
            </a:r>
            <a:endParaRPr lang="en-US" altLang="zh-CN" sz="2170" dirty="0"/>
          </a:p>
          <a:p>
            <a:pPr>
              <a:buFont typeface="Arial" panose="020B0604020202020204" pitchFamily="34" charset="0"/>
              <a:buNone/>
            </a:pPr>
            <a:r>
              <a:rPr lang="en-US" altLang="zh-CN" sz="2170" dirty="0"/>
              <a:t>     {</a:t>
            </a:r>
            <a:endParaRPr lang="en-US" altLang="zh-CN" sz="2170" dirty="0"/>
          </a:p>
          <a:p>
            <a:pPr>
              <a:buFont typeface="Arial" panose="020B0604020202020204" pitchFamily="34" charset="0"/>
              <a:buNone/>
            </a:pPr>
            <a:r>
              <a:rPr lang="en-US" altLang="zh-CN" sz="2170" dirty="0"/>
              <a:t>         return name;</a:t>
            </a:r>
            <a:endParaRPr lang="en-US" altLang="zh-CN" sz="2170" dirty="0"/>
          </a:p>
          <a:p>
            <a:pPr>
              <a:buFont typeface="Arial" panose="020B0604020202020204" pitchFamily="34" charset="0"/>
              <a:buNone/>
            </a:pPr>
            <a:r>
              <a:rPr lang="en-US" altLang="zh-CN" sz="2170" dirty="0"/>
              <a:t>     }</a:t>
            </a:r>
            <a:endParaRPr lang="en-US" altLang="zh-CN" sz="2170" dirty="0"/>
          </a:p>
          <a:p>
            <a:pPr>
              <a:buFont typeface="Arial" panose="020B0604020202020204" pitchFamily="34" charset="0"/>
              <a:buNone/>
            </a:pPr>
            <a:r>
              <a:rPr lang="en-US" altLang="zh-CN" sz="2170" dirty="0"/>
              <a:t>     public void </a:t>
            </a:r>
            <a:r>
              <a:rPr lang="en-US" altLang="zh-CN" sz="2170" dirty="0" err="1"/>
              <a:t>SetName</a:t>
            </a:r>
            <a:r>
              <a:rPr lang="en-US" altLang="zh-CN" sz="2170" dirty="0"/>
              <a:t>(String s)</a:t>
            </a:r>
            <a:endParaRPr lang="en-US" altLang="zh-CN" sz="2170" dirty="0"/>
          </a:p>
          <a:p>
            <a:pPr>
              <a:buFont typeface="Arial" panose="020B0604020202020204" pitchFamily="34" charset="0"/>
              <a:buNone/>
            </a:pPr>
            <a:r>
              <a:rPr lang="en-US" altLang="zh-CN" sz="2170" dirty="0"/>
              <a:t>    {</a:t>
            </a:r>
            <a:endParaRPr lang="en-US" altLang="zh-CN" sz="2170" dirty="0"/>
          </a:p>
          <a:p>
            <a:pPr>
              <a:buFont typeface="Arial" panose="020B0604020202020204" pitchFamily="34" charset="0"/>
              <a:buNone/>
            </a:pPr>
            <a:r>
              <a:rPr lang="en-US" altLang="zh-CN" sz="2170" dirty="0"/>
              <a:t>         if(</a:t>
            </a:r>
            <a:r>
              <a:rPr lang="en-US" altLang="zh-CN" sz="2170" dirty="0" err="1"/>
              <a:t>s.length</a:t>
            </a:r>
            <a:r>
              <a:rPr lang="en-US" altLang="zh-CN" sz="2170" dirty="0"/>
              <a:t>()&lt;=15)</a:t>
            </a:r>
            <a:endParaRPr lang="en-US" altLang="zh-CN" sz="2170" dirty="0"/>
          </a:p>
          <a:p>
            <a:pPr>
              <a:buFont typeface="Arial" panose="020B0604020202020204" pitchFamily="34" charset="0"/>
              <a:buNone/>
            </a:pPr>
            <a:r>
              <a:rPr lang="en-US" altLang="zh-CN" sz="2170" dirty="0"/>
              <a:t>          name=s;</a:t>
            </a:r>
            <a:endParaRPr lang="en-US" altLang="zh-CN" sz="2170" dirty="0"/>
          </a:p>
          <a:p>
            <a:pPr>
              <a:buFont typeface="Arial" panose="020B0604020202020204" pitchFamily="34" charset="0"/>
              <a:buNone/>
            </a:pPr>
            <a:r>
              <a:rPr lang="en-US" altLang="zh-CN" sz="2170" dirty="0"/>
              <a:t>     }</a:t>
            </a:r>
            <a:endParaRPr lang="zh-CN" altLang="en-US" sz="2170" dirty="0"/>
          </a:p>
        </p:txBody>
      </p:sp>
      <p:sp>
        <p:nvSpPr>
          <p:cNvPr id="3" name="标题 1"/>
          <p:cNvSpPr txBox="1"/>
          <p:nvPr/>
        </p:nvSpPr>
        <p:spPr>
          <a:xfrm>
            <a:off x="342908" y="612451"/>
            <a:ext cx="8147318" cy="75052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dirty="0">
                <a:latin typeface="宋体" panose="02010600030101010101" pitchFamily="2" charset="-122"/>
                <a:ea typeface="宋体" panose="02010600030101010101" pitchFamily="2" charset="-122"/>
              </a:rPr>
              <a:t>1</a:t>
            </a:r>
            <a:r>
              <a:rPr lang="zh-CN" altLang="en-US" sz="2800" dirty="0">
                <a:latin typeface="宋体" panose="02010600030101010101" pitchFamily="2" charset="-122"/>
                <a:ea typeface="宋体" panose="02010600030101010101" pitchFamily="2" charset="-122"/>
              </a:rPr>
              <a:t>、类的声明</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成员变量和成员方法</a:t>
            </a:r>
            <a:endParaRPr lang="zh-CN" altLang="en-US" sz="2800" dirty="0">
              <a:latin typeface="宋体" panose="02010600030101010101" pitchFamily="2" charset="-122"/>
              <a:ea typeface="宋体" panose="02010600030101010101" pitchFamily="2" charset="-122"/>
            </a:endParaRPr>
          </a:p>
        </p:txBody>
      </p:sp>
      <p:sp>
        <p:nvSpPr>
          <p:cNvPr id="4" name="标题 1"/>
          <p:cNvSpPr txBox="1"/>
          <p:nvPr/>
        </p:nvSpPr>
        <p:spPr>
          <a:xfrm>
            <a:off x="244884" y="173502"/>
            <a:ext cx="8147318" cy="60643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3.2 </a:t>
            </a:r>
            <a:r>
              <a:rPr lang="zh-CN" altLang="en-US" dirty="0">
                <a:latin typeface="宋体" panose="02010600030101010101" pitchFamily="2" charset="-122"/>
                <a:ea typeface="宋体" panose="02010600030101010101" pitchFamily="2" charset="-122"/>
              </a:rPr>
              <a:t>类与对象</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内容占位符 2"/>
          <p:cNvSpPr>
            <a:spLocks noGrp="1"/>
          </p:cNvSpPr>
          <p:nvPr>
            <p:ph idx="4294967295"/>
          </p:nvPr>
        </p:nvSpPr>
        <p:spPr>
          <a:xfrm>
            <a:off x="151580" y="1405013"/>
            <a:ext cx="12040420" cy="4840536"/>
          </a:xfrm>
        </p:spPr>
        <p:txBody>
          <a:bodyPr>
            <a:noAutofit/>
          </a:bodyPr>
          <a:lstStyle/>
          <a:p>
            <a:pPr marL="0" indent="353060">
              <a:buNone/>
            </a:pPr>
            <a:r>
              <a:rPr lang="zh-CN" altLang="en-US" sz="2800" b="1" dirty="0">
                <a:latin typeface="宋体" panose="02010600030101010101" pitchFamily="2" charset="-122"/>
                <a:ea typeface="宋体" panose="02010600030101010101" pitchFamily="2" charset="-122"/>
                <a:cs typeface="Times New Roman" panose="02020603050405020304" pitchFamily="18" charset="0"/>
              </a:rPr>
              <a:t>（</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1</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）声明由类所创建的对象名称。</a:t>
            </a:r>
            <a:endParaRPr lang="zh-CN" altLang="en-US"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r>
              <a:rPr lang="zh-CN" altLang="en-US" sz="2800" b="1" dirty="0">
                <a:latin typeface="宋体" panose="02010600030101010101" pitchFamily="2" charset="-122"/>
                <a:ea typeface="宋体" panose="02010600030101010101" pitchFamily="2" charset="-122"/>
                <a:cs typeface="Times New Roman" panose="02020603050405020304" pitchFamily="18" charset="0"/>
              </a:rPr>
              <a:t>（</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2</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）利用 </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new </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创建新的对象，并指派给先前所创建的对象名称。</a:t>
            </a:r>
            <a:endParaRPr lang="zh-CN" altLang="en-US"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     Person p ;    // </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先声明一个 </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Person </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类的对象名称 </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p</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a:t>
            </a:r>
            <a:endParaRPr lang="zh-CN" altLang="en-US"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     p = new Person() ; // </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用 </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new </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关键字实例化</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Person</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的对象名称</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p</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a:t>
            </a:r>
            <a:endParaRPr lang="zh-CN" altLang="en-US"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r>
              <a:rPr lang="zh-CN" altLang="en-US" sz="2800" b="1" dirty="0">
                <a:latin typeface="宋体" panose="02010600030101010101" pitchFamily="2" charset="-122"/>
                <a:ea typeface="宋体" panose="02010600030101010101" pitchFamily="2" charset="-122"/>
                <a:cs typeface="Times New Roman" panose="02020603050405020304" pitchFamily="18" charset="0"/>
              </a:rPr>
              <a:t>     也可以用下面这种形式来声明变量：</a:t>
            </a:r>
            <a:endParaRPr lang="zh-CN" altLang="en-US"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     Person p = new Person() ;  // </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声明 </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Person </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对象 </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p </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并直接实例化此对象。</a:t>
            </a:r>
            <a:endParaRPr lang="zh-CN" altLang="en-US" sz="2800"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25604"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71089A7D-F281-4C20-9EC4-96A4603B4919}"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342908" y="612451"/>
            <a:ext cx="8147318" cy="75052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dirty="0">
                <a:latin typeface="宋体" panose="02010600030101010101" pitchFamily="2" charset="-122"/>
                <a:ea typeface="宋体" panose="02010600030101010101" pitchFamily="2" charset="-122"/>
              </a:rPr>
              <a:t>2</a:t>
            </a:r>
            <a:r>
              <a:rPr lang="zh-CN" altLang="en-US" sz="2800" dirty="0">
                <a:latin typeface="宋体" panose="02010600030101010101" pitchFamily="2" charset="-122"/>
                <a:ea typeface="宋体" panose="02010600030101010101" pitchFamily="2" charset="-122"/>
              </a:rPr>
              <a:t>、对象的创建与使用</a:t>
            </a:r>
            <a:endParaRPr lang="zh-CN" altLang="en-US" sz="2800" dirty="0">
              <a:latin typeface="宋体" panose="02010600030101010101" pitchFamily="2" charset="-122"/>
              <a:ea typeface="宋体" panose="02010600030101010101" pitchFamily="2" charset="-122"/>
            </a:endParaRPr>
          </a:p>
        </p:txBody>
      </p:sp>
      <p:sp>
        <p:nvSpPr>
          <p:cNvPr id="6" name="标题 1"/>
          <p:cNvSpPr txBox="1"/>
          <p:nvPr/>
        </p:nvSpPr>
        <p:spPr>
          <a:xfrm>
            <a:off x="244884" y="173502"/>
            <a:ext cx="8147318" cy="60643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3.2 </a:t>
            </a:r>
            <a:r>
              <a:rPr lang="zh-CN" altLang="en-US" dirty="0">
                <a:latin typeface="宋体" panose="02010600030101010101" pitchFamily="2" charset="-122"/>
                <a:ea typeface="宋体" panose="02010600030101010101" pitchFamily="2" charset="-122"/>
              </a:rPr>
              <a:t>类与对象</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26627" name="内容占位符 2"/>
          <p:cNvSpPr>
            <a:spLocks noGrp="1"/>
          </p:cNvSpPr>
          <p:nvPr>
            <p:ph idx="4294967295"/>
          </p:nvPr>
        </p:nvSpPr>
        <p:spPr>
          <a:xfrm>
            <a:off x="1303663" y="383870"/>
            <a:ext cx="8598321" cy="5601389"/>
          </a:xfrm>
        </p:spPr>
        <p:txBody>
          <a:bodyPr/>
          <a:lstStyle/>
          <a:p>
            <a:pPr marL="0" indent="353060">
              <a:buNone/>
            </a:pPr>
            <a:r>
              <a:rPr lang="en-US" altLang="zh-CN" sz="2820" b="1"/>
              <a:t> </a:t>
            </a:r>
            <a:endParaRPr lang="zh-CN" altLang="en-US" sz="2820" b="1"/>
          </a:p>
        </p:txBody>
      </p:sp>
      <p:sp>
        <p:nvSpPr>
          <p:cNvPr id="26628"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23405AF4-CE0C-4A3A-9B4A-E7C35C5FBD96}"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pic>
        <p:nvPicPr>
          <p:cNvPr id="2662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05184" y="2261937"/>
            <a:ext cx="6254209" cy="3570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标题 1"/>
          <p:cNvSpPr txBox="1"/>
          <p:nvPr/>
        </p:nvSpPr>
        <p:spPr>
          <a:xfrm>
            <a:off x="342908" y="612451"/>
            <a:ext cx="8147318" cy="75052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dirty="0">
                <a:latin typeface="宋体" panose="02010600030101010101" pitchFamily="2" charset="-122"/>
                <a:ea typeface="宋体" panose="02010600030101010101" pitchFamily="2" charset="-122"/>
              </a:rPr>
              <a:t>2</a:t>
            </a:r>
            <a:r>
              <a:rPr lang="zh-CN" altLang="en-US" sz="2800" dirty="0">
                <a:latin typeface="宋体" panose="02010600030101010101" pitchFamily="2" charset="-122"/>
                <a:ea typeface="宋体" panose="02010600030101010101" pitchFamily="2" charset="-122"/>
              </a:rPr>
              <a:t>、对象的创建与使用</a:t>
            </a:r>
            <a:endParaRPr lang="zh-CN" altLang="en-US" sz="2800" dirty="0">
              <a:latin typeface="宋体" panose="02010600030101010101" pitchFamily="2" charset="-122"/>
              <a:ea typeface="宋体" panose="02010600030101010101" pitchFamily="2" charset="-122"/>
            </a:endParaRPr>
          </a:p>
        </p:txBody>
      </p:sp>
      <p:sp>
        <p:nvSpPr>
          <p:cNvPr id="7" name="标题 1"/>
          <p:cNvSpPr txBox="1"/>
          <p:nvPr/>
        </p:nvSpPr>
        <p:spPr>
          <a:xfrm>
            <a:off x="244884" y="173502"/>
            <a:ext cx="8147318" cy="60643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3.2 </a:t>
            </a:r>
            <a:r>
              <a:rPr lang="zh-CN" altLang="en-US" dirty="0">
                <a:latin typeface="宋体" panose="02010600030101010101" pitchFamily="2" charset="-122"/>
                <a:ea typeface="宋体" panose="02010600030101010101" pitchFamily="2" charset="-122"/>
              </a:rPr>
              <a:t>类与对象</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26627" name="内容占位符 2"/>
          <p:cNvSpPr>
            <a:spLocks noGrp="1"/>
          </p:cNvSpPr>
          <p:nvPr>
            <p:ph idx="4294967295"/>
          </p:nvPr>
        </p:nvSpPr>
        <p:spPr>
          <a:xfrm>
            <a:off x="561277" y="1759756"/>
            <a:ext cx="11069446" cy="4469939"/>
          </a:xfrm>
        </p:spPr>
        <p:txBody>
          <a:bodyPr>
            <a:normAutofit/>
          </a:bodyPr>
          <a:lstStyle/>
          <a:p>
            <a:pPr marL="0" indent="353060">
              <a:buNone/>
              <a:defRPr/>
            </a:pPr>
            <a:r>
              <a:rPr lang="zh-CN" altLang="en-US" sz="2800" b="1" dirty="0">
                <a:latin typeface="宋体" panose="02010600030101010101" pitchFamily="2" charset="-122"/>
                <a:ea typeface="宋体" panose="02010600030101010101" pitchFamily="2" charset="-122"/>
              </a:rPr>
              <a:t>使用对象的属性和方法需要用到成员运算符“</a:t>
            </a:r>
            <a:r>
              <a:rPr lang="en-US" altLang="zh-CN" sz="2800" b="1" dirty="0">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，使用格式如下：</a:t>
            </a:r>
            <a:endParaRPr lang="zh-CN" altLang="en-US" sz="2800" b="1" dirty="0">
              <a:latin typeface="宋体" panose="02010600030101010101" pitchFamily="2" charset="-122"/>
              <a:ea typeface="宋体" panose="02010600030101010101" pitchFamily="2" charset="-122"/>
            </a:endParaRPr>
          </a:p>
          <a:p>
            <a:pPr marL="0" indent="353060">
              <a:buNone/>
              <a:defRPr/>
            </a:pPr>
            <a:r>
              <a:rPr lang="zh-CN" altLang="en-US" sz="2800" b="1" dirty="0">
                <a:latin typeface="宋体" panose="02010600030101010101" pitchFamily="2" charset="-122"/>
                <a:ea typeface="宋体" panose="02010600030101010101" pitchFamily="2" charset="-122"/>
              </a:rPr>
              <a:t>属性：对象名</a:t>
            </a:r>
            <a:r>
              <a:rPr lang="en-US" altLang="zh-CN" sz="2800" b="1" dirty="0">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属性名；</a:t>
            </a:r>
            <a:endParaRPr lang="zh-CN" altLang="en-US" sz="2800" b="1" dirty="0">
              <a:latin typeface="宋体" panose="02010600030101010101" pitchFamily="2" charset="-122"/>
              <a:ea typeface="宋体" panose="02010600030101010101" pitchFamily="2" charset="-122"/>
            </a:endParaRPr>
          </a:p>
          <a:p>
            <a:pPr marL="0" indent="353060">
              <a:buNone/>
              <a:defRPr/>
            </a:pPr>
            <a:r>
              <a:rPr lang="zh-CN" altLang="en-US" sz="2800" b="1" dirty="0">
                <a:latin typeface="宋体" panose="02010600030101010101" pitchFamily="2" charset="-122"/>
                <a:ea typeface="宋体" panose="02010600030101010101" pitchFamily="2" charset="-122"/>
              </a:rPr>
              <a:t>方法：对象名</a:t>
            </a:r>
            <a:r>
              <a:rPr lang="en-US" altLang="zh-CN" sz="2800" b="1" dirty="0">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方法名（）；</a:t>
            </a:r>
            <a:endParaRPr lang="en-US" altLang="zh-CN" sz="2800" b="1" dirty="0">
              <a:latin typeface="宋体" panose="02010600030101010101" pitchFamily="2" charset="-122"/>
              <a:ea typeface="宋体" panose="02010600030101010101" pitchFamily="2" charset="-122"/>
            </a:endParaRPr>
          </a:p>
          <a:p>
            <a:pPr marL="0" indent="353060">
              <a:buNone/>
              <a:defRPr/>
            </a:pPr>
            <a:endParaRPr lang="zh-CN" altLang="en-US" sz="2800" b="1" dirty="0">
              <a:latin typeface="宋体" panose="02010600030101010101" pitchFamily="2" charset="-122"/>
              <a:ea typeface="宋体" panose="02010600030101010101" pitchFamily="2" charset="-122"/>
            </a:endParaRPr>
          </a:p>
          <a:p>
            <a:pPr marL="0" indent="353060">
              <a:buNone/>
              <a:defRPr/>
            </a:pPr>
            <a:r>
              <a:rPr lang="en-US" altLang="zh-CN" sz="2800" b="1" dirty="0">
                <a:latin typeface="宋体" panose="02010600030101010101" pitchFamily="2" charset="-122"/>
                <a:ea typeface="宋体" panose="02010600030101010101" pitchFamily="2" charset="-122"/>
              </a:rPr>
              <a:t>p.name = "</a:t>
            </a:r>
            <a:r>
              <a:rPr lang="zh-CN" altLang="en-US" sz="2800" b="1" dirty="0">
                <a:latin typeface="宋体" panose="02010600030101010101" pitchFamily="2" charset="-122"/>
                <a:ea typeface="宋体" panose="02010600030101010101" pitchFamily="2" charset="-122"/>
              </a:rPr>
              <a:t>张三</a:t>
            </a:r>
            <a:r>
              <a:rPr lang="en-US" altLang="zh-CN" sz="2800" b="1" dirty="0">
                <a:latin typeface="宋体" panose="02010600030101010101" pitchFamily="2" charset="-122"/>
                <a:ea typeface="宋体" panose="02010600030101010101" pitchFamily="2" charset="-122"/>
              </a:rPr>
              <a:t>";</a:t>
            </a:r>
            <a:endParaRPr lang="en-US" altLang="zh-CN" sz="2800" b="1" dirty="0">
              <a:latin typeface="宋体" panose="02010600030101010101" pitchFamily="2" charset="-122"/>
              <a:ea typeface="宋体" panose="02010600030101010101" pitchFamily="2" charset="-122"/>
            </a:endParaRPr>
          </a:p>
          <a:p>
            <a:pPr marL="0" indent="353060">
              <a:buNone/>
              <a:defRPr/>
            </a:pPr>
            <a:r>
              <a:rPr lang="en-US" altLang="zh-CN" sz="2800" b="1" dirty="0" err="1">
                <a:latin typeface="宋体" panose="02010600030101010101" pitchFamily="2" charset="-122"/>
                <a:ea typeface="宋体" panose="02010600030101010101" pitchFamily="2" charset="-122"/>
              </a:rPr>
              <a:t>p.age</a:t>
            </a:r>
            <a:r>
              <a:rPr lang="en-US" altLang="zh-CN" sz="2800" b="1" dirty="0">
                <a:latin typeface="宋体" panose="02010600030101010101" pitchFamily="2" charset="-122"/>
                <a:ea typeface="宋体" panose="02010600030101010101" pitchFamily="2" charset="-122"/>
              </a:rPr>
              <a:t> = 25 ;</a:t>
            </a:r>
            <a:endParaRPr lang="en-US" altLang="zh-CN" sz="2800" b="1" dirty="0">
              <a:latin typeface="宋体" panose="02010600030101010101" pitchFamily="2" charset="-122"/>
              <a:ea typeface="宋体" panose="02010600030101010101" pitchFamily="2" charset="-122"/>
            </a:endParaRPr>
          </a:p>
          <a:p>
            <a:pPr marL="0" indent="353060">
              <a:buNone/>
              <a:defRPr/>
            </a:pPr>
            <a:r>
              <a:rPr lang="en-US" altLang="zh-CN" sz="2800" b="1" dirty="0" err="1">
                <a:latin typeface="宋体" panose="02010600030101010101" pitchFamily="2" charset="-122"/>
                <a:ea typeface="宋体" panose="02010600030101010101" pitchFamily="2" charset="-122"/>
              </a:rPr>
              <a:t>p.tell</a:t>
            </a:r>
            <a:r>
              <a:rPr lang="en-US" altLang="zh-CN" sz="2800" b="1" dirty="0">
                <a:latin typeface="宋体" panose="02010600030101010101" pitchFamily="2" charset="-122"/>
                <a:ea typeface="宋体" panose="02010600030101010101" pitchFamily="2" charset="-122"/>
              </a:rPr>
              <a:t>() ;  // </a:t>
            </a:r>
            <a:r>
              <a:rPr lang="zh-CN" altLang="en-US" sz="2800" b="1" dirty="0">
                <a:latin typeface="宋体" panose="02010600030101010101" pitchFamily="2" charset="-122"/>
                <a:ea typeface="宋体" panose="02010600030101010101" pitchFamily="2" charset="-122"/>
              </a:rPr>
              <a:t>调用 </a:t>
            </a:r>
            <a:r>
              <a:rPr lang="en-US" altLang="zh-CN" sz="2800" b="1" dirty="0">
                <a:latin typeface="宋体" panose="02010600030101010101" pitchFamily="2" charset="-122"/>
                <a:ea typeface="宋体" panose="02010600030101010101" pitchFamily="2" charset="-122"/>
              </a:rPr>
              <a:t>Person </a:t>
            </a:r>
            <a:r>
              <a:rPr lang="zh-CN" altLang="en-US" sz="2800" b="1" dirty="0">
                <a:latin typeface="宋体" panose="02010600030101010101" pitchFamily="2" charset="-122"/>
                <a:ea typeface="宋体" panose="02010600030101010101" pitchFamily="2" charset="-122"/>
              </a:rPr>
              <a:t>类中的 </a:t>
            </a:r>
            <a:r>
              <a:rPr lang="en-US" altLang="zh-CN" sz="2800" b="1" dirty="0">
                <a:latin typeface="宋体" panose="02010600030101010101" pitchFamily="2" charset="-122"/>
                <a:ea typeface="宋体" panose="02010600030101010101" pitchFamily="2" charset="-122"/>
              </a:rPr>
              <a:t>tell()</a:t>
            </a:r>
            <a:r>
              <a:rPr lang="zh-CN" altLang="en-US" sz="2800" b="1" dirty="0">
                <a:latin typeface="宋体" panose="02010600030101010101" pitchFamily="2" charset="-122"/>
                <a:ea typeface="宋体" panose="02010600030101010101" pitchFamily="2" charset="-122"/>
              </a:rPr>
              <a:t>方法</a:t>
            </a:r>
            <a:endParaRPr lang="zh-CN" altLang="en-US" sz="2800" b="1" dirty="0">
              <a:latin typeface="宋体" panose="02010600030101010101" pitchFamily="2" charset="-122"/>
              <a:ea typeface="宋体" panose="02010600030101010101" pitchFamily="2" charset="-122"/>
            </a:endParaRPr>
          </a:p>
        </p:txBody>
      </p:sp>
      <p:sp>
        <p:nvSpPr>
          <p:cNvPr id="27652"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08BBFC35-CAD5-43C4-934E-C385233E8806}"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342908" y="612451"/>
            <a:ext cx="8147318" cy="75052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dirty="0">
                <a:latin typeface="宋体" panose="02010600030101010101" pitchFamily="2" charset="-122"/>
                <a:ea typeface="宋体" panose="02010600030101010101" pitchFamily="2" charset="-122"/>
              </a:rPr>
              <a:t>2</a:t>
            </a:r>
            <a:r>
              <a:rPr lang="zh-CN" altLang="en-US" sz="2800" dirty="0">
                <a:latin typeface="宋体" panose="02010600030101010101" pitchFamily="2" charset="-122"/>
                <a:ea typeface="宋体" panose="02010600030101010101" pitchFamily="2" charset="-122"/>
              </a:rPr>
              <a:t>、对象的创建与使用</a:t>
            </a:r>
            <a:endParaRPr lang="zh-CN" altLang="en-US" sz="2800" dirty="0">
              <a:latin typeface="宋体" panose="02010600030101010101" pitchFamily="2" charset="-122"/>
              <a:ea typeface="宋体" panose="02010600030101010101" pitchFamily="2" charset="-122"/>
            </a:endParaRPr>
          </a:p>
        </p:txBody>
      </p:sp>
      <p:sp>
        <p:nvSpPr>
          <p:cNvPr id="6" name="标题 1"/>
          <p:cNvSpPr txBox="1"/>
          <p:nvPr/>
        </p:nvSpPr>
        <p:spPr>
          <a:xfrm>
            <a:off x="244884" y="173502"/>
            <a:ext cx="8147318" cy="60643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3.2 </a:t>
            </a:r>
            <a:r>
              <a:rPr lang="zh-CN" altLang="en-US" dirty="0">
                <a:latin typeface="宋体" panose="02010600030101010101" pitchFamily="2" charset="-122"/>
                <a:ea typeface="宋体" panose="02010600030101010101" pitchFamily="2" charset="-122"/>
              </a:rPr>
              <a:t>类与对象</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28675" name="内容占位符 2"/>
          <p:cNvSpPr>
            <a:spLocks noGrp="1"/>
          </p:cNvSpPr>
          <p:nvPr>
            <p:ph idx="4294967295"/>
          </p:nvPr>
        </p:nvSpPr>
        <p:spPr>
          <a:xfrm>
            <a:off x="716522" y="1590560"/>
            <a:ext cx="10939672" cy="4962754"/>
          </a:xfrm>
        </p:spPr>
        <p:txBody>
          <a:bodyPr>
            <a:noAutofit/>
          </a:bodyPr>
          <a:lstStyle/>
          <a:p>
            <a:pPr marL="0" indent="0">
              <a:lnSpc>
                <a:spcPct val="100000"/>
              </a:lnSpc>
              <a:spcBef>
                <a:spcPts val="0"/>
              </a:spcBef>
              <a:buNone/>
            </a:pPr>
            <a:r>
              <a:rPr lang="zh-CN" altLang="en-US" sz="2400" b="1" dirty="0">
                <a:latin typeface="宋体" panose="02010600030101010101" pitchFamily="2" charset="-122"/>
                <a:ea typeface="宋体" panose="02010600030101010101" pitchFamily="2" charset="-122"/>
                <a:cs typeface="Times New Roman" panose="02020603050405020304" pitchFamily="18" charset="0"/>
              </a:rPr>
              <a:t>【例</a:t>
            </a:r>
            <a:r>
              <a:rPr lang="en-US" altLang="zh-CN" sz="2400" b="1" dirty="0">
                <a:latin typeface="宋体" panose="02010600030101010101" pitchFamily="2" charset="-122"/>
                <a:ea typeface="宋体" panose="02010600030101010101" pitchFamily="2" charset="-122"/>
                <a:cs typeface="Times New Roman" panose="02020603050405020304" pitchFamily="18" charset="0"/>
              </a:rPr>
              <a:t>3.3</a:t>
            </a:r>
            <a:r>
              <a:rPr lang="zh-CN" altLang="en-US" sz="2400" b="1" dirty="0">
                <a:latin typeface="宋体" panose="02010600030101010101" pitchFamily="2" charset="-122"/>
                <a:ea typeface="宋体" panose="02010600030101010101" pitchFamily="2" charset="-122"/>
                <a:cs typeface="Times New Roman" panose="02020603050405020304" pitchFamily="18" charset="0"/>
              </a:rPr>
              <a:t>】多个对象成员的空间分配和访问</a:t>
            </a:r>
            <a:endParaRPr lang="zh-CN" altLang="en-US" sz="24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2400" b="1" dirty="0">
                <a:latin typeface="宋体" panose="02010600030101010101" pitchFamily="2" charset="-122"/>
                <a:ea typeface="宋体" panose="02010600030101010101" pitchFamily="2" charset="-122"/>
                <a:cs typeface="Times New Roman" panose="02020603050405020304" pitchFamily="18" charset="0"/>
              </a:rPr>
              <a:t>class Person</a:t>
            </a:r>
            <a:endParaRPr lang="zh-CN" altLang="en-US" sz="24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2400" b="1" dirty="0">
                <a:latin typeface="宋体" panose="02010600030101010101" pitchFamily="2" charset="-122"/>
                <a:ea typeface="宋体" panose="02010600030101010101" pitchFamily="2" charset="-122"/>
                <a:cs typeface="Times New Roman" panose="02020603050405020304" pitchFamily="18" charset="0"/>
              </a:rPr>
              <a:t> {</a:t>
            </a:r>
            <a:endParaRPr lang="zh-CN" altLang="en-US" sz="24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2400" b="1" dirty="0">
                <a:latin typeface="宋体" panose="02010600030101010101" pitchFamily="2" charset="-122"/>
                <a:ea typeface="宋体" panose="02010600030101010101" pitchFamily="2" charset="-122"/>
                <a:cs typeface="Times New Roman" panose="02020603050405020304" pitchFamily="18" charset="0"/>
              </a:rPr>
              <a:t>     String name ;</a:t>
            </a:r>
            <a:endParaRPr lang="zh-CN" altLang="en-US" sz="24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2400" b="1" dirty="0">
                <a:latin typeface="宋体" panose="02010600030101010101" pitchFamily="2" charset="-122"/>
                <a:ea typeface="宋体" panose="02010600030101010101" pitchFamily="2" charset="-122"/>
                <a:cs typeface="Times New Roman" panose="02020603050405020304" pitchFamily="18" charset="0"/>
              </a:rPr>
              <a:t>     int age ;</a:t>
            </a:r>
            <a:endParaRPr lang="zh-CN" altLang="en-US" sz="24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2400" b="1" dirty="0">
                <a:latin typeface="宋体" panose="02010600030101010101" pitchFamily="2" charset="-122"/>
                <a:ea typeface="宋体" panose="02010600030101010101" pitchFamily="2" charset="-122"/>
                <a:cs typeface="Times New Roman" panose="02020603050405020304" pitchFamily="18" charset="0"/>
              </a:rPr>
              <a:t>     void tell()</a:t>
            </a:r>
            <a:endParaRPr lang="zh-CN" altLang="en-US" sz="24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2400" b="1" dirty="0">
                <a:latin typeface="宋体" panose="02010600030101010101" pitchFamily="2" charset="-122"/>
                <a:ea typeface="宋体" panose="02010600030101010101" pitchFamily="2" charset="-122"/>
                <a:cs typeface="Times New Roman" panose="02020603050405020304" pitchFamily="18" charset="0"/>
              </a:rPr>
              <a:t>     {</a:t>
            </a:r>
            <a:endParaRPr lang="zh-CN" altLang="en-US" sz="24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2400" b="1" dirty="0">
                <a:latin typeface="宋体" panose="02010600030101010101" pitchFamily="2" charset="-122"/>
                <a:ea typeface="宋体" panose="02010600030101010101" pitchFamily="2" charset="-122"/>
                <a:cs typeface="Times New Roman" panose="02020603050405020304" pitchFamily="18" charset="0"/>
              </a:rPr>
              <a:t>          </a:t>
            </a:r>
            <a:r>
              <a:rPr lang="en-US" altLang="zh-CN" sz="2400" b="1" dirty="0" err="1">
                <a:latin typeface="宋体" panose="02010600030101010101" pitchFamily="2" charset="-122"/>
                <a:ea typeface="宋体" panose="02010600030101010101" pitchFamily="2" charset="-122"/>
                <a:cs typeface="Times New Roman" panose="02020603050405020304" pitchFamily="18" charset="0"/>
              </a:rPr>
              <a:t>System.out.println</a:t>
            </a:r>
            <a:r>
              <a:rPr lang="en-US" altLang="zh-CN" sz="2400" b="1" dirty="0">
                <a:latin typeface="宋体" panose="02010600030101010101" pitchFamily="2" charset="-122"/>
                <a:ea typeface="宋体" panose="02010600030101010101" pitchFamily="2" charset="-122"/>
                <a:cs typeface="Times New Roman" panose="02020603050405020304" pitchFamily="18" charset="0"/>
              </a:rPr>
              <a:t>("</a:t>
            </a:r>
            <a:r>
              <a:rPr lang="zh-CN" altLang="en-US" sz="2400" b="1" dirty="0">
                <a:latin typeface="宋体" panose="02010600030101010101" pitchFamily="2" charset="-122"/>
                <a:ea typeface="宋体" panose="02010600030101010101" pitchFamily="2" charset="-122"/>
                <a:cs typeface="Times New Roman" panose="02020603050405020304" pitchFamily="18" charset="0"/>
              </a:rPr>
              <a:t>我是：</a:t>
            </a:r>
            <a:r>
              <a:rPr lang="en-US" altLang="zh-CN" sz="2400" b="1" dirty="0">
                <a:latin typeface="宋体" panose="02010600030101010101" pitchFamily="2" charset="-122"/>
                <a:ea typeface="宋体" panose="02010600030101010101" pitchFamily="2" charset="-122"/>
                <a:cs typeface="Times New Roman" panose="02020603050405020304" pitchFamily="18" charset="0"/>
              </a:rPr>
              <a:t>"+name+"</a:t>
            </a:r>
            <a:r>
              <a:rPr lang="zh-CN" altLang="en-US" sz="2400" b="1" dirty="0">
                <a:latin typeface="宋体" panose="02010600030101010101" pitchFamily="2" charset="-122"/>
                <a:ea typeface="宋体" panose="02010600030101010101" pitchFamily="2" charset="-122"/>
                <a:cs typeface="Times New Roman" panose="02020603050405020304" pitchFamily="18" charset="0"/>
              </a:rPr>
              <a:t>，今年：</a:t>
            </a:r>
            <a:r>
              <a:rPr lang="en-US" altLang="zh-CN" sz="2400" b="1" dirty="0">
                <a:latin typeface="宋体" panose="02010600030101010101" pitchFamily="2" charset="-122"/>
                <a:ea typeface="宋体" panose="02010600030101010101" pitchFamily="2" charset="-122"/>
                <a:cs typeface="Times New Roman" panose="02020603050405020304" pitchFamily="18" charset="0"/>
              </a:rPr>
              <a:t>"+age+"</a:t>
            </a:r>
            <a:r>
              <a:rPr lang="zh-CN" altLang="en-US" sz="2400" b="1" dirty="0">
                <a:latin typeface="宋体" panose="02010600030101010101" pitchFamily="2" charset="-122"/>
                <a:ea typeface="宋体" panose="02010600030101010101" pitchFamily="2" charset="-122"/>
                <a:cs typeface="Times New Roman" panose="02020603050405020304" pitchFamily="18" charset="0"/>
              </a:rPr>
              <a:t>岁</a:t>
            </a:r>
            <a:r>
              <a:rPr lang="en-US" altLang="zh-CN" sz="2400" b="1" dirty="0">
                <a:latin typeface="宋体" panose="02010600030101010101" pitchFamily="2" charset="-122"/>
                <a:ea typeface="宋体" panose="02010600030101010101" pitchFamily="2" charset="-122"/>
                <a:cs typeface="Times New Roman" panose="02020603050405020304" pitchFamily="18" charset="0"/>
              </a:rPr>
              <a:t>");</a:t>
            </a:r>
            <a:endParaRPr lang="zh-CN" altLang="en-US" sz="24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2400" b="1" dirty="0">
                <a:latin typeface="宋体" panose="02010600030101010101" pitchFamily="2" charset="-122"/>
                <a:ea typeface="宋体" panose="02010600030101010101" pitchFamily="2" charset="-122"/>
                <a:cs typeface="Times New Roman" panose="02020603050405020304" pitchFamily="18" charset="0"/>
              </a:rPr>
              <a:t>      }</a:t>
            </a:r>
            <a:endParaRPr lang="zh-CN" altLang="en-US" sz="24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2400" b="1" dirty="0">
                <a:latin typeface="宋体" panose="02010600030101010101" pitchFamily="2" charset="-122"/>
                <a:ea typeface="宋体" panose="02010600030101010101" pitchFamily="2" charset="-122"/>
                <a:cs typeface="Times New Roman" panose="02020603050405020304" pitchFamily="18" charset="0"/>
              </a:rPr>
              <a:t> }</a:t>
            </a:r>
            <a:endParaRPr lang="zh-CN" altLang="en-US" sz="24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2400" b="1" dirty="0">
                <a:latin typeface="宋体" panose="02010600030101010101" pitchFamily="2" charset="-122"/>
                <a:ea typeface="宋体" panose="02010600030101010101" pitchFamily="2" charset="-122"/>
                <a:cs typeface="Times New Roman" panose="02020603050405020304" pitchFamily="18" charset="0"/>
              </a:rPr>
              <a:t>		</a:t>
            </a:r>
            <a:endParaRPr lang="zh-CN" altLang="en-US" sz="2400"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28676"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5C5FD9DC-223F-45C0-B9B8-72359A4D763E}"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391034" y="676505"/>
            <a:ext cx="8147318" cy="75052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dirty="0">
                <a:latin typeface="宋体" panose="02010600030101010101" pitchFamily="2" charset="-122"/>
                <a:ea typeface="宋体" panose="02010600030101010101" pitchFamily="2" charset="-122"/>
              </a:rPr>
              <a:t>2</a:t>
            </a:r>
            <a:r>
              <a:rPr lang="zh-CN" altLang="en-US" sz="2800" dirty="0">
                <a:latin typeface="宋体" panose="02010600030101010101" pitchFamily="2" charset="-122"/>
                <a:ea typeface="宋体" panose="02010600030101010101" pitchFamily="2" charset="-122"/>
              </a:rPr>
              <a:t>、对象的创建与使用</a:t>
            </a:r>
            <a:endParaRPr lang="zh-CN" altLang="en-US" sz="2800" dirty="0">
              <a:latin typeface="宋体" panose="02010600030101010101" pitchFamily="2" charset="-122"/>
              <a:ea typeface="宋体" panose="02010600030101010101" pitchFamily="2" charset="-122"/>
            </a:endParaRPr>
          </a:p>
        </p:txBody>
      </p:sp>
      <p:sp>
        <p:nvSpPr>
          <p:cNvPr id="6" name="标题 1"/>
          <p:cNvSpPr txBox="1"/>
          <p:nvPr/>
        </p:nvSpPr>
        <p:spPr>
          <a:xfrm>
            <a:off x="244884" y="173502"/>
            <a:ext cx="8147318" cy="60643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3.2 </a:t>
            </a:r>
            <a:r>
              <a:rPr lang="zh-CN" altLang="en-US" dirty="0">
                <a:latin typeface="宋体" panose="02010600030101010101" pitchFamily="2" charset="-122"/>
                <a:ea typeface="宋体" panose="02010600030101010101" pitchFamily="2" charset="-122"/>
              </a:rPr>
              <a:t>类与对象</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29699" name="内容占位符 2"/>
          <p:cNvSpPr>
            <a:spLocks noGrp="1"/>
          </p:cNvSpPr>
          <p:nvPr>
            <p:ph idx="4294967295"/>
          </p:nvPr>
        </p:nvSpPr>
        <p:spPr>
          <a:xfrm>
            <a:off x="616831" y="1526506"/>
            <a:ext cx="10885358" cy="5523927"/>
          </a:xfrm>
        </p:spPr>
        <p:txBody>
          <a:bodyPr>
            <a:noAutofit/>
          </a:bodyPr>
          <a:lstStyle/>
          <a:p>
            <a:pPr marL="0" indent="0">
              <a:lnSpc>
                <a:spcPct val="100000"/>
              </a:lnSpc>
              <a:spcBef>
                <a:spcPts val="0"/>
              </a:spcBef>
              <a:buNone/>
            </a:pPr>
            <a:r>
              <a:rPr lang="en-US" altLang="zh-CN" sz="2400" b="1" dirty="0">
                <a:latin typeface="宋体" panose="02010600030101010101" pitchFamily="2" charset="-122"/>
                <a:ea typeface="宋体" panose="02010600030101010101" pitchFamily="2" charset="-122"/>
                <a:cs typeface="Times New Roman" panose="02020603050405020304" pitchFamily="18" charset="0"/>
              </a:rPr>
              <a:t>public class </a:t>
            </a:r>
            <a:r>
              <a:rPr lang="en-US" altLang="zh-CN" sz="2400" b="1" dirty="0" err="1">
                <a:latin typeface="宋体" panose="02010600030101010101" pitchFamily="2" charset="-122"/>
                <a:ea typeface="宋体" panose="02010600030101010101" pitchFamily="2" charset="-122"/>
                <a:cs typeface="Times New Roman" panose="02020603050405020304" pitchFamily="18" charset="0"/>
              </a:rPr>
              <a:t>TestPerson</a:t>
            </a:r>
            <a:r>
              <a:rPr lang="en-US" altLang="zh-CN" sz="2400" b="1" dirty="0">
                <a:latin typeface="宋体" panose="02010600030101010101" pitchFamily="2" charset="-122"/>
                <a:ea typeface="宋体" panose="02010600030101010101" pitchFamily="2" charset="-122"/>
                <a:cs typeface="Times New Roman" panose="02020603050405020304" pitchFamily="18" charset="0"/>
              </a:rPr>
              <a:t> {</a:t>
            </a:r>
            <a:endParaRPr lang="zh-CN" altLang="en-US" sz="24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2400" b="1" dirty="0">
                <a:latin typeface="宋体" panose="02010600030101010101" pitchFamily="2" charset="-122"/>
                <a:ea typeface="宋体" panose="02010600030101010101" pitchFamily="2" charset="-122"/>
                <a:cs typeface="Times New Roman" panose="02020603050405020304" pitchFamily="18" charset="0"/>
              </a:rPr>
              <a:t>    public static void main(String </a:t>
            </a:r>
            <a:r>
              <a:rPr lang="en-US" altLang="zh-CN" sz="2400" b="1" dirty="0" err="1">
                <a:latin typeface="宋体" panose="02010600030101010101" pitchFamily="2" charset="-122"/>
                <a:ea typeface="宋体" panose="02010600030101010101" pitchFamily="2" charset="-122"/>
                <a:cs typeface="Times New Roman" panose="02020603050405020304" pitchFamily="18" charset="0"/>
              </a:rPr>
              <a:t>args</a:t>
            </a:r>
            <a:r>
              <a:rPr lang="en-US" altLang="zh-CN" sz="2400" b="1" dirty="0">
                <a:latin typeface="宋体" panose="02010600030101010101" pitchFamily="2" charset="-122"/>
                <a:ea typeface="宋体" panose="02010600030101010101" pitchFamily="2" charset="-122"/>
                <a:cs typeface="Times New Roman" panose="02020603050405020304" pitchFamily="18" charset="0"/>
              </a:rPr>
              <a:t>[]) {</a:t>
            </a:r>
            <a:endParaRPr lang="zh-CN" altLang="en-US" sz="24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2400" b="1" dirty="0">
                <a:latin typeface="宋体" panose="02010600030101010101" pitchFamily="2" charset="-122"/>
                <a:ea typeface="宋体" panose="02010600030101010101" pitchFamily="2" charset="-122"/>
                <a:cs typeface="Times New Roman" panose="02020603050405020304" pitchFamily="18" charset="0"/>
              </a:rPr>
              <a:t>	  Person per1 = new Person ();	    // </a:t>
            </a:r>
            <a:r>
              <a:rPr lang="zh-CN" altLang="en-US" sz="2400" b="1" dirty="0">
                <a:latin typeface="宋体" panose="02010600030101010101" pitchFamily="2" charset="-122"/>
                <a:ea typeface="宋体" panose="02010600030101010101" pitchFamily="2" charset="-122"/>
                <a:cs typeface="Times New Roman" panose="02020603050405020304" pitchFamily="18" charset="0"/>
              </a:rPr>
              <a:t>声明</a:t>
            </a:r>
            <a:r>
              <a:rPr lang="en-US" altLang="zh-CN" sz="2400" b="1" dirty="0">
                <a:latin typeface="宋体" panose="02010600030101010101" pitchFamily="2" charset="-122"/>
                <a:ea typeface="宋体" panose="02010600030101010101" pitchFamily="2" charset="-122"/>
                <a:cs typeface="Times New Roman" panose="02020603050405020304" pitchFamily="18" charset="0"/>
              </a:rPr>
              <a:t>per1</a:t>
            </a:r>
            <a:r>
              <a:rPr lang="zh-CN" altLang="en-US" sz="2400" b="1" dirty="0">
                <a:latin typeface="宋体" panose="02010600030101010101" pitchFamily="2" charset="-122"/>
                <a:ea typeface="宋体" panose="02010600030101010101" pitchFamily="2" charset="-122"/>
                <a:cs typeface="Times New Roman" panose="02020603050405020304" pitchFamily="18" charset="0"/>
              </a:rPr>
              <a:t>对象</a:t>
            </a:r>
            <a:endParaRPr lang="zh-CN" altLang="en-US" sz="24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2400" b="1" dirty="0">
                <a:latin typeface="宋体" panose="02010600030101010101" pitchFamily="2" charset="-122"/>
                <a:ea typeface="宋体" panose="02010600030101010101" pitchFamily="2" charset="-122"/>
                <a:cs typeface="Times New Roman" panose="02020603050405020304" pitchFamily="18" charset="0"/>
              </a:rPr>
              <a:t>	  Person per2 = new Person ();	    // </a:t>
            </a:r>
            <a:r>
              <a:rPr lang="zh-CN" altLang="en-US" sz="2400" b="1" dirty="0">
                <a:latin typeface="宋体" panose="02010600030101010101" pitchFamily="2" charset="-122"/>
                <a:ea typeface="宋体" panose="02010600030101010101" pitchFamily="2" charset="-122"/>
                <a:cs typeface="Times New Roman" panose="02020603050405020304" pitchFamily="18" charset="0"/>
              </a:rPr>
              <a:t>声明</a:t>
            </a:r>
            <a:r>
              <a:rPr lang="en-US" altLang="zh-CN" sz="2400" b="1" dirty="0">
                <a:latin typeface="宋体" panose="02010600030101010101" pitchFamily="2" charset="-122"/>
                <a:ea typeface="宋体" panose="02010600030101010101" pitchFamily="2" charset="-122"/>
                <a:cs typeface="Times New Roman" panose="02020603050405020304" pitchFamily="18" charset="0"/>
              </a:rPr>
              <a:t>per2</a:t>
            </a:r>
            <a:r>
              <a:rPr lang="zh-CN" altLang="en-US" sz="2400" b="1" dirty="0">
                <a:latin typeface="宋体" panose="02010600030101010101" pitchFamily="2" charset="-122"/>
                <a:ea typeface="宋体" panose="02010600030101010101" pitchFamily="2" charset="-122"/>
                <a:cs typeface="Times New Roman" panose="02020603050405020304" pitchFamily="18" charset="0"/>
              </a:rPr>
              <a:t>对象</a:t>
            </a:r>
            <a:endParaRPr lang="zh-CN" altLang="en-US" sz="24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2400" b="1" dirty="0">
                <a:latin typeface="宋体" panose="02010600030101010101" pitchFamily="2" charset="-122"/>
                <a:ea typeface="宋体" panose="02010600030101010101" pitchFamily="2" charset="-122"/>
                <a:cs typeface="Times New Roman" panose="02020603050405020304" pitchFamily="18" charset="0"/>
              </a:rPr>
              <a:t>        per1.name = "</a:t>
            </a:r>
            <a:r>
              <a:rPr lang="zh-CN" altLang="en-US" sz="2400" b="1" dirty="0">
                <a:latin typeface="宋体" panose="02010600030101010101" pitchFamily="2" charset="-122"/>
                <a:ea typeface="宋体" panose="02010600030101010101" pitchFamily="2" charset="-122"/>
                <a:cs typeface="Times New Roman" panose="02020603050405020304" pitchFamily="18" charset="0"/>
              </a:rPr>
              <a:t>张三</a:t>
            </a:r>
            <a:r>
              <a:rPr lang="en-US" altLang="zh-CN" sz="2400" b="1" dirty="0">
                <a:latin typeface="宋体" panose="02010600030101010101" pitchFamily="2" charset="-122"/>
                <a:ea typeface="宋体" panose="02010600030101010101" pitchFamily="2" charset="-122"/>
                <a:cs typeface="Times New Roman" panose="02020603050405020304" pitchFamily="18" charset="0"/>
              </a:rPr>
              <a:t>";	    // </a:t>
            </a:r>
            <a:r>
              <a:rPr lang="zh-CN" altLang="en-US" sz="2400" b="1" dirty="0">
                <a:latin typeface="宋体" panose="02010600030101010101" pitchFamily="2" charset="-122"/>
                <a:ea typeface="宋体" panose="02010600030101010101" pitchFamily="2" charset="-122"/>
                <a:cs typeface="Times New Roman" panose="02020603050405020304" pitchFamily="18" charset="0"/>
              </a:rPr>
              <a:t>设置</a:t>
            </a:r>
            <a:r>
              <a:rPr lang="en-US" altLang="zh-CN" sz="2400" b="1" dirty="0">
                <a:latin typeface="宋体" panose="02010600030101010101" pitchFamily="2" charset="-122"/>
                <a:ea typeface="宋体" panose="02010600030101010101" pitchFamily="2" charset="-122"/>
                <a:cs typeface="Times New Roman" panose="02020603050405020304" pitchFamily="18" charset="0"/>
              </a:rPr>
              <a:t>per1</a:t>
            </a:r>
            <a:r>
              <a:rPr lang="zh-CN" altLang="en-US" sz="2400" b="1" dirty="0">
                <a:latin typeface="宋体" panose="02010600030101010101" pitchFamily="2" charset="-122"/>
                <a:ea typeface="宋体" panose="02010600030101010101" pitchFamily="2" charset="-122"/>
                <a:cs typeface="Times New Roman" panose="02020603050405020304" pitchFamily="18" charset="0"/>
              </a:rPr>
              <a:t>对象的</a:t>
            </a:r>
            <a:r>
              <a:rPr lang="en-US" altLang="zh-CN" sz="2400" b="1" dirty="0">
                <a:latin typeface="宋体" panose="02010600030101010101" pitchFamily="2" charset="-122"/>
                <a:ea typeface="宋体" panose="02010600030101010101" pitchFamily="2" charset="-122"/>
                <a:cs typeface="Times New Roman" panose="02020603050405020304" pitchFamily="18" charset="0"/>
              </a:rPr>
              <a:t>name</a:t>
            </a:r>
            <a:r>
              <a:rPr lang="zh-CN" altLang="en-US" sz="2400" b="1" dirty="0">
                <a:latin typeface="宋体" panose="02010600030101010101" pitchFamily="2" charset="-122"/>
                <a:ea typeface="宋体" panose="02010600030101010101" pitchFamily="2" charset="-122"/>
                <a:cs typeface="Times New Roman" panose="02020603050405020304" pitchFamily="18" charset="0"/>
              </a:rPr>
              <a:t>属性内容</a:t>
            </a:r>
            <a:endParaRPr lang="zh-CN" altLang="en-US" sz="24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r>
              <a:rPr lang="zh-CN" altLang="en-US" sz="2400" b="1" dirty="0">
                <a:latin typeface="宋体" panose="02010600030101010101" pitchFamily="2" charset="-122"/>
                <a:ea typeface="宋体" panose="02010600030101010101" pitchFamily="2" charset="-122"/>
                <a:cs typeface="Times New Roman" panose="02020603050405020304" pitchFamily="18" charset="0"/>
              </a:rPr>
              <a:t>        </a:t>
            </a:r>
            <a:r>
              <a:rPr lang="en-US" altLang="zh-CN" sz="2400" b="1" dirty="0">
                <a:latin typeface="宋体" panose="02010600030101010101" pitchFamily="2" charset="-122"/>
                <a:ea typeface="宋体" panose="02010600030101010101" pitchFamily="2" charset="-122"/>
                <a:cs typeface="Times New Roman" panose="02020603050405020304" pitchFamily="18" charset="0"/>
              </a:rPr>
              <a:t>per1.age = 30;           // </a:t>
            </a:r>
            <a:r>
              <a:rPr lang="zh-CN" altLang="en-US" sz="2400" b="1" dirty="0">
                <a:latin typeface="宋体" panose="02010600030101010101" pitchFamily="2" charset="-122"/>
                <a:ea typeface="宋体" panose="02010600030101010101" pitchFamily="2" charset="-122"/>
                <a:cs typeface="Times New Roman" panose="02020603050405020304" pitchFamily="18" charset="0"/>
              </a:rPr>
              <a:t>设置</a:t>
            </a:r>
            <a:r>
              <a:rPr lang="en-US" altLang="zh-CN" sz="2400" b="1" dirty="0">
                <a:latin typeface="宋体" panose="02010600030101010101" pitchFamily="2" charset="-122"/>
                <a:ea typeface="宋体" panose="02010600030101010101" pitchFamily="2" charset="-122"/>
                <a:cs typeface="Times New Roman" panose="02020603050405020304" pitchFamily="18" charset="0"/>
              </a:rPr>
              <a:t>per1</a:t>
            </a:r>
            <a:r>
              <a:rPr lang="zh-CN" altLang="en-US" sz="2400" b="1" dirty="0">
                <a:latin typeface="宋体" panose="02010600030101010101" pitchFamily="2" charset="-122"/>
                <a:ea typeface="宋体" panose="02010600030101010101" pitchFamily="2" charset="-122"/>
                <a:cs typeface="Times New Roman" panose="02020603050405020304" pitchFamily="18" charset="0"/>
              </a:rPr>
              <a:t>对象的</a:t>
            </a:r>
            <a:r>
              <a:rPr lang="en-US" altLang="zh-CN" sz="2400" b="1" dirty="0">
                <a:latin typeface="宋体" panose="02010600030101010101" pitchFamily="2" charset="-122"/>
                <a:ea typeface="宋体" panose="02010600030101010101" pitchFamily="2" charset="-122"/>
                <a:cs typeface="Times New Roman" panose="02020603050405020304" pitchFamily="18" charset="0"/>
              </a:rPr>
              <a:t>age</a:t>
            </a:r>
            <a:r>
              <a:rPr lang="zh-CN" altLang="en-US" sz="2400" b="1" dirty="0">
                <a:latin typeface="宋体" panose="02010600030101010101" pitchFamily="2" charset="-122"/>
                <a:ea typeface="宋体" panose="02010600030101010101" pitchFamily="2" charset="-122"/>
                <a:cs typeface="Times New Roman" panose="02020603050405020304" pitchFamily="18" charset="0"/>
              </a:rPr>
              <a:t>属性内容</a:t>
            </a:r>
            <a:endParaRPr lang="zh-CN" altLang="en-US" sz="24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r>
              <a:rPr lang="zh-CN" altLang="en-US" sz="2400" b="1" dirty="0">
                <a:latin typeface="宋体" panose="02010600030101010101" pitchFamily="2" charset="-122"/>
                <a:ea typeface="宋体" panose="02010600030101010101" pitchFamily="2" charset="-122"/>
                <a:cs typeface="Times New Roman" panose="02020603050405020304" pitchFamily="18" charset="0"/>
              </a:rPr>
              <a:t>        </a:t>
            </a:r>
            <a:r>
              <a:rPr lang="en-US" altLang="zh-CN" sz="2400" b="1" dirty="0">
                <a:latin typeface="宋体" panose="02010600030101010101" pitchFamily="2" charset="-122"/>
                <a:ea typeface="宋体" panose="02010600030101010101" pitchFamily="2" charset="-122"/>
                <a:cs typeface="Times New Roman" panose="02020603050405020304" pitchFamily="18" charset="0"/>
              </a:rPr>
              <a:t>per2.name = "</a:t>
            </a:r>
            <a:r>
              <a:rPr lang="zh-CN" altLang="en-US" sz="2400" b="1" dirty="0">
                <a:latin typeface="宋体" panose="02010600030101010101" pitchFamily="2" charset="-122"/>
                <a:ea typeface="宋体" panose="02010600030101010101" pitchFamily="2" charset="-122"/>
                <a:cs typeface="Times New Roman" panose="02020603050405020304" pitchFamily="18" charset="0"/>
              </a:rPr>
              <a:t>李四</a:t>
            </a:r>
            <a:r>
              <a:rPr lang="en-US" altLang="zh-CN" sz="2400" b="1" dirty="0">
                <a:latin typeface="宋体" panose="02010600030101010101" pitchFamily="2" charset="-122"/>
                <a:ea typeface="宋体" panose="02010600030101010101" pitchFamily="2" charset="-122"/>
                <a:cs typeface="Times New Roman" panose="02020603050405020304" pitchFamily="18" charset="0"/>
              </a:rPr>
              <a:t>";	     // </a:t>
            </a:r>
            <a:r>
              <a:rPr lang="zh-CN" altLang="en-US" sz="2400" b="1" dirty="0">
                <a:latin typeface="宋体" panose="02010600030101010101" pitchFamily="2" charset="-122"/>
                <a:ea typeface="宋体" panose="02010600030101010101" pitchFamily="2" charset="-122"/>
                <a:cs typeface="Times New Roman" panose="02020603050405020304" pitchFamily="18" charset="0"/>
              </a:rPr>
              <a:t>设置</a:t>
            </a:r>
            <a:r>
              <a:rPr lang="en-US" altLang="zh-CN" sz="2400" b="1" dirty="0">
                <a:latin typeface="宋体" panose="02010600030101010101" pitchFamily="2" charset="-122"/>
                <a:ea typeface="宋体" panose="02010600030101010101" pitchFamily="2" charset="-122"/>
                <a:cs typeface="Times New Roman" panose="02020603050405020304" pitchFamily="18" charset="0"/>
              </a:rPr>
              <a:t>per2</a:t>
            </a:r>
            <a:r>
              <a:rPr lang="zh-CN" altLang="en-US" sz="2400" b="1" dirty="0">
                <a:latin typeface="宋体" panose="02010600030101010101" pitchFamily="2" charset="-122"/>
                <a:ea typeface="宋体" panose="02010600030101010101" pitchFamily="2" charset="-122"/>
                <a:cs typeface="Times New Roman" panose="02020603050405020304" pitchFamily="18" charset="0"/>
              </a:rPr>
              <a:t>对象的</a:t>
            </a:r>
            <a:r>
              <a:rPr lang="en-US" altLang="zh-CN" sz="2400" b="1" dirty="0">
                <a:latin typeface="宋体" panose="02010600030101010101" pitchFamily="2" charset="-122"/>
                <a:ea typeface="宋体" panose="02010600030101010101" pitchFamily="2" charset="-122"/>
                <a:cs typeface="Times New Roman" panose="02020603050405020304" pitchFamily="18" charset="0"/>
              </a:rPr>
              <a:t>name</a:t>
            </a:r>
            <a:r>
              <a:rPr lang="zh-CN" altLang="en-US" sz="2400" b="1" dirty="0">
                <a:latin typeface="宋体" panose="02010600030101010101" pitchFamily="2" charset="-122"/>
                <a:ea typeface="宋体" panose="02010600030101010101" pitchFamily="2" charset="-122"/>
                <a:cs typeface="Times New Roman" panose="02020603050405020304" pitchFamily="18" charset="0"/>
              </a:rPr>
              <a:t>属性内容</a:t>
            </a:r>
            <a:endParaRPr lang="zh-CN" altLang="en-US" sz="24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r>
              <a:rPr lang="zh-CN" altLang="en-US" sz="2400" b="1" dirty="0">
                <a:latin typeface="宋体" panose="02010600030101010101" pitchFamily="2" charset="-122"/>
                <a:ea typeface="宋体" panose="02010600030101010101" pitchFamily="2" charset="-122"/>
                <a:cs typeface="Times New Roman" panose="02020603050405020304" pitchFamily="18" charset="0"/>
              </a:rPr>
              <a:t>        </a:t>
            </a:r>
            <a:r>
              <a:rPr lang="en-US" altLang="zh-CN" sz="2400" b="1" dirty="0">
                <a:latin typeface="宋体" panose="02010600030101010101" pitchFamily="2" charset="-122"/>
                <a:ea typeface="宋体" panose="02010600030101010101" pitchFamily="2" charset="-122"/>
                <a:cs typeface="Times New Roman" panose="02020603050405020304" pitchFamily="18" charset="0"/>
              </a:rPr>
              <a:t>per2.age = 33;		        // </a:t>
            </a:r>
            <a:r>
              <a:rPr lang="zh-CN" altLang="en-US" sz="2400" b="1" dirty="0">
                <a:latin typeface="宋体" panose="02010600030101010101" pitchFamily="2" charset="-122"/>
                <a:ea typeface="宋体" panose="02010600030101010101" pitchFamily="2" charset="-122"/>
                <a:cs typeface="Times New Roman" panose="02020603050405020304" pitchFamily="18" charset="0"/>
              </a:rPr>
              <a:t>设置</a:t>
            </a:r>
            <a:r>
              <a:rPr lang="en-US" altLang="zh-CN" sz="2400" b="1" dirty="0">
                <a:latin typeface="宋体" panose="02010600030101010101" pitchFamily="2" charset="-122"/>
                <a:ea typeface="宋体" panose="02010600030101010101" pitchFamily="2" charset="-122"/>
                <a:cs typeface="Times New Roman" panose="02020603050405020304" pitchFamily="18" charset="0"/>
              </a:rPr>
              <a:t>per2</a:t>
            </a:r>
            <a:r>
              <a:rPr lang="zh-CN" altLang="en-US" sz="2400" b="1" dirty="0">
                <a:latin typeface="宋体" panose="02010600030101010101" pitchFamily="2" charset="-122"/>
                <a:ea typeface="宋体" panose="02010600030101010101" pitchFamily="2" charset="-122"/>
                <a:cs typeface="Times New Roman" panose="02020603050405020304" pitchFamily="18" charset="0"/>
              </a:rPr>
              <a:t>对象的</a:t>
            </a:r>
            <a:r>
              <a:rPr lang="en-US" altLang="zh-CN" sz="2400" b="1" dirty="0">
                <a:latin typeface="宋体" panose="02010600030101010101" pitchFamily="2" charset="-122"/>
                <a:ea typeface="宋体" panose="02010600030101010101" pitchFamily="2" charset="-122"/>
                <a:cs typeface="Times New Roman" panose="02020603050405020304" pitchFamily="18" charset="0"/>
              </a:rPr>
              <a:t>age</a:t>
            </a:r>
            <a:r>
              <a:rPr lang="zh-CN" altLang="en-US" sz="2400" b="1" dirty="0">
                <a:latin typeface="宋体" panose="02010600030101010101" pitchFamily="2" charset="-122"/>
                <a:ea typeface="宋体" panose="02010600030101010101" pitchFamily="2" charset="-122"/>
                <a:cs typeface="Times New Roman" panose="02020603050405020304" pitchFamily="18" charset="0"/>
              </a:rPr>
              <a:t>属性内容</a:t>
            </a:r>
            <a:endParaRPr lang="zh-CN" altLang="en-US" sz="24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r>
              <a:rPr lang="zh-CN" altLang="en-US" sz="2400" b="1" dirty="0">
                <a:latin typeface="宋体" panose="02010600030101010101" pitchFamily="2" charset="-122"/>
                <a:ea typeface="宋体" panose="02010600030101010101" pitchFamily="2" charset="-122"/>
                <a:cs typeface="Times New Roman" panose="02020603050405020304" pitchFamily="18" charset="0"/>
              </a:rPr>
              <a:t>        </a:t>
            </a:r>
            <a:r>
              <a:rPr lang="en-US" altLang="zh-CN" sz="2400" b="1" dirty="0" err="1">
                <a:latin typeface="宋体" panose="02010600030101010101" pitchFamily="2" charset="-122"/>
                <a:ea typeface="宋体" panose="02010600030101010101" pitchFamily="2" charset="-122"/>
                <a:cs typeface="Times New Roman" panose="02020603050405020304" pitchFamily="18" charset="0"/>
              </a:rPr>
              <a:t>System.out.print</a:t>
            </a:r>
            <a:r>
              <a:rPr lang="en-US" altLang="zh-CN" sz="2400" b="1" dirty="0">
                <a:latin typeface="宋体" panose="02010600030101010101" pitchFamily="2" charset="-122"/>
                <a:ea typeface="宋体" panose="02010600030101010101" pitchFamily="2" charset="-122"/>
                <a:cs typeface="Times New Roman" panose="02020603050405020304" pitchFamily="18" charset="0"/>
              </a:rPr>
              <a:t>("per1</a:t>
            </a:r>
            <a:r>
              <a:rPr lang="zh-CN" altLang="en-US" sz="2400" b="1" dirty="0">
                <a:latin typeface="宋体" panose="02010600030101010101" pitchFamily="2" charset="-122"/>
                <a:ea typeface="宋体" panose="02010600030101010101" pitchFamily="2" charset="-122"/>
                <a:cs typeface="Times New Roman" panose="02020603050405020304" pitchFamily="18" charset="0"/>
              </a:rPr>
              <a:t>对象中的内容 </a:t>
            </a:r>
            <a:r>
              <a:rPr lang="en-US" altLang="zh-CN" sz="2400" b="1" dirty="0">
                <a:latin typeface="宋体" panose="02010600030101010101" pitchFamily="2" charset="-122"/>
                <a:ea typeface="宋体" panose="02010600030101010101" pitchFamily="2" charset="-122"/>
                <a:cs typeface="Times New Roman" panose="02020603050405020304" pitchFamily="18" charset="0"/>
              </a:rPr>
              <a:t>--&gt; ") ;</a:t>
            </a:r>
            <a:endParaRPr lang="en-US" altLang="zh-CN" sz="24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2400" b="1" dirty="0">
                <a:latin typeface="宋体" panose="02010600030101010101" pitchFamily="2" charset="-122"/>
                <a:ea typeface="宋体" panose="02010600030101010101" pitchFamily="2" charset="-122"/>
                <a:cs typeface="Times New Roman" panose="02020603050405020304" pitchFamily="18" charset="0"/>
              </a:rPr>
              <a:t>        per1.tell();		     // per1</a:t>
            </a:r>
            <a:r>
              <a:rPr lang="zh-CN" altLang="en-US" sz="2400" b="1" dirty="0">
                <a:latin typeface="宋体" panose="02010600030101010101" pitchFamily="2" charset="-122"/>
                <a:ea typeface="宋体" panose="02010600030101010101" pitchFamily="2" charset="-122"/>
                <a:cs typeface="Times New Roman" panose="02020603050405020304" pitchFamily="18" charset="0"/>
              </a:rPr>
              <a:t>调用方法</a:t>
            </a:r>
            <a:endParaRPr lang="zh-CN" altLang="en-US" sz="24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r>
              <a:rPr lang="zh-CN" altLang="en-US" sz="2400" b="1" dirty="0">
                <a:latin typeface="宋体" panose="02010600030101010101" pitchFamily="2" charset="-122"/>
                <a:ea typeface="宋体" panose="02010600030101010101" pitchFamily="2" charset="-122"/>
                <a:cs typeface="Times New Roman" panose="02020603050405020304" pitchFamily="18" charset="0"/>
              </a:rPr>
              <a:t>        </a:t>
            </a:r>
            <a:r>
              <a:rPr lang="en-US" altLang="zh-CN" sz="2400" b="1" dirty="0" err="1">
                <a:latin typeface="宋体" panose="02010600030101010101" pitchFamily="2" charset="-122"/>
                <a:ea typeface="宋体" panose="02010600030101010101" pitchFamily="2" charset="-122"/>
                <a:cs typeface="Times New Roman" panose="02020603050405020304" pitchFamily="18" charset="0"/>
              </a:rPr>
              <a:t>System.out.print</a:t>
            </a:r>
            <a:r>
              <a:rPr lang="en-US" altLang="zh-CN" sz="2400" b="1" dirty="0">
                <a:latin typeface="宋体" panose="02010600030101010101" pitchFamily="2" charset="-122"/>
                <a:ea typeface="宋体" panose="02010600030101010101" pitchFamily="2" charset="-122"/>
                <a:cs typeface="Times New Roman" panose="02020603050405020304" pitchFamily="18" charset="0"/>
              </a:rPr>
              <a:t>("per2</a:t>
            </a:r>
            <a:r>
              <a:rPr lang="zh-CN" altLang="en-US" sz="2400" b="1" dirty="0">
                <a:latin typeface="宋体" panose="02010600030101010101" pitchFamily="2" charset="-122"/>
                <a:ea typeface="宋体" panose="02010600030101010101" pitchFamily="2" charset="-122"/>
                <a:cs typeface="Times New Roman" panose="02020603050405020304" pitchFamily="18" charset="0"/>
              </a:rPr>
              <a:t>对象中的内容 </a:t>
            </a:r>
            <a:r>
              <a:rPr lang="en-US" altLang="zh-CN" sz="2400" b="1" dirty="0">
                <a:latin typeface="宋体" panose="02010600030101010101" pitchFamily="2" charset="-122"/>
                <a:ea typeface="宋体" panose="02010600030101010101" pitchFamily="2" charset="-122"/>
                <a:cs typeface="Times New Roman" panose="02020603050405020304" pitchFamily="18" charset="0"/>
              </a:rPr>
              <a:t>--&gt; ") ;</a:t>
            </a:r>
            <a:endParaRPr lang="en-US" altLang="zh-CN" sz="24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2400" b="1" dirty="0">
                <a:latin typeface="宋体" panose="02010600030101010101" pitchFamily="2" charset="-122"/>
                <a:ea typeface="宋体" panose="02010600030101010101" pitchFamily="2" charset="-122"/>
                <a:cs typeface="Times New Roman" panose="02020603050405020304" pitchFamily="18" charset="0"/>
              </a:rPr>
              <a:t>        per2.tell();		     // per2</a:t>
            </a:r>
            <a:r>
              <a:rPr lang="zh-CN" altLang="en-US" sz="2400" b="1" dirty="0">
                <a:latin typeface="宋体" panose="02010600030101010101" pitchFamily="2" charset="-122"/>
                <a:ea typeface="宋体" panose="02010600030101010101" pitchFamily="2" charset="-122"/>
                <a:cs typeface="Times New Roman" panose="02020603050405020304" pitchFamily="18" charset="0"/>
              </a:rPr>
              <a:t>调用方法</a:t>
            </a:r>
            <a:endParaRPr lang="zh-CN" altLang="en-US" sz="24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r>
              <a:rPr lang="zh-CN" altLang="en-US" sz="2400" b="1" dirty="0">
                <a:latin typeface="宋体" panose="02010600030101010101" pitchFamily="2" charset="-122"/>
                <a:ea typeface="宋体" panose="02010600030101010101" pitchFamily="2" charset="-122"/>
                <a:cs typeface="Times New Roman" panose="02020603050405020304" pitchFamily="18" charset="0"/>
              </a:rPr>
              <a:t>    </a:t>
            </a:r>
            <a:r>
              <a:rPr lang="en-US" altLang="zh-CN" sz="240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24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240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24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endParaRPr lang="zh-CN" altLang="en-US" sz="2400" b="1" dirty="0">
              <a:latin typeface="宋体" panose="02010600030101010101" pitchFamily="2" charset="-122"/>
              <a:ea typeface="宋体" panose="02010600030101010101" pitchFamily="2" charset="-122"/>
            </a:endParaRPr>
          </a:p>
        </p:txBody>
      </p:sp>
      <p:sp>
        <p:nvSpPr>
          <p:cNvPr id="29700"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D91FD8AC-F9D6-4134-9C19-F8FD0CCE9578}"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pic>
        <p:nvPicPr>
          <p:cNvPr id="29701"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r="45231"/>
          <a:stretch>
            <a:fillRect/>
          </a:stretch>
        </p:blipFill>
        <p:spPr bwMode="auto">
          <a:xfrm>
            <a:off x="7675371" y="47338"/>
            <a:ext cx="4271746" cy="2342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标题 1"/>
          <p:cNvSpPr txBox="1"/>
          <p:nvPr/>
        </p:nvSpPr>
        <p:spPr>
          <a:xfrm>
            <a:off x="342908" y="612451"/>
            <a:ext cx="8147318" cy="75052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dirty="0">
                <a:latin typeface="宋体" panose="02010600030101010101" pitchFamily="2" charset="-122"/>
                <a:ea typeface="宋体" panose="02010600030101010101" pitchFamily="2" charset="-122"/>
              </a:rPr>
              <a:t>2</a:t>
            </a:r>
            <a:r>
              <a:rPr lang="zh-CN" altLang="en-US" sz="2800" dirty="0">
                <a:latin typeface="宋体" panose="02010600030101010101" pitchFamily="2" charset="-122"/>
                <a:ea typeface="宋体" panose="02010600030101010101" pitchFamily="2" charset="-122"/>
              </a:rPr>
              <a:t>、对象的创建与使用</a:t>
            </a:r>
            <a:endParaRPr lang="zh-CN" altLang="en-US" sz="2800" dirty="0">
              <a:latin typeface="宋体" panose="02010600030101010101" pitchFamily="2" charset="-122"/>
              <a:ea typeface="宋体" panose="02010600030101010101" pitchFamily="2" charset="-122"/>
            </a:endParaRPr>
          </a:p>
        </p:txBody>
      </p:sp>
      <p:sp>
        <p:nvSpPr>
          <p:cNvPr id="7" name="标题 1"/>
          <p:cNvSpPr txBox="1"/>
          <p:nvPr/>
        </p:nvSpPr>
        <p:spPr>
          <a:xfrm>
            <a:off x="244884" y="173502"/>
            <a:ext cx="8147318" cy="60643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3.2 </a:t>
            </a:r>
            <a:r>
              <a:rPr lang="zh-CN" altLang="en-US" dirty="0">
                <a:latin typeface="宋体" panose="02010600030101010101" pitchFamily="2" charset="-122"/>
                <a:ea typeface="宋体" panose="02010600030101010101" pitchFamily="2" charset="-122"/>
              </a:rPr>
              <a:t>类与对象</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内容占位符 2"/>
          <p:cNvSpPr>
            <a:spLocks noGrp="1"/>
          </p:cNvSpPr>
          <p:nvPr>
            <p:ph idx="4294967295"/>
          </p:nvPr>
        </p:nvSpPr>
        <p:spPr>
          <a:xfrm>
            <a:off x="612175" y="1526506"/>
            <a:ext cx="11185573" cy="3786639"/>
          </a:xfrm>
        </p:spPr>
        <p:txBody>
          <a:bodyPr>
            <a:noAutofit/>
          </a:bodyPr>
          <a:lstStyle/>
          <a:p>
            <a:pPr>
              <a:lnSpc>
                <a:spcPct val="100000"/>
              </a:lnSpc>
              <a:spcBef>
                <a:spcPts val="0"/>
              </a:spcBef>
              <a:buFont typeface="Wingdings" panose="05000000000000000000" pitchFamily="2" charset="2"/>
              <a:buChar char="n"/>
              <a:defRPr/>
            </a:pPr>
            <a:r>
              <a:rPr lang="zh-CN" altLang="en-US" sz="2800" b="1" dirty="0">
                <a:latin typeface="宋体" panose="02010600030101010101" pitchFamily="2" charset="-122"/>
                <a:ea typeface="宋体" panose="02010600030101010101" pitchFamily="2" charset="-122"/>
                <a:cs typeface="Times New Roman" panose="02020603050405020304" pitchFamily="18" charset="0"/>
              </a:rPr>
              <a:t>声明类类型的数组，并用</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new</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分配内存空间给数组。</a:t>
            </a:r>
            <a:endParaRPr lang="zh-CN" altLang="en-US" sz="2800" b="1" dirty="0">
              <a:latin typeface="宋体" panose="02010600030101010101" pitchFamily="2" charset="-122"/>
              <a:ea typeface="宋体" panose="02010600030101010101" pitchFamily="2" charset="-122"/>
              <a:cs typeface="Times New Roman" panose="02020603050405020304" pitchFamily="18" charset="0"/>
            </a:endParaRPr>
          </a:p>
          <a:p>
            <a:pPr>
              <a:lnSpc>
                <a:spcPct val="100000"/>
              </a:lnSpc>
              <a:spcBef>
                <a:spcPts val="0"/>
              </a:spcBef>
              <a:buFont typeface="Wingdings" panose="05000000000000000000" pitchFamily="2" charset="2"/>
              <a:buChar char="n"/>
              <a:defRPr/>
            </a:pPr>
            <a:r>
              <a:rPr lang="zh-CN" altLang="en-US" sz="2800" b="1" dirty="0">
                <a:latin typeface="宋体" panose="02010600030101010101" pitchFamily="2" charset="-122"/>
                <a:ea typeface="宋体" panose="02010600030101010101" pitchFamily="2" charset="-122"/>
                <a:cs typeface="Times New Roman" panose="02020603050405020304" pitchFamily="18" charset="0"/>
              </a:rPr>
              <a:t>用</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new</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产生新的对象，并分配内存空间给数组元素。</a:t>
            </a:r>
            <a:endParaRPr lang="zh-CN" altLang="en-US"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lnSpc>
                <a:spcPct val="100000"/>
              </a:lnSpc>
              <a:spcBef>
                <a:spcPts val="0"/>
              </a:spcBef>
              <a:buNone/>
              <a:defRPr/>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Person p[]= new Person[3] ;  </a:t>
            </a:r>
            <a:endParaRPr lang="zh-CN" altLang="en-US"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lnSpc>
                <a:spcPct val="100000"/>
              </a:lnSpc>
              <a:spcBef>
                <a:spcPts val="0"/>
              </a:spcBef>
              <a:buNone/>
              <a:defRPr/>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p[0] = new Person () ;   </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lnSpc>
                <a:spcPct val="100000"/>
              </a:lnSpc>
              <a:spcBef>
                <a:spcPts val="0"/>
              </a:spcBef>
              <a:buNone/>
              <a:defRPr/>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p[1] = new Person () ;   </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lnSpc>
                <a:spcPct val="100000"/>
              </a:lnSpc>
              <a:spcBef>
                <a:spcPts val="0"/>
              </a:spcBef>
              <a:buNone/>
              <a:defRPr/>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p[2] = new Person () ;   </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lnSpc>
                <a:spcPct val="100000"/>
              </a:lnSpc>
              <a:spcBef>
                <a:spcPts val="0"/>
              </a:spcBef>
              <a:buNone/>
              <a:defRPr/>
            </a:pPr>
            <a:r>
              <a:rPr lang="zh-CN" altLang="en-US" sz="2800" b="1" dirty="0">
                <a:latin typeface="宋体" panose="02010600030101010101" pitchFamily="2" charset="-122"/>
                <a:ea typeface="宋体" panose="02010600030101010101" pitchFamily="2" charset="-122"/>
                <a:cs typeface="Times New Roman" panose="02020603050405020304" pitchFamily="18" charset="0"/>
              </a:rPr>
              <a:t>此时，</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p[0]</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p[1]</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p[2]</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是属于 </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Person </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类类型的变量，它们分别指向新建对象的内存地址。</a:t>
            </a:r>
            <a:endParaRPr lang="zh-CN" altLang="en-US"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lnSpc>
                <a:spcPct val="100000"/>
              </a:lnSpc>
              <a:spcBef>
                <a:spcPts val="0"/>
              </a:spcBef>
              <a:buNone/>
              <a:defRPr/>
            </a:pPr>
            <a:endParaRPr lang="zh-CN" altLang="en-US" sz="2800" b="1" dirty="0">
              <a:latin typeface="宋体" panose="02010600030101010101" pitchFamily="2" charset="-122"/>
              <a:ea typeface="宋体" panose="02010600030101010101" pitchFamily="2" charset="-122"/>
            </a:endParaRPr>
          </a:p>
        </p:txBody>
      </p:sp>
      <p:sp>
        <p:nvSpPr>
          <p:cNvPr id="30724"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8B02E450-A0EE-4078-87C3-151F71453C56}"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342908" y="612451"/>
            <a:ext cx="8147318" cy="75052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dirty="0">
                <a:latin typeface="宋体" panose="02010600030101010101" pitchFamily="2" charset="-122"/>
                <a:ea typeface="宋体" panose="02010600030101010101" pitchFamily="2" charset="-122"/>
              </a:rPr>
              <a:t>2</a:t>
            </a:r>
            <a:r>
              <a:rPr lang="zh-CN" altLang="en-US" sz="2800" dirty="0">
                <a:latin typeface="宋体" panose="02010600030101010101" pitchFamily="2" charset="-122"/>
                <a:ea typeface="宋体" panose="02010600030101010101" pitchFamily="2" charset="-122"/>
              </a:rPr>
              <a:t>、对象的创建与使用</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对象数组的使用</a:t>
            </a:r>
            <a:endParaRPr lang="zh-CN" altLang="en-US" sz="2800" dirty="0">
              <a:latin typeface="宋体" panose="02010600030101010101" pitchFamily="2" charset="-122"/>
              <a:ea typeface="宋体" panose="02010600030101010101" pitchFamily="2" charset="-122"/>
            </a:endParaRPr>
          </a:p>
        </p:txBody>
      </p:sp>
      <p:sp>
        <p:nvSpPr>
          <p:cNvPr id="6" name="标题 1"/>
          <p:cNvSpPr txBox="1"/>
          <p:nvPr/>
        </p:nvSpPr>
        <p:spPr>
          <a:xfrm>
            <a:off x="244884" y="173502"/>
            <a:ext cx="8147318" cy="60643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3.2 </a:t>
            </a:r>
            <a:r>
              <a:rPr lang="zh-CN" altLang="en-US" dirty="0">
                <a:latin typeface="宋体" panose="02010600030101010101" pitchFamily="2" charset="-122"/>
                <a:ea typeface="宋体" panose="02010600030101010101" pitchFamily="2" charset="-122"/>
              </a:rPr>
              <a:t>类与对象</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32771" name="内容占位符 2"/>
          <p:cNvSpPr>
            <a:spLocks noGrp="1"/>
          </p:cNvSpPr>
          <p:nvPr>
            <p:ph idx="4294967295"/>
          </p:nvPr>
        </p:nvSpPr>
        <p:spPr>
          <a:xfrm>
            <a:off x="716671" y="1670740"/>
            <a:ext cx="11151278" cy="4037041"/>
          </a:xfrm>
        </p:spPr>
        <p:txBody>
          <a:bodyPr>
            <a:normAutofit/>
          </a:bodyPr>
          <a:lstStyle/>
          <a:p>
            <a:pPr>
              <a:lnSpc>
                <a:spcPct val="100000"/>
              </a:lnSpc>
              <a:spcBef>
                <a:spcPts val="0"/>
              </a:spcBef>
              <a:defRPr/>
            </a:pPr>
            <a:r>
              <a:rPr lang="zh-CN" altLang="en-US" sz="2800" b="1" dirty="0">
                <a:latin typeface="宋体" panose="02010600030101010101" pitchFamily="2" charset="-122"/>
                <a:ea typeface="宋体" panose="02010600030101010101" pitchFamily="2" charset="-122"/>
                <a:cs typeface="Times New Roman" panose="02020603050405020304" pitchFamily="18" charset="0"/>
              </a:rPr>
              <a:t>也可以利用 </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for </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循环来完成对象数组内的初始化操作，此方式属于动态初始化：</a:t>
            </a:r>
            <a:endParaRPr lang="zh-CN" altLang="en-US"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lnSpc>
                <a:spcPct val="100000"/>
              </a:lnSpc>
              <a:spcBef>
                <a:spcPts val="0"/>
              </a:spcBef>
              <a:buNone/>
              <a:defRPr/>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for(</a:t>
            </a:r>
            <a:r>
              <a:rPr lang="en-US" altLang="zh-CN" sz="2800" b="1" dirty="0" err="1">
                <a:latin typeface="宋体" panose="02010600030101010101" pitchFamily="2" charset="-122"/>
                <a:ea typeface="宋体" panose="02010600030101010101" pitchFamily="2" charset="-122"/>
                <a:cs typeface="Times New Roman" panose="02020603050405020304" pitchFamily="18" charset="0"/>
              </a:rPr>
              <a:t>int</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 </a:t>
            </a:r>
            <a:r>
              <a:rPr lang="en-US" altLang="zh-CN" sz="2800" b="1" dirty="0" err="1">
                <a:latin typeface="宋体" panose="02010600030101010101" pitchFamily="2" charset="-122"/>
                <a:ea typeface="宋体" panose="02010600030101010101" pitchFamily="2" charset="-122"/>
                <a:cs typeface="Times New Roman" panose="02020603050405020304" pitchFamily="18" charset="0"/>
              </a:rPr>
              <a:t>i</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=0;i&lt;</a:t>
            </a:r>
            <a:r>
              <a:rPr lang="en-US" altLang="zh-CN" sz="2800" b="1" dirty="0" err="1">
                <a:latin typeface="宋体" panose="02010600030101010101" pitchFamily="2" charset="-122"/>
                <a:ea typeface="宋体" panose="02010600030101010101" pitchFamily="2" charset="-122"/>
                <a:cs typeface="Times New Roman" panose="02020603050405020304" pitchFamily="18" charset="0"/>
              </a:rPr>
              <a:t>p.length;i</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lnSpc>
                <a:spcPct val="100000"/>
              </a:lnSpc>
              <a:spcBef>
                <a:spcPts val="0"/>
              </a:spcBef>
              <a:buNone/>
              <a:defRPr/>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lnSpc>
                <a:spcPct val="100000"/>
              </a:lnSpc>
              <a:spcBef>
                <a:spcPts val="0"/>
              </a:spcBef>
              <a:buNone/>
              <a:defRPr/>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        p[</a:t>
            </a:r>
            <a:r>
              <a:rPr lang="en-US" altLang="zh-CN" sz="2800" b="1" dirty="0" err="1">
                <a:latin typeface="宋体" panose="02010600030101010101" pitchFamily="2" charset="-122"/>
                <a:ea typeface="宋体" panose="02010600030101010101" pitchFamily="2" charset="-122"/>
                <a:cs typeface="Times New Roman" panose="02020603050405020304" pitchFamily="18" charset="0"/>
              </a:rPr>
              <a:t>i</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 = new Person() ;</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lnSpc>
                <a:spcPct val="100000"/>
              </a:lnSpc>
              <a:spcBef>
                <a:spcPts val="0"/>
              </a:spcBef>
              <a:buNone/>
              <a:defRPr/>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a:lnSpc>
                <a:spcPct val="100000"/>
              </a:lnSpc>
              <a:spcBef>
                <a:spcPts val="0"/>
              </a:spcBef>
              <a:defRPr/>
            </a:pPr>
            <a:r>
              <a:rPr lang="zh-CN" altLang="en-US" sz="2800" b="1" dirty="0">
                <a:latin typeface="宋体" panose="02010600030101010101" pitchFamily="2" charset="-122"/>
                <a:ea typeface="宋体" panose="02010600030101010101" pitchFamily="2" charset="-122"/>
                <a:cs typeface="Times New Roman" panose="02020603050405020304" pitchFamily="18" charset="0"/>
              </a:rPr>
              <a:t>或者采用静态方式初始化对象数组：</a:t>
            </a:r>
            <a:endParaRPr lang="zh-CN" altLang="en-US"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lnSpc>
                <a:spcPct val="100000"/>
              </a:lnSpc>
              <a:spcBef>
                <a:spcPts val="0"/>
              </a:spcBef>
              <a:buNone/>
              <a:defRPr/>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Person p[] = {new Person(),new Person(),new Person()} ;</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lnSpc>
                <a:spcPct val="100000"/>
              </a:lnSpc>
              <a:spcBef>
                <a:spcPts val="0"/>
              </a:spcBef>
              <a:buNone/>
              <a:defRPr/>
            </a:pPr>
            <a:endParaRPr lang="zh-CN" altLang="en-US" sz="2800" b="1" dirty="0">
              <a:latin typeface="宋体" panose="02010600030101010101" pitchFamily="2" charset="-122"/>
              <a:ea typeface="宋体" panose="02010600030101010101" pitchFamily="2" charset="-122"/>
            </a:endParaRPr>
          </a:p>
        </p:txBody>
      </p:sp>
      <p:sp>
        <p:nvSpPr>
          <p:cNvPr id="31748"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2663169D-A3C5-4E1A-B13D-5C2524C077C5}"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342908" y="612451"/>
            <a:ext cx="8147318" cy="75052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dirty="0">
                <a:latin typeface="宋体" panose="02010600030101010101" pitchFamily="2" charset="-122"/>
                <a:ea typeface="宋体" panose="02010600030101010101" pitchFamily="2" charset="-122"/>
              </a:rPr>
              <a:t>2</a:t>
            </a:r>
            <a:r>
              <a:rPr lang="zh-CN" altLang="en-US" sz="2800" dirty="0">
                <a:latin typeface="宋体" panose="02010600030101010101" pitchFamily="2" charset="-122"/>
                <a:ea typeface="宋体" panose="02010600030101010101" pitchFamily="2" charset="-122"/>
              </a:rPr>
              <a:t>、对象的创建与使用</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对象数组的使用</a:t>
            </a:r>
            <a:endParaRPr lang="zh-CN" altLang="en-US" sz="2800" dirty="0">
              <a:latin typeface="宋体" panose="02010600030101010101" pitchFamily="2" charset="-122"/>
              <a:ea typeface="宋体" panose="02010600030101010101" pitchFamily="2" charset="-122"/>
            </a:endParaRPr>
          </a:p>
        </p:txBody>
      </p:sp>
      <p:sp>
        <p:nvSpPr>
          <p:cNvPr id="6" name="标题 1"/>
          <p:cNvSpPr txBox="1"/>
          <p:nvPr/>
        </p:nvSpPr>
        <p:spPr>
          <a:xfrm>
            <a:off x="244884" y="173502"/>
            <a:ext cx="8147318" cy="60643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3.2 </a:t>
            </a:r>
            <a:r>
              <a:rPr lang="zh-CN" altLang="en-US" dirty="0">
                <a:latin typeface="宋体" panose="02010600030101010101" pitchFamily="2" charset="-122"/>
                <a:ea typeface="宋体" panose="02010600030101010101" pitchFamily="2" charset="-122"/>
              </a:rPr>
              <a:t>类与对象</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13623" y="250257"/>
            <a:ext cx="9601200" cy="757374"/>
          </a:xfrm>
        </p:spPr>
        <p:txBody>
          <a:bodyPr/>
          <a:lstStyle/>
          <a:p>
            <a:r>
              <a:rPr lang="zh-CN" altLang="en-US" dirty="0"/>
              <a:t>练习：</a:t>
            </a:r>
            <a:endParaRPr lang="zh-CN" altLang="en-US" dirty="0"/>
          </a:p>
        </p:txBody>
      </p:sp>
      <p:sp>
        <p:nvSpPr>
          <p:cNvPr id="3" name="竖排文字占位符 2"/>
          <p:cNvSpPr>
            <a:spLocks noGrp="1"/>
          </p:cNvSpPr>
          <p:nvPr>
            <p:ph type="body" orient="vert" idx="1"/>
          </p:nvPr>
        </p:nvSpPr>
        <p:spPr>
          <a:xfrm>
            <a:off x="652976" y="1129118"/>
            <a:ext cx="10929424" cy="3809999"/>
          </a:xfrm>
        </p:spPr>
        <p:txBody>
          <a:bodyPr vert="horz">
            <a:noAutofit/>
          </a:bodyPr>
          <a:lstStyle/>
          <a:p>
            <a:pPr marL="0" indent="0">
              <a:buNone/>
            </a:pPr>
            <a:r>
              <a:rPr lang="en-US" altLang="zh-CN" sz="2800" dirty="0">
                <a:latin typeface="宋体" panose="02010600030101010101" pitchFamily="2" charset="-122"/>
                <a:ea typeface="宋体" panose="02010600030101010101" pitchFamily="2" charset="-122"/>
              </a:rPr>
              <a:t>1</a:t>
            </a:r>
            <a:r>
              <a:rPr lang="zh-CN" altLang="en-US" sz="2800" dirty="0">
                <a:latin typeface="宋体" panose="02010600030101010101" pitchFamily="2" charset="-122"/>
                <a:ea typeface="宋体" panose="02010600030101010101" pitchFamily="2" charset="-122"/>
              </a:rPr>
              <a:t>、定义一个类，包含</a:t>
            </a:r>
            <a:r>
              <a:rPr lang="en-US" altLang="zh-CN" sz="2800" dirty="0">
                <a:latin typeface="宋体" panose="02010600030101010101" pitchFamily="2" charset="-122"/>
                <a:ea typeface="宋体" panose="02010600030101010101" pitchFamily="2" charset="-122"/>
              </a:rPr>
              <a:t>char</a:t>
            </a:r>
            <a:r>
              <a:rPr lang="zh-CN" altLang="en-US" sz="2800" dirty="0">
                <a:latin typeface="宋体" panose="02010600030101010101" pitchFamily="2" charset="-122"/>
                <a:ea typeface="宋体" panose="02010600030101010101" pitchFamily="2" charset="-122"/>
              </a:rPr>
              <a:t>类型、</a:t>
            </a:r>
            <a:r>
              <a:rPr lang="en-US" altLang="zh-CN" sz="2800" dirty="0">
                <a:latin typeface="宋体" panose="02010600030101010101" pitchFamily="2" charset="-122"/>
                <a:ea typeface="宋体" panose="02010600030101010101" pitchFamily="2" charset="-122"/>
              </a:rPr>
              <a:t>float</a:t>
            </a:r>
            <a:r>
              <a:rPr lang="zh-CN" altLang="en-US" sz="2800" dirty="0">
                <a:latin typeface="宋体" panose="02010600030101010101" pitchFamily="2" charset="-122"/>
                <a:ea typeface="宋体" panose="02010600030101010101" pitchFamily="2" charset="-122"/>
              </a:rPr>
              <a:t>类型、</a:t>
            </a:r>
            <a:r>
              <a:rPr lang="en-US" altLang="zh-CN" sz="2800" dirty="0">
                <a:latin typeface="宋体" panose="02010600030101010101" pitchFamily="2" charset="-122"/>
                <a:ea typeface="宋体" panose="02010600030101010101" pitchFamily="2" charset="-122"/>
              </a:rPr>
              <a:t>double</a:t>
            </a:r>
            <a:r>
              <a:rPr lang="zh-CN" altLang="en-US" sz="2800" dirty="0">
                <a:latin typeface="宋体" panose="02010600030101010101" pitchFamily="2" charset="-122"/>
                <a:ea typeface="宋体" panose="02010600030101010101" pitchFamily="2" charset="-122"/>
              </a:rPr>
              <a:t>类型、</a:t>
            </a:r>
            <a:r>
              <a:rPr lang="en-US" altLang="zh-CN" sz="2800" dirty="0" err="1">
                <a:latin typeface="宋体" panose="02010600030101010101" pitchFamily="2" charset="-122"/>
                <a:ea typeface="宋体" panose="02010600030101010101" pitchFamily="2" charset="-122"/>
              </a:rPr>
              <a:t>boolean</a:t>
            </a:r>
            <a:r>
              <a:rPr lang="zh-CN" altLang="en-US" sz="2800" dirty="0">
                <a:latin typeface="宋体" panose="02010600030101010101" pitchFamily="2" charset="-122"/>
                <a:ea typeface="宋体" panose="02010600030101010101" pitchFamily="2" charset="-122"/>
              </a:rPr>
              <a:t>类型的成员变量，实例化一个对象，不给成员变量赋值，看看里面各个成员变量的默认值是多少？</a:t>
            </a:r>
            <a:endParaRPr lang="en-US" altLang="zh-CN" sz="2800" dirty="0">
              <a:latin typeface="宋体" panose="02010600030101010101" pitchFamily="2" charset="-122"/>
              <a:ea typeface="宋体" panose="02010600030101010101" pitchFamily="2" charset="-122"/>
            </a:endParaRPr>
          </a:p>
          <a:p>
            <a:pPr marL="0" indent="0">
              <a:buNone/>
            </a:pPr>
            <a:r>
              <a:rPr lang="en-US" altLang="zh-CN" sz="2800" dirty="0">
                <a:latin typeface="宋体" panose="02010600030101010101" pitchFamily="2" charset="-122"/>
                <a:ea typeface="宋体" panose="02010600030101010101" pitchFamily="2" charset="-122"/>
              </a:rPr>
              <a:t>2</a:t>
            </a:r>
            <a:r>
              <a:rPr lang="zh-CN" altLang="en-US" sz="2800" dirty="0">
                <a:latin typeface="宋体" panose="02010600030101010101" pitchFamily="2" charset="-122"/>
                <a:ea typeface="宋体" panose="02010600030101010101" pitchFamily="2" charset="-122"/>
              </a:rPr>
              <a:t>、设计一个长方形类，成员变量包括长和宽。类中有计算面积和周长的方法，并有相应的</a:t>
            </a:r>
            <a:r>
              <a:rPr lang="en-US" altLang="zh-CN" sz="2800" dirty="0">
                <a:latin typeface="宋体" panose="02010600030101010101" pitchFamily="2" charset="-122"/>
                <a:ea typeface="宋体" panose="02010600030101010101" pitchFamily="2" charset="-122"/>
              </a:rPr>
              <a:t>set</a:t>
            </a:r>
            <a:r>
              <a:rPr lang="zh-CN" altLang="en-US" sz="2800" dirty="0">
                <a:latin typeface="宋体" panose="02010600030101010101" pitchFamily="2" charset="-122"/>
                <a:ea typeface="宋体" panose="02010600030101010101" pitchFamily="2" charset="-122"/>
              </a:rPr>
              <a:t>方法和</a:t>
            </a:r>
            <a:r>
              <a:rPr lang="en-US" altLang="zh-CN" sz="2800" dirty="0">
                <a:latin typeface="宋体" panose="02010600030101010101" pitchFamily="2" charset="-122"/>
                <a:ea typeface="宋体" panose="02010600030101010101" pitchFamily="2" charset="-122"/>
              </a:rPr>
              <a:t>get</a:t>
            </a:r>
            <a:r>
              <a:rPr lang="zh-CN" altLang="en-US" sz="2800" dirty="0">
                <a:latin typeface="宋体" panose="02010600030101010101" pitchFamily="2" charset="-122"/>
                <a:ea typeface="宋体" panose="02010600030101010101" pitchFamily="2" charset="-122"/>
              </a:rPr>
              <a:t>方法设置和获得长和宽。编写测试类测试是否达到预定功能。</a:t>
            </a:r>
            <a:endParaRPr lang="en-US" altLang="zh-CN" sz="28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竖排文字占位符 2"/>
          <p:cNvSpPr>
            <a:spLocks noGrp="1"/>
          </p:cNvSpPr>
          <p:nvPr>
            <p:ph type="body" orient="vert" idx="1"/>
          </p:nvPr>
        </p:nvSpPr>
        <p:spPr>
          <a:xfrm>
            <a:off x="627185" y="797170"/>
            <a:ext cx="10533184" cy="5040922"/>
          </a:xfrm>
        </p:spPr>
        <p:txBody>
          <a:bodyPr vert="horz">
            <a:noAutofit/>
          </a:bodyPr>
          <a:lstStyle/>
          <a:p>
            <a:pPr marL="0" indent="0">
              <a:buNone/>
            </a:pPr>
            <a:r>
              <a:rPr lang="en-US" altLang="zh-CN" sz="2800" dirty="0">
                <a:latin typeface="宋体" panose="02010600030101010101" pitchFamily="2" charset="-122"/>
                <a:ea typeface="宋体" panose="02010600030101010101" pitchFamily="2" charset="-122"/>
              </a:rPr>
              <a:t>3</a:t>
            </a:r>
            <a:r>
              <a:rPr lang="zh-CN" altLang="en-US" sz="2800" dirty="0">
                <a:latin typeface="宋体" panose="02010600030101010101" pitchFamily="2" charset="-122"/>
                <a:ea typeface="宋体" panose="02010600030101010101" pitchFamily="2" charset="-122"/>
              </a:rPr>
              <a:t>、自己定义一个时间类，类名为</a:t>
            </a:r>
            <a:r>
              <a:rPr lang="en-US" altLang="zh-CN" sz="2800" dirty="0" err="1">
                <a:latin typeface="宋体" panose="02010600030101010101" pitchFamily="2" charset="-122"/>
                <a:ea typeface="宋体" panose="02010600030101010101" pitchFamily="2" charset="-122"/>
              </a:rPr>
              <a:t>MyTime</a:t>
            </a:r>
            <a:r>
              <a:rPr lang="zh-CN" altLang="en-US" sz="2800" dirty="0">
                <a:latin typeface="宋体" panose="02010600030101010101" pitchFamily="2" charset="-122"/>
                <a:ea typeface="宋体" panose="02010600030101010101" pitchFamily="2" charset="-122"/>
              </a:rPr>
              <a:t>，有三个整型成员，时</a:t>
            </a:r>
            <a:r>
              <a:rPr lang="en-US" altLang="zh-CN" sz="2800" dirty="0">
                <a:latin typeface="宋体" panose="02010600030101010101" pitchFamily="2" charset="-122"/>
                <a:ea typeface="宋体" panose="02010600030101010101" pitchFamily="2" charset="-122"/>
              </a:rPr>
              <a:t>hour</a:t>
            </a:r>
            <a:r>
              <a:rPr lang="zh-CN" altLang="en-US" sz="2800" dirty="0">
                <a:latin typeface="宋体" panose="02010600030101010101" pitchFamily="2" charset="-122"/>
                <a:ea typeface="宋体" panose="02010600030101010101" pitchFamily="2" charset="-122"/>
              </a:rPr>
              <a:t>，分</a:t>
            </a:r>
            <a:r>
              <a:rPr lang="en-US" altLang="zh-CN" sz="2800" dirty="0">
                <a:latin typeface="宋体" panose="02010600030101010101" pitchFamily="2" charset="-122"/>
                <a:ea typeface="宋体" panose="02010600030101010101" pitchFamily="2" charset="-122"/>
              </a:rPr>
              <a:t>minute</a:t>
            </a:r>
            <a:r>
              <a:rPr lang="zh-CN" altLang="en-US" sz="2800" dirty="0">
                <a:latin typeface="宋体" panose="02010600030101010101" pitchFamily="2" charset="-122"/>
                <a:ea typeface="宋体" panose="02010600030101010101" pitchFamily="2" charset="-122"/>
              </a:rPr>
              <a:t>，秒</a:t>
            </a:r>
            <a:r>
              <a:rPr lang="en-US" altLang="zh-CN" sz="2800" dirty="0">
                <a:latin typeface="宋体" panose="02010600030101010101" pitchFamily="2" charset="-122"/>
                <a:ea typeface="宋体" panose="02010600030101010101" pitchFamily="2" charset="-122"/>
              </a:rPr>
              <a:t>second</a:t>
            </a:r>
            <a:r>
              <a:rPr lang="zh-CN" altLang="en-US" sz="2800" dirty="0">
                <a:latin typeface="宋体" panose="02010600030101010101" pitchFamily="2" charset="-122"/>
                <a:ea typeface="宋体" panose="02010600030101010101" pitchFamily="2" charset="-122"/>
              </a:rPr>
              <a:t>，为了保证数据的安全性，这三个成员变量应声明为私有</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提供对外公共函数，并验证有效性。再定义</a:t>
            </a:r>
            <a:r>
              <a:rPr lang="en-US" altLang="zh-CN" sz="2800" dirty="0" err="1">
                <a:latin typeface="宋体" panose="02010600030101010101" pitchFamily="2" charset="-122"/>
                <a:ea typeface="宋体" panose="02010600030101010101" pitchFamily="2" charset="-122"/>
              </a:rPr>
              <a:t>diaplay</a:t>
            </a:r>
            <a:r>
              <a:rPr lang="zh-CN" altLang="en-US" sz="2800" dirty="0">
                <a:latin typeface="宋体" panose="02010600030101010101" pitchFamily="2" charset="-122"/>
                <a:ea typeface="宋体" panose="02010600030101010101" pitchFamily="2" charset="-122"/>
              </a:rPr>
              <a:t>方法，用于将时间信息打印出来。为</a:t>
            </a:r>
            <a:r>
              <a:rPr lang="en-US" altLang="zh-CN" sz="2800" dirty="0" err="1">
                <a:latin typeface="宋体" panose="02010600030101010101" pitchFamily="2" charset="-122"/>
                <a:ea typeface="宋体" panose="02010600030101010101" pitchFamily="2" charset="-122"/>
              </a:rPr>
              <a:t>MyTime</a:t>
            </a:r>
            <a:r>
              <a:rPr lang="zh-CN" altLang="en-US" sz="2800" dirty="0">
                <a:latin typeface="宋体" panose="02010600030101010101" pitchFamily="2" charset="-122"/>
                <a:ea typeface="宋体" panose="02010600030101010101" pitchFamily="2" charset="-122"/>
              </a:rPr>
              <a:t>类添加以下方法：</a:t>
            </a:r>
            <a:r>
              <a:rPr lang="en-US" altLang="zh-CN" sz="2800" dirty="0" err="1">
                <a:latin typeface="宋体" panose="02010600030101010101" pitchFamily="2" charset="-122"/>
                <a:ea typeface="宋体" panose="02010600030101010101" pitchFamily="2" charset="-122"/>
              </a:rPr>
              <a:t>addSecond</a:t>
            </a:r>
            <a:r>
              <a:rPr lang="en-US" altLang="zh-CN" sz="2800" dirty="0">
                <a:latin typeface="宋体" panose="02010600030101010101" pitchFamily="2" charset="-122"/>
                <a:ea typeface="宋体" panose="02010600030101010101" pitchFamily="2" charset="-122"/>
              </a:rPr>
              <a:t>(</a:t>
            </a:r>
            <a:r>
              <a:rPr lang="en-US" altLang="zh-CN" sz="2800" dirty="0" err="1">
                <a:latin typeface="宋体" panose="02010600030101010101" pitchFamily="2" charset="-122"/>
                <a:ea typeface="宋体" panose="02010600030101010101" pitchFamily="2" charset="-122"/>
              </a:rPr>
              <a:t>int</a:t>
            </a:r>
            <a:r>
              <a:rPr lang="en-US" altLang="zh-CN" sz="2800" dirty="0">
                <a:latin typeface="宋体" panose="02010600030101010101" pitchFamily="2" charset="-122"/>
                <a:ea typeface="宋体" panose="02010600030101010101" pitchFamily="2" charset="-122"/>
              </a:rPr>
              <a:t> sec) </a:t>
            </a:r>
            <a:r>
              <a:rPr lang="zh-CN" altLang="en-US" sz="2800" dirty="0">
                <a:latin typeface="宋体" panose="02010600030101010101" pitchFamily="2" charset="-122"/>
                <a:ea typeface="宋体" panose="02010600030101010101" pitchFamily="2" charset="-122"/>
              </a:rPr>
              <a:t>，</a:t>
            </a:r>
            <a:r>
              <a:rPr lang="en-US" altLang="zh-CN" sz="2800" dirty="0" err="1">
                <a:latin typeface="宋体" panose="02010600030101010101" pitchFamily="2" charset="-122"/>
                <a:ea typeface="宋体" panose="02010600030101010101" pitchFamily="2" charset="-122"/>
              </a:rPr>
              <a:t>addMinute</a:t>
            </a:r>
            <a:r>
              <a:rPr lang="en-US" altLang="zh-CN" sz="2800" dirty="0">
                <a:latin typeface="宋体" panose="02010600030101010101" pitchFamily="2" charset="-122"/>
                <a:ea typeface="宋体" panose="02010600030101010101" pitchFamily="2" charset="-122"/>
              </a:rPr>
              <a:t>(</a:t>
            </a:r>
            <a:r>
              <a:rPr lang="en-US" altLang="zh-CN" sz="2800" dirty="0" err="1">
                <a:latin typeface="宋体" panose="02010600030101010101" pitchFamily="2" charset="-122"/>
                <a:ea typeface="宋体" panose="02010600030101010101" pitchFamily="2" charset="-122"/>
              </a:rPr>
              <a:t>int</a:t>
            </a:r>
            <a:r>
              <a:rPr lang="en-US" altLang="zh-CN" sz="2800" dirty="0">
                <a:latin typeface="宋体" panose="02010600030101010101" pitchFamily="2" charset="-122"/>
                <a:ea typeface="宋体" panose="02010600030101010101" pitchFamily="2" charset="-122"/>
              </a:rPr>
              <a:t> min) </a:t>
            </a:r>
            <a:r>
              <a:rPr lang="zh-CN" altLang="en-US" sz="2800" dirty="0">
                <a:latin typeface="宋体" panose="02010600030101010101" pitchFamily="2" charset="-122"/>
                <a:ea typeface="宋体" panose="02010600030101010101" pitchFamily="2" charset="-122"/>
              </a:rPr>
              <a:t>，</a:t>
            </a:r>
            <a:r>
              <a:rPr lang="en-US" altLang="zh-CN" sz="2800" dirty="0" err="1">
                <a:latin typeface="宋体" panose="02010600030101010101" pitchFamily="2" charset="-122"/>
                <a:ea typeface="宋体" panose="02010600030101010101" pitchFamily="2" charset="-122"/>
              </a:rPr>
              <a:t>addHour</a:t>
            </a:r>
            <a:r>
              <a:rPr lang="en-US" altLang="zh-CN" sz="2800" dirty="0">
                <a:latin typeface="宋体" panose="02010600030101010101" pitchFamily="2" charset="-122"/>
                <a:ea typeface="宋体" panose="02010600030101010101" pitchFamily="2" charset="-122"/>
              </a:rPr>
              <a:t>(</a:t>
            </a:r>
            <a:r>
              <a:rPr lang="en-US" altLang="zh-CN" sz="2800" dirty="0" err="1">
                <a:latin typeface="宋体" panose="02010600030101010101" pitchFamily="2" charset="-122"/>
                <a:ea typeface="宋体" panose="02010600030101010101" pitchFamily="2" charset="-122"/>
              </a:rPr>
              <a:t>int</a:t>
            </a:r>
            <a:r>
              <a:rPr lang="en-US" altLang="zh-CN" sz="2800" dirty="0">
                <a:latin typeface="宋体" panose="02010600030101010101" pitchFamily="2" charset="-122"/>
                <a:ea typeface="宋体" panose="02010600030101010101" pitchFamily="2" charset="-122"/>
              </a:rPr>
              <a:t> </a:t>
            </a:r>
            <a:r>
              <a:rPr lang="en-US" altLang="zh-CN" sz="2800" dirty="0" err="1">
                <a:latin typeface="宋体" panose="02010600030101010101" pitchFamily="2" charset="-122"/>
                <a:ea typeface="宋体" panose="02010600030101010101" pitchFamily="2" charset="-122"/>
              </a:rPr>
              <a:t>hou</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 </a:t>
            </a:r>
            <a:r>
              <a:rPr lang="en-US" altLang="zh-CN" sz="2800" dirty="0" err="1">
                <a:latin typeface="宋体" panose="02010600030101010101" pitchFamily="2" charset="-122"/>
                <a:ea typeface="宋体" panose="02010600030101010101" pitchFamily="2" charset="-122"/>
              </a:rPr>
              <a:t>subSecond</a:t>
            </a:r>
            <a:r>
              <a:rPr lang="en-US" altLang="zh-CN" sz="2800" dirty="0">
                <a:latin typeface="宋体" panose="02010600030101010101" pitchFamily="2" charset="-122"/>
                <a:ea typeface="宋体" panose="02010600030101010101" pitchFamily="2" charset="-122"/>
              </a:rPr>
              <a:t>(</a:t>
            </a:r>
            <a:r>
              <a:rPr lang="en-US" altLang="zh-CN" sz="2800" dirty="0" err="1">
                <a:latin typeface="宋体" panose="02010600030101010101" pitchFamily="2" charset="-122"/>
                <a:ea typeface="宋体" panose="02010600030101010101" pitchFamily="2" charset="-122"/>
              </a:rPr>
              <a:t>int</a:t>
            </a:r>
            <a:r>
              <a:rPr lang="en-US" altLang="zh-CN" sz="2800" dirty="0">
                <a:latin typeface="宋体" panose="02010600030101010101" pitchFamily="2" charset="-122"/>
                <a:ea typeface="宋体" panose="02010600030101010101" pitchFamily="2" charset="-122"/>
              </a:rPr>
              <a:t> sec) </a:t>
            </a:r>
            <a:r>
              <a:rPr lang="zh-CN" altLang="en-US" sz="2800" dirty="0">
                <a:latin typeface="宋体" panose="02010600030101010101" pitchFamily="2" charset="-122"/>
                <a:ea typeface="宋体" panose="02010600030101010101" pitchFamily="2" charset="-122"/>
              </a:rPr>
              <a:t>，</a:t>
            </a:r>
            <a:r>
              <a:rPr lang="en-US" altLang="zh-CN" sz="2800" dirty="0" err="1">
                <a:latin typeface="宋体" panose="02010600030101010101" pitchFamily="2" charset="-122"/>
                <a:ea typeface="宋体" panose="02010600030101010101" pitchFamily="2" charset="-122"/>
              </a:rPr>
              <a:t>subMinute</a:t>
            </a:r>
            <a:r>
              <a:rPr lang="en-US" altLang="zh-CN" sz="2800" dirty="0">
                <a:latin typeface="宋体" panose="02010600030101010101" pitchFamily="2" charset="-122"/>
                <a:ea typeface="宋体" panose="02010600030101010101" pitchFamily="2" charset="-122"/>
              </a:rPr>
              <a:t>(</a:t>
            </a:r>
            <a:r>
              <a:rPr lang="en-US" altLang="zh-CN" sz="2800" dirty="0" err="1">
                <a:latin typeface="宋体" panose="02010600030101010101" pitchFamily="2" charset="-122"/>
                <a:ea typeface="宋体" panose="02010600030101010101" pitchFamily="2" charset="-122"/>
              </a:rPr>
              <a:t>int</a:t>
            </a:r>
            <a:r>
              <a:rPr lang="en-US" altLang="zh-CN" sz="2800" dirty="0">
                <a:latin typeface="宋体" panose="02010600030101010101" pitchFamily="2" charset="-122"/>
                <a:ea typeface="宋体" panose="02010600030101010101" pitchFamily="2" charset="-122"/>
              </a:rPr>
              <a:t> min)</a:t>
            </a:r>
            <a:r>
              <a:rPr lang="zh-CN" altLang="en-US" sz="2800" dirty="0">
                <a:latin typeface="宋体" panose="02010600030101010101" pitchFamily="2" charset="-122"/>
                <a:ea typeface="宋体" panose="02010600030101010101" pitchFamily="2" charset="-122"/>
              </a:rPr>
              <a:t>， </a:t>
            </a:r>
            <a:r>
              <a:rPr lang="en-US" altLang="zh-CN" sz="2800" dirty="0" err="1">
                <a:latin typeface="宋体" panose="02010600030101010101" pitchFamily="2" charset="-122"/>
                <a:ea typeface="宋体" panose="02010600030101010101" pitchFamily="2" charset="-122"/>
              </a:rPr>
              <a:t>subHour</a:t>
            </a:r>
            <a:r>
              <a:rPr lang="en-US" altLang="zh-CN" sz="2800" dirty="0">
                <a:latin typeface="宋体" panose="02010600030101010101" pitchFamily="2" charset="-122"/>
                <a:ea typeface="宋体" panose="02010600030101010101" pitchFamily="2" charset="-122"/>
              </a:rPr>
              <a:t>(</a:t>
            </a:r>
            <a:r>
              <a:rPr lang="en-US" altLang="zh-CN" sz="2800" dirty="0" err="1">
                <a:latin typeface="宋体" panose="02010600030101010101" pitchFamily="2" charset="-122"/>
                <a:ea typeface="宋体" panose="02010600030101010101" pitchFamily="2" charset="-122"/>
              </a:rPr>
              <a:t>int</a:t>
            </a:r>
            <a:r>
              <a:rPr lang="en-US" altLang="zh-CN" sz="2800" dirty="0">
                <a:latin typeface="宋体" panose="02010600030101010101" pitchFamily="2" charset="-122"/>
                <a:ea typeface="宋体" panose="02010600030101010101" pitchFamily="2" charset="-122"/>
              </a:rPr>
              <a:t> </a:t>
            </a:r>
            <a:r>
              <a:rPr lang="en-US" altLang="zh-CN" sz="2800" dirty="0" err="1">
                <a:latin typeface="宋体" panose="02010600030101010101" pitchFamily="2" charset="-122"/>
                <a:ea typeface="宋体" panose="02010600030101010101" pitchFamily="2" charset="-122"/>
              </a:rPr>
              <a:t>hou</a:t>
            </a:r>
            <a:r>
              <a:rPr lang="en-US" altLang="zh-CN" sz="2800" dirty="0">
                <a:latin typeface="宋体" panose="02010600030101010101" pitchFamily="2" charset="-122"/>
                <a:ea typeface="宋体" panose="02010600030101010101" pitchFamily="2" charset="-122"/>
              </a:rPr>
              <a:t>) </a:t>
            </a:r>
            <a:r>
              <a:rPr lang="zh-CN" altLang="en-US" sz="2800" dirty="0">
                <a:latin typeface="宋体" panose="02010600030101010101" pitchFamily="2" charset="-122"/>
                <a:ea typeface="宋体" panose="02010600030101010101" pitchFamily="2" charset="-122"/>
              </a:rPr>
              <a:t>分别对时、分、秒进行加减运算，用来更正时间。</a:t>
            </a:r>
            <a:endParaRPr lang="zh-CN" altLang="en-US" sz="2800" dirty="0">
              <a:latin typeface="宋体" panose="02010600030101010101" pitchFamily="2" charset="-122"/>
              <a:ea typeface="宋体" panose="02010600030101010101" pitchFamily="2" charset="-122"/>
            </a:endParaRPr>
          </a:p>
          <a:p>
            <a:pPr marL="0" indent="0">
              <a:buNone/>
            </a:pPr>
            <a:r>
              <a:rPr lang="en-US" altLang="zh-CN" sz="2800" dirty="0">
                <a:latin typeface="宋体" panose="02010600030101010101" pitchFamily="2" charset="-122"/>
                <a:ea typeface="宋体" panose="02010600030101010101" pitchFamily="2" charset="-122"/>
              </a:rPr>
              <a:t>4</a:t>
            </a:r>
            <a:r>
              <a:rPr lang="zh-CN" altLang="en-US" sz="2800" dirty="0">
                <a:latin typeface="宋体" panose="02010600030101010101" pitchFamily="2" charset="-122"/>
                <a:ea typeface="宋体" panose="02010600030101010101" pitchFamily="2" charset="-122"/>
              </a:rPr>
              <a:t>、在某个类中编写函数</a:t>
            </a:r>
            <a:r>
              <a:rPr lang="en-US" altLang="zh-CN" sz="2800" dirty="0" err="1">
                <a:latin typeface="宋体" panose="02010600030101010101" pitchFamily="2" charset="-122"/>
                <a:ea typeface="宋体" panose="02010600030101010101" pitchFamily="2" charset="-122"/>
              </a:rPr>
              <a:t>calc</a:t>
            </a:r>
            <a:r>
              <a:rPr lang="zh-CN" altLang="en-US" sz="2800" dirty="0">
                <a:latin typeface="宋体" panose="02010600030101010101" pitchFamily="2" charset="-122"/>
                <a:ea typeface="宋体" panose="02010600030101010101" pitchFamily="2" charset="-122"/>
              </a:rPr>
              <a:t>，传入一个整数数组，使其能够计算出该数组中的最大值、最小值、平均值，让主函数调用这个函数并获得这些求出的值。</a:t>
            </a:r>
            <a:endParaRPr lang="zh-CN" altLang="en-US" sz="2800" dirty="0">
              <a:latin typeface="宋体" panose="02010600030101010101" pitchFamily="2" charset="-122"/>
              <a:ea typeface="宋体" panose="02010600030101010101" pitchFamily="2" charset="-122"/>
            </a:endParaRPr>
          </a:p>
          <a:p>
            <a:endParaRPr lang="zh-CN" altLang="en-US" sz="28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内容占位符 2"/>
          <p:cNvSpPr>
            <a:spLocks noGrp="1"/>
          </p:cNvSpPr>
          <p:nvPr>
            <p:ph idx="4294967295"/>
          </p:nvPr>
        </p:nvSpPr>
        <p:spPr>
          <a:xfrm>
            <a:off x="587141" y="1656726"/>
            <a:ext cx="11232682" cy="4467966"/>
          </a:xfrm>
        </p:spPr>
        <p:txBody>
          <a:bodyPr>
            <a:noAutofit/>
          </a:bodyPr>
          <a:lstStyle/>
          <a:p>
            <a:pPr marL="0" indent="353060">
              <a:lnSpc>
                <a:spcPct val="100000"/>
              </a:lnSpc>
              <a:spcBef>
                <a:spcPts val="0"/>
              </a:spcBef>
              <a:buNone/>
            </a:pPr>
            <a:r>
              <a:rPr lang="zh-CN" altLang="en-US" sz="2800" b="1" dirty="0">
                <a:latin typeface="宋体" panose="02010600030101010101" pitchFamily="2" charset="-122"/>
                <a:ea typeface="宋体" panose="02010600030101010101" pitchFamily="2" charset="-122"/>
                <a:cs typeface="Times New Roman" panose="02020603050405020304" pitchFamily="18" charset="0"/>
              </a:rPr>
              <a:t>构造方法所完成的主要工作是帮助新创建的对象赋初值。</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lnSpc>
                <a:spcPct val="100000"/>
              </a:lnSpc>
              <a:spcBef>
                <a:spcPts val="0"/>
              </a:spcBef>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class </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类名称</a:t>
            </a:r>
            <a:endParaRPr lang="zh-CN" altLang="en-US"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lnSpc>
                <a:spcPct val="100000"/>
              </a:lnSpc>
              <a:spcBef>
                <a:spcPts val="0"/>
              </a:spcBef>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lnSpc>
                <a:spcPct val="100000"/>
              </a:lnSpc>
              <a:spcBef>
                <a:spcPts val="0"/>
              </a:spcBef>
              <a:buNone/>
            </a:pPr>
            <a:r>
              <a:rPr lang="zh-CN" altLang="en-US" sz="2800" b="1" dirty="0">
                <a:latin typeface="宋体" panose="02010600030101010101" pitchFamily="2" charset="-122"/>
                <a:ea typeface="宋体" panose="02010600030101010101" pitchFamily="2" charset="-122"/>
                <a:cs typeface="Times New Roman" panose="02020603050405020304" pitchFamily="18" charset="0"/>
              </a:rPr>
              <a:t>    访问权限 类名称（类型 </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1 </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参数 </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1</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，类型 </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2 </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参数 </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2</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lnSpc>
                <a:spcPct val="100000"/>
              </a:lnSpc>
              <a:spcBef>
                <a:spcPts val="0"/>
              </a:spcBef>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                                 // </a:t>
            </a:r>
            <a:r>
              <a:rPr lang="zh-CN" altLang="en-US" sz="2800" b="1"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构造方法没有返回值</a:t>
            </a:r>
            <a:endParaRPr lang="zh-CN" altLang="en-US" sz="2800" b="1" dirty="0">
              <a:solidFill>
                <a:schemeClr val="accent1"/>
              </a:solidFill>
              <a:latin typeface="宋体" panose="02010600030101010101" pitchFamily="2" charset="-122"/>
              <a:ea typeface="宋体" panose="02010600030101010101" pitchFamily="2" charset="-122"/>
              <a:cs typeface="Times New Roman" panose="02020603050405020304" pitchFamily="18" charset="0"/>
            </a:endParaRPr>
          </a:p>
          <a:p>
            <a:pPr marL="0" indent="353060">
              <a:lnSpc>
                <a:spcPct val="100000"/>
              </a:lnSpc>
              <a:spcBef>
                <a:spcPts val="0"/>
              </a:spcBef>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lnSpc>
                <a:spcPct val="100000"/>
              </a:lnSpc>
              <a:spcBef>
                <a:spcPts val="0"/>
              </a:spcBef>
              <a:buNone/>
            </a:pPr>
            <a:r>
              <a:rPr lang="zh-CN" altLang="en-US" sz="2800" b="1" dirty="0">
                <a:latin typeface="宋体" panose="02010600030101010101" pitchFamily="2" charset="-122"/>
                <a:ea typeface="宋体" panose="02010600030101010101" pitchFamily="2" charset="-122"/>
                <a:cs typeface="Times New Roman" panose="02020603050405020304" pitchFamily="18" charset="0"/>
              </a:rPr>
              <a:t>         程序语句 ；</a:t>
            </a:r>
            <a:endParaRPr lang="zh-CN" altLang="en-US"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lnSpc>
                <a:spcPct val="100000"/>
              </a:lnSpc>
              <a:spcBef>
                <a:spcPts val="0"/>
              </a:spcBef>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          … …</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lnSpc>
                <a:spcPct val="100000"/>
              </a:lnSpc>
              <a:spcBef>
                <a:spcPts val="0"/>
              </a:spcBef>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lnSpc>
                <a:spcPct val="100000"/>
              </a:lnSpc>
              <a:spcBef>
                <a:spcPts val="0"/>
              </a:spcBef>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lnSpc>
                <a:spcPct val="100000"/>
              </a:lnSpc>
              <a:spcBef>
                <a:spcPts val="0"/>
              </a:spcBef>
              <a:buNone/>
            </a:pPr>
            <a:endParaRPr lang="zh-CN" altLang="en-US" sz="2800" b="1" dirty="0">
              <a:latin typeface="宋体" panose="02010600030101010101" pitchFamily="2" charset="-122"/>
              <a:ea typeface="宋体" panose="02010600030101010101" pitchFamily="2" charset="-122"/>
            </a:endParaRPr>
          </a:p>
        </p:txBody>
      </p:sp>
      <p:sp>
        <p:nvSpPr>
          <p:cNvPr id="32772"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14B5FA8E-B7F5-4740-8B42-30BAE83EA5C9}"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244884" y="733309"/>
            <a:ext cx="8147318" cy="75052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dirty="0">
                <a:latin typeface="宋体" panose="02010600030101010101" pitchFamily="2" charset="-122"/>
                <a:ea typeface="宋体" panose="02010600030101010101" pitchFamily="2" charset="-122"/>
              </a:rPr>
              <a:t>3</a:t>
            </a:r>
            <a:r>
              <a:rPr lang="zh-CN" altLang="en-US" sz="2800" dirty="0">
                <a:latin typeface="宋体" panose="02010600030101010101" pitchFamily="2" charset="-122"/>
                <a:ea typeface="宋体" panose="02010600030101010101" pitchFamily="2" charset="-122"/>
              </a:rPr>
              <a:t>、构造方法</a:t>
            </a:r>
            <a:endParaRPr lang="zh-CN" altLang="en-US" sz="2800" dirty="0">
              <a:latin typeface="宋体" panose="02010600030101010101" pitchFamily="2" charset="-122"/>
              <a:ea typeface="宋体" panose="02010600030101010101" pitchFamily="2" charset="-122"/>
            </a:endParaRPr>
          </a:p>
        </p:txBody>
      </p:sp>
      <p:sp>
        <p:nvSpPr>
          <p:cNvPr id="6" name="标题 1"/>
          <p:cNvSpPr txBox="1"/>
          <p:nvPr/>
        </p:nvSpPr>
        <p:spPr>
          <a:xfrm>
            <a:off x="244884" y="173502"/>
            <a:ext cx="8147318" cy="60643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3.2 </a:t>
            </a:r>
            <a:r>
              <a:rPr lang="zh-CN" altLang="en-US" dirty="0">
                <a:latin typeface="宋体" panose="02010600030101010101" pitchFamily="2" charset="-122"/>
                <a:ea typeface="宋体" panose="02010600030101010101" pitchFamily="2" charset="-122"/>
              </a:rPr>
              <a:t>类与对象</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33795" name="内容占位符 2"/>
          <p:cNvSpPr>
            <a:spLocks noGrp="1"/>
          </p:cNvSpPr>
          <p:nvPr>
            <p:ph idx="4294967295"/>
          </p:nvPr>
        </p:nvSpPr>
        <p:spPr>
          <a:xfrm>
            <a:off x="610179" y="1425193"/>
            <a:ext cx="10352995" cy="5259305"/>
          </a:xfrm>
        </p:spPr>
        <p:txBody>
          <a:bodyPr>
            <a:normAutofit lnSpcReduction="10000"/>
          </a:bodyPr>
          <a:lstStyle/>
          <a:p>
            <a:pPr marL="0" indent="0">
              <a:lnSpc>
                <a:spcPct val="120000"/>
              </a:lnSpc>
              <a:spcBef>
                <a:spcPts val="0"/>
              </a:spcBef>
              <a:buNone/>
            </a:pPr>
            <a:r>
              <a:rPr lang="zh-CN" altLang="en-US" sz="1800" b="1" dirty="0">
                <a:latin typeface="宋体" panose="02010600030101010101" pitchFamily="2" charset="-122"/>
                <a:ea typeface="宋体" panose="02010600030101010101" pitchFamily="2" charset="-122"/>
                <a:cs typeface="Times New Roman" panose="02020603050405020304" pitchFamily="18" charset="0"/>
              </a:rPr>
              <a:t>【例</a:t>
            </a:r>
            <a:r>
              <a:rPr lang="de-DE" altLang="en-US" sz="1800" b="1" dirty="0">
                <a:latin typeface="宋体" panose="02010600030101010101" pitchFamily="2" charset="-122"/>
                <a:ea typeface="宋体" panose="02010600030101010101" pitchFamily="2" charset="-122"/>
                <a:cs typeface="Times New Roman" panose="02020603050405020304" pitchFamily="18" charset="0"/>
              </a:rPr>
              <a:t>3.5</a:t>
            </a:r>
            <a:r>
              <a:rPr lang="zh-CN" altLang="en-US" sz="1800" b="1" dirty="0">
                <a:latin typeface="宋体" panose="02010600030101010101" pitchFamily="2" charset="-122"/>
                <a:ea typeface="宋体" panose="02010600030101010101" pitchFamily="2" charset="-122"/>
                <a:cs typeface="Times New Roman" panose="02020603050405020304" pitchFamily="18" charset="0"/>
              </a:rPr>
              <a:t>】构造方法的使用。</a:t>
            </a:r>
            <a:endParaRPr lang="zh-CN" altLang="en-US" sz="1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de-DE" altLang="en-US" sz="1800" b="1" dirty="0">
                <a:latin typeface="宋体" panose="02010600030101010101" pitchFamily="2" charset="-122"/>
                <a:ea typeface="宋体" panose="02010600030101010101" pitchFamily="2" charset="-122"/>
                <a:cs typeface="Times New Roman" panose="02020603050405020304" pitchFamily="18" charset="0"/>
              </a:rPr>
              <a:t>class Person4</a:t>
            </a:r>
            <a:endParaRPr lang="zh-CN" altLang="en-US" sz="1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de-DE" altLang="en-US" sz="1800" b="1" dirty="0">
                <a:latin typeface="宋体" panose="02010600030101010101" pitchFamily="2" charset="-122"/>
                <a:ea typeface="宋体" panose="02010600030101010101" pitchFamily="2" charset="-122"/>
                <a:cs typeface="Times New Roman" panose="02020603050405020304" pitchFamily="18" charset="0"/>
              </a:rPr>
              <a:t>{</a:t>
            </a:r>
            <a:endParaRPr lang="zh-CN" altLang="en-US" sz="1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de-DE" altLang="en-US" sz="1800" b="1" dirty="0">
                <a:latin typeface="宋体" panose="02010600030101010101" pitchFamily="2" charset="-122"/>
                <a:ea typeface="宋体" panose="02010600030101010101" pitchFamily="2" charset="-122"/>
                <a:cs typeface="Times New Roman" panose="02020603050405020304" pitchFamily="18" charset="0"/>
              </a:rPr>
              <a:t>        private String name;</a:t>
            </a:r>
            <a:endParaRPr lang="zh-CN" altLang="en-US" sz="1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de-DE" altLang="en-US" sz="1800" b="1" dirty="0">
                <a:latin typeface="宋体" panose="02010600030101010101" pitchFamily="2" charset="-122"/>
                <a:ea typeface="宋体" panose="02010600030101010101" pitchFamily="2" charset="-122"/>
                <a:cs typeface="Times New Roman" panose="02020603050405020304" pitchFamily="18" charset="0"/>
              </a:rPr>
              <a:t>        private int age;</a:t>
            </a:r>
            <a:endParaRPr lang="zh-CN" altLang="en-US" sz="1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de-DE" altLang="en-US" sz="1800" b="1" dirty="0">
                <a:latin typeface="宋体" panose="02010600030101010101" pitchFamily="2" charset="-122"/>
                <a:ea typeface="宋体" panose="02010600030101010101" pitchFamily="2" charset="-122"/>
                <a:cs typeface="Times New Roman" panose="02020603050405020304" pitchFamily="18" charset="0"/>
              </a:rPr>
              <a:t>        public Person4(String n,int a)      //</a:t>
            </a:r>
            <a:r>
              <a:rPr lang="zh-CN" altLang="en-US" sz="1800" b="1" dirty="0">
                <a:latin typeface="宋体" panose="02010600030101010101" pitchFamily="2" charset="-122"/>
                <a:ea typeface="宋体" panose="02010600030101010101" pitchFamily="2" charset="-122"/>
                <a:cs typeface="Times New Roman" panose="02020603050405020304" pitchFamily="18" charset="0"/>
              </a:rPr>
              <a:t>构造方法</a:t>
            </a:r>
            <a:endParaRPr lang="zh-CN" altLang="en-US" sz="1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de-DE" altLang="en-US" sz="1800" b="1" dirty="0">
                <a:latin typeface="宋体" panose="02010600030101010101" pitchFamily="2" charset="-122"/>
                <a:ea typeface="宋体" panose="02010600030101010101" pitchFamily="2" charset="-122"/>
                <a:cs typeface="Times New Roman" panose="02020603050405020304" pitchFamily="18" charset="0"/>
              </a:rPr>
              <a:t>        { </a:t>
            </a:r>
            <a:endParaRPr lang="zh-CN" altLang="en-US" sz="1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de-DE" altLang="en-US" sz="1800" b="1" dirty="0">
                <a:latin typeface="宋体" panose="02010600030101010101" pitchFamily="2" charset="-122"/>
                <a:ea typeface="宋体" panose="02010600030101010101" pitchFamily="2" charset="-122"/>
                <a:cs typeface="Times New Roman" panose="02020603050405020304" pitchFamily="18" charset="0"/>
              </a:rPr>
              <a:t>             name = n;age = a;</a:t>
            </a:r>
            <a:endParaRPr lang="zh-CN" altLang="en-US" sz="1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de-DE" altLang="en-US" sz="1800" b="1" dirty="0">
                <a:latin typeface="宋体" panose="02010600030101010101" pitchFamily="2" charset="-122"/>
                <a:ea typeface="宋体" panose="02010600030101010101" pitchFamily="2" charset="-122"/>
                <a:cs typeface="Times New Roman" panose="02020603050405020304" pitchFamily="18" charset="0"/>
              </a:rPr>
              <a:t>             System.out.println(n+" "+a);</a:t>
            </a:r>
            <a:endParaRPr lang="zh-CN" altLang="en-US" sz="1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de-DE" altLang="en-US" sz="1800" b="1" dirty="0">
                <a:latin typeface="宋体" panose="02010600030101010101" pitchFamily="2" charset="-122"/>
                <a:ea typeface="宋体" panose="02010600030101010101" pitchFamily="2" charset="-122"/>
                <a:cs typeface="Times New Roman" panose="02020603050405020304" pitchFamily="18" charset="0"/>
              </a:rPr>
              <a:t>        }</a:t>
            </a:r>
            <a:endParaRPr lang="zh-CN" altLang="en-US" sz="1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de-DE" altLang="en-US" sz="1800" b="1" dirty="0">
                <a:latin typeface="宋体" panose="02010600030101010101" pitchFamily="2" charset="-122"/>
                <a:ea typeface="宋体" panose="02010600030101010101" pitchFamily="2" charset="-122"/>
                <a:cs typeface="Times New Roman" panose="02020603050405020304" pitchFamily="18" charset="0"/>
              </a:rPr>
              <a:t>        public static void main(String[] args)</a:t>
            </a:r>
            <a:endParaRPr lang="zh-CN" altLang="en-US" sz="1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de-DE" altLang="en-US" sz="1800" b="1" dirty="0">
                <a:latin typeface="宋体" panose="02010600030101010101" pitchFamily="2" charset="-122"/>
                <a:ea typeface="宋体" panose="02010600030101010101" pitchFamily="2" charset="-122"/>
                <a:cs typeface="Times New Roman" panose="02020603050405020304" pitchFamily="18" charset="0"/>
              </a:rPr>
              <a:t>        {</a:t>
            </a:r>
            <a:endParaRPr lang="zh-CN" altLang="en-US" sz="1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de-DE" altLang="en-US" sz="1800" b="1" dirty="0">
                <a:latin typeface="宋体" panose="02010600030101010101" pitchFamily="2" charset="-122"/>
                <a:ea typeface="宋体" panose="02010600030101010101" pitchFamily="2" charset="-122"/>
                <a:cs typeface="Times New Roman" panose="02020603050405020304" pitchFamily="18" charset="0"/>
              </a:rPr>
              <a:t>             Person4 p = new Person4("</a:t>
            </a:r>
            <a:r>
              <a:rPr lang="zh-CN" altLang="en-US" sz="1800" b="1" dirty="0">
                <a:latin typeface="宋体" panose="02010600030101010101" pitchFamily="2" charset="-122"/>
                <a:ea typeface="宋体" panose="02010600030101010101" pitchFamily="2" charset="-122"/>
                <a:cs typeface="Times New Roman" panose="02020603050405020304" pitchFamily="18" charset="0"/>
              </a:rPr>
              <a:t>张三</a:t>
            </a:r>
            <a:r>
              <a:rPr lang="de-DE" altLang="en-US" sz="1800" b="1" dirty="0">
                <a:latin typeface="宋体" panose="02010600030101010101" pitchFamily="2" charset="-122"/>
                <a:ea typeface="宋体" panose="02010600030101010101" pitchFamily="2" charset="-122"/>
                <a:cs typeface="Times New Roman" panose="02020603050405020304" pitchFamily="18" charset="0"/>
              </a:rPr>
              <a:t>",30);</a:t>
            </a:r>
            <a:endParaRPr lang="de-DE" altLang="en-US" sz="1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de-DE" altLang="zh-CN" sz="1800" b="1" dirty="0">
                <a:latin typeface="宋体" panose="02010600030101010101" pitchFamily="2" charset="-122"/>
                <a:ea typeface="宋体" panose="02010600030101010101" pitchFamily="2" charset="-122"/>
                <a:cs typeface="Times New Roman" panose="02020603050405020304" pitchFamily="18" charset="0"/>
              </a:rPr>
              <a:t>             </a:t>
            </a:r>
            <a:r>
              <a:rPr lang="en-US" altLang="zh-CN" sz="1800" b="1" dirty="0">
                <a:latin typeface="宋体" panose="02010600030101010101" pitchFamily="2" charset="-122"/>
                <a:ea typeface="宋体" panose="02010600030101010101" pitchFamily="2" charset="-122"/>
                <a:cs typeface="Times New Roman" panose="02020603050405020304" pitchFamily="18" charset="0"/>
              </a:rPr>
              <a:t>//Person4 p=new Person4();</a:t>
            </a:r>
            <a:endParaRPr lang="zh-CN" altLang="en-US" sz="1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de-DE" altLang="en-US" sz="1800" b="1" dirty="0">
                <a:latin typeface="宋体" panose="02010600030101010101" pitchFamily="2" charset="-122"/>
                <a:ea typeface="宋体" panose="02010600030101010101" pitchFamily="2" charset="-122"/>
                <a:cs typeface="Times New Roman" panose="02020603050405020304" pitchFamily="18" charset="0"/>
              </a:rPr>
              <a:t>        }</a:t>
            </a:r>
            <a:endParaRPr lang="zh-CN" altLang="en-US" sz="1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de-DE" altLang="en-US" sz="1800" b="1" dirty="0">
                <a:latin typeface="宋体" panose="02010600030101010101" pitchFamily="2" charset="-122"/>
                <a:ea typeface="宋体" panose="02010600030101010101" pitchFamily="2" charset="-122"/>
                <a:cs typeface="Times New Roman" panose="02020603050405020304" pitchFamily="18" charset="0"/>
              </a:rPr>
              <a:t>}</a:t>
            </a:r>
            <a:endParaRPr lang="zh-CN" altLang="en-US" sz="1800"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33796"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30B9D5A3-B744-4A16-ACAE-635E1EFABFC2}"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305777" y="558553"/>
            <a:ext cx="8147318" cy="75052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dirty="0">
                <a:latin typeface="宋体" panose="02010600030101010101" pitchFamily="2" charset="-122"/>
                <a:ea typeface="宋体" panose="02010600030101010101" pitchFamily="2" charset="-122"/>
              </a:rPr>
              <a:t>3</a:t>
            </a:r>
            <a:r>
              <a:rPr lang="zh-CN" altLang="en-US" sz="2800" dirty="0">
                <a:latin typeface="宋体" panose="02010600030101010101" pitchFamily="2" charset="-122"/>
                <a:ea typeface="宋体" panose="02010600030101010101" pitchFamily="2" charset="-122"/>
              </a:rPr>
              <a:t>、构造方法</a:t>
            </a:r>
            <a:endParaRPr lang="zh-CN" altLang="en-US" sz="2800" dirty="0">
              <a:latin typeface="宋体" panose="02010600030101010101" pitchFamily="2" charset="-122"/>
              <a:ea typeface="宋体" panose="02010600030101010101" pitchFamily="2" charset="-122"/>
            </a:endParaRPr>
          </a:p>
        </p:txBody>
      </p:sp>
      <p:sp>
        <p:nvSpPr>
          <p:cNvPr id="6" name="标题 1"/>
          <p:cNvSpPr txBox="1"/>
          <p:nvPr/>
        </p:nvSpPr>
        <p:spPr>
          <a:xfrm>
            <a:off x="244884" y="173502"/>
            <a:ext cx="8147318" cy="60643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3.2 </a:t>
            </a:r>
            <a:r>
              <a:rPr lang="zh-CN" altLang="en-US" dirty="0">
                <a:latin typeface="宋体" panose="02010600030101010101" pitchFamily="2" charset="-122"/>
                <a:ea typeface="宋体" panose="02010600030101010101" pitchFamily="2" charset="-122"/>
              </a:rPr>
              <a:t>类与对象</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34819" name="内容占位符 2"/>
          <p:cNvSpPr>
            <a:spLocks noGrp="1"/>
          </p:cNvSpPr>
          <p:nvPr>
            <p:ph idx="4294967295"/>
          </p:nvPr>
        </p:nvSpPr>
        <p:spPr>
          <a:xfrm>
            <a:off x="625774" y="1378413"/>
            <a:ext cx="10857165" cy="5758035"/>
          </a:xfrm>
        </p:spPr>
        <p:txBody>
          <a:bodyPr>
            <a:normAutofit/>
          </a:bodyPr>
          <a:lstStyle/>
          <a:p>
            <a:pPr marL="0" indent="353060">
              <a:buNone/>
            </a:pPr>
            <a:r>
              <a:rPr lang="zh-CN" altLang="en-US" sz="2800" b="1" dirty="0">
                <a:latin typeface="宋体" panose="02010600030101010101" pitchFamily="2" charset="-122"/>
                <a:ea typeface="宋体" panose="02010600030101010101" pitchFamily="2" charset="-122"/>
              </a:rPr>
              <a:t>构造方法的特性如下：</a:t>
            </a:r>
            <a:endParaRPr lang="zh-CN" altLang="en-US" sz="2800" b="1" dirty="0">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1</a:t>
            </a:r>
            <a:r>
              <a:rPr lang="zh-CN" altLang="en-US" sz="2800" b="1" dirty="0">
                <a:latin typeface="宋体" panose="02010600030101010101" pitchFamily="2" charset="-122"/>
                <a:ea typeface="宋体" panose="02010600030101010101" pitchFamily="2" charset="-122"/>
              </a:rPr>
              <a:t>）构造方法的方法名与类名相同；</a:t>
            </a:r>
            <a:endParaRPr lang="zh-CN" altLang="en-US" sz="2800" b="1" dirty="0">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2</a:t>
            </a:r>
            <a:r>
              <a:rPr lang="zh-CN" altLang="en-US" sz="2800" b="1" dirty="0">
                <a:latin typeface="宋体" panose="02010600030101010101" pitchFamily="2" charset="-122"/>
                <a:ea typeface="宋体" panose="02010600030101010101" pitchFamily="2" charset="-122"/>
              </a:rPr>
              <a:t>）构造方法没有返回值，也不能写</a:t>
            </a:r>
            <a:r>
              <a:rPr lang="en-US" altLang="zh-CN" sz="2800" b="1" dirty="0">
                <a:latin typeface="宋体" panose="02010600030101010101" pitchFamily="2" charset="-122"/>
                <a:ea typeface="宋体" panose="02010600030101010101" pitchFamily="2" charset="-122"/>
              </a:rPr>
              <a:t>void</a:t>
            </a:r>
            <a:r>
              <a:rPr lang="zh-CN" altLang="en-US" sz="2800" b="1" dirty="0">
                <a:latin typeface="宋体" panose="02010600030101010101" pitchFamily="2" charset="-122"/>
                <a:ea typeface="宋体" panose="02010600030101010101" pitchFamily="2" charset="-122"/>
              </a:rPr>
              <a:t>；</a:t>
            </a:r>
            <a:endParaRPr lang="zh-CN" altLang="en-US" sz="2800" b="1" dirty="0">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3</a:t>
            </a:r>
            <a:r>
              <a:rPr lang="zh-CN" altLang="en-US" sz="2800" b="1" dirty="0">
                <a:latin typeface="宋体" panose="02010600030101010101" pitchFamily="2" charset="-122"/>
                <a:ea typeface="宋体" panose="02010600030101010101" pitchFamily="2" charset="-122"/>
              </a:rPr>
              <a:t>）构造方法的主要作用是完成对类对象的初始化工作；</a:t>
            </a:r>
            <a:endParaRPr lang="zh-CN" altLang="en-US" sz="2800" b="1" dirty="0">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4</a:t>
            </a:r>
            <a:r>
              <a:rPr lang="zh-CN" altLang="en-US" sz="2800" b="1" dirty="0">
                <a:latin typeface="宋体" panose="02010600030101010101" pitchFamily="2" charset="-122"/>
                <a:ea typeface="宋体" panose="02010600030101010101" pitchFamily="2" charset="-122"/>
              </a:rPr>
              <a:t>）构造方法一般不能由编程人员显式地直接调用，而是用</a:t>
            </a:r>
            <a:r>
              <a:rPr lang="en-US" altLang="zh-CN" sz="2800" b="1" dirty="0">
                <a:latin typeface="宋体" panose="02010600030101010101" pitchFamily="2" charset="-122"/>
                <a:ea typeface="宋体" panose="02010600030101010101" pitchFamily="2" charset="-122"/>
              </a:rPr>
              <a:t>new</a:t>
            </a:r>
            <a:r>
              <a:rPr lang="zh-CN" altLang="en-US" sz="2800" b="1" dirty="0">
                <a:latin typeface="宋体" panose="02010600030101010101" pitchFamily="2" charset="-122"/>
                <a:ea typeface="宋体" panose="02010600030101010101" pitchFamily="2" charset="-122"/>
              </a:rPr>
              <a:t>来调用；</a:t>
            </a:r>
            <a:endParaRPr lang="zh-CN" altLang="en-US" sz="2800" b="1" dirty="0">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5</a:t>
            </a:r>
            <a:r>
              <a:rPr lang="zh-CN" altLang="en-US" sz="2800" b="1" dirty="0">
                <a:latin typeface="宋体" panose="02010600030101010101" pitchFamily="2" charset="-122"/>
                <a:ea typeface="宋体" panose="02010600030101010101" pitchFamily="2" charset="-122"/>
              </a:rPr>
              <a:t>）在创建一个类的对象的同时，系统会自动调用该类的构造方法为新对象初始化</a:t>
            </a:r>
            <a:r>
              <a:rPr lang="en-US" altLang="zh-CN" sz="2800" b="1" dirty="0">
                <a:latin typeface="宋体" panose="02010600030101010101" pitchFamily="2" charset="-122"/>
                <a:ea typeface="宋体" panose="02010600030101010101" pitchFamily="2" charset="-122"/>
              </a:rPr>
              <a:t>.</a:t>
            </a:r>
            <a:endParaRPr lang="zh-CN" altLang="en-US" sz="2800" b="1" dirty="0">
              <a:latin typeface="宋体" panose="02010600030101010101" pitchFamily="2" charset="-122"/>
              <a:ea typeface="宋体" panose="02010600030101010101" pitchFamily="2" charset="-122"/>
            </a:endParaRPr>
          </a:p>
        </p:txBody>
      </p:sp>
      <p:sp>
        <p:nvSpPr>
          <p:cNvPr id="34820"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55C1FC0F-A982-45FC-B347-7788D3447142}"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342908" y="612451"/>
            <a:ext cx="8147318" cy="75052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dirty="0">
                <a:latin typeface="宋体" panose="02010600030101010101" pitchFamily="2" charset="-122"/>
                <a:ea typeface="宋体" panose="02010600030101010101" pitchFamily="2" charset="-122"/>
              </a:rPr>
              <a:t>3</a:t>
            </a:r>
            <a:r>
              <a:rPr lang="zh-CN" altLang="en-US" sz="2800" dirty="0">
                <a:latin typeface="宋体" panose="02010600030101010101" pitchFamily="2" charset="-122"/>
                <a:ea typeface="宋体" panose="02010600030101010101" pitchFamily="2" charset="-122"/>
              </a:rPr>
              <a:t>、构造方法</a:t>
            </a:r>
            <a:endParaRPr lang="zh-CN" altLang="en-US" sz="2800" dirty="0">
              <a:latin typeface="宋体" panose="02010600030101010101" pitchFamily="2" charset="-122"/>
              <a:ea typeface="宋体" panose="02010600030101010101" pitchFamily="2" charset="-122"/>
            </a:endParaRPr>
          </a:p>
        </p:txBody>
      </p:sp>
      <p:sp>
        <p:nvSpPr>
          <p:cNvPr id="6" name="标题 1"/>
          <p:cNvSpPr txBox="1"/>
          <p:nvPr/>
        </p:nvSpPr>
        <p:spPr>
          <a:xfrm>
            <a:off x="273760" y="155354"/>
            <a:ext cx="8147318" cy="60643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3.2 </a:t>
            </a:r>
            <a:r>
              <a:rPr lang="zh-CN" altLang="en-US" dirty="0">
                <a:latin typeface="宋体" panose="02010600030101010101" pitchFamily="2" charset="-122"/>
                <a:ea typeface="宋体" panose="02010600030101010101" pitchFamily="2" charset="-122"/>
              </a:rPr>
              <a:t>类与对象</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内容占位符 2"/>
          <p:cNvSpPr>
            <a:spLocks noGrp="1"/>
          </p:cNvSpPr>
          <p:nvPr>
            <p:ph idx="4294967295"/>
          </p:nvPr>
        </p:nvSpPr>
        <p:spPr>
          <a:xfrm>
            <a:off x="885367" y="1526506"/>
            <a:ext cx="10645698" cy="2150345"/>
          </a:xfrm>
        </p:spPr>
        <p:txBody>
          <a:bodyPr/>
          <a:lstStyle/>
          <a:p>
            <a:pPr marL="0" indent="353060">
              <a:buNone/>
            </a:pPr>
            <a:r>
              <a:rPr lang="zh-CN" altLang="en-US" sz="2820" b="1" dirty="0">
                <a:latin typeface="宋体" panose="02010600030101010101" pitchFamily="2" charset="-122"/>
                <a:ea typeface="宋体" panose="02010600030101010101" pitchFamily="2" charset="-122"/>
              </a:rPr>
              <a:t>  构造方法的名字都与类名相同，两个或两个以上的构造方法只要它们的参数个数或类型不同，便可认定它们构成重载。</a:t>
            </a:r>
            <a:endParaRPr lang="zh-CN" altLang="en-US" sz="2820" b="1" dirty="0">
              <a:latin typeface="宋体" panose="02010600030101010101" pitchFamily="2" charset="-122"/>
              <a:ea typeface="宋体" panose="02010600030101010101" pitchFamily="2" charset="-122"/>
            </a:endParaRPr>
          </a:p>
          <a:p>
            <a:pPr marL="0" indent="353060">
              <a:buNone/>
            </a:pPr>
            <a:endParaRPr lang="zh-CN" altLang="en-US" sz="2820" b="1" dirty="0">
              <a:latin typeface="宋体" panose="02010600030101010101" pitchFamily="2" charset="-122"/>
              <a:ea typeface="宋体" panose="02010600030101010101" pitchFamily="2" charset="-122"/>
            </a:endParaRPr>
          </a:p>
        </p:txBody>
      </p:sp>
      <p:sp>
        <p:nvSpPr>
          <p:cNvPr id="35844"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A754565E-01C2-465E-B993-ADFD55FEF7D4}"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342908" y="612451"/>
            <a:ext cx="8147318" cy="75052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dirty="0">
                <a:latin typeface="宋体" panose="02010600030101010101" pitchFamily="2" charset="-122"/>
                <a:ea typeface="宋体" panose="02010600030101010101" pitchFamily="2" charset="-122"/>
              </a:rPr>
              <a:t>3</a:t>
            </a:r>
            <a:r>
              <a:rPr lang="zh-CN" altLang="en-US" sz="2800" dirty="0">
                <a:latin typeface="宋体" panose="02010600030101010101" pitchFamily="2" charset="-122"/>
                <a:ea typeface="宋体" panose="02010600030101010101" pitchFamily="2" charset="-122"/>
              </a:rPr>
              <a:t>、构造方法</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重载</a:t>
            </a:r>
            <a:endParaRPr lang="en-US" altLang="zh-CN" sz="2800" dirty="0">
              <a:latin typeface="宋体" panose="02010600030101010101" pitchFamily="2" charset="-122"/>
              <a:ea typeface="宋体" panose="02010600030101010101" pitchFamily="2" charset="-122"/>
            </a:endParaRPr>
          </a:p>
        </p:txBody>
      </p:sp>
      <p:sp>
        <p:nvSpPr>
          <p:cNvPr id="6" name="标题 1"/>
          <p:cNvSpPr txBox="1"/>
          <p:nvPr/>
        </p:nvSpPr>
        <p:spPr>
          <a:xfrm>
            <a:off x="244884" y="173502"/>
            <a:ext cx="8147318" cy="60643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3.2 </a:t>
            </a:r>
            <a:r>
              <a:rPr lang="zh-CN" altLang="en-US" dirty="0">
                <a:latin typeface="宋体" panose="02010600030101010101" pitchFamily="2" charset="-122"/>
                <a:ea typeface="宋体" panose="02010600030101010101" pitchFamily="2" charset="-122"/>
              </a:rPr>
              <a:t>类与对象</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idx="4294967295"/>
          </p:nvPr>
        </p:nvSpPr>
        <p:spPr>
          <a:xfrm flipV="1">
            <a:off x="1303663" y="227223"/>
            <a:ext cx="8147318" cy="77463"/>
          </a:xfrm>
        </p:spPr>
        <p:txBody>
          <a:bodyPr>
            <a:normAutofit fontScale="90000"/>
          </a:bodyPr>
          <a:lstStyle/>
          <a:p>
            <a:r>
              <a:rPr lang="en-US" altLang="zh-CN"/>
              <a:t>  </a:t>
            </a:r>
            <a:endParaRPr lang="zh-CN" altLang="en-US"/>
          </a:p>
        </p:txBody>
      </p:sp>
      <p:sp>
        <p:nvSpPr>
          <p:cNvPr id="36867" name="内容占位符 2"/>
          <p:cNvSpPr>
            <a:spLocks noGrp="1"/>
          </p:cNvSpPr>
          <p:nvPr>
            <p:ph idx="4294967295"/>
          </p:nvPr>
        </p:nvSpPr>
        <p:spPr>
          <a:xfrm>
            <a:off x="722951" y="1362975"/>
            <a:ext cx="10721487" cy="5331639"/>
          </a:xfrm>
        </p:spPr>
        <p:txBody>
          <a:bodyPr>
            <a:normAutofit/>
          </a:bodyPr>
          <a:lstStyle/>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例</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3.7】</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构造方法的重载</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class Person6</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private String name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private int age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public Person6()</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    name ="</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匿名</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age = 0;</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System.out.println</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无参构造函数被调用了。</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public Person6(String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n,int</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a)</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   name = n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age = a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System.out.println</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有两个参数的构造函数被调用了。</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36868"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C010D340-386E-4891-8B61-DF654D300D28}"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342908" y="612451"/>
            <a:ext cx="8147318" cy="75052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dirty="0">
                <a:latin typeface="宋体" panose="02010600030101010101" pitchFamily="2" charset="-122"/>
                <a:ea typeface="宋体" panose="02010600030101010101" pitchFamily="2" charset="-122"/>
              </a:rPr>
              <a:t>3</a:t>
            </a:r>
            <a:r>
              <a:rPr lang="zh-CN" altLang="en-US" sz="2800" dirty="0">
                <a:latin typeface="宋体" panose="02010600030101010101" pitchFamily="2" charset="-122"/>
                <a:ea typeface="宋体" panose="02010600030101010101" pitchFamily="2" charset="-122"/>
              </a:rPr>
              <a:t>、构造方法</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重载</a:t>
            </a:r>
            <a:endParaRPr lang="zh-CN" altLang="en-US" sz="2800" dirty="0">
              <a:latin typeface="宋体" panose="02010600030101010101" pitchFamily="2" charset="-122"/>
              <a:ea typeface="宋体" panose="02010600030101010101" pitchFamily="2" charset="-122"/>
            </a:endParaRPr>
          </a:p>
        </p:txBody>
      </p:sp>
      <p:sp>
        <p:nvSpPr>
          <p:cNvPr id="6" name="标题 1"/>
          <p:cNvSpPr txBox="1"/>
          <p:nvPr/>
        </p:nvSpPr>
        <p:spPr>
          <a:xfrm>
            <a:off x="244884" y="173502"/>
            <a:ext cx="8147318" cy="60643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3.2 </a:t>
            </a:r>
            <a:r>
              <a:rPr lang="zh-CN" altLang="en-US" dirty="0">
                <a:latin typeface="宋体" panose="02010600030101010101" pitchFamily="2" charset="-122"/>
                <a:ea typeface="宋体" panose="02010600030101010101" pitchFamily="2" charset="-122"/>
              </a:rPr>
              <a:t>类与对象</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37891" name="内容占位符 2"/>
          <p:cNvSpPr>
            <a:spLocks noGrp="1"/>
          </p:cNvSpPr>
          <p:nvPr>
            <p:ph idx="4294967295"/>
          </p:nvPr>
        </p:nvSpPr>
        <p:spPr>
          <a:xfrm>
            <a:off x="696014" y="1496513"/>
            <a:ext cx="8787673" cy="4413399"/>
          </a:xfrm>
        </p:spPr>
        <p:txBody>
          <a:bodyPr>
            <a:normAutofit/>
          </a:bodyPr>
          <a:lstStyle/>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public String tell()</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return "</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我是：</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"+name+"</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，今年：</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"+age+"</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岁</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public class TestPerson6</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public static void main(String[]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args</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    Person6 p1 = new Person6()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System.out.println</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(p1.tell())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Person6 p2 = new Person6("</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张三</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",30)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System.out.println</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(p2.tell())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37892"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54C767FA-0B1B-4E3E-B888-736A4F8786B1}"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342908" y="612451"/>
            <a:ext cx="8147318" cy="75052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dirty="0">
                <a:latin typeface="宋体" panose="02010600030101010101" pitchFamily="2" charset="-122"/>
                <a:ea typeface="宋体" panose="02010600030101010101" pitchFamily="2" charset="-122"/>
              </a:rPr>
              <a:t>3</a:t>
            </a:r>
            <a:r>
              <a:rPr lang="zh-CN" altLang="en-US" sz="2800" dirty="0">
                <a:latin typeface="宋体" panose="02010600030101010101" pitchFamily="2" charset="-122"/>
                <a:ea typeface="宋体" panose="02010600030101010101" pitchFamily="2" charset="-122"/>
              </a:rPr>
              <a:t>、构造方法</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重载</a:t>
            </a:r>
            <a:endParaRPr lang="zh-CN" altLang="en-US" sz="2800" dirty="0">
              <a:latin typeface="宋体" panose="02010600030101010101" pitchFamily="2" charset="-122"/>
              <a:ea typeface="宋体" panose="02010600030101010101" pitchFamily="2" charset="-122"/>
            </a:endParaRPr>
          </a:p>
        </p:txBody>
      </p:sp>
      <p:sp>
        <p:nvSpPr>
          <p:cNvPr id="6" name="标题 1"/>
          <p:cNvSpPr txBox="1"/>
          <p:nvPr/>
        </p:nvSpPr>
        <p:spPr>
          <a:xfrm>
            <a:off x="244884" y="173502"/>
            <a:ext cx="8147318" cy="60643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3.2 </a:t>
            </a:r>
            <a:r>
              <a:rPr lang="zh-CN" altLang="en-US" dirty="0">
                <a:latin typeface="宋体" panose="02010600030101010101" pitchFamily="2" charset="-122"/>
                <a:ea typeface="宋体" panose="02010600030101010101" pitchFamily="2" charset="-122"/>
              </a:rPr>
              <a:t>类与对象</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38915" name="内容占位符 2"/>
          <p:cNvSpPr>
            <a:spLocks noGrp="1"/>
          </p:cNvSpPr>
          <p:nvPr>
            <p:ph idx="4294967295"/>
          </p:nvPr>
        </p:nvSpPr>
        <p:spPr>
          <a:xfrm>
            <a:off x="562518" y="1526506"/>
            <a:ext cx="11151427" cy="2063717"/>
          </a:xfrm>
        </p:spPr>
        <p:txBody>
          <a:bodyPr/>
          <a:lstStyle/>
          <a:p>
            <a:pPr marL="0" indent="353060">
              <a:buNone/>
            </a:pPr>
            <a:r>
              <a:rPr lang="zh-CN" altLang="en-US" sz="2820" dirty="0">
                <a:latin typeface="宋体" panose="02010600030101010101" pitchFamily="2" charset="-122"/>
                <a:ea typeface="宋体" panose="02010600030101010101" pitchFamily="2" charset="-122"/>
              </a:rPr>
              <a:t>  在一个类中往往存在很多个构造方法，构成构造方法的重载，可以用</a:t>
            </a:r>
            <a:r>
              <a:rPr lang="en-US" altLang="zh-CN" sz="2820" dirty="0">
                <a:solidFill>
                  <a:srgbClr val="FF0000"/>
                </a:solidFill>
                <a:latin typeface="宋体" panose="02010600030101010101" pitchFamily="2" charset="-122"/>
                <a:ea typeface="宋体" panose="02010600030101010101" pitchFamily="2" charset="-122"/>
              </a:rPr>
              <a:t>this</a:t>
            </a:r>
            <a:r>
              <a:rPr lang="zh-CN" altLang="en-US" sz="2820" dirty="0">
                <a:latin typeface="宋体" panose="02010600030101010101" pitchFamily="2" charset="-122"/>
                <a:ea typeface="宋体" panose="02010600030101010101" pitchFamily="2" charset="-122"/>
              </a:rPr>
              <a:t>关键字实现在一个构造方法内调用另一个构造方法。这种在构造方法内通过</a:t>
            </a:r>
            <a:r>
              <a:rPr lang="en-US" altLang="zh-CN" sz="2820" dirty="0">
                <a:latin typeface="宋体" panose="02010600030101010101" pitchFamily="2" charset="-122"/>
                <a:ea typeface="宋体" panose="02010600030101010101" pitchFamily="2" charset="-122"/>
              </a:rPr>
              <a:t>this</a:t>
            </a:r>
            <a:r>
              <a:rPr lang="zh-CN" altLang="en-US" sz="2820" dirty="0">
                <a:latin typeface="宋体" panose="02010600030101010101" pitchFamily="2" charset="-122"/>
                <a:ea typeface="宋体" panose="02010600030101010101" pitchFamily="2" charset="-122"/>
              </a:rPr>
              <a:t>关键字调用其他构造方法的情况被称为</a:t>
            </a:r>
            <a:r>
              <a:rPr lang="zh-CN" altLang="en-US" sz="2820" dirty="0">
                <a:solidFill>
                  <a:schemeClr val="accent1"/>
                </a:solidFill>
                <a:latin typeface="宋体" panose="02010600030101010101" pitchFamily="2" charset="-122"/>
                <a:ea typeface="宋体" panose="02010600030101010101" pitchFamily="2" charset="-122"/>
              </a:rPr>
              <a:t>显式构造方法激活</a:t>
            </a:r>
            <a:r>
              <a:rPr lang="zh-CN" altLang="en-US" sz="2820" dirty="0">
                <a:latin typeface="宋体" panose="02010600030101010101" pitchFamily="2" charset="-122"/>
                <a:ea typeface="宋体" panose="02010600030101010101" pitchFamily="2" charset="-122"/>
              </a:rPr>
              <a:t>。</a:t>
            </a:r>
            <a:endParaRPr lang="zh-CN" altLang="en-US" sz="2820" dirty="0">
              <a:latin typeface="宋体" panose="02010600030101010101" pitchFamily="2" charset="-122"/>
              <a:ea typeface="宋体" panose="02010600030101010101" pitchFamily="2" charset="-122"/>
            </a:endParaRPr>
          </a:p>
          <a:p>
            <a:pPr marL="0" indent="353060">
              <a:buNone/>
            </a:pPr>
            <a:endParaRPr lang="zh-CN" altLang="en-US" sz="2820" b="1" dirty="0">
              <a:latin typeface="宋体" panose="02010600030101010101" pitchFamily="2" charset="-122"/>
              <a:ea typeface="宋体" panose="02010600030101010101" pitchFamily="2" charset="-122"/>
            </a:endParaRPr>
          </a:p>
        </p:txBody>
      </p:sp>
      <p:sp>
        <p:nvSpPr>
          <p:cNvPr id="38916"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888AFD22-CB7F-4AD2-97C9-ADCA5B737184}"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342908" y="612451"/>
            <a:ext cx="8147318" cy="75052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dirty="0">
                <a:latin typeface="宋体" panose="02010600030101010101" pitchFamily="2" charset="-122"/>
                <a:ea typeface="宋体" panose="02010600030101010101" pitchFamily="2" charset="-122"/>
              </a:rPr>
              <a:t>3</a:t>
            </a:r>
            <a:r>
              <a:rPr lang="zh-CN" altLang="en-US" sz="2800" dirty="0">
                <a:latin typeface="宋体" panose="02010600030101010101" pitchFamily="2" charset="-122"/>
                <a:ea typeface="宋体" panose="02010600030101010101" pitchFamily="2" charset="-122"/>
              </a:rPr>
              <a:t>、构造方法</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调用</a:t>
            </a:r>
            <a:endParaRPr lang="zh-CN" altLang="en-US" sz="2800" dirty="0">
              <a:latin typeface="宋体" panose="02010600030101010101" pitchFamily="2" charset="-122"/>
              <a:ea typeface="宋体" panose="02010600030101010101" pitchFamily="2" charset="-122"/>
            </a:endParaRPr>
          </a:p>
        </p:txBody>
      </p:sp>
      <p:sp>
        <p:nvSpPr>
          <p:cNvPr id="6" name="标题 1"/>
          <p:cNvSpPr txBox="1"/>
          <p:nvPr/>
        </p:nvSpPr>
        <p:spPr>
          <a:xfrm>
            <a:off x="244884" y="173502"/>
            <a:ext cx="8147318" cy="60643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3.2 </a:t>
            </a:r>
            <a:r>
              <a:rPr lang="zh-CN" altLang="en-US" dirty="0">
                <a:latin typeface="宋体" panose="02010600030101010101" pitchFamily="2" charset="-122"/>
                <a:ea typeface="宋体" panose="02010600030101010101" pitchFamily="2" charset="-122"/>
              </a:rPr>
              <a:t>类与对象</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39939" name="内容占位符 2"/>
          <p:cNvSpPr>
            <a:spLocks noGrp="1"/>
          </p:cNvSpPr>
          <p:nvPr>
            <p:ph idx="4294967295"/>
          </p:nvPr>
        </p:nvSpPr>
        <p:spPr>
          <a:xfrm>
            <a:off x="460887" y="1362975"/>
            <a:ext cx="10935425" cy="5331494"/>
          </a:xfrm>
        </p:spPr>
        <p:txBody>
          <a:bodyPr>
            <a:normAutofit lnSpcReduction="10000"/>
          </a:bodyPr>
          <a:lstStyle/>
          <a:p>
            <a:pPr marL="0" indent="0">
              <a:lnSpc>
                <a:spcPct val="120000"/>
              </a:lnSpc>
              <a:spcBef>
                <a:spcPts val="0"/>
              </a:spcBef>
              <a:buNone/>
            </a:pPr>
            <a:r>
              <a:rPr lang="en-US" altLang="zh-CN" b="1" dirty="0">
                <a:latin typeface="宋体" panose="02010600030101010101" pitchFamily="2" charset="-122"/>
                <a:ea typeface="宋体" panose="02010600030101010101" pitchFamily="2" charset="-122"/>
                <a:cs typeface="Times New Roman" panose="02020603050405020304" pitchFamily="18" charset="0"/>
              </a:rPr>
              <a:t>【</a:t>
            </a:r>
            <a:r>
              <a:rPr lang="zh-CN" altLang="en-US" b="1" dirty="0">
                <a:latin typeface="宋体" panose="02010600030101010101" pitchFamily="2" charset="-122"/>
                <a:ea typeface="宋体" panose="02010600030101010101" pitchFamily="2" charset="-122"/>
                <a:cs typeface="Times New Roman" panose="02020603050405020304" pitchFamily="18" charset="0"/>
              </a:rPr>
              <a:t>例</a:t>
            </a:r>
            <a:r>
              <a:rPr lang="en-US" altLang="zh-CN" b="1" dirty="0">
                <a:latin typeface="宋体" panose="02010600030101010101" pitchFamily="2" charset="-122"/>
                <a:ea typeface="宋体" panose="02010600030101010101" pitchFamily="2" charset="-122"/>
                <a:cs typeface="Times New Roman" panose="02020603050405020304" pitchFamily="18" charset="0"/>
              </a:rPr>
              <a:t>3.8】 this</a:t>
            </a:r>
            <a:r>
              <a:rPr lang="zh-CN" altLang="en-US" b="1" dirty="0">
                <a:latin typeface="宋体" panose="02010600030101010101" pitchFamily="2" charset="-122"/>
                <a:ea typeface="宋体" panose="02010600030101010101" pitchFamily="2" charset="-122"/>
                <a:cs typeface="Times New Roman" panose="02020603050405020304" pitchFamily="18" charset="0"/>
              </a:rPr>
              <a:t>关键字的用法</a:t>
            </a:r>
            <a:endParaRPr lang="zh-CN" altLang="en-US"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b="1" dirty="0">
                <a:latin typeface="宋体" panose="02010600030101010101" pitchFamily="2" charset="-122"/>
                <a:ea typeface="宋体" panose="02010600030101010101" pitchFamily="2" charset="-122"/>
                <a:cs typeface="Times New Roman" panose="02020603050405020304" pitchFamily="18" charset="0"/>
              </a:rPr>
              <a:t>class Person7</a:t>
            </a:r>
            <a:endParaRPr lang="en-US" altLang="zh-CN"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b="1" dirty="0">
                <a:latin typeface="宋体" panose="02010600030101010101" pitchFamily="2" charset="-122"/>
                <a:ea typeface="宋体" panose="02010600030101010101" pitchFamily="2" charset="-122"/>
                <a:cs typeface="Times New Roman" panose="02020603050405020304" pitchFamily="18" charset="0"/>
              </a:rPr>
              <a:t>{    String name ;</a:t>
            </a:r>
            <a:endParaRPr lang="en-US" altLang="zh-CN"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b="1" dirty="0">
                <a:latin typeface="宋体" panose="02010600030101010101" pitchFamily="2" charset="-122"/>
                <a:ea typeface="宋体" panose="02010600030101010101" pitchFamily="2" charset="-122"/>
                <a:cs typeface="Times New Roman" panose="02020603050405020304" pitchFamily="18" charset="0"/>
              </a:rPr>
              <a:t>     int age ;</a:t>
            </a:r>
            <a:endParaRPr lang="en-US" altLang="zh-CN"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b="1" dirty="0">
                <a:latin typeface="宋体" panose="02010600030101010101" pitchFamily="2" charset="-122"/>
                <a:ea typeface="宋体" panose="02010600030101010101" pitchFamily="2" charset="-122"/>
                <a:cs typeface="Times New Roman" panose="02020603050405020304" pitchFamily="18" charset="0"/>
              </a:rPr>
              <a:t>     public Person7()</a:t>
            </a:r>
            <a:endParaRPr lang="en-US" altLang="zh-CN"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b="1" dirty="0">
                <a:latin typeface="宋体" panose="02010600030101010101" pitchFamily="2" charset="-122"/>
                <a:ea typeface="宋体" panose="02010600030101010101" pitchFamily="2" charset="-122"/>
                <a:cs typeface="Times New Roman" panose="02020603050405020304" pitchFamily="18" charset="0"/>
              </a:rPr>
              <a:t>     {      </a:t>
            </a:r>
            <a:r>
              <a:rPr lang="en-US" altLang="zh-CN" b="1" dirty="0" err="1">
                <a:latin typeface="宋体" panose="02010600030101010101" pitchFamily="2" charset="-122"/>
                <a:ea typeface="宋体" panose="02010600030101010101" pitchFamily="2" charset="-122"/>
                <a:cs typeface="Times New Roman" panose="02020603050405020304" pitchFamily="18" charset="0"/>
              </a:rPr>
              <a:t>System.out.println</a:t>
            </a:r>
            <a:r>
              <a:rPr lang="en-US" altLang="zh-CN" b="1" dirty="0">
                <a:latin typeface="宋体" panose="02010600030101010101" pitchFamily="2" charset="-122"/>
                <a:ea typeface="宋体" panose="02010600030101010101" pitchFamily="2" charset="-122"/>
                <a:cs typeface="Times New Roman" panose="02020603050405020304" pitchFamily="18" charset="0"/>
              </a:rPr>
              <a:t>("</a:t>
            </a:r>
            <a:r>
              <a:rPr lang="zh-CN" altLang="en-US" b="1" dirty="0">
                <a:latin typeface="宋体" panose="02010600030101010101" pitchFamily="2" charset="-122"/>
                <a:ea typeface="宋体" panose="02010600030101010101" pitchFamily="2" charset="-122"/>
                <a:cs typeface="Times New Roman" panose="02020603050405020304" pitchFamily="18" charset="0"/>
              </a:rPr>
              <a:t>无参构造方法被调用了！</a:t>
            </a:r>
            <a:r>
              <a:rPr lang="en-US" altLang="zh-CN" b="1" dirty="0">
                <a:latin typeface="宋体" panose="02010600030101010101" pitchFamily="2" charset="-122"/>
                <a:ea typeface="宋体" panose="02010600030101010101" pitchFamily="2" charset="-122"/>
                <a:cs typeface="Times New Roman" panose="02020603050405020304" pitchFamily="18" charset="0"/>
              </a:rPr>
              <a:t>");</a:t>
            </a:r>
            <a:endParaRPr lang="en-US" altLang="zh-CN"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b="1" dirty="0">
                <a:latin typeface="宋体" panose="02010600030101010101" pitchFamily="2" charset="-122"/>
                <a:ea typeface="宋体" panose="02010600030101010101" pitchFamily="2" charset="-122"/>
                <a:cs typeface="Times New Roman" panose="02020603050405020304" pitchFamily="18" charset="0"/>
              </a:rPr>
              <a:t>            </a:t>
            </a:r>
            <a:r>
              <a:rPr lang="en-US" altLang="zh-CN" b="1" dirty="0" err="1">
                <a:latin typeface="宋体" panose="02010600030101010101" pitchFamily="2" charset="-122"/>
                <a:ea typeface="宋体" panose="02010600030101010101" pitchFamily="2" charset="-122"/>
                <a:cs typeface="Times New Roman" panose="02020603050405020304" pitchFamily="18" charset="0"/>
              </a:rPr>
              <a:t>System.out.println</a:t>
            </a:r>
            <a:r>
              <a:rPr lang="en-US" altLang="zh-CN" b="1" dirty="0">
                <a:latin typeface="宋体" panose="02010600030101010101" pitchFamily="2" charset="-122"/>
                <a:ea typeface="宋体" panose="02010600030101010101" pitchFamily="2" charset="-122"/>
                <a:cs typeface="Times New Roman" panose="02020603050405020304" pitchFamily="18" charset="0"/>
              </a:rPr>
              <a:t>("</a:t>
            </a:r>
            <a:r>
              <a:rPr lang="zh-CN" altLang="en-US" b="1" dirty="0">
                <a:latin typeface="宋体" panose="02010600030101010101" pitchFamily="2" charset="-122"/>
                <a:ea typeface="宋体" panose="02010600030101010101" pitchFamily="2" charset="-122"/>
                <a:cs typeface="Times New Roman" panose="02020603050405020304" pitchFamily="18" charset="0"/>
              </a:rPr>
              <a:t>我是：</a:t>
            </a:r>
            <a:r>
              <a:rPr lang="en-US" altLang="zh-CN" b="1" dirty="0">
                <a:latin typeface="宋体" panose="02010600030101010101" pitchFamily="2" charset="-122"/>
                <a:ea typeface="宋体" panose="02010600030101010101" pitchFamily="2" charset="-122"/>
                <a:cs typeface="Times New Roman" panose="02020603050405020304" pitchFamily="18" charset="0"/>
              </a:rPr>
              <a:t>"+name+"</a:t>
            </a:r>
            <a:r>
              <a:rPr lang="zh-CN" altLang="en-US" b="1" dirty="0">
                <a:latin typeface="宋体" panose="02010600030101010101" pitchFamily="2" charset="-122"/>
                <a:ea typeface="宋体" panose="02010600030101010101" pitchFamily="2" charset="-122"/>
                <a:cs typeface="Times New Roman" panose="02020603050405020304" pitchFamily="18" charset="0"/>
              </a:rPr>
              <a:t>，今年：</a:t>
            </a:r>
            <a:r>
              <a:rPr lang="en-US" altLang="zh-CN" b="1" dirty="0">
                <a:latin typeface="宋体" panose="02010600030101010101" pitchFamily="2" charset="-122"/>
                <a:ea typeface="宋体" panose="02010600030101010101" pitchFamily="2" charset="-122"/>
                <a:cs typeface="Times New Roman" panose="02020603050405020304" pitchFamily="18" charset="0"/>
              </a:rPr>
              <a:t>"+age+"</a:t>
            </a:r>
            <a:r>
              <a:rPr lang="zh-CN" altLang="en-US" b="1" dirty="0">
                <a:latin typeface="宋体" panose="02010600030101010101" pitchFamily="2" charset="-122"/>
                <a:ea typeface="宋体" panose="02010600030101010101" pitchFamily="2" charset="-122"/>
                <a:cs typeface="Times New Roman" panose="02020603050405020304" pitchFamily="18" charset="0"/>
              </a:rPr>
              <a:t>岁</a:t>
            </a:r>
            <a:r>
              <a:rPr lang="en-US" altLang="zh-CN" b="1" dirty="0">
                <a:latin typeface="宋体" panose="02010600030101010101" pitchFamily="2" charset="-122"/>
                <a:ea typeface="宋体" panose="02010600030101010101" pitchFamily="2" charset="-122"/>
                <a:cs typeface="Times New Roman" panose="02020603050405020304" pitchFamily="18" charset="0"/>
              </a:rPr>
              <a:t>"); }</a:t>
            </a:r>
            <a:endParaRPr lang="en-US" altLang="zh-CN"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b="1" dirty="0">
                <a:latin typeface="宋体" panose="02010600030101010101" pitchFamily="2" charset="-122"/>
                <a:ea typeface="宋体" panose="02010600030101010101" pitchFamily="2" charset="-122"/>
                <a:cs typeface="Times New Roman" panose="02020603050405020304" pitchFamily="18" charset="0"/>
              </a:rPr>
              <a:t>     public Person7(String </a:t>
            </a:r>
            <a:r>
              <a:rPr lang="en-US" altLang="zh-CN" b="1" dirty="0" err="1">
                <a:latin typeface="宋体" panose="02010600030101010101" pitchFamily="2" charset="-122"/>
                <a:ea typeface="宋体" panose="02010600030101010101" pitchFamily="2" charset="-122"/>
                <a:cs typeface="Times New Roman" panose="02020603050405020304" pitchFamily="18" charset="0"/>
              </a:rPr>
              <a:t>name,int</a:t>
            </a:r>
            <a:r>
              <a:rPr lang="en-US" altLang="zh-CN" b="1" dirty="0">
                <a:latin typeface="宋体" panose="02010600030101010101" pitchFamily="2" charset="-122"/>
                <a:ea typeface="宋体" panose="02010600030101010101" pitchFamily="2" charset="-122"/>
                <a:cs typeface="Times New Roman" panose="02020603050405020304" pitchFamily="18" charset="0"/>
              </a:rPr>
              <a:t> age)</a:t>
            </a:r>
            <a:endParaRPr lang="en-US" altLang="zh-CN"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b="1" dirty="0">
                <a:latin typeface="宋体" panose="02010600030101010101" pitchFamily="2" charset="-122"/>
                <a:ea typeface="宋体" panose="02010600030101010101" pitchFamily="2" charset="-122"/>
                <a:cs typeface="Times New Roman" panose="02020603050405020304" pitchFamily="18" charset="0"/>
              </a:rPr>
              <a:t>     {    this() ;// </a:t>
            </a:r>
            <a:r>
              <a:rPr lang="zh-CN" altLang="en-US" b="1" dirty="0">
                <a:latin typeface="宋体" panose="02010600030101010101" pitchFamily="2" charset="-122"/>
                <a:ea typeface="宋体" panose="02010600030101010101" pitchFamily="2" charset="-122"/>
                <a:cs typeface="Times New Roman" panose="02020603050405020304" pitchFamily="18" charset="0"/>
              </a:rPr>
              <a:t>调用本类中无参构造方法</a:t>
            </a:r>
            <a:endParaRPr lang="zh-CN" altLang="en-US"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zh-CN" altLang="en-US" b="1" dirty="0">
                <a:latin typeface="宋体" panose="02010600030101010101" pitchFamily="2" charset="-122"/>
                <a:ea typeface="宋体" panose="02010600030101010101" pitchFamily="2" charset="-122"/>
                <a:cs typeface="Times New Roman" panose="02020603050405020304" pitchFamily="18" charset="0"/>
              </a:rPr>
              <a:t>         </a:t>
            </a:r>
            <a:r>
              <a:rPr lang="en-US" altLang="zh-CN" b="1" dirty="0">
                <a:latin typeface="宋体" panose="02010600030101010101" pitchFamily="2" charset="-122"/>
                <a:ea typeface="宋体" panose="02010600030101010101" pitchFamily="2" charset="-122"/>
                <a:cs typeface="Times New Roman" panose="02020603050405020304" pitchFamily="18" charset="0"/>
              </a:rPr>
              <a:t>this.name = name ;</a:t>
            </a:r>
            <a:endParaRPr lang="en-US" altLang="zh-CN"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b="1" dirty="0">
                <a:latin typeface="宋体" panose="02010600030101010101" pitchFamily="2" charset="-122"/>
                <a:ea typeface="宋体" panose="02010600030101010101" pitchFamily="2" charset="-122"/>
                <a:cs typeface="Times New Roman" panose="02020603050405020304" pitchFamily="18" charset="0"/>
              </a:rPr>
              <a:t>         </a:t>
            </a:r>
            <a:r>
              <a:rPr lang="en-US" altLang="zh-CN" b="1" dirty="0" err="1">
                <a:latin typeface="宋体" panose="02010600030101010101" pitchFamily="2" charset="-122"/>
                <a:ea typeface="宋体" panose="02010600030101010101" pitchFamily="2" charset="-122"/>
                <a:cs typeface="Times New Roman" panose="02020603050405020304" pitchFamily="18" charset="0"/>
              </a:rPr>
              <a:t>this.age</a:t>
            </a:r>
            <a:r>
              <a:rPr lang="en-US" altLang="zh-CN" b="1" dirty="0">
                <a:latin typeface="宋体" panose="02010600030101010101" pitchFamily="2" charset="-122"/>
                <a:ea typeface="宋体" panose="02010600030101010101" pitchFamily="2" charset="-122"/>
                <a:cs typeface="Times New Roman" panose="02020603050405020304" pitchFamily="18" charset="0"/>
              </a:rPr>
              <a:t> = age ;</a:t>
            </a:r>
            <a:endParaRPr lang="en-US" altLang="zh-CN"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b="1" dirty="0">
                <a:latin typeface="宋体" panose="02010600030101010101" pitchFamily="2" charset="-122"/>
                <a:ea typeface="宋体" panose="02010600030101010101" pitchFamily="2" charset="-122"/>
                <a:cs typeface="Times New Roman" panose="02020603050405020304" pitchFamily="18" charset="0"/>
              </a:rPr>
              <a:t>         </a:t>
            </a:r>
            <a:r>
              <a:rPr lang="en-US" altLang="zh-CN" b="1" dirty="0" err="1">
                <a:latin typeface="宋体" panose="02010600030101010101" pitchFamily="2" charset="-122"/>
                <a:ea typeface="宋体" panose="02010600030101010101" pitchFamily="2" charset="-122"/>
                <a:cs typeface="Times New Roman" panose="02020603050405020304" pitchFamily="18" charset="0"/>
              </a:rPr>
              <a:t>System.out.println</a:t>
            </a:r>
            <a:r>
              <a:rPr lang="en-US" altLang="zh-CN" b="1" dirty="0">
                <a:latin typeface="宋体" panose="02010600030101010101" pitchFamily="2" charset="-122"/>
                <a:ea typeface="宋体" panose="02010600030101010101" pitchFamily="2" charset="-122"/>
                <a:cs typeface="Times New Roman" panose="02020603050405020304" pitchFamily="18" charset="0"/>
              </a:rPr>
              <a:t>("</a:t>
            </a:r>
            <a:r>
              <a:rPr lang="zh-CN" altLang="en-US" b="1" dirty="0">
                <a:latin typeface="宋体" panose="02010600030101010101" pitchFamily="2" charset="-122"/>
                <a:ea typeface="宋体" panose="02010600030101010101" pitchFamily="2" charset="-122"/>
                <a:cs typeface="Times New Roman" panose="02020603050405020304" pitchFamily="18" charset="0"/>
              </a:rPr>
              <a:t>两个参数的构造方法被调用了！</a:t>
            </a:r>
            <a:r>
              <a:rPr lang="en-US" altLang="zh-CN" b="1" dirty="0">
                <a:latin typeface="宋体" panose="02010600030101010101" pitchFamily="2" charset="-122"/>
                <a:ea typeface="宋体" panose="02010600030101010101" pitchFamily="2" charset="-122"/>
                <a:cs typeface="Times New Roman" panose="02020603050405020304" pitchFamily="18" charset="0"/>
              </a:rPr>
              <a:t>");</a:t>
            </a:r>
            <a:endParaRPr lang="en-US" altLang="zh-CN"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b="1" dirty="0">
                <a:latin typeface="宋体" panose="02010600030101010101" pitchFamily="2" charset="-122"/>
                <a:ea typeface="宋体" panose="02010600030101010101" pitchFamily="2" charset="-122"/>
                <a:cs typeface="Times New Roman" panose="02020603050405020304" pitchFamily="18" charset="0"/>
              </a:rPr>
              <a:t>         </a:t>
            </a:r>
            <a:r>
              <a:rPr lang="en-US" altLang="zh-CN" b="1" dirty="0" err="1">
                <a:latin typeface="宋体" panose="02010600030101010101" pitchFamily="2" charset="-122"/>
                <a:ea typeface="宋体" panose="02010600030101010101" pitchFamily="2" charset="-122"/>
                <a:cs typeface="Times New Roman" panose="02020603050405020304" pitchFamily="18" charset="0"/>
              </a:rPr>
              <a:t>System.out.println</a:t>
            </a:r>
            <a:r>
              <a:rPr lang="en-US" altLang="zh-CN" b="1" dirty="0">
                <a:latin typeface="宋体" panose="02010600030101010101" pitchFamily="2" charset="-122"/>
                <a:ea typeface="宋体" panose="02010600030101010101" pitchFamily="2" charset="-122"/>
                <a:cs typeface="Times New Roman" panose="02020603050405020304" pitchFamily="18" charset="0"/>
              </a:rPr>
              <a:t>("</a:t>
            </a:r>
            <a:r>
              <a:rPr lang="zh-CN" altLang="en-US" b="1" dirty="0">
                <a:latin typeface="宋体" panose="02010600030101010101" pitchFamily="2" charset="-122"/>
                <a:ea typeface="宋体" panose="02010600030101010101" pitchFamily="2" charset="-122"/>
                <a:cs typeface="Times New Roman" panose="02020603050405020304" pitchFamily="18" charset="0"/>
              </a:rPr>
              <a:t>我是：</a:t>
            </a:r>
            <a:r>
              <a:rPr lang="en-US" altLang="zh-CN" b="1" dirty="0">
                <a:latin typeface="宋体" panose="02010600030101010101" pitchFamily="2" charset="-122"/>
                <a:ea typeface="宋体" panose="02010600030101010101" pitchFamily="2" charset="-122"/>
                <a:cs typeface="Times New Roman" panose="02020603050405020304" pitchFamily="18" charset="0"/>
              </a:rPr>
              <a:t>"+name+"</a:t>
            </a:r>
            <a:r>
              <a:rPr lang="zh-CN" altLang="en-US" b="1" dirty="0">
                <a:latin typeface="宋体" panose="02010600030101010101" pitchFamily="2" charset="-122"/>
                <a:ea typeface="宋体" panose="02010600030101010101" pitchFamily="2" charset="-122"/>
                <a:cs typeface="Times New Roman" panose="02020603050405020304" pitchFamily="18" charset="0"/>
              </a:rPr>
              <a:t>，今年：</a:t>
            </a:r>
            <a:r>
              <a:rPr lang="en-US" altLang="zh-CN" b="1" dirty="0">
                <a:latin typeface="宋体" panose="02010600030101010101" pitchFamily="2" charset="-122"/>
                <a:ea typeface="宋体" panose="02010600030101010101" pitchFamily="2" charset="-122"/>
                <a:cs typeface="Times New Roman" panose="02020603050405020304" pitchFamily="18" charset="0"/>
              </a:rPr>
              <a:t>"+age+"</a:t>
            </a:r>
            <a:r>
              <a:rPr lang="zh-CN" altLang="en-US" b="1" dirty="0">
                <a:latin typeface="宋体" panose="02010600030101010101" pitchFamily="2" charset="-122"/>
                <a:ea typeface="宋体" panose="02010600030101010101" pitchFamily="2" charset="-122"/>
                <a:cs typeface="Times New Roman" panose="02020603050405020304" pitchFamily="18" charset="0"/>
              </a:rPr>
              <a:t>岁</a:t>
            </a:r>
            <a:r>
              <a:rPr lang="en-US" altLang="zh-CN" b="1" dirty="0">
                <a:latin typeface="宋体" panose="02010600030101010101" pitchFamily="2" charset="-122"/>
                <a:ea typeface="宋体" panose="02010600030101010101" pitchFamily="2" charset="-122"/>
                <a:cs typeface="Times New Roman" panose="02020603050405020304" pitchFamily="18" charset="0"/>
              </a:rPr>
              <a:t>");</a:t>
            </a:r>
            <a:endParaRPr lang="en-US" altLang="zh-CN"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b="1" dirty="0">
                <a:latin typeface="宋体" panose="02010600030101010101" pitchFamily="2" charset="-122"/>
                <a:ea typeface="宋体" panose="02010600030101010101" pitchFamily="2" charset="-122"/>
                <a:cs typeface="Times New Roman" panose="02020603050405020304" pitchFamily="18" charset="0"/>
              </a:rPr>
              <a:t>       }</a:t>
            </a:r>
            <a:endParaRPr lang="en-US" altLang="zh-CN"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b="1" dirty="0">
                <a:latin typeface="宋体" panose="02010600030101010101" pitchFamily="2" charset="-122"/>
                <a:ea typeface="宋体" panose="02010600030101010101" pitchFamily="2" charset="-122"/>
                <a:cs typeface="Times New Roman" panose="02020603050405020304" pitchFamily="18" charset="0"/>
              </a:rPr>
              <a:t>  }</a:t>
            </a:r>
            <a:endParaRPr lang="en-US" altLang="zh-CN"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39940"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82953C45-5106-4896-89DC-5CEBDBA8EA24}"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342908" y="612451"/>
            <a:ext cx="8147318" cy="75052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dirty="0">
                <a:latin typeface="宋体" panose="02010600030101010101" pitchFamily="2" charset="-122"/>
                <a:ea typeface="宋体" panose="02010600030101010101" pitchFamily="2" charset="-122"/>
              </a:rPr>
              <a:t>3</a:t>
            </a:r>
            <a:r>
              <a:rPr lang="zh-CN" altLang="en-US" sz="2800" dirty="0">
                <a:latin typeface="宋体" panose="02010600030101010101" pitchFamily="2" charset="-122"/>
                <a:ea typeface="宋体" panose="02010600030101010101" pitchFamily="2" charset="-122"/>
              </a:rPr>
              <a:t>、构造方法</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调用</a:t>
            </a:r>
            <a:endParaRPr lang="zh-CN" altLang="en-US" sz="2800" dirty="0">
              <a:latin typeface="宋体" panose="02010600030101010101" pitchFamily="2" charset="-122"/>
              <a:ea typeface="宋体" panose="02010600030101010101" pitchFamily="2" charset="-122"/>
            </a:endParaRPr>
          </a:p>
        </p:txBody>
      </p:sp>
      <p:sp>
        <p:nvSpPr>
          <p:cNvPr id="6" name="标题 1"/>
          <p:cNvSpPr txBox="1"/>
          <p:nvPr/>
        </p:nvSpPr>
        <p:spPr>
          <a:xfrm>
            <a:off x="244884" y="173502"/>
            <a:ext cx="8147318" cy="60643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3.2 </a:t>
            </a:r>
            <a:r>
              <a:rPr lang="zh-CN" altLang="en-US" dirty="0">
                <a:latin typeface="宋体" panose="02010600030101010101" pitchFamily="2" charset="-122"/>
                <a:ea typeface="宋体" panose="02010600030101010101" pitchFamily="2" charset="-122"/>
              </a:rPr>
              <a:t>类与对象</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40963" name="内容占位符 2"/>
          <p:cNvSpPr>
            <a:spLocks noGrp="1"/>
          </p:cNvSpPr>
          <p:nvPr>
            <p:ph idx="4294967295"/>
          </p:nvPr>
        </p:nvSpPr>
        <p:spPr>
          <a:xfrm>
            <a:off x="735772" y="1535016"/>
            <a:ext cx="9457382" cy="3855132"/>
          </a:xfrm>
        </p:spPr>
        <p:txBody>
          <a:bodyPr/>
          <a:lstStyle/>
          <a:p>
            <a:pPr marL="0" indent="353060">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public class TestPerson7{</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public static void main(String[]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args</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new Person7("</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张三</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",30)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40964"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DF814493-55DD-4171-A297-7283F4A8D922}"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342908" y="612451"/>
            <a:ext cx="8147318" cy="75052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dirty="0">
                <a:latin typeface="宋体" panose="02010600030101010101" pitchFamily="2" charset="-122"/>
                <a:ea typeface="宋体" panose="02010600030101010101" pitchFamily="2" charset="-122"/>
              </a:rPr>
              <a:t>3</a:t>
            </a:r>
            <a:r>
              <a:rPr lang="zh-CN" altLang="en-US" sz="2800" dirty="0">
                <a:latin typeface="宋体" panose="02010600030101010101" pitchFamily="2" charset="-122"/>
                <a:ea typeface="宋体" panose="02010600030101010101" pitchFamily="2" charset="-122"/>
              </a:rPr>
              <a:t>、构造方法</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调用</a:t>
            </a:r>
            <a:endParaRPr lang="zh-CN" altLang="en-US" sz="2800" dirty="0">
              <a:latin typeface="宋体" panose="02010600030101010101" pitchFamily="2" charset="-122"/>
              <a:ea typeface="宋体" panose="02010600030101010101" pitchFamily="2" charset="-122"/>
            </a:endParaRPr>
          </a:p>
        </p:txBody>
      </p:sp>
      <p:sp>
        <p:nvSpPr>
          <p:cNvPr id="6" name="标题 1"/>
          <p:cNvSpPr txBox="1"/>
          <p:nvPr/>
        </p:nvSpPr>
        <p:spPr>
          <a:xfrm>
            <a:off x="244884" y="173502"/>
            <a:ext cx="8147318" cy="60643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3.2 </a:t>
            </a:r>
            <a:r>
              <a:rPr lang="zh-CN" altLang="en-US" dirty="0">
                <a:latin typeface="宋体" panose="02010600030101010101" pitchFamily="2" charset="-122"/>
                <a:ea typeface="宋体" panose="02010600030101010101" pitchFamily="2" charset="-122"/>
              </a:rPr>
              <a:t>类与对象</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41987" name="内容占位符 2"/>
          <p:cNvSpPr>
            <a:spLocks noGrp="1"/>
          </p:cNvSpPr>
          <p:nvPr>
            <p:ph idx="4294967295"/>
          </p:nvPr>
        </p:nvSpPr>
        <p:spPr>
          <a:xfrm>
            <a:off x="888340" y="1526507"/>
            <a:ext cx="10931483" cy="4113898"/>
          </a:xfrm>
        </p:spPr>
        <p:txBody>
          <a:bodyPr>
            <a:normAutofit/>
          </a:bodyPr>
          <a:lstStyle/>
          <a:p>
            <a:pPr marL="0" indent="353060">
              <a:buNone/>
            </a:pPr>
            <a:r>
              <a:rPr lang="en-US" altLang="zh-CN" sz="2800" b="1" dirty="0">
                <a:latin typeface="宋体" panose="02010600030101010101" pitchFamily="2" charset="-122"/>
                <a:ea typeface="宋体" panose="02010600030101010101" pitchFamily="2" charset="-122"/>
              </a:rPr>
              <a:t>this</a:t>
            </a:r>
            <a:r>
              <a:rPr lang="zh-CN" altLang="en-US" sz="2800" b="1" dirty="0">
                <a:latin typeface="宋体" panose="02010600030101010101" pitchFamily="2" charset="-122"/>
                <a:ea typeface="宋体" panose="02010600030101010101" pitchFamily="2" charset="-122"/>
              </a:rPr>
              <a:t>关键字在</a:t>
            </a:r>
            <a:r>
              <a:rPr lang="en-US" altLang="zh-CN" sz="2800" b="1" dirty="0">
                <a:latin typeface="宋体" panose="02010600030101010101" pitchFamily="2" charset="-122"/>
                <a:ea typeface="宋体" panose="02010600030101010101" pitchFamily="2" charset="-122"/>
              </a:rPr>
              <a:t>Java</a:t>
            </a:r>
            <a:r>
              <a:rPr lang="zh-CN" altLang="en-US" sz="2800" b="1" dirty="0">
                <a:latin typeface="宋体" panose="02010600030101010101" pitchFamily="2" charset="-122"/>
                <a:ea typeface="宋体" panose="02010600030101010101" pitchFamily="2" charset="-122"/>
              </a:rPr>
              <a:t>语言程序设计中主要应用于两个方面：</a:t>
            </a:r>
            <a:endParaRPr lang="zh-CN" altLang="en-US" sz="2800" b="1" dirty="0">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1</a:t>
            </a:r>
            <a:r>
              <a:rPr lang="zh-CN" altLang="en-US" sz="2800" b="1" dirty="0">
                <a:latin typeface="宋体" panose="02010600030101010101" pitchFamily="2" charset="-122"/>
                <a:ea typeface="宋体" panose="02010600030101010101" pitchFamily="2" charset="-122"/>
              </a:rPr>
              <a:t>）可以实现在一个构造方法内部调用其他的构造方法。</a:t>
            </a:r>
            <a:endParaRPr lang="zh-CN" altLang="en-US" sz="2800" b="1" dirty="0">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2</a:t>
            </a:r>
            <a:r>
              <a:rPr lang="zh-CN" altLang="en-US" sz="2800" b="1" dirty="0">
                <a:latin typeface="宋体" panose="02010600030101010101" pitchFamily="2" charset="-122"/>
                <a:ea typeface="宋体" panose="02010600030101010101" pitchFamily="2" charset="-122"/>
              </a:rPr>
              <a:t>）指代当前对象，通过它访问对象的成员。</a:t>
            </a:r>
            <a:endParaRPr lang="en-US" altLang="zh-CN" sz="2800" b="1" dirty="0">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   如上例中有两个参数的构造方法中的形参与数据成员的名称是相同的，可以采用</a:t>
            </a:r>
            <a:r>
              <a:rPr lang="de-DE" altLang="en-US" sz="2800" b="1" dirty="0">
                <a:latin typeface="宋体" panose="02010600030101010101" pitchFamily="2" charset="-122"/>
                <a:ea typeface="宋体" panose="02010600030101010101" pitchFamily="2" charset="-122"/>
              </a:rPr>
              <a:t> this</a:t>
            </a:r>
            <a:r>
              <a:rPr lang="zh-CN" altLang="en-US" sz="2800" b="1" dirty="0">
                <a:latin typeface="宋体" panose="02010600030101010101" pitchFamily="2" charset="-122"/>
                <a:ea typeface="宋体" panose="02010600030101010101" pitchFamily="2" charset="-122"/>
              </a:rPr>
              <a:t>关键字来指代当前对象：</a:t>
            </a:r>
            <a:endParaRPr lang="zh-CN" altLang="en-US" sz="2800" b="1" dirty="0">
              <a:latin typeface="宋体" panose="02010600030101010101" pitchFamily="2" charset="-122"/>
              <a:ea typeface="宋体" panose="02010600030101010101" pitchFamily="2" charset="-122"/>
            </a:endParaRPr>
          </a:p>
          <a:p>
            <a:pPr marL="0" indent="353060">
              <a:buNone/>
            </a:pPr>
            <a:r>
              <a:rPr lang="de-DE" altLang="en-US" sz="2800" b="1" dirty="0">
                <a:latin typeface="宋体" panose="02010600030101010101" pitchFamily="2" charset="-122"/>
                <a:ea typeface="宋体" panose="02010600030101010101" pitchFamily="2" charset="-122"/>
                <a:cs typeface="Times New Roman" panose="02020603050405020304" pitchFamily="18" charset="0"/>
              </a:rPr>
              <a:t>                    this.name = name ;</a:t>
            </a:r>
            <a:endParaRPr lang="zh-CN" altLang="en-US"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r>
              <a:rPr lang="de-DE" altLang="en-US" sz="2800" b="1" dirty="0">
                <a:latin typeface="宋体" panose="02010600030101010101" pitchFamily="2" charset="-122"/>
                <a:ea typeface="宋体" panose="02010600030101010101" pitchFamily="2" charset="-122"/>
                <a:cs typeface="Times New Roman" panose="02020603050405020304" pitchFamily="18" charset="0"/>
              </a:rPr>
              <a:t>                    this.age = age ;</a:t>
            </a:r>
            <a:endParaRPr lang="zh-CN" altLang="en-US"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endParaRPr lang="zh-CN" altLang="en-US" sz="2800" b="1" dirty="0">
              <a:latin typeface="宋体" panose="02010600030101010101" pitchFamily="2" charset="-122"/>
              <a:ea typeface="宋体" panose="02010600030101010101" pitchFamily="2" charset="-122"/>
            </a:endParaRPr>
          </a:p>
        </p:txBody>
      </p:sp>
      <p:sp>
        <p:nvSpPr>
          <p:cNvPr id="41988"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630AFC05-604F-489E-9239-B0E07A3EFF52}"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342908" y="612451"/>
            <a:ext cx="8147318" cy="75052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dirty="0">
                <a:latin typeface="宋体" panose="02010600030101010101" pitchFamily="2" charset="-122"/>
                <a:ea typeface="宋体" panose="02010600030101010101" pitchFamily="2" charset="-122"/>
              </a:rPr>
              <a:t>3</a:t>
            </a:r>
            <a:r>
              <a:rPr lang="zh-CN" altLang="en-US" sz="2800" dirty="0">
                <a:latin typeface="宋体" panose="02010600030101010101" pitchFamily="2" charset="-122"/>
                <a:ea typeface="宋体" panose="02010600030101010101" pitchFamily="2" charset="-122"/>
              </a:rPr>
              <a:t>、构造方法</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调用</a:t>
            </a:r>
            <a:endParaRPr lang="zh-CN" altLang="en-US" sz="2800" dirty="0">
              <a:latin typeface="宋体" panose="02010600030101010101" pitchFamily="2" charset="-122"/>
              <a:ea typeface="宋体" panose="02010600030101010101" pitchFamily="2" charset="-122"/>
            </a:endParaRPr>
          </a:p>
        </p:txBody>
      </p:sp>
      <p:sp>
        <p:nvSpPr>
          <p:cNvPr id="6" name="标题 1"/>
          <p:cNvSpPr txBox="1"/>
          <p:nvPr/>
        </p:nvSpPr>
        <p:spPr>
          <a:xfrm>
            <a:off x="244884" y="173502"/>
            <a:ext cx="8147318" cy="60643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3.2 </a:t>
            </a:r>
            <a:r>
              <a:rPr lang="zh-CN" altLang="en-US" dirty="0">
                <a:latin typeface="宋体" panose="02010600030101010101" pitchFamily="2" charset="-122"/>
                <a:ea typeface="宋体" panose="02010600030101010101" pitchFamily="2" charset="-122"/>
              </a:rPr>
              <a:t>类与对象</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07745" y="195845"/>
            <a:ext cx="9601200" cy="757056"/>
          </a:xfrm>
        </p:spPr>
        <p:txBody>
          <a:bodyPr/>
          <a:lstStyle/>
          <a:p>
            <a:r>
              <a:rPr lang="zh-CN" altLang="en-US" dirty="0">
                <a:latin typeface="宋体" panose="02010600030101010101" pitchFamily="2" charset="-122"/>
                <a:ea typeface="宋体" panose="02010600030101010101" pitchFamily="2" charset="-122"/>
              </a:rPr>
              <a:t>练习：</a:t>
            </a:r>
            <a:endParaRPr lang="zh-CN" altLang="en-US" dirty="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a:xfrm>
            <a:off x="490888" y="1047550"/>
            <a:ext cx="11396312" cy="5382126"/>
          </a:xfrm>
        </p:spPr>
        <p:txBody>
          <a:bodyPr>
            <a:noAutofit/>
          </a:bodyPr>
          <a:lstStyle/>
          <a:p>
            <a:pPr marL="0" indent="0">
              <a:lnSpc>
                <a:spcPct val="100000"/>
              </a:lnSpc>
              <a:spcBef>
                <a:spcPts val="0"/>
              </a:spcBef>
              <a:buNone/>
            </a:pPr>
            <a:r>
              <a:rPr lang="en-US" altLang="zh-CN" sz="2800" dirty="0">
                <a:latin typeface="宋体" panose="02010600030101010101" pitchFamily="2" charset="-122"/>
                <a:ea typeface="宋体" panose="02010600030101010101" pitchFamily="2" charset="-122"/>
              </a:rPr>
              <a:t>1</a:t>
            </a:r>
            <a:r>
              <a:rPr lang="zh-CN"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创建一个桌子（</a:t>
            </a:r>
            <a:r>
              <a:rPr lang="en-US" altLang="zh-CN" sz="2800" dirty="0">
                <a:latin typeface="宋体" panose="02010600030101010101" pitchFamily="2" charset="-122"/>
                <a:ea typeface="宋体" panose="02010600030101010101" pitchFamily="2" charset="-122"/>
              </a:rPr>
              <a:t>Table</a:t>
            </a:r>
            <a:r>
              <a:rPr lang="zh-CN" altLang="en-US" sz="2800" dirty="0">
                <a:latin typeface="宋体" panose="02010600030101010101" pitchFamily="2" charset="-122"/>
                <a:ea typeface="宋体" panose="02010600030101010101" pitchFamily="2" charset="-122"/>
              </a:rPr>
              <a:t>）类，该类中有桌子名称、重量、桌面宽度、长度和桌子高度属性以及以下几个方法：</a:t>
            </a:r>
            <a:endParaRPr lang="zh-CN" altLang="en-US" sz="2800" dirty="0">
              <a:latin typeface="宋体" panose="02010600030101010101" pitchFamily="2" charset="-122"/>
              <a:ea typeface="宋体" panose="02010600030101010101" pitchFamily="2" charset="-122"/>
            </a:endParaRPr>
          </a:p>
          <a:p>
            <a:pPr marL="0" indent="0">
              <a:lnSpc>
                <a:spcPct val="100000"/>
              </a:lnSpc>
              <a:spcBef>
                <a:spcPts val="0"/>
              </a:spcBef>
              <a:buNone/>
            </a:pPr>
            <a:r>
              <a:rPr lang="zh-CN" altLang="en-US" sz="2800" dirty="0">
                <a:latin typeface="宋体" panose="02010600030101010101" pitchFamily="2" charset="-122"/>
                <a:ea typeface="宋体" panose="02010600030101010101" pitchFamily="2" charset="-122"/>
              </a:rPr>
              <a:t>（</a:t>
            </a:r>
            <a:r>
              <a:rPr lang="en-US" altLang="zh-CN" sz="2800" dirty="0">
                <a:latin typeface="宋体" panose="02010600030101010101" pitchFamily="2" charset="-122"/>
                <a:ea typeface="宋体" panose="02010600030101010101" pitchFamily="2" charset="-122"/>
              </a:rPr>
              <a:t>1</a:t>
            </a:r>
            <a:r>
              <a:rPr lang="zh-CN" altLang="en-US" sz="2800" dirty="0">
                <a:latin typeface="宋体" panose="02010600030101010101" pitchFamily="2" charset="-122"/>
                <a:ea typeface="宋体" panose="02010600030101010101" pitchFamily="2" charset="-122"/>
              </a:rPr>
              <a:t>）构造方法：初始化所有成员变量；</a:t>
            </a:r>
            <a:endParaRPr lang="zh-CN" altLang="en-US" sz="2800" dirty="0">
              <a:latin typeface="宋体" panose="02010600030101010101" pitchFamily="2" charset="-122"/>
              <a:ea typeface="宋体" panose="02010600030101010101" pitchFamily="2" charset="-122"/>
            </a:endParaRPr>
          </a:p>
          <a:p>
            <a:pPr marL="0" indent="0">
              <a:lnSpc>
                <a:spcPct val="100000"/>
              </a:lnSpc>
              <a:spcBef>
                <a:spcPts val="0"/>
              </a:spcBef>
              <a:buNone/>
            </a:pPr>
            <a:r>
              <a:rPr lang="zh-CN" altLang="en-US" sz="2800" dirty="0">
                <a:latin typeface="宋体" panose="02010600030101010101" pitchFamily="2" charset="-122"/>
                <a:ea typeface="宋体" panose="02010600030101010101" pitchFamily="2" charset="-122"/>
              </a:rPr>
              <a:t>（</a:t>
            </a:r>
            <a:r>
              <a:rPr lang="en-US" altLang="zh-CN" sz="2800" dirty="0">
                <a:latin typeface="宋体" panose="02010600030101010101" pitchFamily="2" charset="-122"/>
                <a:ea typeface="宋体" panose="02010600030101010101" pitchFamily="2" charset="-122"/>
              </a:rPr>
              <a:t>2</a:t>
            </a:r>
            <a:r>
              <a:rPr lang="zh-CN" altLang="en-US" sz="2800" dirty="0">
                <a:latin typeface="宋体" panose="02010600030101010101" pitchFamily="2" charset="-122"/>
                <a:ea typeface="宋体" panose="02010600030101010101" pitchFamily="2" charset="-122"/>
              </a:rPr>
              <a:t>）</a:t>
            </a:r>
            <a:r>
              <a:rPr lang="en-US" altLang="zh-CN" sz="2800" dirty="0">
                <a:latin typeface="宋体" panose="02010600030101010101" pitchFamily="2" charset="-122"/>
                <a:ea typeface="宋体" panose="02010600030101010101" pitchFamily="2" charset="-122"/>
              </a:rPr>
              <a:t>area():</a:t>
            </a:r>
            <a:r>
              <a:rPr lang="zh-CN" altLang="en-US" sz="2800" dirty="0">
                <a:latin typeface="宋体" panose="02010600030101010101" pitchFamily="2" charset="-122"/>
                <a:ea typeface="宋体" panose="02010600030101010101" pitchFamily="2" charset="-122"/>
              </a:rPr>
              <a:t>计算桌面的面积；</a:t>
            </a:r>
            <a:endParaRPr lang="zh-CN" altLang="en-US" sz="2800" dirty="0">
              <a:latin typeface="宋体" panose="02010600030101010101" pitchFamily="2" charset="-122"/>
              <a:ea typeface="宋体" panose="02010600030101010101" pitchFamily="2" charset="-122"/>
            </a:endParaRPr>
          </a:p>
          <a:p>
            <a:pPr marL="0" indent="0">
              <a:lnSpc>
                <a:spcPct val="100000"/>
              </a:lnSpc>
              <a:spcBef>
                <a:spcPts val="0"/>
              </a:spcBef>
              <a:buNone/>
            </a:pPr>
            <a:r>
              <a:rPr lang="zh-CN" altLang="en-US" sz="2800" dirty="0">
                <a:latin typeface="宋体" panose="02010600030101010101" pitchFamily="2" charset="-122"/>
                <a:ea typeface="宋体" panose="02010600030101010101" pitchFamily="2" charset="-122"/>
              </a:rPr>
              <a:t>（</a:t>
            </a:r>
            <a:r>
              <a:rPr lang="en-US" altLang="zh-CN" sz="2800" dirty="0">
                <a:latin typeface="宋体" panose="02010600030101010101" pitchFamily="2" charset="-122"/>
                <a:ea typeface="宋体" panose="02010600030101010101" pitchFamily="2" charset="-122"/>
              </a:rPr>
              <a:t>3</a:t>
            </a:r>
            <a:r>
              <a:rPr lang="zh-CN" altLang="en-US" sz="2800" dirty="0">
                <a:latin typeface="宋体" panose="02010600030101010101" pitchFamily="2" charset="-122"/>
                <a:ea typeface="宋体" panose="02010600030101010101" pitchFamily="2" charset="-122"/>
              </a:rPr>
              <a:t>）</a:t>
            </a:r>
            <a:r>
              <a:rPr lang="en-US" altLang="zh-CN" sz="2800" dirty="0">
                <a:latin typeface="宋体" panose="02010600030101010101" pitchFamily="2" charset="-122"/>
                <a:ea typeface="宋体" panose="02010600030101010101" pitchFamily="2" charset="-122"/>
              </a:rPr>
              <a:t>display</a:t>
            </a:r>
            <a:r>
              <a:rPr lang="zh-CN" altLang="en-US" sz="2800" dirty="0">
                <a:latin typeface="宋体" panose="02010600030101010101" pitchFamily="2" charset="-122"/>
                <a:ea typeface="宋体" panose="02010600030101010101" pitchFamily="2" charset="-122"/>
              </a:rPr>
              <a:t>（）：在屏幕上输出所有成员变量的值；</a:t>
            </a:r>
            <a:endParaRPr lang="zh-CN" altLang="en-US" sz="2800" dirty="0">
              <a:latin typeface="宋体" panose="02010600030101010101" pitchFamily="2" charset="-122"/>
              <a:ea typeface="宋体" panose="02010600030101010101" pitchFamily="2" charset="-122"/>
            </a:endParaRPr>
          </a:p>
          <a:p>
            <a:pPr marL="0" indent="0">
              <a:lnSpc>
                <a:spcPct val="100000"/>
              </a:lnSpc>
              <a:spcBef>
                <a:spcPts val="0"/>
              </a:spcBef>
              <a:buNone/>
            </a:pPr>
            <a:r>
              <a:rPr lang="zh-CN" altLang="en-US" sz="2800" dirty="0">
                <a:latin typeface="宋体" panose="02010600030101010101" pitchFamily="2" charset="-122"/>
                <a:ea typeface="宋体" panose="02010600030101010101" pitchFamily="2" charset="-122"/>
              </a:rPr>
              <a:t>（</a:t>
            </a:r>
            <a:r>
              <a:rPr lang="en-US" altLang="zh-CN" sz="2800" dirty="0">
                <a:latin typeface="宋体" panose="02010600030101010101" pitchFamily="2" charset="-122"/>
                <a:ea typeface="宋体" panose="02010600030101010101" pitchFamily="2" charset="-122"/>
              </a:rPr>
              <a:t>4</a:t>
            </a:r>
            <a:r>
              <a:rPr lang="zh-CN" altLang="en-US" sz="2800" dirty="0">
                <a:latin typeface="宋体" panose="02010600030101010101" pitchFamily="2" charset="-122"/>
                <a:ea typeface="宋体" panose="02010600030101010101" pitchFamily="2" charset="-122"/>
              </a:rPr>
              <a:t>）</a:t>
            </a:r>
            <a:r>
              <a:rPr lang="en-US" altLang="zh-CN" sz="2800" dirty="0" err="1">
                <a:latin typeface="宋体" panose="02010600030101010101" pitchFamily="2" charset="-122"/>
                <a:ea typeface="宋体" panose="02010600030101010101" pitchFamily="2" charset="-122"/>
              </a:rPr>
              <a:t>changeWeight</a:t>
            </a:r>
            <a:r>
              <a:rPr lang="zh-CN" altLang="en-US" sz="2800" dirty="0">
                <a:latin typeface="宋体" panose="02010600030101010101" pitchFamily="2" charset="-122"/>
                <a:ea typeface="宋体" panose="02010600030101010101" pitchFamily="2" charset="-122"/>
              </a:rPr>
              <a:t>（</a:t>
            </a:r>
            <a:r>
              <a:rPr lang="en-US" altLang="zh-CN" sz="2800" dirty="0">
                <a:latin typeface="宋体" panose="02010600030101010101" pitchFamily="2" charset="-122"/>
                <a:ea typeface="宋体" panose="02010600030101010101" pitchFamily="2" charset="-122"/>
              </a:rPr>
              <a:t>int w</a:t>
            </a:r>
            <a:r>
              <a:rPr lang="zh-CN" altLang="en-US" sz="2800" dirty="0">
                <a:latin typeface="宋体" panose="02010600030101010101" pitchFamily="2" charset="-122"/>
                <a:ea typeface="宋体" panose="02010600030101010101" pitchFamily="2" charset="-122"/>
              </a:rPr>
              <a:t>）：改变桌子重量；</a:t>
            </a:r>
            <a:endParaRPr lang="zh-CN" altLang="en-US" sz="2800" dirty="0">
              <a:latin typeface="宋体" panose="02010600030101010101" pitchFamily="2" charset="-122"/>
              <a:ea typeface="宋体" panose="02010600030101010101" pitchFamily="2" charset="-122"/>
            </a:endParaRPr>
          </a:p>
          <a:p>
            <a:pPr marL="0" indent="0">
              <a:lnSpc>
                <a:spcPct val="100000"/>
              </a:lnSpc>
              <a:spcBef>
                <a:spcPts val="0"/>
              </a:spcBef>
              <a:buNone/>
            </a:pPr>
            <a:r>
              <a:rPr lang="zh-CN" altLang="en-US" sz="2800" dirty="0">
                <a:latin typeface="宋体" panose="02010600030101010101" pitchFamily="2" charset="-122"/>
                <a:ea typeface="宋体" panose="02010600030101010101" pitchFamily="2" charset="-122"/>
              </a:rPr>
              <a:t>在测试（</a:t>
            </a:r>
            <a:r>
              <a:rPr lang="en-US" altLang="zh-CN" sz="2800" dirty="0">
                <a:latin typeface="宋体" panose="02010600030101010101" pitchFamily="2" charset="-122"/>
                <a:ea typeface="宋体" panose="02010600030101010101" pitchFamily="2" charset="-122"/>
              </a:rPr>
              <a:t>Test</a:t>
            </a:r>
            <a:r>
              <a:rPr lang="zh-CN" altLang="en-US" sz="2800" dirty="0">
                <a:latin typeface="宋体" panose="02010600030101010101" pitchFamily="2" charset="-122"/>
                <a:ea typeface="宋体" panose="02010600030101010101" pitchFamily="2" charset="-122"/>
              </a:rPr>
              <a:t>）类的</a:t>
            </a:r>
            <a:r>
              <a:rPr lang="en-US" altLang="zh-CN" sz="2800" dirty="0">
                <a:latin typeface="宋体" panose="02010600030101010101" pitchFamily="2" charset="-122"/>
                <a:ea typeface="宋体" panose="02010600030101010101" pitchFamily="2" charset="-122"/>
              </a:rPr>
              <a:t>main</a:t>
            </a:r>
            <a:r>
              <a:rPr lang="zh-CN" altLang="en-US" sz="2800" dirty="0">
                <a:latin typeface="宋体" panose="02010600030101010101" pitchFamily="2" charset="-122"/>
                <a:ea typeface="宋体" panose="02010600030101010101" pitchFamily="2" charset="-122"/>
              </a:rPr>
              <a:t>（）方法中实现创建一个桌子对象，计算桌面的面积，改变桌子重量，并在屏幕上输出所有桌子属性的值。</a:t>
            </a:r>
            <a:endParaRPr lang="zh-CN" altLang="en-US" sz="2800" dirty="0">
              <a:latin typeface="宋体" panose="02010600030101010101" pitchFamily="2" charset="-122"/>
              <a:ea typeface="宋体" panose="02010600030101010101" pitchFamily="2" charset="-122"/>
            </a:endParaRPr>
          </a:p>
          <a:p>
            <a:pPr marL="0" indent="0">
              <a:lnSpc>
                <a:spcPct val="100000"/>
              </a:lnSpc>
              <a:spcBef>
                <a:spcPts val="0"/>
              </a:spcBef>
              <a:buNone/>
            </a:pPr>
            <a:endParaRPr lang="zh-CN" altLang="en-US" sz="28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07745" y="195845"/>
            <a:ext cx="9601200" cy="757056"/>
          </a:xfrm>
        </p:spPr>
        <p:txBody>
          <a:bodyPr/>
          <a:lstStyle/>
          <a:p>
            <a:r>
              <a:rPr lang="zh-CN" altLang="en-US" dirty="0">
                <a:latin typeface="宋体" panose="02010600030101010101" pitchFamily="2" charset="-122"/>
                <a:ea typeface="宋体" panose="02010600030101010101" pitchFamily="2" charset="-122"/>
              </a:rPr>
              <a:t>练习：</a:t>
            </a:r>
            <a:endParaRPr lang="zh-CN" altLang="en-US" dirty="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a:xfrm>
            <a:off x="490888" y="1047550"/>
            <a:ext cx="11396312" cy="5382126"/>
          </a:xfrm>
        </p:spPr>
        <p:txBody>
          <a:bodyPr>
            <a:noAutofit/>
          </a:bodyPr>
          <a:lstStyle/>
          <a:p>
            <a:pPr marL="0" indent="0">
              <a:lnSpc>
                <a:spcPct val="100000"/>
              </a:lnSpc>
              <a:spcBef>
                <a:spcPts val="0"/>
              </a:spcBef>
              <a:buNone/>
            </a:pPr>
            <a:r>
              <a:rPr lang="en-US" altLang="zh-CN" sz="2800" dirty="0">
                <a:latin typeface="宋体" panose="02010600030101010101" pitchFamily="2" charset="-122"/>
                <a:ea typeface="宋体" panose="02010600030101010101" pitchFamily="2" charset="-122"/>
              </a:rPr>
              <a:t>2</a:t>
            </a:r>
            <a:r>
              <a:rPr lang="zh-CN" altLang="zh-CN" sz="2800" dirty="0">
                <a:latin typeface="宋体" panose="02010600030101010101" pitchFamily="2" charset="-122"/>
                <a:ea typeface="宋体" panose="02010600030101010101" pitchFamily="2" charset="-122"/>
              </a:rPr>
              <a:t>、编写一个完整的</a:t>
            </a:r>
            <a:r>
              <a:rPr lang="en-US" altLang="zh-CN" sz="2800" dirty="0">
                <a:latin typeface="宋体" panose="02010600030101010101" pitchFamily="2" charset="-122"/>
                <a:ea typeface="宋体" panose="02010600030101010101" pitchFamily="2" charset="-122"/>
              </a:rPr>
              <a:t>Java  Application </a:t>
            </a:r>
            <a:r>
              <a:rPr lang="zh-CN" altLang="zh-CN" sz="2800" dirty="0">
                <a:latin typeface="宋体" panose="02010600030101010101" pitchFamily="2" charset="-122"/>
                <a:ea typeface="宋体" panose="02010600030101010101" pitchFamily="2" charset="-122"/>
              </a:rPr>
              <a:t>程序。要求：</a:t>
            </a:r>
            <a:endParaRPr lang="en-US" altLang="zh-CN" sz="2800" dirty="0">
              <a:latin typeface="宋体" panose="02010600030101010101" pitchFamily="2" charset="-122"/>
              <a:ea typeface="宋体" panose="02010600030101010101" pitchFamily="2" charset="-122"/>
            </a:endParaRPr>
          </a:p>
          <a:p>
            <a:pPr marL="0" indent="0">
              <a:lnSpc>
                <a:spcPct val="100000"/>
              </a:lnSpc>
              <a:spcBef>
                <a:spcPts val="0"/>
              </a:spcBef>
              <a:buNone/>
            </a:pPr>
            <a:r>
              <a:rPr lang="zh-CN" altLang="zh-CN" sz="2800" dirty="0">
                <a:latin typeface="宋体" panose="02010600030101010101" pitchFamily="2" charset="-122"/>
                <a:ea typeface="宋体" panose="02010600030101010101" pitchFamily="2" charset="-122"/>
              </a:rPr>
              <a:t>①编写复数类</a:t>
            </a:r>
            <a:r>
              <a:rPr lang="en-US" altLang="zh-CN" sz="2800" dirty="0">
                <a:latin typeface="宋体" panose="02010600030101010101" pitchFamily="2" charset="-122"/>
                <a:ea typeface="宋体" panose="02010600030101010101" pitchFamily="2" charset="-122"/>
              </a:rPr>
              <a:t>Complex</a:t>
            </a:r>
            <a:r>
              <a:rPr lang="zh-CN" altLang="zh-CN" sz="2800" dirty="0">
                <a:latin typeface="宋体" panose="02010600030101010101" pitchFamily="2" charset="-122"/>
                <a:ea typeface="宋体" panose="02010600030101010101" pitchFamily="2" charset="-122"/>
              </a:rPr>
              <a:t>。</a:t>
            </a:r>
            <a:endParaRPr lang="zh-CN" altLang="zh-CN" sz="28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800" dirty="0">
                <a:latin typeface="宋体" panose="02010600030101010101" pitchFamily="2" charset="-122"/>
                <a:ea typeface="宋体" panose="02010600030101010101" pitchFamily="2" charset="-122"/>
              </a:rPr>
              <a:t>  (1)	</a:t>
            </a:r>
            <a:r>
              <a:rPr lang="zh-CN" altLang="zh-CN" sz="2800" dirty="0">
                <a:latin typeface="宋体" panose="02010600030101010101" pitchFamily="2" charset="-122"/>
                <a:ea typeface="宋体" panose="02010600030101010101" pitchFamily="2" charset="-122"/>
              </a:rPr>
              <a:t>复数类</a:t>
            </a:r>
            <a:r>
              <a:rPr lang="en-US" altLang="zh-CN" sz="2800" dirty="0">
                <a:latin typeface="宋体" panose="02010600030101010101" pitchFamily="2" charset="-122"/>
                <a:ea typeface="宋体" panose="02010600030101010101" pitchFamily="2" charset="-122"/>
              </a:rPr>
              <a:t>Complex </a:t>
            </a:r>
            <a:r>
              <a:rPr lang="zh-CN" altLang="zh-CN" sz="2800" dirty="0">
                <a:latin typeface="宋体" panose="02010600030101010101" pitchFamily="2" charset="-122"/>
                <a:ea typeface="宋体" panose="02010600030101010101" pitchFamily="2" charset="-122"/>
              </a:rPr>
              <a:t>的属性有：</a:t>
            </a:r>
            <a:endParaRPr lang="zh-CN" altLang="zh-CN" sz="28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800" dirty="0">
                <a:latin typeface="宋体" panose="02010600030101010101" pitchFamily="2" charset="-122"/>
                <a:ea typeface="宋体" panose="02010600030101010101" pitchFamily="2" charset="-122"/>
              </a:rPr>
              <a:t>      </a:t>
            </a:r>
            <a:r>
              <a:rPr lang="en-US" altLang="zh-CN" sz="2800" dirty="0" err="1">
                <a:latin typeface="宋体" panose="02010600030101010101" pitchFamily="2" charset="-122"/>
                <a:ea typeface="宋体" panose="02010600030101010101" pitchFamily="2" charset="-122"/>
              </a:rPr>
              <a:t>realPart</a:t>
            </a:r>
            <a:r>
              <a:rPr lang="en-US" altLang="zh-CN" sz="2800" dirty="0">
                <a:latin typeface="宋体" panose="02010600030101010101" pitchFamily="2" charset="-122"/>
                <a:ea typeface="宋体" panose="02010600030101010101" pitchFamily="2" charset="-122"/>
              </a:rPr>
              <a:t> :    int</a:t>
            </a:r>
            <a:r>
              <a:rPr lang="zh-CN" altLang="zh-CN" sz="2800" dirty="0">
                <a:latin typeface="宋体" panose="02010600030101010101" pitchFamily="2" charset="-122"/>
                <a:ea typeface="宋体" panose="02010600030101010101" pitchFamily="2" charset="-122"/>
              </a:rPr>
              <a:t>型，代表复数的实部</a:t>
            </a:r>
            <a:endParaRPr lang="zh-CN" altLang="zh-CN" sz="28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800" dirty="0">
                <a:latin typeface="宋体" panose="02010600030101010101" pitchFamily="2" charset="-122"/>
                <a:ea typeface="宋体" panose="02010600030101010101" pitchFamily="2" charset="-122"/>
              </a:rPr>
              <a:t>      </a:t>
            </a:r>
            <a:r>
              <a:rPr lang="en-US" altLang="zh-CN" sz="2800" dirty="0" err="1">
                <a:latin typeface="宋体" panose="02010600030101010101" pitchFamily="2" charset="-122"/>
                <a:ea typeface="宋体" panose="02010600030101010101" pitchFamily="2" charset="-122"/>
              </a:rPr>
              <a:t>imaginPart</a:t>
            </a:r>
            <a:r>
              <a:rPr lang="en-US" altLang="zh-CN" sz="2800" dirty="0">
                <a:latin typeface="宋体" panose="02010600030101010101" pitchFamily="2" charset="-122"/>
                <a:ea typeface="宋体" panose="02010600030101010101" pitchFamily="2" charset="-122"/>
              </a:rPr>
              <a:t> :  int</a:t>
            </a:r>
            <a:r>
              <a:rPr lang="zh-CN" altLang="zh-CN" sz="2800" dirty="0">
                <a:latin typeface="宋体" panose="02010600030101010101" pitchFamily="2" charset="-122"/>
                <a:ea typeface="宋体" panose="02010600030101010101" pitchFamily="2" charset="-122"/>
              </a:rPr>
              <a:t>型，代表复数的虚部</a:t>
            </a:r>
            <a:endParaRPr lang="zh-CN" altLang="zh-CN" sz="28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800" dirty="0">
                <a:latin typeface="宋体" panose="02010600030101010101" pitchFamily="2" charset="-122"/>
                <a:ea typeface="宋体" panose="02010600030101010101" pitchFamily="2" charset="-122"/>
              </a:rPr>
              <a:t>  (2)	</a:t>
            </a:r>
            <a:r>
              <a:rPr lang="zh-CN" altLang="zh-CN" sz="2800" dirty="0">
                <a:latin typeface="宋体" panose="02010600030101010101" pitchFamily="2" charset="-122"/>
                <a:ea typeface="宋体" panose="02010600030101010101" pitchFamily="2" charset="-122"/>
              </a:rPr>
              <a:t>复数类</a:t>
            </a:r>
            <a:r>
              <a:rPr lang="en-US" altLang="zh-CN" sz="2800" dirty="0">
                <a:latin typeface="宋体" panose="02010600030101010101" pitchFamily="2" charset="-122"/>
                <a:ea typeface="宋体" panose="02010600030101010101" pitchFamily="2" charset="-122"/>
              </a:rPr>
              <a:t>Complex </a:t>
            </a:r>
            <a:r>
              <a:rPr lang="zh-CN" altLang="zh-CN" sz="2800" dirty="0">
                <a:latin typeface="宋体" panose="02010600030101010101" pitchFamily="2" charset="-122"/>
                <a:ea typeface="宋体" panose="02010600030101010101" pitchFamily="2" charset="-122"/>
              </a:rPr>
              <a:t>的方法有：</a:t>
            </a:r>
            <a:endParaRPr lang="zh-CN" altLang="zh-CN" sz="28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800" dirty="0">
                <a:latin typeface="宋体" panose="02010600030101010101" pitchFamily="2" charset="-122"/>
                <a:ea typeface="宋体" panose="02010600030101010101" pitchFamily="2" charset="-122"/>
              </a:rPr>
              <a:t>     Complex( ) : </a:t>
            </a:r>
            <a:r>
              <a:rPr lang="zh-CN" altLang="zh-CN" sz="2800" dirty="0">
                <a:latin typeface="宋体" panose="02010600030101010101" pitchFamily="2" charset="-122"/>
                <a:ea typeface="宋体" panose="02010600030101010101" pitchFamily="2" charset="-122"/>
              </a:rPr>
              <a:t>构造函数，将复数的实部和虚部都置</a:t>
            </a:r>
            <a:r>
              <a:rPr lang="en-US" altLang="zh-CN" sz="2800" dirty="0">
                <a:latin typeface="宋体" panose="02010600030101010101" pitchFamily="2" charset="-122"/>
                <a:ea typeface="宋体" panose="02010600030101010101" pitchFamily="2" charset="-122"/>
              </a:rPr>
              <a:t>0</a:t>
            </a:r>
            <a:endParaRPr lang="zh-CN" altLang="zh-CN" sz="28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800" dirty="0">
                <a:latin typeface="宋体" panose="02010600030101010101" pitchFamily="2" charset="-122"/>
                <a:ea typeface="宋体" panose="02010600030101010101" pitchFamily="2" charset="-122"/>
              </a:rPr>
              <a:t>     Complex( int  r , int  </a:t>
            </a:r>
            <a:r>
              <a:rPr lang="en-US" altLang="zh-CN" sz="2800" dirty="0" err="1">
                <a:latin typeface="宋体" panose="02010600030101010101" pitchFamily="2" charset="-122"/>
                <a:ea typeface="宋体" panose="02010600030101010101" pitchFamily="2" charset="-122"/>
              </a:rPr>
              <a:t>i</a:t>
            </a:r>
            <a:r>
              <a:rPr lang="en-US" altLang="zh-CN" sz="2800" dirty="0">
                <a:latin typeface="宋体" panose="02010600030101010101" pitchFamily="2" charset="-122"/>
                <a:ea typeface="宋体" panose="02010600030101010101" pitchFamily="2" charset="-122"/>
              </a:rPr>
              <a:t> ) : </a:t>
            </a:r>
            <a:r>
              <a:rPr lang="zh-CN" altLang="zh-CN" sz="2800" dirty="0">
                <a:latin typeface="宋体" panose="02010600030101010101" pitchFamily="2" charset="-122"/>
                <a:ea typeface="宋体" panose="02010600030101010101" pitchFamily="2" charset="-122"/>
              </a:rPr>
              <a:t>构造函数，将复数的实部初始化为</a:t>
            </a:r>
            <a:r>
              <a:rPr lang="en-US" altLang="zh-CN" sz="2800" dirty="0">
                <a:latin typeface="宋体" panose="02010600030101010101" pitchFamily="2" charset="-122"/>
                <a:ea typeface="宋体" panose="02010600030101010101" pitchFamily="2" charset="-122"/>
              </a:rPr>
              <a:t>r</a:t>
            </a:r>
            <a:r>
              <a:rPr lang="zh-CN" altLang="zh-CN" sz="2800" dirty="0">
                <a:latin typeface="宋体" panose="02010600030101010101" pitchFamily="2" charset="-122"/>
                <a:ea typeface="宋体" panose="02010600030101010101" pitchFamily="2" charset="-122"/>
              </a:rPr>
              <a:t>，将虚部初始化为</a:t>
            </a:r>
            <a:r>
              <a:rPr lang="en-US" altLang="zh-CN" sz="2800" dirty="0" err="1">
                <a:latin typeface="宋体" panose="02010600030101010101" pitchFamily="2" charset="-122"/>
                <a:ea typeface="宋体" panose="02010600030101010101" pitchFamily="2" charset="-122"/>
              </a:rPr>
              <a:t>i</a:t>
            </a:r>
            <a:r>
              <a:rPr lang="zh-CN" altLang="zh-CN" sz="2800" dirty="0">
                <a:latin typeface="宋体" panose="02010600030101010101" pitchFamily="2" charset="-122"/>
                <a:ea typeface="宋体" panose="02010600030101010101" pitchFamily="2" charset="-122"/>
              </a:rPr>
              <a:t>。</a:t>
            </a:r>
            <a:endParaRPr lang="en-US" altLang="zh-CN" sz="28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800" dirty="0">
                <a:latin typeface="宋体" panose="02010600030101010101" pitchFamily="2" charset="-122"/>
                <a:ea typeface="宋体" panose="02010600030101010101" pitchFamily="2" charset="-122"/>
              </a:rPr>
              <a:t>     Complex  </a:t>
            </a:r>
            <a:r>
              <a:rPr lang="en-US" altLang="zh-CN" sz="2800" dirty="0" err="1">
                <a:latin typeface="宋体" panose="02010600030101010101" pitchFamily="2" charset="-122"/>
                <a:ea typeface="宋体" panose="02010600030101010101" pitchFamily="2" charset="-122"/>
              </a:rPr>
              <a:t>complexAdd</a:t>
            </a:r>
            <a:r>
              <a:rPr lang="en-US" altLang="zh-CN" sz="2800" dirty="0">
                <a:latin typeface="宋体" panose="02010600030101010101" pitchFamily="2" charset="-122"/>
                <a:ea typeface="宋体" panose="02010600030101010101" pitchFamily="2" charset="-122"/>
              </a:rPr>
              <a:t>(Complex  a) : </a:t>
            </a:r>
            <a:r>
              <a:rPr lang="zh-CN" altLang="zh-CN" sz="2800" dirty="0">
                <a:latin typeface="宋体" panose="02010600030101010101" pitchFamily="2" charset="-122"/>
                <a:ea typeface="宋体" panose="02010600030101010101" pitchFamily="2" charset="-122"/>
              </a:rPr>
              <a:t>将当前复数对象与形参复数对象</a:t>
            </a:r>
            <a:r>
              <a:rPr lang="en-US" altLang="zh-CN" sz="2800" dirty="0">
                <a:latin typeface="宋体" panose="02010600030101010101" pitchFamily="2" charset="-122"/>
                <a:ea typeface="宋体" panose="02010600030101010101" pitchFamily="2" charset="-122"/>
              </a:rPr>
              <a:t>a</a:t>
            </a:r>
            <a:r>
              <a:rPr lang="zh-CN" altLang="zh-CN" sz="2800" dirty="0">
                <a:latin typeface="宋体" panose="02010600030101010101" pitchFamily="2" charset="-122"/>
                <a:ea typeface="宋体" panose="02010600030101010101" pitchFamily="2" charset="-122"/>
              </a:rPr>
              <a:t>相加，所得的结果仍是一个复数对象，返回给此方法的调用者。</a:t>
            </a:r>
            <a:endParaRPr lang="zh-CN" altLang="zh-CN" sz="2800" dirty="0">
              <a:latin typeface="宋体" panose="02010600030101010101" pitchFamily="2" charset="-122"/>
              <a:ea typeface="宋体" panose="02010600030101010101" pitchFamily="2" charset="-122"/>
            </a:endParaRPr>
          </a:p>
          <a:p>
            <a:pPr marL="0" indent="0">
              <a:lnSpc>
                <a:spcPct val="100000"/>
              </a:lnSpc>
              <a:spcBef>
                <a:spcPts val="0"/>
              </a:spcBef>
              <a:buNone/>
            </a:pPr>
            <a:endParaRPr lang="zh-CN" altLang="en-US" sz="28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07745" y="195845"/>
            <a:ext cx="9601200" cy="757056"/>
          </a:xfrm>
        </p:spPr>
        <p:txBody>
          <a:bodyPr/>
          <a:lstStyle/>
          <a:p>
            <a:r>
              <a:rPr lang="zh-CN" altLang="en-US" dirty="0">
                <a:latin typeface="宋体" panose="02010600030101010101" pitchFamily="2" charset="-122"/>
                <a:ea typeface="宋体" panose="02010600030101010101" pitchFamily="2" charset="-122"/>
              </a:rPr>
              <a:t>练习：</a:t>
            </a:r>
            <a:endParaRPr lang="zh-CN" altLang="en-US" dirty="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a:xfrm>
            <a:off x="490888" y="1047550"/>
            <a:ext cx="11396312" cy="3809999"/>
          </a:xfrm>
        </p:spPr>
        <p:txBody>
          <a:bodyPr>
            <a:noAutofit/>
          </a:bodyPr>
          <a:lstStyle/>
          <a:p>
            <a:pPr marL="0" indent="0">
              <a:buNone/>
            </a:pPr>
            <a:r>
              <a:rPr lang="en-US" altLang="zh-CN" sz="2800" dirty="0">
                <a:latin typeface="宋体" panose="02010600030101010101" pitchFamily="2" charset="-122"/>
                <a:ea typeface="宋体" panose="02010600030101010101" pitchFamily="2" charset="-122"/>
              </a:rPr>
              <a:t>    public String  </a:t>
            </a:r>
            <a:r>
              <a:rPr lang="en-US" altLang="zh-CN" sz="2800" dirty="0" err="1">
                <a:latin typeface="宋体" panose="02010600030101010101" pitchFamily="2" charset="-122"/>
                <a:ea typeface="宋体" panose="02010600030101010101" pitchFamily="2" charset="-122"/>
              </a:rPr>
              <a:t>toString</a:t>
            </a:r>
            <a:r>
              <a:rPr lang="en-US" altLang="zh-CN" sz="2800" dirty="0">
                <a:latin typeface="宋体" panose="02010600030101010101" pitchFamily="2" charset="-122"/>
                <a:ea typeface="宋体" panose="02010600030101010101" pitchFamily="2" charset="-122"/>
              </a:rPr>
              <a:t>( ) : </a:t>
            </a:r>
            <a:r>
              <a:rPr lang="zh-CN" altLang="zh-CN" sz="2800" dirty="0">
                <a:latin typeface="宋体" panose="02010600030101010101" pitchFamily="2" charset="-122"/>
                <a:ea typeface="宋体" panose="02010600030101010101" pitchFamily="2" charset="-122"/>
              </a:rPr>
              <a:t>把当前复数对象的实部</a:t>
            </a:r>
            <a:r>
              <a:rPr lang="en-US" altLang="zh-CN" sz="2800" dirty="0">
                <a:latin typeface="宋体" panose="02010600030101010101" pitchFamily="2" charset="-122"/>
                <a:ea typeface="宋体" panose="02010600030101010101" pitchFamily="2" charset="-122"/>
              </a:rPr>
              <a:t>a</a:t>
            </a:r>
            <a:r>
              <a:rPr lang="zh-CN" altLang="zh-CN" sz="2800" dirty="0">
                <a:latin typeface="宋体" panose="02010600030101010101" pitchFamily="2" charset="-122"/>
                <a:ea typeface="宋体" panose="02010600030101010101" pitchFamily="2" charset="-122"/>
              </a:rPr>
              <a:t>、虚部</a:t>
            </a:r>
            <a:r>
              <a:rPr lang="en-US" altLang="zh-CN" sz="2800" dirty="0">
                <a:latin typeface="宋体" panose="02010600030101010101" pitchFamily="2" charset="-122"/>
                <a:ea typeface="宋体" panose="02010600030101010101" pitchFamily="2" charset="-122"/>
              </a:rPr>
              <a:t>b</a:t>
            </a:r>
            <a:r>
              <a:rPr lang="zh-CN" altLang="zh-CN" sz="2800" dirty="0">
                <a:latin typeface="宋体" panose="02010600030101010101" pitchFamily="2" charset="-122"/>
                <a:ea typeface="宋体" panose="02010600030101010101" pitchFamily="2" charset="-122"/>
              </a:rPr>
              <a:t>组合成</a:t>
            </a:r>
            <a:r>
              <a:rPr lang="en-US" altLang="zh-CN" sz="2800" dirty="0">
                <a:latin typeface="宋体" panose="02010600030101010101" pitchFamily="2" charset="-122"/>
                <a:ea typeface="宋体" panose="02010600030101010101" pitchFamily="2" charset="-122"/>
              </a:rPr>
              <a:t> “</a:t>
            </a:r>
            <a:r>
              <a:rPr lang="en-US" altLang="zh-CN" sz="2800" dirty="0" err="1">
                <a:latin typeface="宋体" panose="02010600030101010101" pitchFamily="2" charset="-122"/>
                <a:ea typeface="宋体" panose="02010600030101010101" pitchFamily="2" charset="-122"/>
              </a:rPr>
              <a:t>a+bi</a:t>
            </a:r>
            <a:r>
              <a:rPr lang="en-US" altLang="zh-CN" sz="2800" dirty="0">
                <a:latin typeface="宋体" panose="02010600030101010101" pitchFamily="2" charset="-122"/>
                <a:ea typeface="宋体" panose="02010600030101010101" pitchFamily="2" charset="-122"/>
              </a:rPr>
              <a:t>” </a:t>
            </a:r>
            <a:r>
              <a:rPr lang="zh-CN" altLang="zh-CN" sz="2800" dirty="0">
                <a:latin typeface="宋体" panose="02010600030101010101" pitchFamily="2" charset="-122"/>
                <a:ea typeface="宋体" panose="02010600030101010101" pitchFamily="2" charset="-122"/>
              </a:rPr>
              <a:t>的字符串形式；若实部为</a:t>
            </a:r>
            <a:r>
              <a:rPr lang="en-US" altLang="zh-CN" sz="2800" dirty="0">
                <a:latin typeface="宋体" panose="02010600030101010101" pitchFamily="2" charset="-122"/>
                <a:ea typeface="宋体" panose="02010600030101010101" pitchFamily="2" charset="-122"/>
              </a:rPr>
              <a:t>0</a:t>
            </a:r>
            <a:r>
              <a:rPr lang="zh-CN" altLang="zh-CN" sz="2800" dirty="0">
                <a:latin typeface="宋体" panose="02010600030101010101" pitchFamily="2" charset="-122"/>
                <a:ea typeface="宋体" panose="02010600030101010101" pitchFamily="2" charset="-122"/>
              </a:rPr>
              <a:t>，虚部不为</a:t>
            </a:r>
            <a:r>
              <a:rPr lang="en-US" altLang="zh-CN" sz="2800" dirty="0">
                <a:latin typeface="宋体" panose="02010600030101010101" pitchFamily="2" charset="-122"/>
                <a:ea typeface="宋体" panose="02010600030101010101" pitchFamily="2" charset="-122"/>
              </a:rPr>
              <a:t>0</a:t>
            </a:r>
            <a:r>
              <a:rPr lang="zh-CN" altLang="zh-CN" sz="2800" dirty="0">
                <a:latin typeface="宋体" panose="02010600030101010101" pitchFamily="2" charset="-122"/>
                <a:ea typeface="宋体" panose="02010600030101010101" pitchFamily="2" charset="-122"/>
              </a:rPr>
              <a:t>，则返回</a:t>
            </a:r>
            <a:r>
              <a:rPr lang="en-US" altLang="zh-CN" sz="2800" dirty="0">
                <a:latin typeface="宋体" panose="02010600030101010101" pitchFamily="2" charset="-122"/>
                <a:ea typeface="宋体" panose="02010600030101010101" pitchFamily="2" charset="-122"/>
              </a:rPr>
              <a:t>”bi”</a:t>
            </a:r>
            <a:r>
              <a:rPr lang="zh-CN" altLang="zh-CN" sz="2800" dirty="0">
                <a:latin typeface="宋体" panose="02010600030101010101" pitchFamily="2" charset="-122"/>
                <a:ea typeface="宋体" panose="02010600030101010101" pitchFamily="2" charset="-122"/>
              </a:rPr>
              <a:t>；若虚部为</a:t>
            </a:r>
            <a:r>
              <a:rPr lang="en-US" altLang="zh-CN" sz="2800" dirty="0">
                <a:latin typeface="宋体" panose="02010600030101010101" pitchFamily="2" charset="-122"/>
                <a:ea typeface="宋体" panose="02010600030101010101" pitchFamily="2" charset="-122"/>
              </a:rPr>
              <a:t>0</a:t>
            </a:r>
            <a:r>
              <a:rPr lang="zh-CN" altLang="zh-CN" sz="2800" dirty="0">
                <a:latin typeface="宋体" panose="02010600030101010101" pitchFamily="2" charset="-122"/>
                <a:ea typeface="宋体" panose="02010600030101010101" pitchFamily="2" charset="-122"/>
              </a:rPr>
              <a:t>，则返回</a:t>
            </a:r>
            <a:r>
              <a:rPr lang="en-US" altLang="zh-CN" sz="2800" dirty="0">
                <a:latin typeface="宋体" panose="02010600030101010101" pitchFamily="2" charset="-122"/>
                <a:ea typeface="宋体" panose="02010600030101010101" pitchFamily="2" charset="-122"/>
              </a:rPr>
              <a:t>”a”</a:t>
            </a:r>
            <a:r>
              <a:rPr lang="zh-CN" altLang="zh-CN" sz="2800" dirty="0">
                <a:latin typeface="宋体" panose="02010600030101010101" pitchFamily="2" charset="-122"/>
                <a:ea typeface="宋体" panose="02010600030101010101" pitchFamily="2" charset="-122"/>
              </a:rPr>
              <a:t>。</a:t>
            </a:r>
            <a:endParaRPr lang="zh-CN" altLang="zh-CN" sz="2800" dirty="0">
              <a:latin typeface="宋体" panose="02010600030101010101" pitchFamily="2" charset="-122"/>
              <a:ea typeface="宋体" panose="02010600030101010101" pitchFamily="2" charset="-122"/>
            </a:endParaRPr>
          </a:p>
          <a:p>
            <a:pPr marL="0" indent="0">
              <a:buNone/>
            </a:pPr>
            <a:r>
              <a:rPr lang="zh-CN" altLang="zh-CN" sz="2800" dirty="0">
                <a:latin typeface="宋体" panose="02010600030101010101" pitchFamily="2" charset="-122"/>
                <a:ea typeface="宋体" panose="02010600030101010101" pitchFamily="2" charset="-122"/>
              </a:rPr>
              <a:t>②编写主类</a:t>
            </a:r>
            <a:r>
              <a:rPr lang="en-US" altLang="zh-CN" sz="2800" dirty="0" err="1">
                <a:latin typeface="宋体" panose="02010600030101010101" pitchFamily="2" charset="-122"/>
                <a:ea typeface="宋体" panose="02010600030101010101" pitchFamily="2" charset="-122"/>
              </a:rPr>
              <a:t>TestComplex</a:t>
            </a:r>
            <a:r>
              <a:rPr lang="zh-CN" altLang="zh-CN" sz="2800" dirty="0">
                <a:latin typeface="宋体" panose="02010600030101010101" pitchFamily="2" charset="-122"/>
                <a:ea typeface="宋体" panose="02010600030101010101" pitchFamily="2" charset="-122"/>
              </a:rPr>
              <a:t>，将每对测试数据相加并显示结果，三组测试的复数为：</a:t>
            </a:r>
            <a:r>
              <a:rPr lang="en-US" altLang="zh-CN" sz="2800" dirty="0">
                <a:latin typeface="宋体" panose="02010600030101010101" pitchFamily="2" charset="-122"/>
                <a:ea typeface="宋体" panose="02010600030101010101" pitchFamily="2" charset="-122"/>
              </a:rPr>
              <a:t>1+2i </a:t>
            </a:r>
            <a:r>
              <a:rPr lang="zh-CN" altLang="zh-CN" sz="2800" dirty="0">
                <a:latin typeface="宋体" panose="02010600030101010101" pitchFamily="2" charset="-122"/>
                <a:ea typeface="宋体" panose="02010600030101010101" pitchFamily="2" charset="-122"/>
              </a:rPr>
              <a:t>和</a:t>
            </a:r>
            <a:r>
              <a:rPr lang="en-US" altLang="zh-CN" sz="2800" dirty="0">
                <a:latin typeface="宋体" panose="02010600030101010101" pitchFamily="2" charset="-122"/>
                <a:ea typeface="宋体" panose="02010600030101010101" pitchFamily="2" charset="-122"/>
              </a:rPr>
              <a:t>3+4i </a:t>
            </a:r>
            <a:r>
              <a:rPr lang="zh-CN" altLang="zh-CN" sz="2800" dirty="0">
                <a:latin typeface="宋体" panose="02010600030101010101" pitchFamily="2" charset="-122"/>
                <a:ea typeface="宋体" panose="02010600030101010101" pitchFamily="2" charset="-122"/>
              </a:rPr>
              <a:t>、</a:t>
            </a:r>
            <a:r>
              <a:rPr lang="en-US" altLang="zh-CN" sz="2800" dirty="0">
                <a:latin typeface="宋体" panose="02010600030101010101" pitchFamily="2" charset="-122"/>
                <a:ea typeface="宋体" panose="02010600030101010101" pitchFamily="2" charset="-122"/>
              </a:rPr>
              <a:t>1+2i</a:t>
            </a:r>
            <a:r>
              <a:rPr lang="zh-CN" altLang="zh-CN" sz="2800" dirty="0">
                <a:latin typeface="宋体" panose="02010600030101010101" pitchFamily="2" charset="-122"/>
                <a:ea typeface="宋体" panose="02010600030101010101" pitchFamily="2" charset="-122"/>
              </a:rPr>
              <a:t>和</a:t>
            </a:r>
            <a:r>
              <a:rPr lang="en-US" altLang="zh-CN" sz="2800" dirty="0">
                <a:latin typeface="宋体" panose="02010600030101010101" pitchFamily="2" charset="-122"/>
                <a:ea typeface="宋体" panose="02010600030101010101" pitchFamily="2" charset="-122"/>
              </a:rPr>
              <a:t>1-2i</a:t>
            </a:r>
            <a:r>
              <a:rPr lang="zh-CN" altLang="zh-CN" sz="2800" dirty="0">
                <a:latin typeface="宋体" panose="02010600030101010101" pitchFamily="2" charset="-122"/>
                <a:ea typeface="宋体" panose="02010600030101010101" pitchFamily="2" charset="-122"/>
              </a:rPr>
              <a:t>、</a:t>
            </a:r>
            <a:r>
              <a:rPr lang="en-US" altLang="zh-CN" sz="2800" dirty="0">
                <a:latin typeface="宋体" panose="02010600030101010101" pitchFamily="2" charset="-122"/>
                <a:ea typeface="宋体" panose="02010600030101010101" pitchFamily="2" charset="-122"/>
              </a:rPr>
              <a:t> 1+2i</a:t>
            </a:r>
            <a:r>
              <a:rPr lang="zh-CN" altLang="zh-CN" sz="2800" dirty="0">
                <a:latin typeface="宋体" panose="02010600030101010101" pitchFamily="2" charset="-122"/>
                <a:ea typeface="宋体" panose="02010600030101010101" pitchFamily="2" charset="-122"/>
              </a:rPr>
              <a:t>和</a:t>
            </a:r>
            <a:r>
              <a:rPr lang="en-US" altLang="zh-CN" sz="2800" dirty="0">
                <a:latin typeface="宋体" panose="02010600030101010101" pitchFamily="2" charset="-122"/>
                <a:ea typeface="宋体" panose="02010600030101010101" pitchFamily="2" charset="-122"/>
              </a:rPr>
              <a:t>-1+2i </a:t>
            </a:r>
            <a:r>
              <a:rPr lang="zh-CN" altLang="zh-CN" sz="2800" dirty="0">
                <a:latin typeface="宋体" panose="02010600030101010101" pitchFamily="2" charset="-122"/>
                <a:ea typeface="宋体" panose="02010600030101010101" pitchFamily="2" charset="-122"/>
              </a:rPr>
              <a:t>。</a:t>
            </a:r>
            <a:endParaRPr lang="zh-CN" altLang="zh-CN" sz="2800" dirty="0">
              <a:latin typeface="宋体" panose="02010600030101010101" pitchFamily="2" charset="-122"/>
              <a:ea typeface="宋体" panose="02010600030101010101" pitchFamily="2" charset="-122"/>
            </a:endParaRPr>
          </a:p>
          <a:p>
            <a:pPr marL="0" indent="0">
              <a:buNone/>
            </a:pPr>
            <a:endParaRPr lang="zh-CN" altLang="en-US" sz="28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07745" y="195845"/>
            <a:ext cx="9601200" cy="757056"/>
          </a:xfrm>
        </p:spPr>
        <p:txBody>
          <a:bodyPr/>
          <a:lstStyle/>
          <a:p>
            <a:r>
              <a:rPr lang="zh-CN" altLang="en-US" dirty="0">
                <a:latin typeface="宋体" panose="02010600030101010101" pitchFamily="2" charset="-122"/>
                <a:ea typeface="宋体" panose="02010600030101010101" pitchFamily="2" charset="-122"/>
              </a:rPr>
              <a:t>练习：</a:t>
            </a:r>
            <a:endParaRPr lang="zh-CN" altLang="en-US" dirty="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a:xfrm>
            <a:off x="500513" y="933650"/>
            <a:ext cx="11396312" cy="3809999"/>
          </a:xfrm>
        </p:spPr>
        <p:txBody>
          <a:bodyPr>
            <a:noAutofit/>
          </a:bodyPr>
          <a:lstStyle/>
          <a:p>
            <a:pPr marL="0" indent="0">
              <a:buNone/>
            </a:pPr>
            <a:r>
              <a:rPr lang="en-US" altLang="zh-CN" sz="2800" dirty="0">
                <a:latin typeface="宋体" panose="02010600030101010101" pitchFamily="2" charset="-122"/>
                <a:ea typeface="宋体" panose="02010600030101010101" pitchFamily="2" charset="-122"/>
              </a:rPr>
              <a:t>3</a:t>
            </a:r>
            <a:r>
              <a:rPr lang="zh-CN" altLang="en-US" sz="2800" dirty="0">
                <a:latin typeface="宋体" panose="02010600030101010101" pitchFamily="2" charset="-122"/>
                <a:ea typeface="宋体" panose="02010600030101010101" pitchFamily="2" charset="-122"/>
              </a:rPr>
              <a:t>、请定义一个</a:t>
            </a:r>
            <a:r>
              <a:rPr lang="en-US" altLang="zh-CN" sz="2800" dirty="0">
                <a:latin typeface="宋体" panose="02010600030101010101" pitchFamily="2" charset="-122"/>
                <a:ea typeface="宋体" panose="02010600030101010101" pitchFamily="2" charset="-122"/>
              </a:rPr>
              <a:t>Card</a:t>
            </a:r>
            <a:r>
              <a:rPr lang="zh-CN" altLang="en-US" sz="2800" dirty="0">
                <a:latin typeface="宋体" panose="02010600030101010101" pitchFamily="2" charset="-122"/>
                <a:ea typeface="宋体" panose="02010600030101010101" pitchFamily="2" charset="-122"/>
              </a:rPr>
              <a:t>类，表示扑克牌，该类包括下述成员：</a:t>
            </a:r>
            <a:endParaRPr lang="zh-CN" altLang="en-US" sz="2800" dirty="0">
              <a:latin typeface="宋体" panose="02010600030101010101" pitchFamily="2" charset="-122"/>
              <a:ea typeface="宋体" panose="02010600030101010101" pitchFamily="2" charset="-122"/>
            </a:endParaRPr>
          </a:p>
          <a:p>
            <a:pPr marL="0" indent="0">
              <a:buNone/>
            </a:pPr>
            <a:r>
              <a:rPr lang="en-US" altLang="zh-CN" sz="2800" dirty="0" err="1">
                <a:latin typeface="宋体" panose="02010600030101010101" pitchFamily="2" charset="-122"/>
                <a:ea typeface="宋体" panose="02010600030101010101" pitchFamily="2" charset="-122"/>
              </a:rPr>
              <a:t>i</a:t>
            </a:r>
            <a:r>
              <a:rPr lang="en-US" altLang="zh-CN" sz="2800" dirty="0">
                <a:latin typeface="宋体" panose="02010600030101010101" pitchFamily="2" charset="-122"/>
                <a:ea typeface="宋体" panose="02010600030101010101" pitchFamily="2" charset="-122"/>
              </a:rPr>
              <a:t>. </a:t>
            </a:r>
            <a:r>
              <a:rPr lang="zh-CN" altLang="en-US" sz="2800" dirty="0">
                <a:latin typeface="宋体" panose="02010600030101010101" pitchFamily="2" charset="-122"/>
                <a:ea typeface="宋体" panose="02010600030101010101" pitchFamily="2" charset="-122"/>
              </a:rPr>
              <a:t>有两个</a:t>
            </a:r>
            <a:r>
              <a:rPr lang="en-US" altLang="zh-CN" sz="2800" dirty="0">
                <a:latin typeface="宋体" panose="02010600030101010101" pitchFamily="2" charset="-122"/>
                <a:ea typeface="宋体" panose="02010600030101010101" pitchFamily="2" charset="-122"/>
              </a:rPr>
              <a:t>private</a:t>
            </a:r>
            <a:r>
              <a:rPr lang="zh-CN" altLang="en-US" sz="2800" dirty="0">
                <a:latin typeface="宋体" panose="02010600030101010101" pitchFamily="2" charset="-122"/>
                <a:ea typeface="宋体" panose="02010600030101010101" pitchFamily="2" charset="-122"/>
              </a:rPr>
              <a:t>访问权限的字符串变量</a:t>
            </a:r>
            <a:r>
              <a:rPr lang="en-US" altLang="zh-CN" sz="2800" dirty="0">
                <a:latin typeface="宋体" panose="02010600030101010101" pitchFamily="2" charset="-122"/>
                <a:ea typeface="宋体" panose="02010600030101010101" pitchFamily="2" charset="-122"/>
              </a:rPr>
              <a:t>face</a:t>
            </a:r>
            <a:r>
              <a:rPr lang="zh-CN" altLang="en-US" sz="2800" dirty="0">
                <a:latin typeface="宋体" panose="02010600030101010101" pitchFamily="2" charset="-122"/>
                <a:ea typeface="宋体" panose="02010600030101010101" pitchFamily="2" charset="-122"/>
              </a:rPr>
              <a:t>和</a:t>
            </a:r>
            <a:r>
              <a:rPr lang="en-US" altLang="zh-CN" sz="2800" dirty="0">
                <a:latin typeface="宋体" panose="02010600030101010101" pitchFamily="2" charset="-122"/>
                <a:ea typeface="宋体" panose="02010600030101010101" pitchFamily="2" charset="-122"/>
              </a:rPr>
              <a:t>suit</a:t>
            </a:r>
            <a:r>
              <a:rPr lang="zh-CN" altLang="en-US" sz="2800" dirty="0">
                <a:latin typeface="宋体" panose="02010600030101010101" pitchFamily="2" charset="-122"/>
                <a:ea typeface="宋体" panose="02010600030101010101" pitchFamily="2" charset="-122"/>
              </a:rPr>
              <a:t>，</a:t>
            </a:r>
            <a:r>
              <a:rPr lang="en-US" altLang="zh-CN" sz="2800" dirty="0">
                <a:latin typeface="宋体" panose="02010600030101010101" pitchFamily="2" charset="-122"/>
                <a:ea typeface="宋体" panose="02010600030101010101" pitchFamily="2" charset="-122"/>
              </a:rPr>
              <a:t>face</a:t>
            </a:r>
            <a:r>
              <a:rPr lang="zh-CN" altLang="en-US" sz="2800" dirty="0">
                <a:latin typeface="宋体" panose="02010600030101010101" pitchFamily="2" charset="-122"/>
                <a:ea typeface="宋体" panose="02010600030101010101" pitchFamily="2" charset="-122"/>
              </a:rPr>
              <a:t>描述一张牌的牌面值（如：</a:t>
            </a:r>
            <a:r>
              <a:rPr lang="en-US" altLang="zh-CN" sz="2800" dirty="0">
                <a:latin typeface="宋体" panose="02010600030101010101" pitchFamily="2" charset="-122"/>
                <a:ea typeface="宋体" panose="02010600030101010101" pitchFamily="2" charset="-122"/>
              </a:rPr>
              <a:t>A</a:t>
            </a:r>
            <a:r>
              <a:rPr lang="zh-CN" altLang="en-US" sz="2800" dirty="0">
                <a:latin typeface="宋体" panose="02010600030101010101" pitchFamily="2" charset="-122"/>
                <a:ea typeface="宋体" panose="02010600030101010101" pitchFamily="2" charset="-122"/>
              </a:rPr>
              <a:t>、</a:t>
            </a:r>
            <a:r>
              <a:rPr lang="en-US" altLang="zh-CN" sz="2800" dirty="0">
                <a:latin typeface="宋体" panose="02010600030101010101" pitchFamily="2" charset="-122"/>
                <a:ea typeface="宋体" panose="02010600030101010101" pitchFamily="2" charset="-122"/>
              </a:rPr>
              <a:t>K</a:t>
            </a:r>
            <a:r>
              <a:rPr lang="zh-CN" altLang="en-US" sz="2800" dirty="0">
                <a:latin typeface="宋体" panose="02010600030101010101" pitchFamily="2" charset="-122"/>
                <a:ea typeface="宋体" panose="02010600030101010101" pitchFamily="2" charset="-122"/>
              </a:rPr>
              <a:t>、</a:t>
            </a:r>
            <a:r>
              <a:rPr lang="en-US" altLang="zh-CN" sz="2800" dirty="0">
                <a:latin typeface="宋体" panose="02010600030101010101" pitchFamily="2" charset="-122"/>
                <a:ea typeface="宋体" panose="02010600030101010101" pitchFamily="2" charset="-122"/>
              </a:rPr>
              <a:t>Q</a:t>
            </a:r>
            <a:r>
              <a:rPr lang="zh-CN" altLang="en-US" sz="2800" dirty="0">
                <a:latin typeface="宋体" panose="02010600030101010101" pitchFamily="2" charset="-122"/>
                <a:ea typeface="宋体" panose="02010600030101010101" pitchFamily="2" charset="-122"/>
              </a:rPr>
              <a:t>、</a:t>
            </a:r>
            <a:r>
              <a:rPr lang="en-US" altLang="zh-CN" sz="2800" dirty="0">
                <a:latin typeface="宋体" panose="02010600030101010101" pitchFamily="2" charset="-122"/>
                <a:ea typeface="宋体" panose="02010600030101010101" pitchFamily="2" charset="-122"/>
              </a:rPr>
              <a:t>J</a:t>
            </a:r>
            <a:r>
              <a:rPr lang="zh-CN" altLang="en-US" sz="2800" dirty="0">
                <a:latin typeface="宋体" panose="02010600030101010101" pitchFamily="2" charset="-122"/>
                <a:ea typeface="宋体" panose="02010600030101010101" pitchFamily="2" charset="-122"/>
              </a:rPr>
              <a:t>、</a:t>
            </a:r>
            <a:r>
              <a:rPr lang="en-US" altLang="zh-CN" sz="2800" dirty="0">
                <a:latin typeface="宋体" panose="02010600030101010101" pitchFamily="2" charset="-122"/>
                <a:ea typeface="宋体" panose="02010600030101010101" pitchFamily="2" charset="-122"/>
              </a:rPr>
              <a:t>10</a:t>
            </a:r>
            <a:r>
              <a:rPr lang="zh-CN" altLang="en-US" sz="2800" dirty="0">
                <a:latin typeface="宋体" panose="02010600030101010101" pitchFamily="2" charset="-122"/>
                <a:ea typeface="宋体" panose="02010600030101010101" pitchFamily="2" charset="-122"/>
              </a:rPr>
              <a:t>、</a:t>
            </a:r>
            <a:r>
              <a:rPr lang="en-US" altLang="zh-CN" sz="2800" dirty="0">
                <a:latin typeface="宋体" panose="02010600030101010101" pitchFamily="2" charset="-122"/>
                <a:ea typeface="宋体" panose="02010600030101010101" pitchFamily="2" charset="-122"/>
              </a:rPr>
              <a:t>9</a:t>
            </a:r>
            <a:r>
              <a:rPr lang="zh-CN" altLang="en-US" sz="2800" dirty="0">
                <a:latin typeface="宋体" panose="02010600030101010101" pitchFamily="2" charset="-122"/>
                <a:ea typeface="宋体" panose="02010600030101010101" pitchFamily="2" charset="-122"/>
              </a:rPr>
              <a:t>、</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a:t>
            </a:r>
            <a:r>
              <a:rPr lang="en-US" altLang="zh-CN" sz="2800" dirty="0">
                <a:latin typeface="宋体" panose="02010600030101010101" pitchFamily="2" charset="-122"/>
                <a:ea typeface="宋体" panose="02010600030101010101" pitchFamily="2" charset="-122"/>
              </a:rPr>
              <a:t>3</a:t>
            </a:r>
            <a:r>
              <a:rPr lang="zh-CN" altLang="en-US" sz="2800" dirty="0">
                <a:latin typeface="宋体" panose="02010600030101010101" pitchFamily="2" charset="-122"/>
                <a:ea typeface="宋体" panose="02010600030101010101" pitchFamily="2" charset="-122"/>
              </a:rPr>
              <a:t>、</a:t>
            </a:r>
            <a:r>
              <a:rPr lang="en-US" altLang="zh-CN" sz="2800" dirty="0">
                <a:latin typeface="宋体" panose="02010600030101010101" pitchFamily="2" charset="-122"/>
                <a:ea typeface="宋体" panose="02010600030101010101" pitchFamily="2" charset="-122"/>
              </a:rPr>
              <a:t>2</a:t>
            </a:r>
            <a:r>
              <a:rPr lang="zh-CN" altLang="en-US" sz="2800" dirty="0">
                <a:latin typeface="宋体" panose="02010600030101010101" pitchFamily="2" charset="-122"/>
                <a:ea typeface="宋体" panose="02010600030101010101" pitchFamily="2" charset="-122"/>
              </a:rPr>
              <a:t>等），</a:t>
            </a:r>
            <a:r>
              <a:rPr lang="en-US" altLang="zh-CN" sz="2800" dirty="0">
                <a:latin typeface="宋体" panose="02010600030101010101" pitchFamily="2" charset="-122"/>
                <a:ea typeface="宋体" panose="02010600030101010101" pitchFamily="2" charset="-122"/>
              </a:rPr>
              <a:t>suit</a:t>
            </a:r>
            <a:r>
              <a:rPr lang="zh-CN" altLang="en-US" sz="2800" dirty="0">
                <a:latin typeface="宋体" panose="02010600030101010101" pitchFamily="2" charset="-122"/>
                <a:ea typeface="宋体" panose="02010600030101010101" pitchFamily="2" charset="-122"/>
              </a:rPr>
              <a:t>描述一张牌的花色（如：“黑桃”、“红桃”、“梅花”和“方块”）；</a:t>
            </a:r>
            <a:endParaRPr lang="zh-CN" altLang="en-US" sz="2800" dirty="0">
              <a:latin typeface="宋体" panose="02010600030101010101" pitchFamily="2" charset="-122"/>
              <a:ea typeface="宋体" panose="02010600030101010101" pitchFamily="2" charset="-122"/>
            </a:endParaRPr>
          </a:p>
          <a:p>
            <a:pPr marL="0" indent="0">
              <a:buNone/>
            </a:pPr>
            <a:r>
              <a:rPr lang="en-US" altLang="zh-CN" sz="2800" dirty="0">
                <a:latin typeface="宋体" panose="02010600030101010101" pitchFamily="2" charset="-122"/>
                <a:ea typeface="宋体" panose="02010600030101010101" pitchFamily="2" charset="-122"/>
              </a:rPr>
              <a:t>ii. </a:t>
            </a:r>
            <a:r>
              <a:rPr lang="zh-CN" altLang="en-US" sz="2800" dirty="0">
                <a:latin typeface="宋体" panose="02010600030101010101" pitchFamily="2" charset="-122"/>
                <a:ea typeface="宋体" panose="02010600030101010101" pitchFamily="2" charset="-122"/>
              </a:rPr>
              <a:t>有一个</a:t>
            </a:r>
            <a:r>
              <a:rPr lang="en-US" altLang="zh-CN" sz="2800" dirty="0">
                <a:latin typeface="宋体" panose="02010600030101010101" pitchFamily="2" charset="-122"/>
                <a:ea typeface="宋体" panose="02010600030101010101" pitchFamily="2" charset="-122"/>
              </a:rPr>
              <a:t>public</a:t>
            </a:r>
            <a:r>
              <a:rPr lang="zh-CN" altLang="en-US" sz="2800" dirty="0">
                <a:latin typeface="宋体" panose="02010600030101010101" pitchFamily="2" charset="-122"/>
                <a:ea typeface="宋体" panose="02010600030101010101" pitchFamily="2" charset="-122"/>
              </a:rPr>
              <a:t>访问权限的构造方法，为类中的两个变量赋值；</a:t>
            </a:r>
            <a:endParaRPr lang="zh-CN" altLang="en-US" sz="2800" dirty="0">
              <a:latin typeface="宋体" panose="02010600030101010101" pitchFamily="2" charset="-122"/>
              <a:ea typeface="宋体" panose="02010600030101010101" pitchFamily="2" charset="-122"/>
            </a:endParaRPr>
          </a:p>
          <a:p>
            <a:pPr marL="0" indent="0">
              <a:buNone/>
            </a:pPr>
            <a:r>
              <a:rPr lang="en-US" altLang="zh-CN" sz="2800" dirty="0">
                <a:latin typeface="宋体" panose="02010600030101010101" pitchFamily="2" charset="-122"/>
                <a:ea typeface="宋体" panose="02010600030101010101" pitchFamily="2" charset="-122"/>
              </a:rPr>
              <a:t>iii. </a:t>
            </a:r>
            <a:r>
              <a:rPr lang="zh-CN" altLang="en-US" sz="2800" dirty="0">
                <a:latin typeface="宋体" panose="02010600030101010101" pitchFamily="2" charset="-122"/>
                <a:ea typeface="宋体" panose="02010600030101010101" pitchFamily="2" charset="-122"/>
              </a:rPr>
              <a:t>有一个</a:t>
            </a:r>
            <a:r>
              <a:rPr lang="en-US" altLang="zh-CN" sz="2800" dirty="0">
                <a:latin typeface="宋体" panose="02010600030101010101" pitchFamily="2" charset="-122"/>
                <a:ea typeface="宋体" panose="02010600030101010101" pitchFamily="2" charset="-122"/>
              </a:rPr>
              <a:t>protected</a:t>
            </a:r>
            <a:r>
              <a:rPr lang="zh-CN" altLang="en-US" sz="2800" dirty="0">
                <a:latin typeface="宋体" panose="02010600030101010101" pitchFamily="2" charset="-122"/>
                <a:ea typeface="宋体" panose="02010600030101010101" pitchFamily="2" charset="-122"/>
              </a:rPr>
              <a:t>访问权限的方法</a:t>
            </a:r>
            <a:r>
              <a:rPr lang="en-US" altLang="zh-CN" sz="2800" dirty="0" err="1">
                <a:latin typeface="宋体" panose="02010600030101010101" pitchFamily="2" charset="-122"/>
                <a:ea typeface="宋体" panose="02010600030101010101" pitchFamily="2" charset="-122"/>
              </a:rPr>
              <a:t>getFace</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，得到扑克牌的牌面值</a:t>
            </a:r>
            <a:r>
              <a:rPr lang="en-US" altLang="zh-CN" sz="2800" dirty="0">
                <a:latin typeface="宋体" panose="02010600030101010101" pitchFamily="2" charset="-122"/>
                <a:ea typeface="宋体" panose="02010600030101010101" pitchFamily="2" charset="-122"/>
              </a:rPr>
              <a:t>; </a:t>
            </a:r>
            <a:endParaRPr lang="en-US" altLang="zh-CN" sz="2800" dirty="0">
              <a:latin typeface="宋体" panose="02010600030101010101" pitchFamily="2" charset="-122"/>
              <a:ea typeface="宋体" panose="02010600030101010101" pitchFamily="2" charset="-122"/>
            </a:endParaRPr>
          </a:p>
          <a:p>
            <a:pPr marL="0" indent="0">
              <a:buNone/>
            </a:pPr>
            <a:r>
              <a:rPr lang="en-US" altLang="zh-CN" sz="2800" dirty="0">
                <a:latin typeface="宋体" panose="02010600030101010101" pitchFamily="2" charset="-122"/>
                <a:ea typeface="宋体" panose="02010600030101010101" pitchFamily="2" charset="-122"/>
              </a:rPr>
              <a:t>iv. </a:t>
            </a:r>
            <a:r>
              <a:rPr lang="zh-CN" altLang="en-US" sz="2800" dirty="0">
                <a:latin typeface="宋体" panose="02010600030101010101" pitchFamily="2" charset="-122"/>
                <a:ea typeface="宋体" panose="02010600030101010101" pitchFamily="2" charset="-122"/>
              </a:rPr>
              <a:t>有一个</a:t>
            </a:r>
            <a:r>
              <a:rPr lang="en-US" altLang="zh-CN" sz="2800" dirty="0">
                <a:latin typeface="宋体" panose="02010600030101010101" pitchFamily="2" charset="-122"/>
                <a:ea typeface="宋体" panose="02010600030101010101" pitchFamily="2" charset="-122"/>
              </a:rPr>
              <a:t>protected</a:t>
            </a:r>
            <a:r>
              <a:rPr lang="zh-CN" altLang="en-US" sz="2800" dirty="0">
                <a:latin typeface="宋体" panose="02010600030101010101" pitchFamily="2" charset="-122"/>
                <a:ea typeface="宋体" panose="02010600030101010101" pitchFamily="2" charset="-122"/>
              </a:rPr>
              <a:t>访问权限的方法</a:t>
            </a:r>
            <a:r>
              <a:rPr lang="en-US" altLang="zh-CN" sz="2800" dirty="0" err="1">
                <a:latin typeface="宋体" panose="02010600030101010101" pitchFamily="2" charset="-122"/>
                <a:ea typeface="宋体" panose="02010600030101010101" pitchFamily="2" charset="-122"/>
              </a:rPr>
              <a:t>getSuit</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，得到扑克牌的花色</a:t>
            </a:r>
            <a:r>
              <a:rPr lang="en-US" altLang="zh-CN" sz="2800" dirty="0">
                <a:latin typeface="宋体" panose="02010600030101010101" pitchFamily="2" charset="-122"/>
                <a:ea typeface="宋体" panose="02010600030101010101" pitchFamily="2" charset="-122"/>
              </a:rPr>
              <a:t>; </a:t>
            </a:r>
            <a:endParaRPr lang="en-US" altLang="zh-CN" sz="2800" dirty="0">
              <a:latin typeface="宋体" panose="02010600030101010101" pitchFamily="2" charset="-122"/>
              <a:ea typeface="宋体" panose="02010600030101010101" pitchFamily="2" charset="-122"/>
            </a:endParaRPr>
          </a:p>
          <a:p>
            <a:pPr marL="0" indent="0">
              <a:buNone/>
            </a:pPr>
            <a:r>
              <a:rPr lang="en-US" altLang="zh-CN" sz="2800" dirty="0">
                <a:latin typeface="宋体" panose="02010600030101010101" pitchFamily="2" charset="-122"/>
                <a:ea typeface="宋体" panose="02010600030101010101" pitchFamily="2" charset="-122"/>
              </a:rPr>
              <a:t>v. </a:t>
            </a:r>
            <a:r>
              <a:rPr lang="zh-CN" altLang="en-US" sz="2800" dirty="0">
                <a:latin typeface="宋体" panose="02010600030101010101" pitchFamily="2" charset="-122"/>
                <a:ea typeface="宋体" panose="02010600030101010101" pitchFamily="2" charset="-122"/>
              </a:rPr>
              <a:t>有一个重写方法</a:t>
            </a:r>
            <a:r>
              <a:rPr lang="en-US" altLang="zh-CN" sz="2800" dirty="0" err="1">
                <a:latin typeface="宋体" panose="02010600030101010101" pitchFamily="2" charset="-122"/>
                <a:ea typeface="宋体" panose="02010600030101010101" pitchFamily="2" charset="-122"/>
              </a:rPr>
              <a:t>toString</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，返回表示扑克牌的花色和牌面值字符串（如“红桃</a:t>
            </a:r>
            <a:r>
              <a:rPr lang="en-US" altLang="zh-CN" sz="2800" dirty="0">
                <a:latin typeface="宋体" panose="02010600030101010101" pitchFamily="2" charset="-122"/>
                <a:ea typeface="宋体" panose="02010600030101010101" pitchFamily="2" charset="-122"/>
              </a:rPr>
              <a:t>A”</a:t>
            </a:r>
            <a:r>
              <a:rPr lang="zh-CN" altLang="en-US" sz="2800" dirty="0">
                <a:latin typeface="宋体" panose="02010600030101010101" pitchFamily="2" charset="-122"/>
                <a:ea typeface="宋体" panose="02010600030101010101" pitchFamily="2" charset="-122"/>
              </a:rPr>
              <a:t>、“梅花</a:t>
            </a:r>
            <a:r>
              <a:rPr lang="en-US" altLang="zh-CN" sz="2800" dirty="0">
                <a:latin typeface="宋体" panose="02010600030101010101" pitchFamily="2" charset="-122"/>
                <a:ea typeface="宋体" panose="02010600030101010101" pitchFamily="2" charset="-122"/>
              </a:rPr>
              <a:t>10”</a:t>
            </a:r>
            <a:r>
              <a:rPr lang="zh-CN" altLang="en-US" sz="2800" dirty="0">
                <a:latin typeface="宋体" panose="02010600030101010101" pitchFamily="2" charset="-122"/>
                <a:ea typeface="宋体" panose="02010600030101010101" pitchFamily="2" charset="-122"/>
              </a:rPr>
              <a:t>等）。</a:t>
            </a:r>
            <a:endParaRPr lang="zh-CN" altLang="en-US" sz="2800" dirty="0">
              <a:latin typeface="宋体" panose="02010600030101010101" pitchFamily="2" charset="-122"/>
              <a:ea typeface="宋体" panose="02010600030101010101" pitchFamily="2" charset="-122"/>
            </a:endParaRPr>
          </a:p>
          <a:p>
            <a:pPr marL="0" indent="0">
              <a:buNone/>
            </a:pPr>
            <a:r>
              <a:rPr lang="zh-CN" altLang="en-US" sz="2800" dirty="0">
                <a:latin typeface="宋体" panose="02010600030101010101" pitchFamily="2" charset="-122"/>
                <a:ea typeface="宋体" panose="02010600030101010101" pitchFamily="2" charset="-122"/>
              </a:rPr>
              <a:t>扩展：生成一副扑克牌   实现比大小函数</a:t>
            </a:r>
            <a:endParaRPr lang="zh-CN" altLang="en-US" sz="2800" dirty="0">
              <a:latin typeface="宋体" panose="02010600030101010101" pitchFamily="2" charset="-122"/>
              <a:ea typeface="宋体" panose="02010600030101010101" pitchFamily="2" charset="-122"/>
            </a:endParaRPr>
          </a:p>
          <a:p>
            <a:pPr marL="0" indent="0">
              <a:buNone/>
            </a:pPr>
            <a:endParaRPr lang="zh-CN" altLang="en-US" sz="28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内容占位符 2"/>
          <p:cNvSpPr>
            <a:spLocks noGrp="1"/>
          </p:cNvSpPr>
          <p:nvPr>
            <p:ph idx="4294967295"/>
          </p:nvPr>
        </p:nvSpPr>
        <p:spPr>
          <a:xfrm>
            <a:off x="863847" y="1387576"/>
            <a:ext cx="10638341" cy="5308753"/>
          </a:xfrm>
        </p:spPr>
        <p:txBody>
          <a:bodyPr>
            <a:normAutofit/>
          </a:bodyPr>
          <a:lstStyle/>
          <a:p>
            <a:pPr marL="0" indent="353060">
              <a:buFont typeface="Wingdings" panose="05000000000000000000" pitchFamily="2" charset="2"/>
              <a:buChar char="Ø"/>
            </a:pPr>
            <a:r>
              <a:rPr lang="zh-CN" altLang="en-US" sz="2800" b="1" dirty="0">
                <a:latin typeface="宋体" panose="02010600030101010101" pitchFamily="2" charset="-122"/>
                <a:ea typeface="宋体" panose="02010600030101010101" pitchFamily="2" charset="-122"/>
              </a:rPr>
              <a:t>用</a:t>
            </a:r>
            <a:r>
              <a:rPr lang="en-US" altLang="zh-CN" sz="2800" b="1" dirty="0">
                <a:solidFill>
                  <a:srgbClr val="FF0000"/>
                </a:solidFill>
                <a:latin typeface="宋体" panose="02010600030101010101" pitchFamily="2" charset="-122"/>
                <a:ea typeface="宋体" panose="02010600030101010101" pitchFamily="2" charset="-122"/>
              </a:rPr>
              <a:t>static</a:t>
            </a:r>
            <a:r>
              <a:rPr lang="zh-CN" altLang="en-US" sz="2800" b="1" dirty="0">
                <a:latin typeface="宋体" panose="02010600030101010101" pitchFamily="2" charset="-122"/>
                <a:ea typeface="宋体" panose="02010600030101010101" pitchFamily="2" charset="-122"/>
              </a:rPr>
              <a:t>声明的数据成员称为</a:t>
            </a:r>
            <a:r>
              <a:rPr lang="zh-CN" altLang="en-US" sz="2800" b="1" dirty="0">
                <a:solidFill>
                  <a:srgbClr val="FF0000"/>
                </a:solidFill>
                <a:latin typeface="宋体" panose="02010600030101010101" pitchFamily="2" charset="-122"/>
                <a:ea typeface="宋体" panose="02010600030101010101" pitchFamily="2" charset="-122"/>
              </a:rPr>
              <a:t>静态数据成员</a:t>
            </a:r>
            <a:r>
              <a:rPr lang="zh-CN" altLang="en-US" sz="2800" b="1" dirty="0">
                <a:latin typeface="宋体" panose="02010600030101010101" pitchFamily="2" charset="-122"/>
                <a:ea typeface="宋体" panose="02010600030101010101" pitchFamily="2" charset="-122"/>
              </a:rPr>
              <a:t>，也称</a:t>
            </a:r>
            <a:r>
              <a:rPr lang="zh-CN" altLang="en-US" sz="2800" b="1" dirty="0">
                <a:solidFill>
                  <a:srgbClr val="FF0000"/>
                </a:solidFill>
                <a:latin typeface="宋体" panose="02010600030101010101" pitchFamily="2" charset="-122"/>
                <a:ea typeface="宋体" panose="02010600030101010101" pitchFamily="2" charset="-122"/>
              </a:rPr>
              <a:t>类数据成员</a:t>
            </a:r>
            <a:r>
              <a:rPr lang="zh-CN" altLang="en-US" sz="2800" b="1" dirty="0">
                <a:latin typeface="宋体" panose="02010600030101010101" pitchFamily="2" charset="-122"/>
                <a:ea typeface="宋体" panose="02010600030101010101" pitchFamily="2" charset="-122"/>
              </a:rPr>
              <a:t>，无</a:t>
            </a:r>
            <a:r>
              <a:rPr lang="en-US" altLang="zh-CN" sz="2800" b="1" dirty="0">
                <a:latin typeface="宋体" panose="02010600030101010101" pitchFamily="2" charset="-122"/>
                <a:ea typeface="宋体" panose="02010600030101010101" pitchFamily="2" charset="-122"/>
              </a:rPr>
              <a:t>static</a:t>
            </a:r>
            <a:r>
              <a:rPr lang="zh-CN" altLang="en-US" sz="2800" b="1" dirty="0">
                <a:latin typeface="宋体" panose="02010600030101010101" pitchFamily="2" charset="-122"/>
                <a:ea typeface="宋体" panose="02010600030101010101" pitchFamily="2" charset="-122"/>
              </a:rPr>
              <a:t>说明的数据成员为</a:t>
            </a:r>
            <a:r>
              <a:rPr lang="zh-CN" altLang="en-US" sz="2800" b="1" dirty="0">
                <a:solidFill>
                  <a:srgbClr val="FF0000"/>
                </a:solidFill>
                <a:latin typeface="宋体" panose="02010600030101010101" pitchFamily="2" charset="-122"/>
                <a:ea typeface="宋体" panose="02010600030101010101" pitchFamily="2" charset="-122"/>
              </a:rPr>
              <a:t>实例数据成员</a:t>
            </a:r>
            <a:r>
              <a:rPr lang="zh-CN" altLang="en-US" sz="2800" b="1" dirty="0">
                <a:latin typeface="宋体" panose="02010600030101010101" pitchFamily="2" charset="-122"/>
                <a:ea typeface="宋体" panose="02010600030101010101" pitchFamily="2" charset="-122"/>
              </a:rPr>
              <a:t>。</a:t>
            </a:r>
            <a:endParaRPr lang="zh-CN" altLang="en-US" sz="2800" b="1" dirty="0">
              <a:latin typeface="宋体" panose="02010600030101010101" pitchFamily="2" charset="-122"/>
              <a:ea typeface="宋体" panose="02010600030101010101" pitchFamily="2" charset="-122"/>
            </a:endParaRPr>
          </a:p>
          <a:p>
            <a:pPr marL="0" indent="353060">
              <a:buFont typeface="Wingdings" panose="05000000000000000000" pitchFamily="2" charset="2"/>
              <a:buChar char="Ø"/>
            </a:pPr>
            <a:r>
              <a:rPr lang="zh-CN" altLang="en-US" sz="2800" b="1" dirty="0">
                <a:latin typeface="宋体" panose="02010600030101010101" pitchFamily="2" charset="-122"/>
                <a:ea typeface="宋体" panose="02010600030101010101" pitchFamily="2" charset="-122"/>
              </a:rPr>
              <a:t>区别：实例数据成员必须通过类的对象访问，每个对象都有这些数据成员的备份；而静态数据成员独立于该类中的任何对象，它在类的实例中只有一个备份，可以不通过类的对象而直接使用，它一直属于定义它的类，因此又称为类数据成员。类的所有对象都共享</a:t>
            </a:r>
            <a:r>
              <a:rPr lang="en-US" altLang="zh-CN" sz="2800" b="1" dirty="0">
                <a:latin typeface="宋体" panose="02010600030101010101" pitchFamily="2" charset="-122"/>
                <a:ea typeface="宋体" panose="02010600030101010101" pitchFamily="2" charset="-122"/>
              </a:rPr>
              <a:t>static</a:t>
            </a:r>
            <a:r>
              <a:rPr lang="zh-CN" altLang="en-US" sz="2800" b="1" dirty="0">
                <a:latin typeface="宋体" panose="02010600030101010101" pitchFamily="2" charset="-122"/>
                <a:ea typeface="宋体" panose="02010600030101010101" pitchFamily="2" charset="-122"/>
              </a:rPr>
              <a:t>数据成员。</a:t>
            </a:r>
            <a:endParaRPr lang="zh-CN" altLang="en-US" sz="2800" b="1" dirty="0">
              <a:latin typeface="宋体" panose="02010600030101010101" pitchFamily="2" charset="-122"/>
              <a:ea typeface="宋体" panose="02010600030101010101" pitchFamily="2" charset="-122"/>
            </a:endParaRPr>
          </a:p>
          <a:p>
            <a:pPr marL="0" indent="353060">
              <a:buFont typeface="Wingdings" panose="05000000000000000000" pitchFamily="2" charset="2"/>
              <a:buChar char="Ø"/>
            </a:pPr>
            <a:r>
              <a:rPr lang="zh-CN" altLang="en-US" sz="2800" b="1" dirty="0">
                <a:latin typeface="宋体" panose="02010600030101010101" pitchFamily="2" charset="-122"/>
                <a:ea typeface="宋体" panose="02010600030101010101" pitchFamily="2" charset="-122"/>
              </a:rPr>
              <a:t>静态数据成员的使用有两种格式：</a:t>
            </a:r>
            <a:endParaRPr lang="zh-CN" altLang="en-US" sz="2800" b="1" dirty="0">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  （</a:t>
            </a:r>
            <a:r>
              <a:rPr lang="en-US" altLang="zh-CN" sz="2800" b="1" dirty="0">
                <a:latin typeface="宋体" panose="02010600030101010101" pitchFamily="2" charset="-122"/>
                <a:ea typeface="宋体" panose="02010600030101010101" pitchFamily="2" charset="-122"/>
              </a:rPr>
              <a:t>1</a:t>
            </a:r>
            <a:r>
              <a:rPr lang="zh-CN" altLang="en-US" sz="2800" b="1" dirty="0">
                <a:latin typeface="宋体" panose="02010600030101010101" pitchFamily="2" charset="-122"/>
                <a:ea typeface="宋体" panose="02010600030101010101" pitchFamily="2" charset="-122"/>
              </a:rPr>
              <a:t>）类名</a:t>
            </a:r>
            <a:r>
              <a:rPr lang="en-US" altLang="zh-CN" sz="2800" b="1" dirty="0">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静态数据成员；</a:t>
            </a:r>
            <a:endParaRPr lang="zh-CN" altLang="en-US" sz="2800" b="1" dirty="0">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  （</a:t>
            </a:r>
            <a:r>
              <a:rPr lang="en-US" altLang="zh-CN" sz="2800" b="1" dirty="0">
                <a:latin typeface="宋体" panose="02010600030101010101" pitchFamily="2" charset="-122"/>
                <a:ea typeface="宋体" panose="02010600030101010101" pitchFamily="2" charset="-122"/>
              </a:rPr>
              <a:t>2</a:t>
            </a:r>
            <a:r>
              <a:rPr lang="zh-CN" altLang="en-US" sz="2800" b="1" dirty="0">
                <a:latin typeface="宋体" panose="02010600030101010101" pitchFamily="2" charset="-122"/>
                <a:ea typeface="宋体" panose="02010600030101010101" pitchFamily="2" charset="-122"/>
              </a:rPr>
              <a:t>）对象名</a:t>
            </a:r>
            <a:r>
              <a:rPr lang="en-US" altLang="zh-CN" sz="2800" b="1" dirty="0">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静态数据成员；</a:t>
            </a:r>
            <a:endParaRPr lang="zh-CN" altLang="en-US" sz="2800" b="1" dirty="0">
              <a:latin typeface="宋体" panose="02010600030101010101" pitchFamily="2" charset="-122"/>
              <a:ea typeface="宋体" panose="02010600030101010101" pitchFamily="2" charset="-122"/>
            </a:endParaRPr>
          </a:p>
          <a:p>
            <a:pPr marL="0" indent="353060">
              <a:buNone/>
            </a:pPr>
            <a:endParaRPr lang="zh-CN" altLang="en-US" sz="2800" b="1" dirty="0">
              <a:latin typeface="宋体" panose="02010600030101010101" pitchFamily="2" charset="-122"/>
              <a:ea typeface="宋体" panose="02010600030101010101" pitchFamily="2" charset="-122"/>
            </a:endParaRPr>
          </a:p>
        </p:txBody>
      </p:sp>
      <p:sp>
        <p:nvSpPr>
          <p:cNvPr id="43012"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8FCB7BB1-A6F1-4837-9AE4-7BF4E7F28FFC}"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342908" y="612451"/>
            <a:ext cx="8147318" cy="75052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dirty="0">
                <a:latin typeface="宋体" panose="02010600030101010101" pitchFamily="2" charset="-122"/>
                <a:ea typeface="宋体" panose="02010600030101010101" pitchFamily="2" charset="-122"/>
              </a:rPr>
              <a:t>4</a:t>
            </a:r>
            <a:r>
              <a:rPr lang="zh-CN" altLang="en-US" sz="2800" dirty="0">
                <a:latin typeface="宋体" panose="02010600030101010101" pitchFamily="2" charset="-122"/>
                <a:ea typeface="宋体" panose="02010600030101010101" pitchFamily="2" charset="-122"/>
              </a:rPr>
              <a:t>、静态成员</a:t>
            </a:r>
            <a:endParaRPr lang="zh-CN" altLang="en-US" sz="2800" dirty="0">
              <a:latin typeface="宋体" panose="02010600030101010101" pitchFamily="2" charset="-122"/>
              <a:ea typeface="宋体" panose="02010600030101010101" pitchFamily="2" charset="-122"/>
            </a:endParaRPr>
          </a:p>
        </p:txBody>
      </p:sp>
      <p:sp>
        <p:nvSpPr>
          <p:cNvPr id="6" name="标题 1"/>
          <p:cNvSpPr txBox="1"/>
          <p:nvPr/>
        </p:nvSpPr>
        <p:spPr>
          <a:xfrm>
            <a:off x="264135" y="161671"/>
            <a:ext cx="8147318" cy="60643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3.2 </a:t>
            </a:r>
            <a:r>
              <a:rPr lang="zh-CN" altLang="en-US" dirty="0">
                <a:latin typeface="宋体" panose="02010600030101010101" pitchFamily="2" charset="-122"/>
                <a:ea typeface="宋体" panose="02010600030101010101" pitchFamily="2" charset="-122"/>
              </a:rPr>
              <a:t>类与对象</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45059" name="内容占位符 2"/>
          <p:cNvSpPr>
            <a:spLocks noGrp="1"/>
          </p:cNvSpPr>
          <p:nvPr>
            <p:ph idx="4294967295"/>
          </p:nvPr>
        </p:nvSpPr>
        <p:spPr>
          <a:xfrm>
            <a:off x="1132385" y="1362975"/>
            <a:ext cx="8787673" cy="5495025"/>
          </a:xfrm>
        </p:spPr>
        <p:txBody>
          <a:bodyPr>
            <a:normAutofit fontScale="92500" lnSpcReduction="10000"/>
          </a:bodyPr>
          <a:lstStyle/>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例</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3.9】</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静态数据成员用法</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class Person8{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String name;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a:solidFill>
                  <a:srgbClr val="FF0000"/>
                </a:solidFill>
                <a:latin typeface="宋体" panose="02010600030101010101" pitchFamily="2" charset="-122"/>
                <a:ea typeface="宋体" panose="02010600030101010101" pitchFamily="2" charset="-122"/>
                <a:cs typeface="Times New Roman" panose="02020603050405020304" pitchFamily="18" charset="0"/>
              </a:rPr>
              <a:t>static </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String country ="</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中国</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public void show(){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System.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out.println</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(country + ":" + name);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class StaticPerson8{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public static void main(String[]</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args</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Person8 p = new Person8();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System.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out.println</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p.country</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System.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out.println</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(Person8.country);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45060"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50D2047A-A213-41F6-8212-6E9D6E1A275A}"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342908" y="612451"/>
            <a:ext cx="8147318" cy="75052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dirty="0">
                <a:latin typeface="宋体" panose="02010600030101010101" pitchFamily="2" charset="-122"/>
                <a:ea typeface="宋体" panose="02010600030101010101" pitchFamily="2" charset="-122"/>
              </a:rPr>
              <a:t>4</a:t>
            </a:r>
            <a:r>
              <a:rPr lang="zh-CN" altLang="en-US" sz="2800" dirty="0">
                <a:latin typeface="宋体" panose="02010600030101010101" pitchFamily="2" charset="-122"/>
                <a:ea typeface="宋体" panose="02010600030101010101" pitchFamily="2" charset="-122"/>
              </a:rPr>
              <a:t>、静态成员</a:t>
            </a:r>
            <a:endParaRPr lang="zh-CN" altLang="en-US" sz="2800" dirty="0">
              <a:latin typeface="宋体" panose="02010600030101010101" pitchFamily="2" charset="-122"/>
              <a:ea typeface="宋体" panose="02010600030101010101" pitchFamily="2" charset="-122"/>
            </a:endParaRPr>
          </a:p>
        </p:txBody>
      </p:sp>
      <p:sp>
        <p:nvSpPr>
          <p:cNvPr id="6" name="标题 1"/>
          <p:cNvSpPr txBox="1"/>
          <p:nvPr/>
        </p:nvSpPr>
        <p:spPr>
          <a:xfrm>
            <a:off x="244884" y="173502"/>
            <a:ext cx="8147318" cy="60643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3.2 </a:t>
            </a:r>
            <a:r>
              <a:rPr lang="zh-CN" altLang="en-US" dirty="0">
                <a:latin typeface="宋体" panose="02010600030101010101" pitchFamily="2" charset="-122"/>
                <a:ea typeface="宋体" panose="02010600030101010101" pitchFamily="2" charset="-122"/>
              </a:rPr>
              <a:t>类与对象</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46083" name="内容占位符 2"/>
          <p:cNvSpPr>
            <a:spLocks noGrp="1"/>
          </p:cNvSpPr>
          <p:nvPr>
            <p:ph idx="4294967295"/>
          </p:nvPr>
        </p:nvSpPr>
        <p:spPr>
          <a:xfrm>
            <a:off x="808654" y="1526507"/>
            <a:ext cx="10029393" cy="2939616"/>
          </a:xfrm>
        </p:spPr>
        <p:txBody>
          <a:bodyPr>
            <a:normAutofit/>
          </a:bodyPr>
          <a:lstStyle/>
          <a:p>
            <a:pPr marL="0" indent="353060">
              <a:buNone/>
            </a:pPr>
            <a:r>
              <a:rPr lang="zh-CN" altLang="en-US" sz="2800" b="1" dirty="0">
                <a:latin typeface="宋体" panose="02010600030101010101" pitchFamily="2" charset="-122"/>
                <a:ea typeface="宋体" panose="02010600030101010101" pitchFamily="2" charset="-122"/>
              </a:rPr>
              <a:t> 与静态数据成员相似，用</a:t>
            </a:r>
            <a:r>
              <a:rPr lang="en-US" altLang="zh-CN" sz="2800" b="1" dirty="0">
                <a:latin typeface="宋体" panose="02010600030101010101" pitchFamily="2" charset="-122"/>
                <a:ea typeface="宋体" panose="02010600030101010101" pitchFamily="2" charset="-122"/>
              </a:rPr>
              <a:t>static</a:t>
            </a:r>
            <a:r>
              <a:rPr lang="zh-CN" altLang="en-US" sz="2800" b="1" dirty="0">
                <a:latin typeface="宋体" panose="02010600030101010101" pitchFamily="2" charset="-122"/>
                <a:ea typeface="宋体" panose="02010600030101010101" pitchFamily="2" charset="-122"/>
              </a:rPr>
              <a:t>修饰符修饰的方法属于类的</a:t>
            </a:r>
            <a:r>
              <a:rPr lang="zh-CN" altLang="en-US" sz="2800" b="1" dirty="0">
                <a:solidFill>
                  <a:srgbClr val="FF0000"/>
                </a:solidFill>
                <a:latin typeface="宋体" panose="02010600030101010101" pitchFamily="2" charset="-122"/>
                <a:ea typeface="宋体" panose="02010600030101010101" pitchFamily="2" charset="-122"/>
              </a:rPr>
              <a:t>静态方法</a:t>
            </a:r>
            <a:r>
              <a:rPr lang="zh-CN" altLang="en-US" sz="2800" b="1" dirty="0">
                <a:latin typeface="宋体" panose="02010600030101010101" pitchFamily="2" charset="-122"/>
                <a:ea typeface="宋体" panose="02010600030101010101" pitchFamily="2" charset="-122"/>
              </a:rPr>
              <a:t>，又称为</a:t>
            </a:r>
            <a:r>
              <a:rPr lang="zh-CN" altLang="en-US" sz="2800" b="1" dirty="0">
                <a:solidFill>
                  <a:srgbClr val="FF0000"/>
                </a:solidFill>
                <a:latin typeface="宋体" panose="02010600030101010101" pitchFamily="2" charset="-122"/>
                <a:ea typeface="宋体" panose="02010600030101010101" pitchFamily="2" charset="-122"/>
              </a:rPr>
              <a:t>类方法</a:t>
            </a:r>
            <a:r>
              <a:rPr lang="zh-CN" altLang="en-US" sz="2800" b="1" dirty="0">
                <a:latin typeface="宋体" panose="02010600030101010101" pitchFamily="2" charset="-122"/>
                <a:ea typeface="宋体" panose="02010600030101010101" pitchFamily="2" charset="-122"/>
              </a:rPr>
              <a:t>。静态方法实质是属于整个类的方法，静态方法的使用也有两种格式：</a:t>
            </a:r>
            <a:endParaRPr lang="zh-CN" altLang="en-US" sz="2800" b="1" dirty="0">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  （</a:t>
            </a:r>
            <a:r>
              <a:rPr lang="en-US" altLang="zh-CN" sz="2800" b="1" dirty="0">
                <a:latin typeface="宋体" panose="02010600030101010101" pitchFamily="2" charset="-122"/>
                <a:ea typeface="宋体" panose="02010600030101010101" pitchFamily="2" charset="-122"/>
              </a:rPr>
              <a:t>1</a:t>
            </a:r>
            <a:r>
              <a:rPr lang="zh-CN" altLang="en-US" sz="2800" b="1" dirty="0">
                <a:latin typeface="宋体" panose="02010600030101010101" pitchFamily="2" charset="-122"/>
                <a:ea typeface="宋体" panose="02010600030101010101" pitchFamily="2" charset="-122"/>
              </a:rPr>
              <a:t>）类名</a:t>
            </a:r>
            <a:r>
              <a:rPr lang="en-US" altLang="zh-CN" sz="2800" b="1" dirty="0">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静态方法；</a:t>
            </a:r>
            <a:endParaRPr lang="zh-CN" altLang="en-US" sz="2800" b="1" dirty="0">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  （</a:t>
            </a:r>
            <a:r>
              <a:rPr lang="en-US" altLang="zh-CN" sz="2800" b="1" dirty="0">
                <a:latin typeface="宋体" panose="02010600030101010101" pitchFamily="2" charset="-122"/>
                <a:ea typeface="宋体" panose="02010600030101010101" pitchFamily="2" charset="-122"/>
              </a:rPr>
              <a:t>2</a:t>
            </a:r>
            <a:r>
              <a:rPr lang="zh-CN" altLang="en-US" sz="2800" b="1" dirty="0">
                <a:latin typeface="宋体" panose="02010600030101010101" pitchFamily="2" charset="-122"/>
                <a:ea typeface="宋体" panose="02010600030101010101" pitchFamily="2" charset="-122"/>
              </a:rPr>
              <a:t>）对象名</a:t>
            </a:r>
            <a:r>
              <a:rPr lang="en-US" altLang="zh-CN" sz="2800" b="1" dirty="0">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静态方法；</a:t>
            </a:r>
            <a:endParaRPr lang="en-US" altLang="zh-CN" sz="2800" b="1" dirty="0">
              <a:latin typeface="宋体" panose="02010600030101010101" pitchFamily="2" charset="-122"/>
              <a:ea typeface="宋体" panose="02010600030101010101" pitchFamily="2" charset="-122"/>
            </a:endParaRPr>
          </a:p>
          <a:p>
            <a:pPr marL="0" indent="353060">
              <a:buNone/>
            </a:pPr>
            <a:endParaRPr lang="zh-CN" altLang="en-US" sz="2800" b="1" dirty="0">
              <a:latin typeface="宋体" panose="02010600030101010101" pitchFamily="2" charset="-122"/>
              <a:ea typeface="宋体" panose="02010600030101010101" pitchFamily="2" charset="-122"/>
            </a:endParaRPr>
          </a:p>
          <a:p>
            <a:pPr marL="0" indent="353060">
              <a:buNone/>
            </a:pPr>
            <a:endParaRPr lang="zh-CN" altLang="en-US" sz="2800" b="1" dirty="0">
              <a:latin typeface="宋体" panose="02010600030101010101" pitchFamily="2" charset="-122"/>
              <a:ea typeface="宋体" panose="02010600030101010101" pitchFamily="2" charset="-122"/>
            </a:endParaRPr>
          </a:p>
        </p:txBody>
      </p:sp>
      <p:sp>
        <p:nvSpPr>
          <p:cNvPr id="46084"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BCD31F0F-773A-4A0D-93B5-28552645DDB6}"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342908" y="612451"/>
            <a:ext cx="8147318" cy="75052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dirty="0">
                <a:latin typeface="宋体" panose="02010600030101010101" pitchFamily="2" charset="-122"/>
                <a:ea typeface="宋体" panose="02010600030101010101" pitchFamily="2" charset="-122"/>
              </a:rPr>
              <a:t>4</a:t>
            </a:r>
            <a:r>
              <a:rPr lang="zh-CN" altLang="en-US" sz="2800" dirty="0">
                <a:latin typeface="宋体" panose="02010600030101010101" pitchFamily="2" charset="-122"/>
                <a:ea typeface="宋体" panose="02010600030101010101" pitchFamily="2" charset="-122"/>
              </a:rPr>
              <a:t>、静态成员</a:t>
            </a:r>
            <a:endParaRPr lang="zh-CN" altLang="en-US" sz="2800" dirty="0">
              <a:latin typeface="宋体" panose="02010600030101010101" pitchFamily="2" charset="-122"/>
              <a:ea typeface="宋体" panose="02010600030101010101" pitchFamily="2" charset="-122"/>
            </a:endParaRPr>
          </a:p>
        </p:txBody>
      </p:sp>
      <p:sp>
        <p:nvSpPr>
          <p:cNvPr id="6" name="标题 1"/>
          <p:cNvSpPr txBox="1"/>
          <p:nvPr/>
        </p:nvSpPr>
        <p:spPr>
          <a:xfrm>
            <a:off x="244884" y="173502"/>
            <a:ext cx="8147318" cy="60643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3.2 </a:t>
            </a:r>
            <a:r>
              <a:rPr lang="zh-CN" altLang="en-US" dirty="0">
                <a:latin typeface="宋体" panose="02010600030101010101" pitchFamily="2" charset="-122"/>
                <a:ea typeface="宋体" panose="02010600030101010101" pitchFamily="2" charset="-122"/>
              </a:rPr>
              <a:t>类与对象</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47107" name="内容占位符 2"/>
          <p:cNvSpPr>
            <a:spLocks noGrp="1"/>
          </p:cNvSpPr>
          <p:nvPr>
            <p:ph idx="4294967295"/>
          </p:nvPr>
        </p:nvSpPr>
        <p:spPr>
          <a:xfrm>
            <a:off x="748606" y="1503345"/>
            <a:ext cx="10936463" cy="3299661"/>
          </a:xfrm>
        </p:spPr>
        <p:txBody>
          <a:bodyPr>
            <a:normAutofit/>
          </a:bodyPr>
          <a:lstStyle/>
          <a:p>
            <a:pPr marL="0" indent="353060">
              <a:buNone/>
            </a:pPr>
            <a:r>
              <a:rPr lang="en-US" altLang="zh-CN" sz="2800" b="1" dirty="0">
                <a:latin typeface="宋体" panose="02010600030101010101" pitchFamily="2" charset="-122"/>
                <a:ea typeface="宋体" panose="02010600030101010101" pitchFamily="2" charset="-122"/>
              </a:rPr>
              <a:t>1</a:t>
            </a:r>
            <a:r>
              <a:rPr lang="zh-CN" altLang="en-US" sz="2800" b="1" dirty="0">
                <a:latin typeface="宋体" panose="02010600030101010101" pitchFamily="2" charset="-122"/>
                <a:ea typeface="宋体" panose="02010600030101010101" pitchFamily="2" charset="-122"/>
              </a:rPr>
              <a:t>）当类被加载到内存之后，类方法就获得了相应的入口地址；只有在创建类的对象之后，实例方法才会获得入口地址，它只能被对象所引用。</a:t>
            </a:r>
            <a:endParaRPr lang="en-US" altLang="zh-CN" sz="2800" b="1" dirty="0">
              <a:latin typeface="宋体" panose="02010600030101010101" pitchFamily="2" charset="-122"/>
              <a:ea typeface="宋体" panose="02010600030101010101" pitchFamily="2" charset="-122"/>
            </a:endParaRPr>
          </a:p>
          <a:p>
            <a:pPr marL="0" indent="353060">
              <a:buNone/>
            </a:pPr>
            <a:r>
              <a:rPr lang="en-US" altLang="zh-CN" sz="2800" b="1" dirty="0">
                <a:latin typeface="宋体" panose="02010600030101010101" pitchFamily="2" charset="-122"/>
                <a:ea typeface="宋体" panose="02010600030101010101" pitchFamily="2" charset="-122"/>
              </a:rPr>
              <a:t>2</a:t>
            </a:r>
            <a:r>
              <a:rPr lang="zh-CN" altLang="en-US" sz="2800" b="1" dirty="0">
                <a:latin typeface="宋体" panose="02010600030101010101" pitchFamily="2" charset="-122"/>
                <a:ea typeface="宋体" panose="02010600030101010101" pitchFamily="2" charset="-122"/>
              </a:rPr>
              <a:t>）在类方法里只能引用类中其他静态的成员（静态变量和静态方法），而不能直接访问类中的非静态成员。</a:t>
            </a:r>
            <a:endParaRPr lang="zh-CN" altLang="en-US" sz="2800" b="1" dirty="0">
              <a:latin typeface="宋体" panose="02010600030101010101" pitchFamily="2" charset="-122"/>
              <a:ea typeface="宋体" panose="02010600030101010101" pitchFamily="2" charset="-122"/>
            </a:endParaRPr>
          </a:p>
          <a:p>
            <a:pPr marL="0" indent="353060">
              <a:buNone/>
            </a:pPr>
            <a:r>
              <a:rPr lang="en-US" altLang="zh-CN" sz="2800" b="1" dirty="0">
                <a:latin typeface="宋体" panose="02010600030101010101" pitchFamily="2" charset="-122"/>
                <a:ea typeface="宋体" panose="02010600030101010101" pitchFamily="2" charset="-122"/>
              </a:rPr>
              <a:t>3</a:t>
            </a:r>
            <a:r>
              <a:rPr lang="zh-CN" altLang="en-US" sz="2800" b="1" dirty="0">
                <a:latin typeface="宋体" panose="02010600030101010101" pitchFamily="2" charset="-122"/>
                <a:ea typeface="宋体" panose="02010600030101010101" pitchFamily="2" charset="-122"/>
              </a:rPr>
              <a:t>）不能使用</a:t>
            </a:r>
            <a:r>
              <a:rPr lang="en-US" altLang="zh-CN" sz="2800" b="1" dirty="0">
                <a:latin typeface="宋体" panose="02010600030101010101" pitchFamily="2" charset="-122"/>
                <a:ea typeface="宋体" panose="02010600030101010101" pitchFamily="2" charset="-122"/>
              </a:rPr>
              <a:t>this</a:t>
            </a:r>
            <a:r>
              <a:rPr lang="zh-CN" altLang="en-US" sz="2800" b="1" dirty="0">
                <a:latin typeface="宋体" panose="02010600030101010101" pitchFamily="2" charset="-122"/>
                <a:ea typeface="宋体" panose="02010600030101010101" pitchFamily="2" charset="-122"/>
              </a:rPr>
              <a:t>和</a:t>
            </a:r>
            <a:r>
              <a:rPr lang="en-US" altLang="zh-CN" sz="2800" b="1" dirty="0">
                <a:latin typeface="宋体" panose="02010600030101010101" pitchFamily="2" charset="-122"/>
                <a:ea typeface="宋体" panose="02010600030101010101" pitchFamily="2" charset="-122"/>
              </a:rPr>
              <a:t>super</a:t>
            </a:r>
            <a:r>
              <a:rPr lang="zh-CN" altLang="en-US" sz="2800" b="1" dirty="0">
                <a:latin typeface="宋体" panose="02010600030101010101" pitchFamily="2" charset="-122"/>
                <a:ea typeface="宋体" panose="02010600030101010101" pitchFamily="2" charset="-122"/>
              </a:rPr>
              <a:t>关键字的任何形式引用类方法。</a:t>
            </a:r>
            <a:endParaRPr lang="zh-CN" altLang="en-US" sz="2800" b="1" dirty="0">
              <a:latin typeface="宋体" panose="02010600030101010101" pitchFamily="2" charset="-122"/>
              <a:ea typeface="宋体" panose="02010600030101010101" pitchFamily="2" charset="-122"/>
            </a:endParaRPr>
          </a:p>
        </p:txBody>
      </p:sp>
      <p:sp>
        <p:nvSpPr>
          <p:cNvPr id="47108"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DF002C2E-A242-45A1-9B6B-973AFA0F0242}"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342908" y="612451"/>
            <a:ext cx="8147318" cy="75052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dirty="0">
                <a:latin typeface="宋体" panose="02010600030101010101" pitchFamily="2" charset="-122"/>
                <a:ea typeface="宋体" panose="02010600030101010101" pitchFamily="2" charset="-122"/>
              </a:rPr>
              <a:t>4</a:t>
            </a:r>
            <a:r>
              <a:rPr lang="zh-CN" altLang="en-US" sz="2800" dirty="0">
                <a:latin typeface="宋体" panose="02010600030101010101" pitchFamily="2" charset="-122"/>
                <a:ea typeface="宋体" panose="02010600030101010101" pitchFamily="2" charset="-122"/>
              </a:rPr>
              <a:t>、静态成员</a:t>
            </a:r>
            <a:endParaRPr lang="zh-CN" altLang="en-US" sz="2800" dirty="0">
              <a:latin typeface="宋体" panose="02010600030101010101" pitchFamily="2" charset="-122"/>
              <a:ea typeface="宋体" panose="02010600030101010101" pitchFamily="2" charset="-122"/>
            </a:endParaRPr>
          </a:p>
        </p:txBody>
      </p:sp>
      <p:sp>
        <p:nvSpPr>
          <p:cNvPr id="6" name="标题 1"/>
          <p:cNvSpPr txBox="1"/>
          <p:nvPr/>
        </p:nvSpPr>
        <p:spPr>
          <a:xfrm>
            <a:off x="244884" y="173502"/>
            <a:ext cx="8147318" cy="60643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3.2 </a:t>
            </a:r>
            <a:r>
              <a:rPr lang="zh-CN" altLang="en-US" dirty="0">
                <a:latin typeface="宋体" panose="02010600030101010101" pitchFamily="2" charset="-122"/>
                <a:ea typeface="宋体" panose="02010600030101010101" pitchFamily="2" charset="-122"/>
              </a:rPr>
              <a:t>类与对象</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48131" name="内容占位符 2"/>
          <p:cNvSpPr>
            <a:spLocks noGrp="1"/>
          </p:cNvSpPr>
          <p:nvPr>
            <p:ph idx="4294967295"/>
          </p:nvPr>
        </p:nvSpPr>
        <p:spPr>
          <a:xfrm>
            <a:off x="908362" y="1438762"/>
            <a:ext cx="10574577" cy="5245736"/>
          </a:xfrm>
        </p:spPr>
        <p:txBody>
          <a:bodyPr>
            <a:normAutofit lnSpcReduction="10000"/>
          </a:bodyPr>
          <a:lstStyle/>
          <a:p>
            <a:pPr marL="0" indent="0">
              <a:lnSpc>
                <a:spcPct val="120000"/>
              </a:lnSpc>
              <a:spcBef>
                <a:spcPts val="0"/>
              </a:spcBef>
              <a:buNone/>
            </a:pPr>
            <a:r>
              <a:rPr lang="en-US" altLang="zh-CN" sz="1800" b="1" dirty="0">
                <a:latin typeface="宋体" panose="02010600030101010101" pitchFamily="2" charset="-122"/>
                <a:ea typeface="宋体" panose="02010600030101010101" pitchFamily="2" charset="-122"/>
                <a:cs typeface="Times New Roman" panose="02020603050405020304" pitchFamily="18" charset="0"/>
              </a:rPr>
              <a:t>【</a:t>
            </a:r>
            <a:r>
              <a:rPr lang="zh-CN" altLang="en-US" sz="1800" b="1" dirty="0">
                <a:latin typeface="宋体" panose="02010600030101010101" pitchFamily="2" charset="-122"/>
                <a:ea typeface="宋体" panose="02010600030101010101" pitchFamily="2" charset="-122"/>
                <a:cs typeface="Times New Roman" panose="02020603050405020304" pitchFamily="18" charset="0"/>
              </a:rPr>
              <a:t>例</a:t>
            </a:r>
            <a:r>
              <a:rPr lang="en-US" altLang="zh-CN" sz="1800" b="1" dirty="0">
                <a:latin typeface="宋体" panose="02010600030101010101" pitchFamily="2" charset="-122"/>
                <a:ea typeface="宋体" panose="02010600030101010101" pitchFamily="2" charset="-122"/>
                <a:cs typeface="Times New Roman" panose="02020603050405020304" pitchFamily="18" charset="0"/>
              </a:rPr>
              <a:t>3.10】</a:t>
            </a:r>
            <a:r>
              <a:rPr lang="zh-CN" altLang="en-US" sz="1800" b="1" dirty="0">
                <a:latin typeface="宋体" panose="02010600030101010101" pitchFamily="2" charset="-122"/>
                <a:ea typeface="宋体" panose="02010600030101010101" pitchFamily="2" charset="-122"/>
                <a:cs typeface="Times New Roman" panose="02020603050405020304" pitchFamily="18" charset="0"/>
              </a:rPr>
              <a:t>静态方法成员用法</a:t>
            </a:r>
            <a:endParaRPr lang="zh-CN" altLang="en-US" sz="1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1800" b="1" dirty="0">
                <a:latin typeface="宋体" panose="02010600030101010101" pitchFamily="2" charset="-122"/>
                <a:ea typeface="宋体" panose="02010600030101010101" pitchFamily="2" charset="-122"/>
                <a:cs typeface="Times New Roman" panose="02020603050405020304" pitchFamily="18" charset="0"/>
              </a:rPr>
              <a:t>class Person9{</a:t>
            </a:r>
            <a:endParaRPr lang="en-US" altLang="zh-CN" sz="1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1800" b="1" dirty="0">
                <a:latin typeface="宋体" panose="02010600030101010101" pitchFamily="2" charset="-122"/>
                <a:ea typeface="宋体" panose="02010600030101010101" pitchFamily="2" charset="-122"/>
                <a:cs typeface="Times New Roman" panose="02020603050405020304" pitchFamily="18" charset="0"/>
              </a:rPr>
              <a:t>    String name;</a:t>
            </a:r>
            <a:endParaRPr lang="en-US" altLang="zh-CN" sz="1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1800" b="1" dirty="0">
                <a:latin typeface="宋体" panose="02010600030101010101" pitchFamily="2" charset="-122"/>
                <a:ea typeface="宋体" panose="02010600030101010101" pitchFamily="2" charset="-122"/>
                <a:cs typeface="Times New Roman" panose="02020603050405020304" pitchFamily="18" charset="0"/>
              </a:rPr>
              <a:t>    static String country="</a:t>
            </a:r>
            <a:r>
              <a:rPr lang="zh-CN" altLang="en-US" sz="1800" b="1" dirty="0">
                <a:latin typeface="宋体" panose="02010600030101010101" pitchFamily="2" charset="-122"/>
                <a:ea typeface="宋体" panose="02010600030101010101" pitchFamily="2" charset="-122"/>
                <a:cs typeface="Times New Roman" panose="02020603050405020304" pitchFamily="18" charset="0"/>
              </a:rPr>
              <a:t>中国</a:t>
            </a:r>
            <a:r>
              <a:rPr lang="en-US" altLang="zh-CN" sz="180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1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1800" b="1" dirty="0">
                <a:latin typeface="宋体" panose="02010600030101010101" pitchFamily="2" charset="-122"/>
                <a:ea typeface="宋体" panose="02010600030101010101" pitchFamily="2" charset="-122"/>
                <a:cs typeface="Times New Roman" panose="02020603050405020304" pitchFamily="18" charset="0"/>
              </a:rPr>
              <a:t>    public void show(){</a:t>
            </a:r>
            <a:endParaRPr lang="en-US" altLang="zh-CN" sz="1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1800" b="1" dirty="0">
                <a:latin typeface="宋体" panose="02010600030101010101" pitchFamily="2" charset="-122"/>
                <a:ea typeface="宋体" panose="02010600030101010101" pitchFamily="2" charset="-122"/>
                <a:cs typeface="Times New Roman" panose="02020603050405020304" pitchFamily="18" charset="0"/>
              </a:rPr>
              <a:t>        </a:t>
            </a:r>
            <a:r>
              <a:rPr lang="en-US" altLang="zh-CN" sz="1800" b="1" dirty="0" err="1">
                <a:latin typeface="宋体" panose="02010600030101010101" pitchFamily="2" charset="-122"/>
                <a:ea typeface="宋体" panose="02010600030101010101" pitchFamily="2" charset="-122"/>
                <a:cs typeface="Times New Roman" panose="02020603050405020304" pitchFamily="18" charset="0"/>
              </a:rPr>
              <a:t>System.out.println</a:t>
            </a:r>
            <a:r>
              <a:rPr lang="en-US" altLang="zh-CN" sz="1800" b="1" dirty="0">
                <a:latin typeface="宋体" panose="02010600030101010101" pitchFamily="2" charset="-122"/>
                <a:ea typeface="宋体" panose="02010600030101010101" pitchFamily="2" charset="-122"/>
                <a:cs typeface="Times New Roman" panose="02020603050405020304" pitchFamily="18" charset="0"/>
              </a:rPr>
              <a:t>(country+":"+name);</a:t>
            </a:r>
            <a:endParaRPr lang="en-US" altLang="zh-CN" sz="1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180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1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1800" b="1" dirty="0">
                <a:latin typeface="宋体" panose="02010600030101010101" pitchFamily="2" charset="-122"/>
                <a:ea typeface="宋体" panose="02010600030101010101" pitchFamily="2" charset="-122"/>
                <a:cs typeface="Times New Roman" panose="02020603050405020304" pitchFamily="18" charset="0"/>
              </a:rPr>
              <a:t>    public </a:t>
            </a:r>
            <a:r>
              <a:rPr lang="en-US" altLang="zh-CN" sz="1800" b="1" dirty="0">
                <a:solidFill>
                  <a:srgbClr val="FF0000"/>
                </a:solidFill>
                <a:latin typeface="宋体" panose="02010600030101010101" pitchFamily="2" charset="-122"/>
                <a:ea typeface="宋体" panose="02010600030101010101" pitchFamily="2" charset="-122"/>
                <a:cs typeface="Times New Roman" panose="02020603050405020304" pitchFamily="18" charset="0"/>
              </a:rPr>
              <a:t>static </a:t>
            </a:r>
            <a:r>
              <a:rPr lang="en-US" altLang="zh-CN" sz="1800" b="1" dirty="0">
                <a:latin typeface="宋体" panose="02010600030101010101" pitchFamily="2" charset="-122"/>
                <a:ea typeface="宋体" panose="02010600030101010101" pitchFamily="2" charset="-122"/>
                <a:cs typeface="Times New Roman" panose="02020603050405020304" pitchFamily="18" charset="0"/>
              </a:rPr>
              <a:t>void </a:t>
            </a:r>
            <a:r>
              <a:rPr lang="en-US" altLang="zh-CN" sz="1800" b="1" dirty="0" err="1">
                <a:latin typeface="宋体" panose="02010600030101010101" pitchFamily="2" charset="-122"/>
                <a:ea typeface="宋体" panose="02010600030101010101" pitchFamily="2" charset="-122"/>
                <a:cs typeface="Times New Roman" panose="02020603050405020304" pitchFamily="18" charset="0"/>
              </a:rPr>
              <a:t>showCountry</a:t>
            </a:r>
            <a:r>
              <a:rPr lang="en-US" altLang="zh-CN" sz="180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1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1800" b="1" dirty="0">
                <a:latin typeface="宋体" panose="02010600030101010101" pitchFamily="2" charset="-122"/>
                <a:ea typeface="宋体" panose="02010600030101010101" pitchFamily="2" charset="-122"/>
                <a:cs typeface="Times New Roman" panose="02020603050405020304" pitchFamily="18" charset="0"/>
              </a:rPr>
              <a:t>        </a:t>
            </a:r>
            <a:r>
              <a:rPr lang="en-US" altLang="zh-CN" sz="1800" b="1" dirty="0" err="1">
                <a:latin typeface="宋体" panose="02010600030101010101" pitchFamily="2" charset="-122"/>
                <a:ea typeface="宋体" panose="02010600030101010101" pitchFamily="2" charset="-122"/>
                <a:cs typeface="Times New Roman" panose="02020603050405020304" pitchFamily="18" charset="0"/>
              </a:rPr>
              <a:t>System.out.println</a:t>
            </a:r>
            <a:r>
              <a:rPr lang="en-US" altLang="zh-CN" sz="1800" b="1" dirty="0">
                <a:latin typeface="宋体" panose="02010600030101010101" pitchFamily="2" charset="-122"/>
                <a:ea typeface="宋体" panose="02010600030101010101" pitchFamily="2" charset="-122"/>
                <a:cs typeface="Times New Roman" panose="02020603050405020304" pitchFamily="18" charset="0"/>
              </a:rPr>
              <a:t>(country);</a:t>
            </a:r>
            <a:endParaRPr lang="en-US" altLang="zh-CN" sz="1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180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1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180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1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1800" b="1" dirty="0">
                <a:latin typeface="宋体" panose="02010600030101010101" pitchFamily="2" charset="-122"/>
                <a:ea typeface="宋体" panose="02010600030101010101" pitchFamily="2" charset="-122"/>
                <a:cs typeface="Times New Roman" panose="02020603050405020304" pitchFamily="18" charset="0"/>
              </a:rPr>
              <a:t>class StaticPerson9{</a:t>
            </a:r>
            <a:endParaRPr lang="en-US" altLang="zh-CN" sz="1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1800" b="1" dirty="0">
                <a:latin typeface="宋体" panose="02010600030101010101" pitchFamily="2" charset="-122"/>
                <a:ea typeface="宋体" panose="02010600030101010101" pitchFamily="2" charset="-122"/>
                <a:cs typeface="Times New Roman" panose="02020603050405020304" pitchFamily="18" charset="0"/>
              </a:rPr>
              <a:t>    public static void main(String [] </a:t>
            </a:r>
            <a:r>
              <a:rPr lang="en-US" altLang="zh-CN" sz="1800" b="1" dirty="0" err="1">
                <a:latin typeface="宋体" panose="02010600030101010101" pitchFamily="2" charset="-122"/>
                <a:ea typeface="宋体" panose="02010600030101010101" pitchFamily="2" charset="-122"/>
                <a:cs typeface="Times New Roman" panose="02020603050405020304" pitchFamily="18" charset="0"/>
              </a:rPr>
              <a:t>args</a:t>
            </a:r>
            <a:r>
              <a:rPr lang="en-US" altLang="zh-CN" sz="180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1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1800" b="1" dirty="0">
                <a:latin typeface="宋体" panose="02010600030101010101" pitchFamily="2" charset="-122"/>
                <a:ea typeface="宋体" panose="02010600030101010101" pitchFamily="2" charset="-122"/>
                <a:cs typeface="Times New Roman" panose="02020603050405020304" pitchFamily="18" charset="0"/>
              </a:rPr>
              <a:t>        Person9.showCountry();</a:t>
            </a:r>
            <a:endParaRPr lang="en-US" altLang="zh-CN" sz="1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180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1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180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1800"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48132"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1F93B32B-51C5-40D2-9F51-B53AE73DBD2E}"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342908" y="612451"/>
            <a:ext cx="8147318" cy="75052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dirty="0">
                <a:latin typeface="宋体" panose="02010600030101010101" pitchFamily="2" charset="-122"/>
                <a:ea typeface="宋体" panose="02010600030101010101" pitchFamily="2" charset="-122"/>
              </a:rPr>
              <a:t>4</a:t>
            </a:r>
            <a:r>
              <a:rPr lang="zh-CN" altLang="en-US" sz="2800" dirty="0">
                <a:latin typeface="宋体" panose="02010600030101010101" pitchFamily="2" charset="-122"/>
                <a:ea typeface="宋体" panose="02010600030101010101" pitchFamily="2" charset="-122"/>
              </a:rPr>
              <a:t>、静态成员</a:t>
            </a:r>
            <a:endParaRPr lang="zh-CN" altLang="en-US" sz="2800" dirty="0">
              <a:latin typeface="宋体" panose="02010600030101010101" pitchFamily="2" charset="-122"/>
              <a:ea typeface="宋体" panose="02010600030101010101" pitchFamily="2" charset="-122"/>
            </a:endParaRPr>
          </a:p>
        </p:txBody>
      </p:sp>
      <p:sp>
        <p:nvSpPr>
          <p:cNvPr id="6" name="标题 1"/>
          <p:cNvSpPr txBox="1"/>
          <p:nvPr/>
        </p:nvSpPr>
        <p:spPr>
          <a:xfrm>
            <a:off x="244884" y="173502"/>
            <a:ext cx="8147318" cy="60643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3.2 </a:t>
            </a:r>
            <a:r>
              <a:rPr lang="zh-CN" altLang="en-US" dirty="0">
                <a:latin typeface="宋体" panose="02010600030101010101" pitchFamily="2" charset="-122"/>
                <a:ea typeface="宋体" panose="02010600030101010101" pitchFamily="2" charset="-122"/>
              </a:rPr>
              <a:t>类与对象</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9127" y="494228"/>
            <a:ext cx="9601200" cy="785932"/>
          </a:xfrm>
        </p:spPr>
        <p:txBody>
          <a:bodyPr/>
          <a:lstStyle/>
          <a:p>
            <a:r>
              <a:rPr lang="zh-CN" altLang="en-US" dirty="0"/>
              <a:t>练习：</a:t>
            </a:r>
            <a:endParaRPr lang="zh-CN" altLang="en-US" dirty="0"/>
          </a:p>
        </p:txBody>
      </p:sp>
      <p:sp>
        <p:nvSpPr>
          <p:cNvPr id="3" name="内容占位符 2"/>
          <p:cNvSpPr>
            <a:spLocks noGrp="1"/>
          </p:cNvSpPr>
          <p:nvPr>
            <p:ph idx="1"/>
          </p:nvPr>
        </p:nvSpPr>
        <p:spPr>
          <a:xfrm>
            <a:off x="429127" y="1524000"/>
            <a:ext cx="10745804" cy="3809999"/>
          </a:xfrm>
        </p:spPr>
        <p:txBody>
          <a:bodyPr>
            <a:normAutofit/>
          </a:bodyPr>
          <a:lstStyle/>
          <a:p>
            <a:pPr marL="0" indent="0">
              <a:buNone/>
            </a:pPr>
            <a:r>
              <a:rPr lang="en-US" altLang="zh-CN" sz="2800" dirty="0">
                <a:latin typeface="宋体" panose="02010600030101010101" pitchFamily="2" charset="-122"/>
                <a:ea typeface="宋体" panose="02010600030101010101" pitchFamily="2" charset="-122"/>
              </a:rPr>
              <a:t>1</a:t>
            </a:r>
            <a:r>
              <a:rPr lang="zh-CN" altLang="en-US" sz="2800" dirty="0">
                <a:latin typeface="宋体" panose="02010600030101010101" pitchFamily="2" charset="-122"/>
                <a:ea typeface="宋体" panose="02010600030101010101" pitchFamily="2" charset="-122"/>
              </a:rPr>
              <a:t>、编写一个</a:t>
            </a:r>
            <a:r>
              <a:rPr lang="en-US" altLang="zh-CN" sz="2800" dirty="0">
                <a:latin typeface="宋体" panose="02010600030101010101" pitchFamily="2" charset="-122"/>
                <a:ea typeface="宋体" panose="02010600030101010101" pitchFamily="2" charset="-122"/>
              </a:rPr>
              <a:t>Customer</a:t>
            </a:r>
            <a:r>
              <a:rPr lang="zh-CN" altLang="en-US" sz="2800" dirty="0">
                <a:latin typeface="宋体" panose="02010600030101010101" pitchFamily="2" charset="-122"/>
                <a:ea typeface="宋体" panose="02010600030101010101" pitchFamily="2" charset="-122"/>
              </a:rPr>
              <a:t>类，其中有一个名为“编号”的成员变量，要求每实例化一个对象，对象的编号从</a:t>
            </a:r>
            <a:r>
              <a:rPr lang="en-US" altLang="zh-CN" sz="2800" dirty="0">
                <a:latin typeface="宋体" panose="02010600030101010101" pitchFamily="2" charset="-122"/>
                <a:ea typeface="宋体" panose="02010600030101010101" pitchFamily="2" charset="-122"/>
              </a:rPr>
              <a:t>1</a:t>
            </a:r>
            <a:r>
              <a:rPr lang="zh-CN" altLang="en-US" sz="2800" dirty="0">
                <a:latin typeface="宋体" panose="02010600030101010101" pitchFamily="2" charset="-122"/>
                <a:ea typeface="宋体" panose="02010600030101010101" pitchFamily="2" charset="-122"/>
              </a:rPr>
              <a:t>自动递增。</a:t>
            </a:r>
            <a:endParaRPr lang="en-US" altLang="zh-CN" sz="2800" dirty="0">
              <a:latin typeface="宋体" panose="02010600030101010101" pitchFamily="2" charset="-122"/>
              <a:ea typeface="宋体" panose="02010600030101010101" pitchFamily="2" charset="-122"/>
            </a:endParaRPr>
          </a:p>
          <a:p>
            <a:pPr marL="0" indent="0">
              <a:buNone/>
            </a:pPr>
            <a:r>
              <a:rPr lang="en-US" altLang="zh-CN" sz="2800" dirty="0">
                <a:latin typeface="宋体" panose="02010600030101010101" pitchFamily="2" charset="-122"/>
                <a:ea typeface="宋体" panose="02010600030101010101" pitchFamily="2" charset="-122"/>
              </a:rPr>
              <a:t>2</a:t>
            </a:r>
            <a:r>
              <a:rPr lang="zh-CN" altLang="en-US" sz="2800" dirty="0">
                <a:latin typeface="宋体" panose="02010600030101010101" pitchFamily="2" charset="-122"/>
                <a:ea typeface="宋体" panose="02010600030101010101" pitchFamily="2" charset="-122"/>
              </a:rPr>
              <a:t>、某游戏是多人探险的游戏，在游戏的过程中有人会阵亡，当存活的人数不足</a:t>
            </a:r>
            <a:r>
              <a:rPr lang="en-US" altLang="zh-CN" sz="2800" dirty="0">
                <a:latin typeface="宋体" panose="02010600030101010101" pitchFamily="2" charset="-122"/>
                <a:ea typeface="宋体" panose="02010600030101010101" pitchFamily="2" charset="-122"/>
              </a:rPr>
              <a:t>3</a:t>
            </a:r>
            <a:r>
              <a:rPr lang="zh-CN" altLang="en-US" sz="2800" dirty="0">
                <a:latin typeface="宋体" panose="02010600030101010101" pitchFamily="2" charset="-122"/>
                <a:ea typeface="宋体" panose="02010600030101010101" pitchFamily="2" charset="-122"/>
              </a:rPr>
              <a:t>人时屏幕上要进行报警提示。</a:t>
            </a:r>
            <a:endParaRPr lang="zh-CN" altLang="en-US" sz="28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idx="4294967295"/>
          </p:nvPr>
        </p:nvSpPr>
        <p:spPr>
          <a:xfrm>
            <a:off x="235259" y="0"/>
            <a:ext cx="8147318" cy="914055"/>
          </a:xfrm>
        </p:spPr>
        <p:txBody>
          <a:bodyPr/>
          <a:lstStyle/>
          <a:p>
            <a:r>
              <a:rPr lang="en-US" altLang="zh-CN" dirty="0">
                <a:latin typeface="宋体" panose="02010600030101010101" pitchFamily="2" charset="-122"/>
                <a:ea typeface="宋体" panose="02010600030101010101" pitchFamily="2" charset="-122"/>
              </a:rPr>
              <a:t>3.3 </a:t>
            </a:r>
            <a:r>
              <a:rPr lang="zh-CN" altLang="en-US" dirty="0">
                <a:latin typeface="宋体" panose="02010600030101010101" pitchFamily="2" charset="-122"/>
                <a:ea typeface="宋体" panose="02010600030101010101" pitchFamily="2" charset="-122"/>
              </a:rPr>
              <a:t>包的创建与使用</a:t>
            </a:r>
            <a:endParaRPr lang="zh-CN" altLang="en-US" dirty="0">
              <a:latin typeface="宋体" panose="02010600030101010101" pitchFamily="2" charset="-122"/>
              <a:ea typeface="宋体" panose="02010600030101010101" pitchFamily="2" charset="-122"/>
            </a:endParaRPr>
          </a:p>
        </p:txBody>
      </p:sp>
      <p:sp>
        <p:nvSpPr>
          <p:cNvPr id="49155" name="内容占位符 2"/>
          <p:cNvSpPr>
            <a:spLocks noGrp="1"/>
          </p:cNvSpPr>
          <p:nvPr>
            <p:ph idx="4294967295"/>
          </p:nvPr>
        </p:nvSpPr>
        <p:spPr>
          <a:xfrm>
            <a:off x="668397" y="1016478"/>
            <a:ext cx="10901170" cy="4825044"/>
          </a:xfrm>
        </p:spPr>
        <p:txBody>
          <a:bodyPr/>
          <a:lstStyle/>
          <a:p>
            <a:pPr marL="0" indent="353060">
              <a:buNone/>
            </a:pPr>
            <a:r>
              <a:rPr lang="en-US" altLang="zh-CN" sz="2820" b="1" dirty="0">
                <a:latin typeface="宋体" panose="02010600030101010101" pitchFamily="2" charset="-122"/>
                <a:ea typeface="宋体" panose="02010600030101010101" pitchFamily="2" charset="-122"/>
              </a:rPr>
              <a:t>  Java</a:t>
            </a:r>
            <a:r>
              <a:rPr lang="zh-CN" altLang="en-US" sz="2820" b="1" dirty="0">
                <a:latin typeface="宋体" panose="02010600030101010101" pitchFamily="2" charset="-122"/>
                <a:ea typeface="宋体" panose="02010600030101010101" pitchFamily="2" charset="-122"/>
              </a:rPr>
              <a:t>中引入了包</a:t>
            </a:r>
            <a:r>
              <a:rPr lang="en-US" altLang="zh-CN" sz="2820" b="1" dirty="0">
                <a:latin typeface="宋体" panose="02010600030101010101" pitchFamily="2" charset="-122"/>
                <a:ea typeface="宋体" panose="02010600030101010101" pitchFamily="2" charset="-122"/>
              </a:rPr>
              <a:t>(package)</a:t>
            </a:r>
            <a:r>
              <a:rPr lang="zh-CN" altLang="en-US" sz="2820" b="1" dirty="0">
                <a:latin typeface="宋体" panose="02010600030101010101" pitchFamily="2" charset="-122"/>
                <a:ea typeface="宋体" panose="02010600030101010101" pitchFamily="2" charset="-122"/>
              </a:rPr>
              <a:t>的概念来管理类名空间。</a:t>
            </a:r>
            <a:r>
              <a:rPr lang="en-US" altLang="zh-CN" sz="2820" b="1" dirty="0">
                <a:latin typeface="宋体" panose="02010600030101010101" pitchFamily="2" charset="-122"/>
                <a:ea typeface="宋体" panose="02010600030101010101" pitchFamily="2" charset="-122"/>
              </a:rPr>
              <a:t>Java</a:t>
            </a:r>
            <a:r>
              <a:rPr lang="zh-CN" altLang="en-US" sz="2820" b="1" dirty="0">
                <a:latin typeface="宋体" panose="02010600030101010101" pitchFamily="2" charset="-122"/>
                <a:ea typeface="宋体" panose="02010600030101010101" pitchFamily="2" charset="-122"/>
              </a:rPr>
              <a:t>中的包把各种类组织在一起，使得程序功能清楚、结构分明。</a:t>
            </a:r>
            <a:endParaRPr lang="zh-CN" altLang="en-US" sz="2820" b="1" dirty="0">
              <a:latin typeface="宋体" panose="02010600030101010101" pitchFamily="2" charset="-122"/>
              <a:ea typeface="宋体" panose="02010600030101010101" pitchFamily="2" charset="-122"/>
            </a:endParaRPr>
          </a:p>
        </p:txBody>
      </p:sp>
      <p:sp>
        <p:nvSpPr>
          <p:cNvPr id="49156"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21DA4E7B-22D4-418D-8B74-1CA0DBB234F5}"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内容占位符 2"/>
          <p:cNvSpPr txBox="1"/>
          <p:nvPr/>
        </p:nvSpPr>
        <p:spPr>
          <a:xfrm>
            <a:off x="348673" y="1965054"/>
            <a:ext cx="11174930" cy="47208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685800" indent="-179705" algn="l" defTabSz="914400" rtl="0" eaLnBrk="1" latinLnBrk="0" hangingPunct="1">
              <a:lnSpc>
                <a:spcPct val="90000"/>
              </a:lnSpc>
              <a:spcBef>
                <a:spcPts val="800"/>
              </a:spcBef>
              <a:buClr>
                <a:schemeClr val="accent1">
                  <a:lumMod val="75000"/>
                </a:schemeClr>
              </a:buClr>
              <a:buSzPct val="100000"/>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anose="020B0604020202020204"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1143000" indent="-179705"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Char char="▪"/>
              <a:defRPr sz="1400" kern="1200">
                <a:solidFill>
                  <a:schemeClr val="tx1"/>
                </a:solidFill>
                <a:latin typeface="+mn-lt"/>
                <a:ea typeface="+mn-ea"/>
                <a:cs typeface="+mn-cs"/>
              </a:defRPr>
            </a:lvl6pPr>
            <a:lvl7pPr marL="1600200" indent="-179705"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Char char="▪"/>
              <a:defRPr sz="1400" kern="1200">
                <a:solidFill>
                  <a:schemeClr val="tx1"/>
                </a:solidFill>
                <a:latin typeface="+mn-lt"/>
                <a:ea typeface="+mn-ea"/>
                <a:cs typeface="+mn-cs"/>
              </a:defRPr>
            </a:lvl8pPr>
            <a:lvl9pPr marL="1877695" indent="0"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None/>
              <a:defRPr sz="1400" kern="1200">
                <a:solidFill>
                  <a:schemeClr val="tx1"/>
                </a:solidFill>
                <a:latin typeface="+mn-lt"/>
                <a:ea typeface="+mn-ea"/>
                <a:cs typeface="+mn-cs"/>
              </a:defRPr>
            </a:lvl9pPr>
          </a:lstStyle>
          <a:p>
            <a:pPr marL="0" indent="353060">
              <a:buFont typeface="Arial" panose="020B0604020202020204" pitchFamily="34" charset="0"/>
              <a:buNone/>
            </a:pPr>
            <a:r>
              <a:rPr lang="zh-CN" altLang="en-US" sz="2800" b="1" dirty="0">
                <a:latin typeface="宋体" panose="02010600030101010101" pitchFamily="2" charset="-122"/>
                <a:ea typeface="宋体" panose="02010600030101010101" pitchFamily="2" charset="-122"/>
              </a:rPr>
              <a:t>创建包的格式：</a:t>
            </a:r>
            <a:endParaRPr lang="zh-CN" altLang="en-US" sz="2800" b="1" dirty="0">
              <a:latin typeface="宋体" panose="02010600030101010101" pitchFamily="2" charset="-122"/>
              <a:ea typeface="宋体" panose="02010600030101010101" pitchFamily="2" charset="-122"/>
            </a:endParaRPr>
          </a:p>
          <a:p>
            <a:pPr marL="0" indent="353060">
              <a:buFont typeface="Arial" panose="020B0604020202020204" pitchFamily="34" charset="0"/>
              <a:buNone/>
            </a:pPr>
            <a:r>
              <a:rPr lang="en-US" altLang="zh-CN" sz="2800" b="1" dirty="0">
                <a:solidFill>
                  <a:srgbClr val="FF0000"/>
                </a:solidFill>
                <a:latin typeface="宋体" panose="02010600030101010101" pitchFamily="2" charset="-122"/>
                <a:ea typeface="宋体" panose="02010600030101010101" pitchFamily="2" charset="-122"/>
              </a:rPr>
              <a:t>package </a:t>
            </a:r>
            <a:r>
              <a:rPr lang="zh-CN" altLang="en-US" sz="2800" b="1" dirty="0">
                <a:solidFill>
                  <a:srgbClr val="FF0000"/>
                </a:solidFill>
                <a:latin typeface="宋体" panose="02010600030101010101" pitchFamily="2" charset="-122"/>
                <a:ea typeface="宋体" panose="02010600030101010101" pitchFamily="2" charset="-122"/>
              </a:rPr>
              <a:t>包名</a:t>
            </a:r>
            <a:r>
              <a:rPr lang="en-US" altLang="zh-CN" sz="2800" b="1" dirty="0">
                <a:solidFill>
                  <a:srgbClr val="FF0000"/>
                </a:solidFill>
                <a:latin typeface="宋体" panose="02010600030101010101" pitchFamily="2" charset="-122"/>
                <a:ea typeface="宋体" panose="02010600030101010101" pitchFamily="2" charset="-122"/>
              </a:rPr>
              <a:t>1[.</a:t>
            </a:r>
            <a:r>
              <a:rPr lang="zh-CN" altLang="en-US" sz="2800" b="1" dirty="0">
                <a:solidFill>
                  <a:srgbClr val="FF0000"/>
                </a:solidFill>
                <a:latin typeface="宋体" panose="02010600030101010101" pitchFamily="2" charset="-122"/>
                <a:ea typeface="宋体" panose="02010600030101010101" pitchFamily="2" charset="-122"/>
              </a:rPr>
              <a:t>包名</a:t>
            </a:r>
            <a:r>
              <a:rPr lang="en-US" altLang="zh-CN" sz="2800" b="1" dirty="0">
                <a:solidFill>
                  <a:srgbClr val="FF0000"/>
                </a:solidFill>
                <a:latin typeface="宋体" panose="02010600030101010101" pitchFamily="2" charset="-122"/>
                <a:ea typeface="宋体" panose="02010600030101010101" pitchFamily="2" charset="-122"/>
              </a:rPr>
              <a:t>2[.</a:t>
            </a:r>
            <a:r>
              <a:rPr lang="zh-CN" altLang="en-US" sz="2800" b="1" dirty="0">
                <a:solidFill>
                  <a:srgbClr val="FF0000"/>
                </a:solidFill>
                <a:latin typeface="宋体" panose="02010600030101010101" pitchFamily="2" charset="-122"/>
                <a:ea typeface="宋体" panose="02010600030101010101" pitchFamily="2" charset="-122"/>
              </a:rPr>
              <a:t>包名</a:t>
            </a:r>
            <a:r>
              <a:rPr lang="en-US" altLang="zh-CN" sz="2800" b="1" dirty="0">
                <a:solidFill>
                  <a:srgbClr val="FF0000"/>
                </a:solidFill>
                <a:latin typeface="宋体" panose="02010600030101010101" pitchFamily="2" charset="-122"/>
                <a:ea typeface="宋体" panose="02010600030101010101" pitchFamily="2" charset="-122"/>
              </a:rPr>
              <a:t>3]…]</a:t>
            </a:r>
            <a:r>
              <a:rPr lang="zh-CN" altLang="en-US" sz="2800" b="1" dirty="0">
                <a:solidFill>
                  <a:srgbClr val="FF0000"/>
                </a:solidFill>
                <a:latin typeface="宋体" panose="02010600030101010101" pitchFamily="2" charset="-122"/>
                <a:ea typeface="宋体" panose="02010600030101010101" pitchFamily="2" charset="-122"/>
              </a:rPr>
              <a:t>； </a:t>
            </a:r>
            <a:endParaRPr lang="zh-CN" altLang="en-US" sz="2800" b="1" dirty="0">
              <a:solidFill>
                <a:srgbClr val="FF0000"/>
              </a:solidFill>
              <a:latin typeface="宋体" panose="02010600030101010101" pitchFamily="2" charset="-122"/>
              <a:ea typeface="宋体" panose="02010600030101010101" pitchFamily="2" charset="-122"/>
            </a:endParaRPr>
          </a:p>
          <a:p>
            <a:pPr marL="0" indent="353060">
              <a:buFont typeface="Arial" panose="020B0604020202020204" pitchFamily="34" charset="0"/>
              <a:buNone/>
            </a:pPr>
            <a:r>
              <a:rPr lang="zh-CN" altLang="en-US" sz="2800" b="1" dirty="0">
                <a:latin typeface="宋体" panose="02010600030101010101" pitchFamily="2" charset="-122"/>
                <a:ea typeface="宋体" panose="02010600030101010101" pitchFamily="2" charset="-122"/>
              </a:rPr>
              <a:t>需要说明的是：</a:t>
            </a:r>
            <a:endParaRPr lang="zh-CN" altLang="en-US" sz="2800" b="1" dirty="0">
              <a:latin typeface="宋体" panose="02010600030101010101" pitchFamily="2" charset="-122"/>
              <a:ea typeface="宋体" panose="02010600030101010101" pitchFamily="2" charset="-122"/>
            </a:endParaRPr>
          </a:p>
          <a:p>
            <a:pPr marL="0" indent="353060">
              <a:buFont typeface="Arial" panose="020B0604020202020204" pitchFamily="34" charset="0"/>
              <a:buNone/>
            </a:pP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1</a:t>
            </a:r>
            <a:r>
              <a:rPr lang="zh-CN" altLang="en-US" sz="2800" b="1" dirty="0">
                <a:latin typeface="宋体" panose="02010600030101010101" pitchFamily="2" charset="-122"/>
                <a:ea typeface="宋体" panose="02010600030101010101" pitchFamily="2" charset="-122"/>
              </a:rPr>
              <a:t>）此语句必须放在整个源程序第一条语句的位置。</a:t>
            </a:r>
            <a:endParaRPr lang="zh-CN" altLang="en-US" sz="2800" b="1" dirty="0">
              <a:latin typeface="宋体" panose="02010600030101010101" pitchFamily="2" charset="-122"/>
              <a:ea typeface="宋体" panose="02010600030101010101" pitchFamily="2" charset="-122"/>
            </a:endParaRPr>
          </a:p>
          <a:p>
            <a:pPr marL="0" indent="353060">
              <a:buFont typeface="Arial" panose="020B0604020202020204" pitchFamily="34" charset="0"/>
              <a:buNone/>
            </a:pP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2</a:t>
            </a:r>
            <a:r>
              <a:rPr lang="zh-CN" altLang="en-US" sz="2800" b="1" dirty="0">
                <a:latin typeface="宋体" panose="02010600030101010101" pitchFamily="2" charset="-122"/>
                <a:ea typeface="宋体" panose="02010600030101010101" pitchFamily="2" charset="-122"/>
              </a:rPr>
              <a:t>）包名应符合标识符的命名规则，习惯上，包名使用小写字母书写。可以使用多级结构的包名，如</a:t>
            </a:r>
            <a:r>
              <a:rPr lang="en-US" altLang="zh-CN" sz="2800" b="1" dirty="0">
                <a:latin typeface="宋体" panose="02010600030101010101" pitchFamily="2" charset="-122"/>
                <a:ea typeface="宋体" panose="02010600030101010101" pitchFamily="2" charset="-122"/>
              </a:rPr>
              <a:t>Java</a:t>
            </a:r>
            <a:r>
              <a:rPr lang="zh-CN" altLang="en-US" sz="2800" b="1" dirty="0">
                <a:latin typeface="宋体" panose="02010600030101010101" pitchFamily="2" charset="-122"/>
                <a:ea typeface="宋体" panose="02010600030101010101" pitchFamily="2" charset="-122"/>
              </a:rPr>
              <a:t>提供的类包那样：</a:t>
            </a:r>
            <a:r>
              <a:rPr lang="en-US" altLang="zh-CN" sz="2800" b="1" dirty="0" err="1">
                <a:latin typeface="宋体" panose="02010600030101010101" pitchFamily="2" charset="-122"/>
                <a:ea typeface="宋体" panose="02010600030101010101" pitchFamily="2" charset="-122"/>
              </a:rPr>
              <a:t>java.util</a:t>
            </a:r>
            <a:r>
              <a:rPr lang="zh-CN" altLang="en-US" sz="2800" b="1" dirty="0">
                <a:latin typeface="宋体" panose="02010600030101010101" pitchFamily="2" charset="-122"/>
                <a:ea typeface="宋体" panose="02010600030101010101" pitchFamily="2" charset="-122"/>
              </a:rPr>
              <a:t>、</a:t>
            </a:r>
            <a:r>
              <a:rPr lang="en-US" altLang="zh-CN" sz="2800" b="1" dirty="0" err="1">
                <a:latin typeface="宋体" panose="02010600030101010101" pitchFamily="2" charset="-122"/>
                <a:ea typeface="宋体" panose="02010600030101010101" pitchFamily="2" charset="-122"/>
              </a:rPr>
              <a:t>java.sql</a:t>
            </a:r>
            <a:r>
              <a:rPr lang="zh-CN" altLang="en-US" sz="2800" b="1" dirty="0">
                <a:latin typeface="宋体" panose="02010600030101010101" pitchFamily="2" charset="-122"/>
                <a:ea typeface="宋体" panose="02010600030101010101" pitchFamily="2" charset="-122"/>
              </a:rPr>
              <a:t>等等。</a:t>
            </a:r>
            <a:endParaRPr lang="zh-CN" altLang="en-US" sz="2800" b="1" dirty="0">
              <a:latin typeface="宋体" panose="02010600030101010101" pitchFamily="2" charset="-122"/>
              <a:ea typeface="宋体" panose="02010600030101010101" pitchFamily="2" charset="-122"/>
            </a:endParaRPr>
          </a:p>
          <a:p>
            <a:pPr marL="0" indent="353060">
              <a:buFont typeface="Arial" panose="020B0604020202020204" pitchFamily="34" charset="0"/>
              <a:buNone/>
            </a:pPr>
            <a:r>
              <a:rPr lang="zh-CN" altLang="en-US" sz="2800" b="1" dirty="0">
                <a:latin typeface="宋体" panose="02010600030101010101" pitchFamily="2" charset="-122"/>
                <a:ea typeface="宋体" panose="02010600030101010101" pitchFamily="2" charset="-122"/>
              </a:rPr>
              <a:t>创建包就是在当前文件夹下创建一个以包名命名的子文件夹并存放类的</a:t>
            </a:r>
            <a:r>
              <a:rPr lang="zh-CN" altLang="en-US" sz="2800" b="1" dirty="0">
                <a:solidFill>
                  <a:srgbClr val="FF0000"/>
                </a:solidFill>
                <a:latin typeface="宋体" panose="02010600030101010101" pitchFamily="2" charset="-122"/>
                <a:ea typeface="宋体" panose="02010600030101010101" pitchFamily="2" charset="-122"/>
              </a:rPr>
              <a:t>字节码</a:t>
            </a:r>
            <a:r>
              <a:rPr lang="zh-CN" altLang="en-US" sz="2800" b="1" dirty="0">
                <a:latin typeface="宋体" panose="02010600030101010101" pitchFamily="2" charset="-122"/>
                <a:ea typeface="宋体" panose="02010600030101010101" pitchFamily="2" charset="-122"/>
              </a:rPr>
              <a:t>文件。 </a:t>
            </a:r>
            <a:endParaRPr lang="zh-CN" altLang="en-US" sz="2800" b="1"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内容占位符 2"/>
          <p:cNvSpPr>
            <a:spLocks noGrp="1"/>
          </p:cNvSpPr>
          <p:nvPr>
            <p:ph idx="4294967295"/>
          </p:nvPr>
        </p:nvSpPr>
        <p:spPr>
          <a:xfrm>
            <a:off x="573299" y="1220462"/>
            <a:ext cx="11045401" cy="5465400"/>
          </a:xfrm>
        </p:spPr>
        <p:txBody>
          <a:bodyPr>
            <a:normAutofit/>
          </a:bodyPr>
          <a:lstStyle/>
          <a:p>
            <a:pPr marL="0" indent="353060">
              <a:buNone/>
            </a:pP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1</a:t>
            </a:r>
            <a:r>
              <a:rPr lang="zh-CN" altLang="en-US" sz="2800" b="1" dirty="0">
                <a:latin typeface="宋体" panose="02010600030101010101" pitchFamily="2" charset="-122"/>
                <a:ea typeface="宋体" panose="02010600030101010101" pitchFamily="2" charset="-122"/>
              </a:rPr>
              <a:t>）使用</a:t>
            </a:r>
            <a:endParaRPr lang="en-US" altLang="zh-CN" sz="2800" b="1" dirty="0">
              <a:latin typeface="宋体" panose="02010600030101010101" pitchFamily="2" charset="-122"/>
              <a:ea typeface="宋体" panose="02010600030101010101" pitchFamily="2" charset="-122"/>
            </a:endParaRPr>
          </a:p>
          <a:p>
            <a:pPr marL="0" indent="353060">
              <a:buNone/>
            </a:pPr>
            <a:r>
              <a:rPr lang="en-US" altLang="zh-CN" sz="2800" b="1" dirty="0">
                <a:latin typeface="宋体" panose="02010600030101010101" pitchFamily="2" charset="-122"/>
                <a:ea typeface="宋体" panose="02010600030101010101" pitchFamily="2" charset="-122"/>
              </a:rPr>
              <a:t>    import</a:t>
            </a:r>
            <a:r>
              <a:rPr lang="zh-CN" altLang="en-US" sz="2800" b="1" dirty="0">
                <a:latin typeface="宋体" panose="02010600030101010101" pitchFamily="2" charset="-122"/>
                <a:ea typeface="宋体" panose="02010600030101010101" pitchFamily="2" charset="-122"/>
              </a:rPr>
              <a:t>语句导入类，一般格式如下：</a:t>
            </a:r>
            <a:endParaRPr lang="en-US" altLang="zh-CN" sz="2800" b="1" dirty="0">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    </a:t>
            </a:r>
            <a:r>
              <a:rPr lang="en-US" altLang="zh-CN" sz="2800" b="1" dirty="0">
                <a:solidFill>
                  <a:srgbClr val="FF0000"/>
                </a:solidFill>
                <a:latin typeface="宋体" panose="02010600030101010101" pitchFamily="2" charset="-122"/>
                <a:ea typeface="宋体" panose="02010600030101010101" pitchFamily="2" charset="-122"/>
              </a:rPr>
              <a:t>import </a:t>
            </a:r>
            <a:r>
              <a:rPr lang="zh-CN" altLang="en-US" sz="2800" b="1" dirty="0">
                <a:solidFill>
                  <a:srgbClr val="FF0000"/>
                </a:solidFill>
                <a:latin typeface="宋体" panose="02010600030101010101" pitchFamily="2" charset="-122"/>
                <a:ea typeface="宋体" panose="02010600030101010101" pitchFamily="2" charset="-122"/>
              </a:rPr>
              <a:t>包名</a:t>
            </a:r>
            <a:r>
              <a:rPr lang="en-US" altLang="zh-CN" sz="2800" b="1" dirty="0">
                <a:solidFill>
                  <a:srgbClr val="FF0000"/>
                </a:solidFill>
                <a:latin typeface="宋体" panose="02010600030101010101" pitchFamily="2" charset="-122"/>
                <a:ea typeface="宋体" panose="02010600030101010101" pitchFamily="2" charset="-122"/>
              </a:rPr>
              <a:t>.*; </a:t>
            </a:r>
            <a:r>
              <a:rPr lang="en-US" altLang="zh-CN" sz="2800" b="1" dirty="0">
                <a:latin typeface="宋体" panose="02010600030101010101" pitchFamily="2" charset="-122"/>
                <a:ea typeface="宋体" panose="02010600030101010101" pitchFamily="2" charset="-122"/>
              </a:rPr>
              <a:t>   //</a:t>
            </a:r>
            <a:r>
              <a:rPr lang="zh-CN" altLang="en-US" sz="2800" b="1" dirty="0">
                <a:latin typeface="宋体" panose="02010600030101010101" pitchFamily="2" charset="-122"/>
                <a:ea typeface="宋体" panose="02010600030101010101" pitchFamily="2" charset="-122"/>
              </a:rPr>
              <a:t>可以使用包中所有的类</a:t>
            </a:r>
            <a:endParaRPr lang="zh-CN" altLang="en-US" sz="2800" b="1" dirty="0">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    </a:t>
            </a:r>
            <a:r>
              <a:rPr lang="en-US" altLang="zh-CN" sz="2800" b="1" dirty="0">
                <a:solidFill>
                  <a:srgbClr val="FF0000"/>
                </a:solidFill>
                <a:latin typeface="宋体" panose="02010600030101010101" pitchFamily="2" charset="-122"/>
                <a:ea typeface="宋体" panose="02010600030101010101" pitchFamily="2" charset="-122"/>
              </a:rPr>
              <a:t>import </a:t>
            </a:r>
            <a:r>
              <a:rPr lang="zh-CN" altLang="en-US" sz="2800" b="1" dirty="0">
                <a:solidFill>
                  <a:srgbClr val="FF0000"/>
                </a:solidFill>
                <a:latin typeface="宋体" panose="02010600030101010101" pitchFamily="2" charset="-122"/>
                <a:ea typeface="宋体" panose="02010600030101010101" pitchFamily="2" charset="-122"/>
              </a:rPr>
              <a:t>包名</a:t>
            </a:r>
            <a:r>
              <a:rPr lang="en-US" altLang="zh-CN" sz="2800" b="1" dirty="0">
                <a:solidFill>
                  <a:srgbClr val="FF0000"/>
                </a:solidFill>
                <a:latin typeface="宋体" panose="02010600030101010101" pitchFamily="2" charset="-122"/>
                <a:ea typeface="宋体" panose="02010600030101010101" pitchFamily="2" charset="-122"/>
              </a:rPr>
              <a:t>.</a:t>
            </a:r>
            <a:r>
              <a:rPr lang="zh-CN" altLang="en-US" sz="2800" b="1" dirty="0">
                <a:solidFill>
                  <a:srgbClr val="FF0000"/>
                </a:solidFill>
                <a:latin typeface="宋体" panose="02010600030101010101" pitchFamily="2" charset="-122"/>
                <a:ea typeface="宋体" panose="02010600030101010101" pitchFamily="2" charset="-122"/>
              </a:rPr>
              <a:t>类名</a:t>
            </a:r>
            <a:r>
              <a:rPr lang="en-US" altLang="zh-CN" sz="2800" b="1" dirty="0">
                <a:solidFill>
                  <a:srgbClr val="FF0000"/>
                </a:solidFill>
                <a:latin typeface="宋体" panose="02010600030101010101" pitchFamily="2" charset="-122"/>
                <a:ea typeface="宋体" panose="02010600030101010101" pitchFamily="2" charset="-122"/>
              </a:rPr>
              <a:t>;  </a:t>
            </a:r>
            <a:r>
              <a:rPr lang="en-US" altLang="zh-CN" sz="2800" b="1" dirty="0">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只装入包中类名指定的类</a:t>
            </a:r>
            <a:endParaRPr lang="zh-CN" altLang="en-US" sz="2800" b="1" dirty="0">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2</a:t>
            </a:r>
            <a:r>
              <a:rPr lang="zh-CN" altLang="en-US" sz="2800" b="1" dirty="0">
                <a:latin typeface="宋体" panose="02010600030101010101" pitchFamily="2" charset="-122"/>
                <a:ea typeface="宋体" panose="02010600030101010101" pitchFamily="2" charset="-122"/>
              </a:rPr>
              <a:t>）在程序中直接引用类包中所需要的类。其引用的一般格式是：</a:t>
            </a:r>
            <a:endParaRPr lang="zh-CN" altLang="en-US" sz="2800" b="1" dirty="0">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     </a:t>
            </a:r>
            <a:r>
              <a:rPr lang="zh-CN" altLang="en-US" sz="2800" b="1" dirty="0">
                <a:solidFill>
                  <a:srgbClr val="FF0000"/>
                </a:solidFill>
                <a:latin typeface="宋体" panose="02010600030101010101" pitchFamily="2" charset="-122"/>
                <a:ea typeface="宋体" panose="02010600030101010101" pitchFamily="2" charset="-122"/>
              </a:rPr>
              <a:t>包名</a:t>
            </a:r>
            <a:r>
              <a:rPr lang="en-US" altLang="zh-CN" sz="2800" b="1" dirty="0">
                <a:solidFill>
                  <a:srgbClr val="FF0000"/>
                </a:solidFill>
                <a:latin typeface="宋体" panose="02010600030101010101" pitchFamily="2" charset="-122"/>
                <a:ea typeface="宋体" panose="02010600030101010101" pitchFamily="2" charset="-122"/>
              </a:rPr>
              <a:t>.</a:t>
            </a:r>
            <a:r>
              <a:rPr lang="zh-CN" altLang="en-US" sz="2800" b="1" dirty="0">
                <a:solidFill>
                  <a:srgbClr val="FF0000"/>
                </a:solidFill>
                <a:latin typeface="宋体" panose="02010600030101010101" pitchFamily="2" charset="-122"/>
                <a:ea typeface="宋体" panose="02010600030101010101" pitchFamily="2" charset="-122"/>
              </a:rPr>
              <a:t>类名</a:t>
            </a:r>
            <a:endParaRPr lang="zh-CN" altLang="en-US" sz="2800" b="1" dirty="0">
              <a:solidFill>
                <a:srgbClr val="FF0000"/>
              </a:solidFill>
              <a:latin typeface="宋体" panose="02010600030101010101" pitchFamily="2" charset="-122"/>
              <a:ea typeface="宋体" panose="02010600030101010101" pitchFamily="2" charset="-122"/>
            </a:endParaRPr>
          </a:p>
          <a:p>
            <a:pPr marL="0" indent="353060">
              <a:buNone/>
            </a:pPr>
            <a:r>
              <a:rPr lang="en-US" altLang="zh-CN" sz="2800" b="1" dirty="0" err="1">
                <a:latin typeface="宋体" panose="02010600030101010101" pitchFamily="2" charset="-122"/>
                <a:ea typeface="宋体" panose="02010600030101010101" pitchFamily="2" charset="-122"/>
              </a:rPr>
              <a:t>java.util.Date</a:t>
            </a:r>
            <a:r>
              <a:rPr lang="en-US" altLang="zh-CN" sz="2800" b="1" dirty="0">
                <a:latin typeface="宋体" panose="02010600030101010101" pitchFamily="2" charset="-122"/>
                <a:ea typeface="宋体" panose="02010600030101010101" pitchFamily="2" charset="-122"/>
              </a:rPr>
              <a:t>  date1 = new  </a:t>
            </a:r>
            <a:r>
              <a:rPr lang="en-US" altLang="zh-CN" sz="2800" b="1" dirty="0" err="1">
                <a:latin typeface="宋体" panose="02010600030101010101" pitchFamily="2" charset="-122"/>
                <a:ea typeface="宋体" panose="02010600030101010101" pitchFamily="2" charset="-122"/>
              </a:rPr>
              <a:t>java.util.Date</a:t>
            </a:r>
            <a:r>
              <a:rPr lang="en-US" altLang="zh-CN" sz="2800" b="1" dirty="0">
                <a:latin typeface="宋体" panose="02010600030101010101" pitchFamily="2" charset="-122"/>
                <a:ea typeface="宋体" panose="02010600030101010101" pitchFamily="2" charset="-122"/>
              </a:rPr>
              <a:t>( );</a:t>
            </a:r>
            <a:endParaRPr lang="en-US" altLang="zh-CN" sz="2800" b="1" dirty="0">
              <a:latin typeface="宋体" panose="02010600030101010101" pitchFamily="2" charset="-122"/>
              <a:ea typeface="宋体" panose="02010600030101010101" pitchFamily="2" charset="-122"/>
            </a:endParaRPr>
          </a:p>
          <a:p>
            <a:pPr marL="0" indent="353060">
              <a:buNone/>
            </a:pPr>
            <a:endParaRPr lang="zh-CN" altLang="en-US" sz="2800" b="1" dirty="0">
              <a:latin typeface="宋体" panose="02010600030101010101" pitchFamily="2" charset="-122"/>
              <a:ea typeface="宋体" panose="02010600030101010101" pitchFamily="2" charset="-122"/>
            </a:endParaRPr>
          </a:p>
        </p:txBody>
      </p:sp>
      <p:sp>
        <p:nvSpPr>
          <p:cNvPr id="51204"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D167BA89-A141-4C5D-BE64-FBCAC92E5383}"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235259" y="0"/>
            <a:ext cx="8147318" cy="9140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3.3 </a:t>
            </a:r>
            <a:r>
              <a:rPr lang="zh-CN" altLang="en-US" dirty="0">
                <a:latin typeface="宋体" panose="02010600030101010101" pitchFamily="2" charset="-122"/>
                <a:ea typeface="宋体" panose="02010600030101010101" pitchFamily="2" charset="-122"/>
              </a:rPr>
              <a:t>包的创建与使用</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52227" name="内容占位符 2"/>
          <p:cNvSpPr>
            <a:spLocks noGrp="1"/>
          </p:cNvSpPr>
          <p:nvPr>
            <p:ph idx="4294967295"/>
          </p:nvPr>
        </p:nvSpPr>
        <p:spPr>
          <a:xfrm>
            <a:off x="852661" y="1007011"/>
            <a:ext cx="8147318" cy="5678851"/>
          </a:xfrm>
        </p:spPr>
        <p:txBody>
          <a:bodyPr>
            <a:noAutofit/>
          </a:bodyPr>
          <a:lstStyle/>
          <a:p>
            <a:pPr marL="0" indent="353060">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例</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3.11】</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包的定义</a:t>
            </a:r>
            <a:endParaRPr lang="zh-CN" altLang="en-US"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package </a:t>
            </a:r>
            <a:r>
              <a:rPr lang="en-US" altLang="zh-CN" sz="2800" b="1" dirty="0" err="1">
                <a:latin typeface="宋体" panose="02010600030101010101" pitchFamily="2" charset="-122"/>
                <a:ea typeface="宋体" panose="02010600030101010101" pitchFamily="2" charset="-122"/>
                <a:cs typeface="Times New Roman" panose="02020603050405020304" pitchFamily="18" charset="0"/>
              </a:rPr>
              <a:t>demo.java.a</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public class Person10{</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    public String tell(){</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       	return "Person10—— &gt;&gt; tell()" ;</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endParaRPr lang="zh-CN" altLang="en-US" sz="2800" b="1" dirty="0">
              <a:latin typeface="宋体" panose="02010600030101010101" pitchFamily="2" charset="-122"/>
              <a:ea typeface="宋体" panose="02010600030101010101" pitchFamily="2" charset="-122"/>
            </a:endParaRPr>
          </a:p>
        </p:txBody>
      </p:sp>
      <p:sp>
        <p:nvSpPr>
          <p:cNvPr id="52228"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9575D7A7-DA10-4969-9664-4607DEA0FAD2}"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235259" y="0"/>
            <a:ext cx="8147318" cy="9140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a:latin typeface="宋体" panose="02010600030101010101" pitchFamily="2" charset="-122"/>
                <a:ea typeface="宋体" panose="02010600030101010101" pitchFamily="2" charset="-122"/>
              </a:rPr>
              <a:t>3.3 </a:t>
            </a:r>
            <a:r>
              <a:rPr lang="zh-CN" altLang="en-US">
                <a:latin typeface="宋体" panose="02010600030101010101" pitchFamily="2" charset="-122"/>
                <a:ea typeface="宋体" panose="02010600030101010101" pitchFamily="2" charset="-122"/>
              </a:rPr>
              <a:t>包的创建与使用</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53251" name="内容占位符 2"/>
          <p:cNvSpPr>
            <a:spLocks noGrp="1"/>
          </p:cNvSpPr>
          <p:nvPr>
            <p:ph idx="4294967295"/>
          </p:nvPr>
        </p:nvSpPr>
        <p:spPr>
          <a:xfrm>
            <a:off x="475891" y="1079965"/>
            <a:ext cx="11151427" cy="5856154"/>
          </a:xfrm>
        </p:spPr>
        <p:txBody>
          <a:bodyPr>
            <a:noAutofit/>
          </a:bodyPr>
          <a:lstStyle/>
          <a:p>
            <a:pPr marL="0" indent="353060">
              <a:buNone/>
            </a:pPr>
            <a:r>
              <a:rPr lang="zh-CN" altLang="en-US" sz="2800" b="1" dirty="0">
                <a:latin typeface="宋体" panose="02010600030101010101" pitchFamily="2" charset="-122"/>
                <a:ea typeface="宋体" panose="02010600030101010101" pitchFamily="2" charset="-122"/>
                <a:cs typeface="Times New Roman" panose="02020603050405020304" pitchFamily="18" charset="0"/>
              </a:rPr>
              <a:t>包的使用</a:t>
            </a:r>
            <a:endParaRPr lang="zh-CN" altLang="en-US"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package </a:t>
            </a:r>
            <a:r>
              <a:rPr lang="en-US" altLang="zh-CN" sz="2800" b="1" dirty="0" err="1">
                <a:latin typeface="宋体" panose="02010600030101010101" pitchFamily="2" charset="-122"/>
                <a:ea typeface="宋体" panose="02010600030101010101" pitchFamily="2" charset="-122"/>
                <a:cs typeface="Times New Roman" panose="02020603050405020304" pitchFamily="18" charset="0"/>
              </a:rPr>
              <a:t>demo.java.b</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 ;</a:t>
            </a:r>
            <a:endParaRPr lang="zh-CN" altLang="en-US"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import demo.java.a.Person10;</a:t>
            </a:r>
            <a:endParaRPr lang="zh-CN" altLang="en-US"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class </a:t>
            </a:r>
            <a:r>
              <a:rPr lang="en-US" altLang="zh-CN" sz="2800" b="1" dirty="0" err="1">
                <a:latin typeface="宋体" panose="02010600030101010101" pitchFamily="2" charset="-122"/>
                <a:ea typeface="宋体" panose="02010600030101010101" pitchFamily="2" charset="-122"/>
                <a:cs typeface="Times New Roman" panose="02020603050405020304" pitchFamily="18" charset="0"/>
              </a:rPr>
              <a:t>TestPackage</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     public static void main(String[] </a:t>
            </a:r>
            <a:r>
              <a:rPr lang="en-US" altLang="zh-CN" sz="2800" b="1" dirty="0" err="1">
                <a:latin typeface="宋体" panose="02010600030101010101" pitchFamily="2" charset="-122"/>
                <a:ea typeface="宋体" panose="02010600030101010101" pitchFamily="2" charset="-122"/>
                <a:cs typeface="Times New Roman" panose="02020603050405020304" pitchFamily="18" charset="0"/>
              </a:rPr>
              <a:t>args</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         </a:t>
            </a:r>
            <a:r>
              <a:rPr lang="en-US" altLang="zh-CN" sz="2800" b="1" dirty="0" err="1">
                <a:latin typeface="宋体" panose="02010600030101010101" pitchFamily="2" charset="-122"/>
                <a:ea typeface="宋体" panose="02010600030101010101" pitchFamily="2" charset="-122"/>
                <a:cs typeface="Times New Roman" panose="02020603050405020304" pitchFamily="18" charset="0"/>
              </a:rPr>
              <a:t>System.out.println</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(new Person10().tell());</a:t>
            </a:r>
            <a:endParaRPr lang="zh-CN" altLang="en-US"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     }</a:t>
            </a:r>
            <a:endParaRPr lang="zh-CN" altLang="en-US"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 }</a:t>
            </a:r>
            <a:endParaRPr lang="zh-CN" altLang="en-US"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endParaRPr lang="zh-CN" altLang="en-US" sz="2800" b="1" dirty="0">
              <a:latin typeface="宋体" panose="02010600030101010101" pitchFamily="2" charset="-122"/>
              <a:ea typeface="宋体" panose="02010600030101010101" pitchFamily="2" charset="-122"/>
            </a:endParaRPr>
          </a:p>
        </p:txBody>
      </p:sp>
      <p:sp>
        <p:nvSpPr>
          <p:cNvPr id="53252"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F52F11A1-DE42-422C-A35B-F927518547BF}"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235259" y="0"/>
            <a:ext cx="8147318" cy="9140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a:latin typeface="宋体" panose="02010600030101010101" pitchFamily="2" charset="-122"/>
                <a:ea typeface="宋体" panose="02010600030101010101" pitchFamily="2" charset="-122"/>
              </a:rPr>
              <a:t>3.3 </a:t>
            </a:r>
            <a:r>
              <a:rPr lang="zh-CN" altLang="en-US">
                <a:latin typeface="宋体" panose="02010600030101010101" pitchFamily="2" charset="-122"/>
                <a:ea typeface="宋体" panose="02010600030101010101" pitchFamily="2" charset="-122"/>
              </a:rPr>
              <a:t>包的创建与使用</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52124" y="272846"/>
            <a:ext cx="9601200" cy="708931"/>
          </a:xfrm>
        </p:spPr>
        <p:txBody>
          <a:bodyPr/>
          <a:lstStyle/>
          <a:p>
            <a:r>
              <a:rPr lang="zh-CN" altLang="en-US" dirty="0"/>
              <a:t>练习：</a:t>
            </a:r>
            <a:endParaRPr lang="zh-CN" altLang="en-US" dirty="0"/>
          </a:p>
        </p:txBody>
      </p:sp>
      <p:sp>
        <p:nvSpPr>
          <p:cNvPr id="3" name="内容占位符 2"/>
          <p:cNvSpPr>
            <a:spLocks noGrp="1"/>
          </p:cNvSpPr>
          <p:nvPr>
            <p:ph idx="1"/>
          </p:nvPr>
        </p:nvSpPr>
        <p:spPr>
          <a:xfrm>
            <a:off x="577515" y="1164658"/>
            <a:ext cx="10934300" cy="4722796"/>
          </a:xfrm>
        </p:spPr>
        <p:txBody>
          <a:bodyPr>
            <a:normAutofit/>
          </a:bodyPr>
          <a:lstStyle/>
          <a:p>
            <a:pPr marL="0" indent="0">
              <a:buNone/>
            </a:pPr>
            <a:r>
              <a:rPr lang="en-US" altLang="zh-CN" sz="2800" dirty="0">
                <a:latin typeface="宋体" panose="02010600030101010101" pitchFamily="2" charset="-122"/>
                <a:ea typeface="宋体" panose="02010600030101010101" pitchFamily="2" charset="-122"/>
              </a:rPr>
              <a:t>1</a:t>
            </a:r>
            <a:r>
              <a:rPr lang="zh-CN" altLang="en-US" sz="2800" dirty="0">
                <a:latin typeface="宋体" panose="02010600030101010101" pitchFamily="2" charset="-122"/>
                <a:ea typeface="宋体" panose="02010600030101010101" pitchFamily="2" charset="-122"/>
              </a:rPr>
              <a:t>、定义一个“日期”类，包含年、月、日</a:t>
            </a:r>
            <a:r>
              <a:rPr lang="en-US" altLang="zh-CN" sz="2800" dirty="0">
                <a:latin typeface="宋体" panose="02010600030101010101" pitchFamily="2" charset="-122"/>
                <a:ea typeface="宋体" panose="02010600030101010101" pitchFamily="2" charset="-122"/>
              </a:rPr>
              <a:t>3</a:t>
            </a:r>
            <a:r>
              <a:rPr lang="zh-CN" altLang="en-US" sz="2800" dirty="0">
                <a:latin typeface="宋体" panose="02010600030101010101" pitchFamily="2" charset="-122"/>
                <a:ea typeface="宋体" panose="02010600030101010101" pitchFamily="2" charset="-122"/>
              </a:rPr>
              <a:t>个成员变量。包含以下成员函数：</a:t>
            </a:r>
            <a:endParaRPr lang="en-US" altLang="zh-CN" sz="2800" dirty="0">
              <a:latin typeface="宋体" panose="02010600030101010101" pitchFamily="2" charset="-122"/>
              <a:ea typeface="宋体" panose="02010600030101010101" pitchFamily="2" charset="-122"/>
            </a:endParaRPr>
          </a:p>
          <a:p>
            <a:pPr marL="0" indent="0">
              <a:buNone/>
            </a:pPr>
            <a:r>
              <a:rPr lang="zh-CN" altLang="en-US" sz="2800" dirty="0">
                <a:latin typeface="宋体" panose="02010600030101010101" pitchFamily="2" charset="-122"/>
                <a:ea typeface="宋体" panose="02010600030101010101" pitchFamily="2" charset="-122"/>
              </a:rPr>
              <a:t>（</a:t>
            </a:r>
            <a:r>
              <a:rPr lang="en-US" altLang="zh-CN" sz="2800" dirty="0">
                <a:latin typeface="宋体" panose="02010600030101010101" pitchFamily="2" charset="-122"/>
                <a:ea typeface="宋体" panose="02010600030101010101" pitchFamily="2" charset="-122"/>
              </a:rPr>
              <a:t>1</a:t>
            </a:r>
            <a:r>
              <a:rPr lang="zh-CN" altLang="en-US" sz="2800" dirty="0">
                <a:latin typeface="宋体" panose="02010600030101010101" pitchFamily="2" charset="-122"/>
                <a:ea typeface="宋体" panose="02010600030101010101" pitchFamily="2" charset="-122"/>
              </a:rPr>
              <a:t>）输入年、月、日，但要保证月为</a:t>
            </a:r>
            <a:r>
              <a:rPr lang="en-US" altLang="zh-CN" sz="2800" dirty="0">
                <a:latin typeface="宋体" panose="02010600030101010101" pitchFamily="2" charset="-122"/>
                <a:ea typeface="宋体" panose="02010600030101010101" pitchFamily="2" charset="-122"/>
              </a:rPr>
              <a:t>1-12</a:t>
            </a:r>
            <a:r>
              <a:rPr lang="zh-CN" altLang="en-US" sz="2800" dirty="0">
                <a:latin typeface="宋体" panose="02010600030101010101" pitchFamily="2" charset="-122"/>
                <a:ea typeface="宋体" panose="02010600030101010101" pitchFamily="2" charset="-122"/>
              </a:rPr>
              <a:t>，日要符合相应范围，否则会报错；（构造函数）</a:t>
            </a:r>
            <a:endParaRPr lang="en-US" altLang="zh-CN" sz="2800" dirty="0">
              <a:latin typeface="宋体" panose="02010600030101010101" pitchFamily="2" charset="-122"/>
              <a:ea typeface="宋体" panose="02010600030101010101" pitchFamily="2" charset="-122"/>
            </a:endParaRPr>
          </a:p>
          <a:p>
            <a:pPr marL="0" indent="0">
              <a:buNone/>
            </a:pPr>
            <a:r>
              <a:rPr lang="zh-CN" altLang="en-US" sz="2800" dirty="0">
                <a:latin typeface="宋体" panose="02010600030101010101" pitchFamily="2" charset="-122"/>
                <a:ea typeface="宋体" panose="02010600030101010101" pitchFamily="2" charset="-122"/>
              </a:rPr>
              <a:t>（</a:t>
            </a:r>
            <a:r>
              <a:rPr lang="en-US" altLang="zh-CN" sz="2800" dirty="0">
                <a:latin typeface="宋体" panose="02010600030101010101" pitchFamily="2" charset="-122"/>
                <a:ea typeface="宋体" panose="02010600030101010101" pitchFamily="2" charset="-122"/>
              </a:rPr>
              <a:t>2</a:t>
            </a:r>
            <a:r>
              <a:rPr lang="zh-CN" altLang="en-US" sz="2800" dirty="0">
                <a:latin typeface="宋体" panose="02010600030101010101" pitchFamily="2" charset="-122"/>
                <a:ea typeface="宋体" panose="02010600030101010101" pitchFamily="2" charset="-122"/>
              </a:rPr>
              <a:t>）用年</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月</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日的形式打印日期；</a:t>
            </a:r>
            <a:endParaRPr lang="en-US" altLang="zh-CN" sz="2800" dirty="0">
              <a:latin typeface="宋体" panose="02010600030101010101" pitchFamily="2" charset="-122"/>
              <a:ea typeface="宋体" panose="02010600030101010101" pitchFamily="2" charset="-122"/>
            </a:endParaRPr>
          </a:p>
          <a:p>
            <a:pPr marL="0" indent="0">
              <a:buNone/>
            </a:pPr>
            <a:r>
              <a:rPr lang="zh-CN" altLang="en-US" sz="2800" dirty="0">
                <a:latin typeface="宋体" panose="02010600030101010101" pitchFamily="2" charset="-122"/>
                <a:ea typeface="宋体" panose="02010600030101010101" pitchFamily="2" charset="-122"/>
              </a:rPr>
              <a:t>（</a:t>
            </a:r>
            <a:r>
              <a:rPr lang="en-US" altLang="zh-CN" sz="2800" dirty="0">
                <a:latin typeface="宋体" panose="02010600030101010101" pitchFamily="2" charset="-122"/>
                <a:ea typeface="宋体" panose="02010600030101010101" pitchFamily="2" charset="-122"/>
              </a:rPr>
              <a:t>3</a:t>
            </a:r>
            <a:r>
              <a:rPr lang="zh-CN" altLang="en-US" sz="2800" dirty="0">
                <a:latin typeface="宋体" panose="02010600030101010101" pitchFamily="2" charset="-122"/>
                <a:ea typeface="宋体" panose="02010600030101010101" pitchFamily="2" charset="-122"/>
              </a:rPr>
              <a:t>）用年</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月</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日的形式打印日期；</a:t>
            </a:r>
            <a:endParaRPr lang="en-US" altLang="zh-CN" sz="2800" dirty="0">
              <a:latin typeface="宋体" panose="02010600030101010101" pitchFamily="2" charset="-122"/>
              <a:ea typeface="宋体" panose="02010600030101010101" pitchFamily="2" charset="-122"/>
            </a:endParaRPr>
          </a:p>
          <a:p>
            <a:pPr marL="0" indent="0">
              <a:buNone/>
            </a:pPr>
            <a:r>
              <a:rPr lang="zh-CN" altLang="en-US" sz="2800" dirty="0">
                <a:latin typeface="宋体" panose="02010600030101010101" pitchFamily="2" charset="-122"/>
                <a:ea typeface="宋体" panose="02010600030101010101" pitchFamily="2" charset="-122"/>
              </a:rPr>
              <a:t>（</a:t>
            </a:r>
            <a:r>
              <a:rPr lang="en-US" altLang="zh-CN" sz="2800" dirty="0">
                <a:latin typeface="宋体" panose="02010600030101010101" pitchFamily="2" charset="-122"/>
                <a:ea typeface="宋体" panose="02010600030101010101" pitchFamily="2" charset="-122"/>
              </a:rPr>
              <a:t>4</a:t>
            </a:r>
            <a:r>
              <a:rPr lang="zh-CN" altLang="en-US" sz="2800" dirty="0">
                <a:latin typeface="宋体" panose="02010600030101010101" pitchFamily="2" charset="-122"/>
                <a:ea typeface="宋体" panose="02010600030101010101" pitchFamily="2" charset="-122"/>
              </a:rPr>
              <a:t>）比较该日期是否在另一个日期的前面。</a:t>
            </a:r>
            <a:endParaRPr lang="en-US" altLang="zh-CN" sz="2800" dirty="0">
              <a:latin typeface="宋体" panose="02010600030101010101" pitchFamily="2" charset="-122"/>
              <a:ea typeface="宋体" panose="02010600030101010101" pitchFamily="2" charset="-122"/>
            </a:endParaRPr>
          </a:p>
          <a:p>
            <a:pPr marL="0" indent="0">
              <a:buNone/>
            </a:pPr>
            <a:r>
              <a:rPr lang="zh-CN" altLang="en-US" sz="2800" dirty="0">
                <a:latin typeface="宋体" panose="02010600030101010101" pitchFamily="2" charset="-122"/>
                <a:ea typeface="宋体" panose="02010600030101010101" pitchFamily="2" charset="-122"/>
              </a:rPr>
              <a:t>将日期类放入</a:t>
            </a:r>
            <a:r>
              <a:rPr lang="en-US" altLang="zh-CN" sz="2800" dirty="0">
                <a:latin typeface="宋体" panose="02010600030101010101" pitchFamily="2" charset="-122"/>
                <a:ea typeface="宋体" panose="02010600030101010101" pitchFamily="2" charset="-122"/>
              </a:rPr>
              <a:t>date</a:t>
            </a:r>
            <a:r>
              <a:rPr lang="zh-CN" altLang="en-US" sz="2800" dirty="0">
                <a:latin typeface="宋体" panose="02010600030101010101" pitchFamily="2" charset="-122"/>
                <a:ea typeface="宋体" panose="02010600030101010101" pitchFamily="2" charset="-122"/>
              </a:rPr>
              <a:t>包，再建立一个</a:t>
            </a:r>
            <a:r>
              <a:rPr lang="en-US" altLang="zh-CN" sz="2800" dirty="0">
                <a:latin typeface="宋体" panose="02010600030101010101" pitchFamily="2" charset="-122"/>
                <a:ea typeface="宋体" panose="02010600030101010101" pitchFamily="2" charset="-122"/>
              </a:rPr>
              <a:t>main</a:t>
            </a:r>
            <a:r>
              <a:rPr lang="zh-CN" altLang="en-US" sz="2800" dirty="0">
                <a:latin typeface="宋体" panose="02010600030101010101" pitchFamily="2" charset="-122"/>
                <a:ea typeface="宋体" panose="02010600030101010101" pitchFamily="2" charset="-122"/>
              </a:rPr>
              <a:t>包，内放一个</a:t>
            </a:r>
            <a:r>
              <a:rPr lang="en-US" altLang="zh-CN" sz="2800" dirty="0" err="1">
                <a:latin typeface="宋体" panose="02010600030101010101" pitchFamily="2" charset="-122"/>
                <a:ea typeface="宋体" panose="02010600030101010101" pitchFamily="2" charset="-122"/>
              </a:rPr>
              <a:t>TestDate</a:t>
            </a:r>
            <a:r>
              <a:rPr lang="zh-CN" altLang="en-US" sz="2800" dirty="0">
                <a:latin typeface="宋体" panose="02010600030101010101" pitchFamily="2" charset="-122"/>
                <a:ea typeface="宋体" panose="02010600030101010101" pitchFamily="2" charset="-122"/>
              </a:rPr>
              <a:t>类，含有主函数，用来测试日期类。</a:t>
            </a:r>
            <a:endParaRPr lang="zh-CN" altLang="en-US" sz="28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idx="4294967295"/>
          </p:nvPr>
        </p:nvSpPr>
        <p:spPr>
          <a:xfrm>
            <a:off x="466265" y="173256"/>
            <a:ext cx="8147318" cy="914056"/>
          </a:xfrm>
        </p:spPr>
        <p:txBody>
          <a:bodyPr/>
          <a:lstStyle/>
          <a:p>
            <a:pPr algn="l"/>
            <a:r>
              <a:rPr lang="en-US" altLang="zh-CN" dirty="0"/>
              <a:t>3.4 </a:t>
            </a:r>
            <a:r>
              <a:rPr lang="zh-CN" altLang="en-US" dirty="0"/>
              <a:t>类的继承</a:t>
            </a:r>
            <a:endParaRPr lang="zh-CN" altLang="en-US" dirty="0"/>
          </a:p>
        </p:txBody>
      </p:sp>
      <p:sp>
        <p:nvSpPr>
          <p:cNvPr id="54275"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05E49E08-5921-4E89-A15D-9EA480011CFA}"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4276" name="Rectangle 6"/>
          <p:cNvSpPr>
            <a:spLocks noChangeArrowheads="1"/>
          </p:cNvSpPr>
          <p:nvPr/>
        </p:nvSpPr>
        <p:spPr bwMode="auto">
          <a:xfrm>
            <a:off x="970270" y="1343541"/>
            <a:ext cx="4079684" cy="4170917"/>
          </a:xfrm>
          <a:prstGeom prst="rect">
            <a:avLst/>
          </a:prstGeom>
          <a:noFill/>
          <a:ln w="9525">
            <a:solidFill>
              <a:schemeClr val="tx1"/>
            </a:solidFill>
            <a:miter lim="800000"/>
          </a:ln>
          <a:extLst>
            <a:ext uri="{909E8E84-426E-40DD-AFC4-6F175D3DCCD1}">
              <a14:hiddenFill xmlns:a14="http://schemas.microsoft.com/office/drawing/2010/main">
                <a:solidFill>
                  <a:schemeClr val="accent1"/>
                </a:solidFill>
              </a14:hiddenFill>
            </a:ext>
          </a:extLst>
        </p:spPr>
        <p:txBody>
          <a:bodyPr lIns="93957" tIns="46978" rIns="93957" bIns="46978"/>
          <a:lstStyle>
            <a:lvl1pPr marL="325755" indent="-325755" defTabSz="866775">
              <a:defRPr sz="2000" b="1">
                <a:solidFill>
                  <a:schemeClr val="tx1"/>
                </a:solidFill>
                <a:latin typeface="Times New Roman" panose="02020603050405020304" pitchFamily="18" charset="0"/>
                <a:ea typeface="宋体" panose="02010600030101010101" pitchFamily="2" charset="-122"/>
              </a:defRPr>
            </a:lvl1pPr>
            <a:lvl2pPr marL="742950" indent="-285750" defTabSz="866775">
              <a:defRPr sz="2000" b="1">
                <a:solidFill>
                  <a:schemeClr val="tx1"/>
                </a:solidFill>
                <a:latin typeface="Times New Roman" panose="02020603050405020304" pitchFamily="18" charset="0"/>
                <a:ea typeface="宋体" panose="02010600030101010101" pitchFamily="2" charset="-122"/>
              </a:defRPr>
            </a:lvl2pPr>
            <a:lvl3pPr marL="1143000" indent="-228600" defTabSz="866775">
              <a:defRPr sz="2000" b="1">
                <a:solidFill>
                  <a:schemeClr val="tx1"/>
                </a:solidFill>
                <a:latin typeface="Times New Roman" panose="02020603050405020304" pitchFamily="18" charset="0"/>
                <a:ea typeface="宋体" panose="02010600030101010101" pitchFamily="2" charset="-122"/>
              </a:defRPr>
            </a:lvl3pPr>
            <a:lvl4pPr marL="1600200" indent="-228600" defTabSz="866775">
              <a:defRPr sz="2000" b="1">
                <a:solidFill>
                  <a:schemeClr val="tx1"/>
                </a:solidFill>
                <a:latin typeface="Times New Roman" panose="02020603050405020304" pitchFamily="18" charset="0"/>
                <a:ea typeface="宋体" panose="02010600030101010101" pitchFamily="2" charset="-122"/>
              </a:defRPr>
            </a:lvl4pPr>
            <a:lvl5pPr marL="2057400" indent="-228600" defTabSz="866775">
              <a:defRPr sz="2000" b="1">
                <a:solidFill>
                  <a:schemeClr val="tx1"/>
                </a:solidFill>
                <a:latin typeface="Times New Roman" panose="02020603050405020304" pitchFamily="18" charset="0"/>
                <a:ea typeface="宋体" panose="02010600030101010101" pitchFamily="2" charset="-122"/>
              </a:defRPr>
            </a:lvl5pPr>
            <a:lvl6pPr marL="2514600" indent="-228600" defTabSz="866775"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defTabSz="866775"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defTabSz="866775"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defTabSz="866775"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nSpc>
                <a:spcPct val="90000"/>
              </a:lnSpc>
              <a:spcBef>
                <a:spcPct val="20000"/>
              </a:spcBef>
              <a:buClr>
                <a:schemeClr val="tx1"/>
              </a:buClr>
              <a:buSzPct val="65000"/>
              <a:buFont typeface="Monotype Sorts" pitchFamily="2" charset="2"/>
              <a:buNone/>
            </a:pPr>
            <a:r>
              <a:rPr lang="en-US" altLang="zh-CN" sz="3035"/>
              <a:t>class Person</a:t>
            </a:r>
            <a:endParaRPr lang="en-US" altLang="zh-CN" sz="3035"/>
          </a:p>
          <a:p>
            <a:pPr>
              <a:lnSpc>
                <a:spcPct val="90000"/>
              </a:lnSpc>
              <a:spcBef>
                <a:spcPct val="20000"/>
              </a:spcBef>
              <a:buClr>
                <a:schemeClr val="tx1"/>
              </a:buClr>
              <a:buSzPct val="65000"/>
              <a:buFont typeface="Monotype Sorts" pitchFamily="2" charset="2"/>
              <a:buNone/>
            </a:pPr>
            <a:r>
              <a:rPr lang="en-US" altLang="zh-CN" sz="3035"/>
              <a:t>{</a:t>
            </a:r>
            <a:endParaRPr lang="en-US" altLang="zh-CN" sz="3035"/>
          </a:p>
          <a:p>
            <a:pPr>
              <a:lnSpc>
                <a:spcPct val="90000"/>
              </a:lnSpc>
              <a:spcBef>
                <a:spcPct val="20000"/>
              </a:spcBef>
              <a:buClr>
                <a:schemeClr val="tx1"/>
              </a:buClr>
              <a:buSzPct val="65000"/>
              <a:buFont typeface="Monotype Sorts" pitchFamily="2" charset="2"/>
              <a:buNone/>
            </a:pPr>
            <a:r>
              <a:rPr lang="en-US" altLang="zh-CN" sz="3035"/>
              <a:t>  public String name;</a:t>
            </a:r>
            <a:endParaRPr lang="en-US" altLang="zh-CN" sz="3035"/>
          </a:p>
          <a:p>
            <a:pPr>
              <a:lnSpc>
                <a:spcPct val="90000"/>
              </a:lnSpc>
              <a:spcBef>
                <a:spcPct val="20000"/>
              </a:spcBef>
              <a:buClr>
                <a:schemeClr val="tx1"/>
              </a:buClr>
              <a:buSzPct val="65000"/>
              <a:buFont typeface="Monotype Sorts" pitchFamily="2" charset="2"/>
              <a:buNone/>
            </a:pPr>
            <a:r>
              <a:rPr lang="en-US" altLang="zh-CN" sz="3035"/>
              <a:t>  public  int age;</a:t>
            </a:r>
            <a:endParaRPr lang="en-US" altLang="zh-CN" sz="3035"/>
          </a:p>
          <a:p>
            <a:pPr>
              <a:lnSpc>
                <a:spcPct val="90000"/>
              </a:lnSpc>
              <a:spcBef>
                <a:spcPct val="20000"/>
              </a:spcBef>
              <a:buClr>
                <a:schemeClr val="tx1"/>
              </a:buClr>
              <a:buSzPct val="65000"/>
              <a:buFont typeface="Monotype Sorts" pitchFamily="2" charset="2"/>
              <a:buNone/>
            </a:pPr>
            <a:r>
              <a:rPr lang="en-US" altLang="zh-CN" sz="3035"/>
              <a:t>  public void getinfo()</a:t>
            </a:r>
            <a:endParaRPr lang="en-US" altLang="zh-CN" sz="3035"/>
          </a:p>
          <a:p>
            <a:pPr>
              <a:lnSpc>
                <a:spcPct val="90000"/>
              </a:lnSpc>
              <a:spcBef>
                <a:spcPct val="20000"/>
              </a:spcBef>
              <a:buClr>
                <a:schemeClr val="tx1"/>
              </a:buClr>
              <a:buSzPct val="65000"/>
              <a:buFont typeface="Monotype Sorts" pitchFamily="2" charset="2"/>
              <a:buNone/>
            </a:pPr>
            <a:r>
              <a:rPr lang="en-US" altLang="zh-CN" sz="3035"/>
              <a:t>  {</a:t>
            </a:r>
            <a:endParaRPr lang="en-US" altLang="zh-CN" sz="3035"/>
          </a:p>
          <a:p>
            <a:pPr>
              <a:lnSpc>
                <a:spcPct val="90000"/>
              </a:lnSpc>
              <a:spcBef>
                <a:spcPct val="20000"/>
              </a:spcBef>
              <a:buClr>
                <a:schemeClr val="tx1"/>
              </a:buClr>
              <a:buSzPct val="65000"/>
              <a:buFont typeface="Monotype Sorts" pitchFamily="2" charset="2"/>
              <a:buNone/>
            </a:pPr>
            <a:r>
              <a:rPr lang="en-US" altLang="zh-CN" sz="3035"/>
              <a:t>  }</a:t>
            </a:r>
            <a:endParaRPr lang="en-US" altLang="zh-CN" sz="3035"/>
          </a:p>
          <a:p>
            <a:pPr>
              <a:lnSpc>
                <a:spcPct val="90000"/>
              </a:lnSpc>
              <a:spcBef>
                <a:spcPct val="20000"/>
              </a:spcBef>
              <a:buClr>
                <a:schemeClr val="tx1"/>
              </a:buClr>
              <a:buSzPct val="65000"/>
              <a:buFont typeface="Monotype Sorts" pitchFamily="2" charset="2"/>
              <a:buNone/>
            </a:pPr>
            <a:r>
              <a:rPr lang="en-US" altLang="zh-CN" sz="3035"/>
              <a:t>}</a:t>
            </a:r>
            <a:endParaRPr lang="en-US" altLang="zh-CN" sz="3035"/>
          </a:p>
        </p:txBody>
      </p:sp>
      <p:sp>
        <p:nvSpPr>
          <p:cNvPr id="54277" name="Text Box 7"/>
          <p:cNvSpPr txBox="1">
            <a:spLocks noChangeArrowheads="1"/>
          </p:cNvSpPr>
          <p:nvPr/>
        </p:nvSpPr>
        <p:spPr bwMode="auto">
          <a:xfrm>
            <a:off x="6173463" y="722982"/>
            <a:ext cx="4449781" cy="6165214"/>
          </a:xfrm>
          <a:prstGeom prst="rect">
            <a:avLst/>
          </a:prstGeom>
          <a:noFill/>
          <a:ln w="12700" cap="sq">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25755" indent="-325755" defTabSz="866775">
              <a:defRPr sz="2000" b="1">
                <a:solidFill>
                  <a:schemeClr val="tx1"/>
                </a:solidFill>
                <a:latin typeface="Times New Roman" panose="02020603050405020304" pitchFamily="18" charset="0"/>
                <a:ea typeface="宋体" panose="02010600030101010101" pitchFamily="2" charset="-122"/>
              </a:defRPr>
            </a:lvl1pPr>
            <a:lvl2pPr marL="742950" indent="-285750" defTabSz="866775">
              <a:defRPr sz="2000" b="1">
                <a:solidFill>
                  <a:schemeClr val="tx1"/>
                </a:solidFill>
                <a:latin typeface="Times New Roman" panose="02020603050405020304" pitchFamily="18" charset="0"/>
                <a:ea typeface="宋体" panose="02010600030101010101" pitchFamily="2" charset="-122"/>
              </a:defRPr>
            </a:lvl2pPr>
            <a:lvl3pPr marL="1143000" indent="-228600" defTabSz="866775">
              <a:defRPr sz="2000" b="1">
                <a:solidFill>
                  <a:schemeClr val="tx1"/>
                </a:solidFill>
                <a:latin typeface="Times New Roman" panose="02020603050405020304" pitchFamily="18" charset="0"/>
                <a:ea typeface="宋体" panose="02010600030101010101" pitchFamily="2" charset="-122"/>
              </a:defRPr>
            </a:lvl3pPr>
            <a:lvl4pPr marL="1600200" indent="-228600" defTabSz="866775">
              <a:defRPr sz="2000" b="1">
                <a:solidFill>
                  <a:schemeClr val="tx1"/>
                </a:solidFill>
                <a:latin typeface="Times New Roman" panose="02020603050405020304" pitchFamily="18" charset="0"/>
                <a:ea typeface="宋体" panose="02010600030101010101" pitchFamily="2" charset="-122"/>
              </a:defRPr>
            </a:lvl4pPr>
            <a:lvl5pPr marL="2057400" indent="-228600" defTabSz="866775">
              <a:defRPr sz="2000" b="1">
                <a:solidFill>
                  <a:schemeClr val="tx1"/>
                </a:solidFill>
                <a:latin typeface="Times New Roman" panose="02020603050405020304" pitchFamily="18" charset="0"/>
                <a:ea typeface="宋体" panose="02010600030101010101" pitchFamily="2" charset="-122"/>
              </a:defRPr>
            </a:lvl5pPr>
            <a:lvl6pPr marL="2514600" indent="-228600" defTabSz="866775"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defTabSz="866775"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defTabSz="866775"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defTabSz="866775"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nSpc>
                <a:spcPct val="90000"/>
              </a:lnSpc>
              <a:spcBef>
                <a:spcPct val="20000"/>
              </a:spcBef>
              <a:buClr>
                <a:schemeClr val="tx1"/>
              </a:buClr>
              <a:buSzPct val="65000"/>
              <a:buFont typeface="Monotype Sorts" pitchFamily="2" charset="2"/>
              <a:buNone/>
            </a:pPr>
            <a:r>
              <a:rPr lang="en-US" altLang="zh-CN" sz="3035"/>
              <a:t>class Student</a:t>
            </a:r>
            <a:endParaRPr lang="en-US" altLang="zh-CN" sz="3035"/>
          </a:p>
          <a:p>
            <a:pPr>
              <a:lnSpc>
                <a:spcPct val="90000"/>
              </a:lnSpc>
              <a:spcBef>
                <a:spcPct val="20000"/>
              </a:spcBef>
              <a:buClr>
                <a:schemeClr val="tx1"/>
              </a:buClr>
              <a:buSzPct val="65000"/>
              <a:buFont typeface="Monotype Sorts" pitchFamily="2" charset="2"/>
              <a:buNone/>
            </a:pPr>
            <a:r>
              <a:rPr lang="en-US" altLang="zh-CN" sz="3035"/>
              <a:t>{</a:t>
            </a:r>
            <a:endParaRPr lang="en-US" altLang="zh-CN" sz="3035"/>
          </a:p>
          <a:p>
            <a:pPr>
              <a:lnSpc>
                <a:spcPct val="90000"/>
              </a:lnSpc>
              <a:spcBef>
                <a:spcPct val="20000"/>
              </a:spcBef>
              <a:buClr>
                <a:schemeClr val="tx1"/>
              </a:buClr>
              <a:buSzPct val="65000"/>
              <a:buFont typeface="Monotype Sorts" pitchFamily="2" charset="2"/>
              <a:buNone/>
            </a:pPr>
            <a:r>
              <a:rPr lang="en-US" altLang="zh-CN" sz="3035"/>
              <a:t>   public String name;</a:t>
            </a:r>
            <a:endParaRPr lang="en-US" altLang="zh-CN" sz="3035"/>
          </a:p>
          <a:p>
            <a:pPr>
              <a:lnSpc>
                <a:spcPct val="90000"/>
              </a:lnSpc>
              <a:spcBef>
                <a:spcPct val="20000"/>
              </a:spcBef>
              <a:buClr>
                <a:schemeClr val="tx1"/>
              </a:buClr>
              <a:buSzPct val="65000"/>
              <a:buFont typeface="Monotype Sorts" pitchFamily="2" charset="2"/>
              <a:buNone/>
            </a:pPr>
            <a:r>
              <a:rPr lang="en-US" altLang="zh-CN" sz="3035"/>
              <a:t>   public  int age;</a:t>
            </a:r>
            <a:endParaRPr lang="en-US" altLang="zh-CN" sz="3035"/>
          </a:p>
          <a:p>
            <a:pPr>
              <a:lnSpc>
                <a:spcPct val="90000"/>
              </a:lnSpc>
              <a:spcBef>
                <a:spcPct val="20000"/>
              </a:spcBef>
              <a:buClr>
                <a:schemeClr val="tx1"/>
              </a:buClr>
              <a:buSzPct val="65000"/>
              <a:buFont typeface="Monotype Sorts" pitchFamily="2" charset="2"/>
              <a:buNone/>
            </a:pPr>
            <a:r>
              <a:rPr lang="en-US" altLang="zh-CN" sz="3035"/>
              <a:t>   public String school;</a:t>
            </a:r>
            <a:endParaRPr lang="en-US" altLang="zh-CN" sz="3035"/>
          </a:p>
          <a:p>
            <a:pPr>
              <a:lnSpc>
                <a:spcPct val="90000"/>
              </a:lnSpc>
              <a:spcBef>
                <a:spcPct val="20000"/>
              </a:spcBef>
              <a:buClr>
                <a:schemeClr val="tx1"/>
              </a:buClr>
              <a:buSzPct val="65000"/>
              <a:buFont typeface="Monotype Sorts" pitchFamily="2" charset="2"/>
              <a:buNone/>
            </a:pPr>
            <a:r>
              <a:rPr lang="en-US" altLang="zh-CN" sz="3035"/>
              <a:t>   public void getinfo()</a:t>
            </a:r>
            <a:endParaRPr lang="en-US" altLang="zh-CN" sz="3035"/>
          </a:p>
          <a:p>
            <a:pPr>
              <a:lnSpc>
                <a:spcPct val="90000"/>
              </a:lnSpc>
              <a:spcBef>
                <a:spcPct val="20000"/>
              </a:spcBef>
              <a:buClr>
                <a:schemeClr val="tx1"/>
              </a:buClr>
              <a:buSzPct val="65000"/>
              <a:buFont typeface="Monotype Sorts" pitchFamily="2" charset="2"/>
              <a:buNone/>
            </a:pPr>
            <a:r>
              <a:rPr lang="en-US" altLang="zh-CN" sz="3035"/>
              <a:t>   {</a:t>
            </a:r>
            <a:endParaRPr lang="en-US" altLang="zh-CN" sz="3035"/>
          </a:p>
          <a:p>
            <a:pPr>
              <a:lnSpc>
                <a:spcPct val="90000"/>
              </a:lnSpc>
              <a:spcBef>
                <a:spcPct val="20000"/>
              </a:spcBef>
              <a:buClr>
                <a:schemeClr val="tx1"/>
              </a:buClr>
              <a:buSzPct val="65000"/>
              <a:buFont typeface="Monotype Sorts" pitchFamily="2" charset="2"/>
              <a:buNone/>
            </a:pPr>
            <a:r>
              <a:rPr lang="en-US" altLang="zh-CN" sz="3035"/>
              <a:t>   }</a:t>
            </a:r>
            <a:endParaRPr lang="en-US" altLang="zh-CN" sz="3035"/>
          </a:p>
          <a:p>
            <a:pPr>
              <a:lnSpc>
                <a:spcPct val="90000"/>
              </a:lnSpc>
              <a:spcBef>
                <a:spcPct val="20000"/>
              </a:spcBef>
              <a:buClr>
                <a:schemeClr val="tx1"/>
              </a:buClr>
              <a:buSzPct val="65000"/>
              <a:buFont typeface="Monotype Sorts" pitchFamily="2" charset="2"/>
              <a:buNone/>
            </a:pPr>
            <a:r>
              <a:rPr lang="en-US" altLang="zh-CN" sz="3035"/>
              <a:t>   public void study()</a:t>
            </a:r>
            <a:endParaRPr lang="en-US" altLang="zh-CN" sz="3035"/>
          </a:p>
          <a:p>
            <a:pPr>
              <a:lnSpc>
                <a:spcPct val="90000"/>
              </a:lnSpc>
              <a:spcBef>
                <a:spcPct val="20000"/>
              </a:spcBef>
              <a:buClr>
                <a:schemeClr val="tx1"/>
              </a:buClr>
              <a:buSzPct val="65000"/>
              <a:buFont typeface="Monotype Sorts" pitchFamily="2" charset="2"/>
              <a:buNone/>
            </a:pPr>
            <a:r>
              <a:rPr lang="en-US" altLang="zh-CN" sz="3035"/>
              <a:t>   {</a:t>
            </a:r>
            <a:endParaRPr lang="en-US" altLang="zh-CN" sz="3035"/>
          </a:p>
          <a:p>
            <a:pPr>
              <a:lnSpc>
                <a:spcPct val="90000"/>
              </a:lnSpc>
              <a:spcBef>
                <a:spcPct val="20000"/>
              </a:spcBef>
              <a:buClr>
                <a:schemeClr val="tx1"/>
              </a:buClr>
              <a:buSzPct val="65000"/>
              <a:buFont typeface="Monotype Sorts" pitchFamily="2" charset="2"/>
              <a:buNone/>
            </a:pPr>
            <a:r>
              <a:rPr lang="en-US" altLang="zh-CN" sz="3035"/>
              <a:t>   }</a:t>
            </a:r>
            <a:endParaRPr lang="en-US" altLang="zh-CN" sz="3035"/>
          </a:p>
          <a:p>
            <a:pPr>
              <a:lnSpc>
                <a:spcPct val="90000"/>
              </a:lnSpc>
              <a:spcBef>
                <a:spcPct val="20000"/>
              </a:spcBef>
              <a:buClr>
                <a:schemeClr val="tx1"/>
              </a:buClr>
              <a:buSzPct val="65000"/>
              <a:buFont typeface="Monotype Sorts" pitchFamily="2" charset="2"/>
              <a:buNone/>
            </a:pPr>
            <a:r>
              <a:rPr lang="en-US" altLang="zh-CN" sz="3035"/>
              <a:t>}</a:t>
            </a:r>
            <a:endParaRPr lang="en-US" altLang="zh-CN" sz="3035"/>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p:cNvSpPr>
          <p:nvPr>
            <p:ph type="title" idx="4294967295"/>
          </p:nvPr>
        </p:nvSpPr>
        <p:spPr>
          <a:xfrm>
            <a:off x="649145" y="657951"/>
            <a:ext cx="8147318" cy="914055"/>
          </a:xfrm>
        </p:spPr>
        <p:txBody>
          <a:bodyPr>
            <a:normAutofit/>
          </a:bodyPr>
          <a:lstStyle/>
          <a:p>
            <a:r>
              <a:rPr lang="en-US" altLang="zh-CN" sz="2800" dirty="0">
                <a:latin typeface="宋体" panose="02010600030101010101" pitchFamily="2" charset="-122"/>
                <a:ea typeface="宋体" panose="02010600030101010101" pitchFamily="2" charset="-122"/>
              </a:rPr>
              <a:t>1</a:t>
            </a:r>
            <a:r>
              <a:rPr lang="zh-CN" altLang="en-US" sz="2800" dirty="0">
                <a:latin typeface="宋体" panose="02010600030101010101" pitchFamily="2" charset="-122"/>
                <a:ea typeface="宋体" panose="02010600030101010101" pitchFamily="2" charset="-122"/>
              </a:rPr>
              <a:t>、继承的实现</a:t>
            </a:r>
            <a:endParaRPr lang="zh-CN" altLang="en-US" sz="2800" dirty="0">
              <a:latin typeface="宋体" panose="02010600030101010101" pitchFamily="2" charset="-122"/>
              <a:ea typeface="宋体" panose="02010600030101010101" pitchFamily="2" charset="-122"/>
            </a:endParaRPr>
          </a:p>
        </p:txBody>
      </p:sp>
      <p:sp>
        <p:nvSpPr>
          <p:cNvPr id="55299" name="内容占位符 2"/>
          <p:cNvSpPr>
            <a:spLocks noGrp="1"/>
          </p:cNvSpPr>
          <p:nvPr>
            <p:ph idx="4294967295"/>
          </p:nvPr>
        </p:nvSpPr>
        <p:spPr>
          <a:xfrm>
            <a:off x="556661" y="1572006"/>
            <a:ext cx="11078678" cy="4981308"/>
          </a:xfrm>
        </p:spPr>
        <p:txBody>
          <a:bodyPr>
            <a:normAutofit/>
          </a:bodyPr>
          <a:lstStyle/>
          <a:p>
            <a:pPr marL="0" indent="353060">
              <a:buNone/>
            </a:pPr>
            <a:r>
              <a:rPr lang="en-US" altLang="zh-CN" sz="2800" b="1" dirty="0">
                <a:latin typeface="宋体" panose="02010600030101010101" pitchFamily="2" charset="-122"/>
                <a:ea typeface="宋体" panose="02010600030101010101" pitchFamily="2" charset="-122"/>
              </a:rPr>
              <a:t>Java</a:t>
            </a:r>
            <a:r>
              <a:rPr lang="zh-CN" altLang="en-US" sz="2800" b="1" dirty="0">
                <a:latin typeface="宋体" panose="02010600030101010101" pitchFamily="2" charset="-122"/>
                <a:ea typeface="宋体" panose="02010600030101010101" pitchFamily="2" charset="-122"/>
              </a:rPr>
              <a:t>中的继承是通过</a:t>
            </a:r>
            <a:r>
              <a:rPr lang="en-US" altLang="zh-CN" sz="2800" b="1" dirty="0">
                <a:solidFill>
                  <a:srgbClr val="FF0000"/>
                </a:solidFill>
                <a:latin typeface="宋体" panose="02010600030101010101" pitchFamily="2" charset="-122"/>
                <a:ea typeface="宋体" panose="02010600030101010101" pitchFamily="2" charset="-122"/>
              </a:rPr>
              <a:t>extends</a:t>
            </a:r>
            <a:r>
              <a:rPr lang="zh-CN" altLang="en-US" sz="2800" b="1" dirty="0">
                <a:latin typeface="宋体" panose="02010600030101010101" pitchFamily="2" charset="-122"/>
                <a:ea typeface="宋体" panose="02010600030101010101" pitchFamily="2" charset="-122"/>
              </a:rPr>
              <a:t>关键字来实现的，继承的格式如下：</a:t>
            </a:r>
            <a:endParaRPr lang="zh-CN" altLang="en-US" sz="2800" b="1" dirty="0">
              <a:latin typeface="宋体" panose="02010600030101010101" pitchFamily="2" charset="-122"/>
              <a:ea typeface="宋体" panose="02010600030101010101" pitchFamily="2" charset="-122"/>
            </a:endParaRPr>
          </a:p>
          <a:p>
            <a:pPr marL="0" indent="353060">
              <a:buNone/>
            </a:pPr>
            <a:r>
              <a:rPr lang="en-US" altLang="zh-CN" sz="2800" b="1" dirty="0">
                <a:solidFill>
                  <a:srgbClr val="FF0000"/>
                </a:solidFill>
                <a:latin typeface="宋体" panose="02010600030101010101" pitchFamily="2" charset="-122"/>
                <a:ea typeface="宋体" panose="02010600030101010101" pitchFamily="2" charset="-122"/>
              </a:rPr>
              <a:t>[</a:t>
            </a:r>
            <a:r>
              <a:rPr lang="zh-CN" altLang="en-US" sz="2800" b="1" dirty="0">
                <a:solidFill>
                  <a:srgbClr val="FF0000"/>
                </a:solidFill>
                <a:latin typeface="宋体" panose="02010600030101010101" pitchFamily="2" charset="-122"/>
                <a:ea typeface="宋体" panose="02010600030101010101" pitchFamily="2" charset="-122"/>
              </a:rPr>
              <a:t>修饰符</a:t>
            </a:r>
            <a:r>
              <a:rPr lang="en-US" altLang="zh-CN" sz="2800" b="1" dirty="0">
                <a:solidFill>
                  <a:srgbClr val="FF0000"/>
                </a:solidFill>
                <a:latin typeface="宋体" panose="02010600030101010101" pitchFamily="2" charset="-122"/>
                <a:ea typeface="宋体" panose="02010600030101010101" pitchFamily="2" charset="-122"/>
              </a:rPr>
              <a:t>] class </a:t>
            </a:r>
            <a:r>
              <a:rPr lang="zh-CN" altLang="en-US" sz="2800" b="1" dirty="0">
                <a:solidFill>
                  <a:srgbClr val="FF0000"/>
                </a:solidFill>
                <a:latin typeface="宋体" panose="02010600030101010101" pitchFamily="2" charset="-122"/>
                <a:ea typeface="宋体" panose="02010600030101010101" pitchFamily="2" charset="-122"/>
              </a:rPr>
              <a:t>子类名 </a:t>
            </a:r>
            <a:r>
              <a:rPr lang="en-US" altLang="zh-CN" sz="2800" b="1" dirty="0">
                <a:solidFill>
                  <a:srgbClr val="FF0000"/>
                </a:solidFill>
                <a:latin typeface="宋体" panose="02010600030101010101" pitchFamily="2" charset="-122"/>
                <a:ea typeface="宋体" panose="02010600030101010101" pitchFamily="2" charset="-122"/>
              </a:rPr>
              <a:t>extends </a:t>
            </a:r>
            <a:r>
              <a:rPr lang="zh-CN" altLang="en-US" sz="2800" b="1" dirty="0">
                <a:solidFill>
                  <a:srgbClr val="FF0000"/>
                </a:solidFill>
                <a:latin typeface="宋体" panose="02010600030101010101" pitchFamily="2" charset="-122"/>
                <a:ea typeface="宋体" panose="02010600030101010101" pitchFamily="2" charset="-122"/>
              </a:rPr>
              <a:t>父类名</a:t>
            </a:r>
            <a:endParaRPr lang="zh-CN" altLang="en-US" sz="2800" b="1" dirty="0">
              <a:solidFill>
                <a:srgbClr val="FF0000"/>
              </a:solidFill>
              <a:latin typeface="宋体" panose="02010600030101010101" pitchFamily="2" charset="-122"/>
              <a:ea typeface="宋体" panose="02010600030101010101" pitchFamily="2" charset="-122"/>
            </a:endParaRPr>
          </a:p>
          <a:p>
            <a:pPr marL="0" indent="353060">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class </a:t>
            </a:r>
            <a:r>
              <a:rPr lang="en-US" altLang="zh-CN" sz="2800" b="1" dirty="0" err="1">
                <a:latin typeface="宋体" panose="02010600030101010101" pitchFamily="2" charset="-122"/>
                <a:ea typeface="宋体" panose="02010600030101010101" pitchFamily="2" charset="-122"/>
                <a:cs typeface="Times New Roman" panose="02020603050405020304" pitchFamily="18" charset="0"/>
              </a:rPr>
              <a:t>subClassName</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 extends </a:t>
            </a:r>
            <a:r>
              <a:rPr lang="en-US" altLang="zh-CN" sz="2800" b="1" dirty="0" err="1">
                <a:latin typeface="宋体" panose="02010600030101010101" pitchFamily="2" charset="-122"/>
                <a:ea typeface="宋体" panose="02010600030101010101" pitchFamily="2" charset="-122"/>
                <a:cs typeface="Times New Roman" panose="02020603050405020304" pitchFamily="18" charset="0"/>
              </a:rPr>
              <a:t>supClass</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	//</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声明变量</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	//</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定义方法</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r>
              <a:rPr lang="zh-CN" altLang="en-US" sz="280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buNone/>
            </a:pPr>
            <a:r>
              <a:rPr lang="en-US" altLang="zh-CN" sz="2800" b="1" dirty="0">
                <a:solidFill>
                  <a:srgbClr val="FF0000"/>
                </a:solidFill>
                <a:latin typeface="宋体" panose="02010600030101010101" pitchFamily="2" charset="-122"/>
                <a:ea typeface="宋体" panose="02010600030101010101" pitchFamily="2" charset="-122"/>
                <a:cs typeface="Times New Roman" panose="02020603050405020304" pitchFamily="18" charset="0"/>
              </a:rPr>
              <a:t>Java</a:t>
            </a:r>
            <a:r>
              <a:rPr lang="zh-CN" altLang="en-US" sz="2800" b="1" dirty="0">
                <a:solidFill>
                  <a:srgbClr val="FF0000"/>
                </a:solidFill>
                <a:latin typeface="宋体" panose="02010600030101010101" pitchFamily="2" charset="-122"/>
                <a:ea typeface="宋体" panose="02010600030101010101" pitchFamily="2" charset="-122"/>
                <a:cs typeface="Times New Roman" panose="02020603050405020304" pitchFamily="18" charset="0"/>
              </a:rPr>
              <a:t>不支持多重继承。</a:t>
            </a:r>
            <a:endParaRPr lang="zh-CN" altLang="en-US" sz="2800" b="1" dirty="0">
              <a:solidFill>
                <a:srgbClr val="FF0000"/>
              </a:solidFill>
              <a:latin typeface="宋体" panose="02010600030101010101" pitchFamily="2" charset="-122"/>
              <a:ea typeface="宋体" panose="02010600030101010101" pitchFamily="2" charset="-122"/>
              <a:cs typeface="Times New Roman" panose="02020603050405020304" pitchFamily="18" charset="0"/>
            </a:endParaRPr>
          </a:p>
        </p:txBody>
      </p:sp>
      <p:sp>
        <p:nvSpPr>
          <p:cNvPr id="55300"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34E4B26C-2471-4376-B53B-AB0F2B14C5EC}"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389263" y="0"/>
            <a:ext cx="8147318" cy="91405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3.4 </a:t>
            </a:r>
            <a:r>
              <a:rPr lang="zh-CN" altLang="en-US" dirty="0">
                <a:latin typeface="宋体" panose="02010600030101010101" pitchFamily="2" charset="-122"/>
                <a:ea typeface="宋体" panose="02010600030101010101" pitchFamily="2" charset="-122"/>
              </a:rPr>
              <a:t>类的继承</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56323" name="内容占位符 2"/>
          <p:cNvSpPr>
            <a:spLocks noGrp="1"/>
          </p:cNvSpPr>
          <p:nvPr>
            <p:ph idx="4294967295"/>
          </p:nvPr>
        </p:nvSpPr>
        <p:spPr>
          <a:xfrm>
            <a:off x="716522" y="1737930"/>
            <a:ext cx="11343933" cy="5120070"/>
          </a:xfrm>
        </p:spPr>
        <p:txBody>
          <a:bodyPr>
            <a:noAutofit/>
          </a:bodyPr>
          <a:lstStyle/>
          <a:p>
            <a:pPr marL="0" indent="0">
              <a:lnSpc>
                <a:spcPct val="120000"/>
              </a:lnSpc>
              <a:spcBef>
                <a:spcPts val="0"/>
              </a:spcBef>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例</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3.12】</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继承举例</a:t>
            </a:r>
            <a:endParaRPr lang="zh-CN" altLang="en-US" sz="2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class Person {				 </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    private String name;			 </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    private int age;			 </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    public String </a:t>
            </a:r>
            <a:r>
              <a:rPr lang="en-US" altLang="zh-CN" sz="2800" b="1" dirty="0" err="1">
                <a:latin typeface="宋体" panose="02010600030101010101" pitchFamily="2" charset="-122"/>
                <a:ea typeface="宋体" panose="02010600030101010101" pitchFamily="2" charset="-122"/>
                <a:cs typeface="Times New Roman" panose="02020603050405020304" pitchFamily="18" charset="0"/>
              </a:rPr>
              <a:t>getName</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 {	return name;}</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    public void </a:t>
            </a:r>
            <a:r>
              <a:rPr lang="en-US" altLang="zh-CN" sz="2800" b="1" dirty="0" err="1">
                <a:latin typeface="宋体" panose="02010600030101010101" pitchFamily="2" charset="-122"/>
                <a:ea typeface="宋体" panose="02010600030101010101" pitchFamily="2" charset="-122"/>
                <a:cs typeface="Times New Roman" panose="02020603050405020304" pitchFamily="18" charset="0"/>
              </a:rPr>
              <a:t>setName</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(String name) {	this.name = name;}</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    public int </a:t>
            </a:r>
            <a:r>
              <a:rPr lang="en-US" altLang="zh-CN" sz="2800" b="1" dirty="0" err="1">
                <a:latin typeface="宋体" panose="02010600030101010101" pitchFamily="2" charset="-122"/>
                <a:ea typeface="宋体" panose="02010600030101010101" pitchFamily="2" charset="-122"/>
                <a:cs typeface="Times New Roman" panose="02020603050405020304" pitchFamily="18" charset="0"/>
              </a:rPr>
              <a:t>getAge</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 {	return age;}</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    public void </a:t>
            </a:r>
            <a:r>
              <a:rPr lang="en-US" altLang="zh-CN" sz="2800" b="1" dirty="0" err="1">
                <a:latin typeface="宋体" panose="02010600030101010101" pitchFamily="2" charset="-122"/>
                <a:ea typeface="宋体" panose="02010600030101010101" pitchFamily="2" charset="-122"/>
                <a:cs typeface="Times New Roman" panose="02020603050405020304" pitchFamily="18" charset="0"/>
              </a:rPr>
              <a:t>setAge</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(int age) {  </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	</a:t>
            </a:r>
            <a:r>
              <a:rPr lang="en-US" altLang="zh-CN" sz="2800" b="1" dirty="0" err="1">
                <a:latin typeface="宋体" panose="02010600030101010101" pitchFamily="2" charset="-122"/>
                <a:ea typeface="宋体" panose="02010600030101010101" pitchFamily="2" charset="-122"/>
                <a:cs typeface="Times New Roman" panose="02020603050405020304" pitchFamily="18" charset="0"/>
              </a:rPr>
              <a:t>this.age</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 = age;}</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56324"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386F569B-25C9-4CCA-A8B3-EFF0BA8B384B}"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649145" y="657951"/>
            <a:ext cx="8147318" cy="9140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a:latin typeface="宋体" panose="02010600030101010101" pitchFamily="2" charset="-122"/>
                <a:ea typeface="宋体" panose="02010600030101010101" pitchFamily="2" charset="-122"/>
              </a:rPr>
              <a:t>1</a:t>
            </a:r>
            <a:r>
              <a:rPr lang="zh-CN" altLang="en-US" sz="2800">
                <a:latin typeface="宋体" panose="02010600030101010101" pitchFamily="2" charset="-122"/>
                <a:ea typeface="宋体" panose="02010600030101010101" pitchFamily="2" charset="-122"/>
              </a:rPr>
              <a:t>、继承的实现</a:t>
            </a:r>
            <a:endParaRPr lang="zh-CN" altLang="en-US" sz="2800" dirty="0">
              <a:latin typeface="宋体" panose="02010600030101010101" pitchFamily="2" charset="-122"/>
              <a:ea typeface="宋体" panose="02010600030101010101" pitchFamily="2" charset="-122"/>
            </a:endParaRPr>
          </a:p>
        </p:txBody>
      </p:sp>
      <p:sp>
        <p:nvSpPr>
          <p:cNvPr id="6" name="标题 1"/>
          <p:cNvSpPr txBox="1"/>
          <p:nvPr/>
        </p:nvSpPr>
        <p:spPr>
          <a:xfrm>
            <a:off x="389263" y="0"/>
            <a:ext cx="8147318" cy="91405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3.4 </a:t>
            </a:r>
            <a:r>
              <a:rPr lang="zh-CN" altLang="en-US" dirty="0">
                <a:latin typeface="宋体" panose="02010600030101010101" pitchFamily="2" charset="-122"/>
                <a:ea typeface="宋体" panose="02010600030101010101" pitchFamily="2" charset="-122"/>
              </a:rPr>
              <a:t>类的继承</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57347" name="内容占位符 2"/>
          <p:cNvSpPr>
            <a:spLocks noGrp="1"/>
          </p:cNvSpPr>
          <p:nvPr>
            <p:ph idx="4294967295"/>
          </p:nvPr>
        </p:nvSpPr>
        <p:spPr>
          <a:xfrm>
            <a:off x="582670" y="1469999"/>
            <a:ext cx="8598321" cy="5678851"/>
          </a:xfrm>
        </p:spPr>
        <p:txBody>
          <a:bodyPr/>
          <a:lstStyle/>
          <a:p>
            <a:pPr marL="0" indent="353060">
              <a:buNone/>
            </a:pPr>
            <a:r>
              <a:rPr lang="en-US" altLang="zh-CN" sz="2170" b="1" dirty="0">
                <a:latin typeface="Times New Roman" panose="02020603050405020304" pitchFamily="18" charset="0"/>
                <a:cs typeface="Times New Roman" panose="02020603050405020304" pitchFamily="18" charset="0"/>
              </a:rPr>
              <a:t>class Student extends Person {	</a:t>
            </a:r>
            <a:endParaRPr lang="zh-CN" altLang="en-US" sz="2170" b="1" dirty="0">
              <a:latin typeface="Times New Roman" panose="02020603050405020304" pitchFamily="18" charset="0"/>
              <a:cs typeface="Times New Roman" panose="02020603050405020304" pitchFamily="18" charset="0"/>
            </a:endParaRPr>
          </a:p>
          <a:p>
            <a:pPr marL="0" indent="353060">
              <a:buNone/>
            </a:pPr>
            <a:r>
              <a:rPr lang="zh-CN" altLang="en-US" sz="2170" b="1" dirty="0">
                <a:latin typeface="Times New Roman" panose="02020603050405020304" pitchFamily="18" charset="0"/>
                <a:cs typeface="Times New Roman" panose="02020603050405020304" pitchFamily="18" charset="0"/>
              </a:rPr>
              <a:t>	</a:t>
            </a:r>
            <a:r>
              <a:rPr lang="en-US" altLang="zh-CN" sz="2170" b="1" dirty="0">
                <a:latin typeface="Times New Roman" panose="02020603050405020304" pitchFamily="18" charset="0"/>
                <a:cs typeface="Times New Roman" panose="02020603050405020304" pitchFamily="18" charset="0"/>
              </a:rPr>
              <a:t>private String school;	</a:t>
            </a:r>
            <a:endParaRPr lang="en-US" altLang="zh-CN" sz="2170" b="1" dirty="0">
              <a:latin typeface="Times New Roman" panose="02020603050405020304" pitchFamily="18" charset="0"/>
              <a:cs typeface="Times New Roman" panose="02020603050405020304" pitchFamily="18" charset="0"/>
            </a:endParaRPr>
          </a:p>
          <a:p>
            <a:pPr marL="0" indent="353060">
              <a:buNone/>
            </a:pPr>
            <a:r>
              <a:rPr lang="en-US" altLang="zh-CN" sz="2170" b="1" dirty="0">
                <a:latin typeface="Times New Roman" panose="02020603050405020304" pitchFamily="18" charset="0"/>
                <a:cs typeface="Times New Roman" panose="02020603050405020304" pitchFamily="18" charset="0"/>
              </a:rPr>
              <a:t>	public String </a:t>
            </a:r>
            <a:r>
              <a:rPr lang="en-US" altLang="zh-CN" sz="2170" b="1" dirty="0" err="1">
                <a:latin typeface="Times New Roman" panose="02020603050405020304" pitchFamily="18" charset="0"/>
                <a:cs typeface="Times New Roman" panose="02020603050405020304" pitchFamily="18" charset="0"/>
              </a:rPr>
              <a:t>getSchool</a:t>
            </a:r>
            <a:r>
              <a:rPr lang="en-US" altLang="zh-CN" sz="2170" b="1" dirty="0">
                <a:latin typeface="Times New Roman" panose="02020603050405020304" pitchFamily="18" charset="0"/>
                <a:cs typeface="Times New Roman" panose="02020603050405020304" pitchFamily="18" charset="0"/>
              </a:rPr>
              <a:t>() {</a:t>
            </a:r>
            <a:r>
              <a:rPr lang="zh-CN" altLang="en-US" sz="2170" b="1" dirty="0">
                <a:latin typeface="Times New Roman" panose="02020603050405020304" pitchFamily="18" charset="0"/>
                <a:cs typeface="Times New Roman" panose="02020603050405020304" pitchFamily="18" charset="0"/>
              </a:rPr>
              <a:t>    </a:t>
            </a:r>
            <a:r>
              <a:rPr lang="en-US" altLang="zh-CN" sz="2170" b="1" dirty="0">
                <a:latin typeface="Times New Roman" panose="02020603050405020304" pitchFamily="18" charset="0"/>
                <a:cs typeface="Times New Roman" panose="02020603050405020304" pitchFamily="18" charset="0"/>
              </a:rPr>
              <a:t>return school;    }</a:t>
            </a:r>
            <a:endParaRPr lang="en-US" altLang="zh-CN" sz="2170" b="1" dirty="0">
              <a:latin typeface="Times New Roman" panose="02020603050405020304" pitchFamily="18" charset="0"/>
              <a:cs typeface="Times New Roman" panose="02020603050405020304" pitchFamily="18" charset="0"/>
            </a:endParaRPr>
          </a:p>
          <a:p>
            <a:pPr marL="0" indent="353060">
              <a:buNone/>
            </a:pPr>
            <a:r>
              <a:rPr lang="en-US" altLang="zh-CN" sz="2170" b="1" dirty="0">
                <a:latin typeface="Times New Roman" panose="02020603050405020304" pitchFamily="18" charset="0"/>
                <a:cs typeface="Times New Roman" panose="02020603050405020304" pitchFamily="18" charset="0"/>
              </a:rPr>
              <a:t>	public void </a:t>
            </a:r>
            <a:r>
              <a:rPr lang="en-US" altLang="zh-CN" sz="2170" b="1" dirty="0" err="1">
                <a:latin typeface="Times New Roman" panose="02020603050405020304" pitchFamily="18" charset="0"/>
                <a:cs typeface="Times New Roman" panose="02020603050405020304" pitchFamily="18" charset="0"/>
              </a:rPr>
              <a:t>setSchool</a:t>
            </a:r>
            <a:r>
              <a:rPr lang="en-US" altLang="zh-CN" sz="2170" b="1" dirty="0">
                <a:latin typeface="Times New Roman" panose="02020603050405020304" pitchFamily="18" charset="0"/>
                <a:cs typeface="Times New Roman" panose="02020603050405020304" pitchFamily="18" charset="0"/>
              </a:rPr>
              <a:t>(String school) {	    </a:t>
            </a:r>
            <a:r>
              <a:rPr lang="en-US" altLang="zh-CN" sz="2170" b="1" dirty="0" err="1">
                <a:latin typeface="Times New Roman" panose="02020603050405020304" pitchFamily="18" charset="0"/>
                <a:cs typeface="Times New Roman" panose="02020603050405020304" pitchFamily="18" charset="0"/>
              </a:rPr>
              <a:t>this.school</a:t>
            </a:r>
            <a:r>
              <a:rPr lang="en-US" altLang="zh-CN" sz="2170" b="1" dirty="0">
                <a:latin typeface="Times New Roman" panose="02020603050405020304" pitchFamily="18" charset="0"/>
                <a:cs typeface="Times New Roman" panose="02020603050405020304" pitchFamily="18" charset="0"/>
              </a:rPr>
              <a:t> = school;}</a:t>
            </a:r>
            <a:endParaRPr lang="en-US" altLang="zh-CN" sz="2170" b="1" dirty="0">
              <a:latin typeface="Times New Roman" panose="02020603050405020304" pitchFamily="18" charset="0"/>
              <a:cs typeface="Times New Roman" panose="02020603050405020304" pitchFamily="18" charset="0"/>
            </a:endParaRPr>
          </a:p>
          <a:p>
            <a:pPr marL="0" indent="353060">
              <a:buNone/>
            </a:pPr>
            <a:r>
              <a:rPr lang="en-US" altLang="zh-CN" sz="2170" b="1" dirty="0">
                <a:latin typeface="Times New Roman" panose="02020603050405020304" pitchFamily="18" charset="0"/>
                <a:cs typeface="Times New Roman" panose="02020603050405020304" pitchFamily="18" charset="0"/>
              </a:rPr>
              <a:t>}</a:t>
            </a:r>
            <a:endParaRPr lang="en-US" altLang="zh-CN" sz="2170" b="1" dirty="0">
              <a:latin typeface="Times New Roman" panose="02020603050405020304" pitchFamily="18" charset="0"/>
              <a:cs typeface="Times New Roman" panose="02020603050405020304" pitchFamily="18" charset="0"/>
            </a:endParaRPr>
          </a:p>
          <a:p>
            <a:pPr marL="0" indent="353060">
              <a:buNone/>
            </a:pPr>
            <a:endParaRPr lang="en-US" altLang="zh-CN" sz="2820" b="1" dirty="0"/>
          </a:p>
          <a:p>
            <a:pPr marL="0" indent="353060">
              <a:buNone/>
            </a:pPr>
            <a:endParaRPr lang="zh-CN" altLang="en-US" sz="2820" b="1" dirty="0"/>
          </a:p>
        </p:txBody>
      </p:sp>
      <p:sp>
        <p:nvSpPr>
          <p:cNvPr id="57348"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E8810FCF-A8B0-4CD2-8026-AD7F2E83C196}"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pic>
        <p:nvPicPr>
          <p:cNvPr id="5734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98558" y="3513556"/>
            <a:ext cx="6882099" cy="3358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标题 1"/>
          <p:cNvSpPr txBox="1"/>
          <p:nvPr/>
        </p:nvSpPr>
        <p:spPr>
          <a:xfrm>
            <a:off x="420545" y="429351"/>
            <a:ext cx="8147318" cy="9140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dirty="0">
                <a:latin typeface="宋体" panose="02010600030101010101" pitchFamily="2" charset="-122"/>
                <a:ea typeface="宋体" panose="02010600030101010101" pitchFamily="2" charset="-122"/>
              </a:rPr>
              <a:t>1</a:t>
            </a:r>
            <a:r>
              <a:rPr lang="zh-CN" altLang="en-US" sz="2800" dirty="0">
                <a:latin typeface="宋体" panose="02010600030101010101" pitchFamily="2" charset="-122"/>
                <a:ea typeface="宋体" panose="02010600030101010101" pitchFamily="2" charset="-122"/>
              </a:rPr>
              <a:t>、继承的实现</a:t>
            </a:r>
            <a:endParaRPr lang="zh-CN" altLang="en-US" sz="2800" dirty="0">
              <a:latin typeface="宋体" panose="02010600030101010101" pitchFamily="2" charset="-122"/>
              <a:ea typeface="宋体" panose="02010600030101010101" pitchFamily="2" charset="-122"/>
            </a:endParaRPr>
          </a:p>
        </p:txBody>
      </p:sp>
      <p:sp>
        <p:nvSpPr>
          <p:cNvPr id="7" name="标题 1"/>
          <p:cNvSpPr txBox="1"/>
          <p:nvPr/>
        </p:nvSpPr>
        <p:spPr>
          <a:xfrm>
            <a:off x="289872" y="-138336"/>
            <a:ext cx="8147318" cy="91405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3.4 </a:t>
            </a:r>
            <a:r>
              <a:rPr lang="zh-CN" altLang="en-US" dirty="0">
                <a:latin typeface="宋体" panose="02010600030101010101" pitchFamily="2" charset="-122"/>
                <a:ea typeface="宋体" panose="02010600030101010101" pitchFamily="2" charset="-122"/>
              </a:rPr>
              <a:t>类的继承</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内容占位符 2"/>
          <p:cNvSpPr>
            <a:spLocks noGrp="1"/>
          </p:cNvSpPr>
          <p:nvPr>
            <p:ph idx="4294967295"/>
          </p:nvPr>
        </p:nvSpPr>
        <p:spPr>
          <a:xfrm>
            <a:off x="816646" y="1789380"/>
            <a:ext cx="10792259" cy="4668398"/>
          </a:xfrm>
        </p:spPr>
        <p:txBody>
          <a:bodyPr>
            <a:normAutofit/>
          </a:bodyPr>
          <a:lstStyle/>
          <a:p>
            <a:pPr marL="0" indent="353060">
              <a:buNone/>
            </a:pPr>
            <a:r>
              <a:rPr lang="zh-CN" altLang="en-US" sz="2800" b="1" dirty="0">
                <a:latin typeface="宋体" panose="02010600030101010101" pitchFamily="2" charset="-122"/>
                <a:ea typeface="宋体" panose="02010600030101010101" pitchFamily="2" charset="-122"/>
              </a:rPr>
              <a:t>  子类可以继承直接父类中的方法与属性，那么初始化子类对象的时候需要</a:t>
            </a:r>
            <a:r>
              <a:rPr lang="zh-CN" altLang="en-US" sz="2800" b="1" dirty="0">
                <a:solidFill>
                  <a:srgbClr val="FF0000"/>
                </a:solidFill>
                <a:latin typeface="宋体" panose="02010600030101010101" pitchFamily="2" charset="-122"/>
                <a:ea typeface="宋体" panose="02010600030101010101" pitchFamily="2" charset="-122"/>
              </a:rPr>
              <a:t>先去调用父类中的构造方法</a:t>
            </a:r>
            <a:r>
              <a:rPr lang="zh-CN" altLang="en-US" sz="2800" b="1" dirty="0">
                <a:latin typeface="宋体" panose="02010600030101010101" pitchFamily="2" charset="-122"/>
                <a:ea typeface="宋体" panose="02010600030101010101" pitchFamily="2" charset="-122"/>
              </a:rPr>
              <a:t>对从父类继承过来的成员进行初始化，然后</a:t>
            </a:r>
            <a:r>
              <a:rPr lang="zh-CN" altLang="en-US" sz="2800" b="1" dirty="0">
                <a:solidFill>
                  <a:srgbClr val="FF0000"/>
                </a:solidFill>
                <a:latin typeface="宋体" panose="02010600030101010101" pitchFamily="2" charset="-122"/>
                <a:ea typeface="宋体" panose="02010600030101010101" pitchFamily="2" charset="-122"/>
              </a:rPr>
              <a:t>再执行子类自身的构造方法</a:t>
            </a:r>
            <a:r>
              <a:rPr lang="zh-CN" altLang="en-US" sz="2800" b="1" dirty="0">
                <a:latin typeface="宋体" panose="02010600030101010101" pitchFamily="2" charset="-122"/>
                <a:ea typeface="宋体" panose="02010600030101010101" pitchFamily="2" charset="-122"/>
              </a:rPr>
              <a:t>对子类新增加的成员进行初始化。</a:t>
            </a:r>
            <a:endParaRPr lang="zh-CN" altLang="en-US" sz="2800" b="1" dirty="0">
              <a:latin typeface="宋体" panose="02010600030101010101" pitchFamily="2" charset="-122"/>
              <a:ea typeface="宋体" panose="02010600030101010101" pitchFamily="2" charset="-122"/>
            </a:endParaRPr>
          </a:p>
        </p:txBody>
      </p:sp>
      <p:sp>
        <p:nvSpPr>
          <p:cNvPr id="58372"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BD30ABFE-9E5B-4EDB-A230-875DE128613C}"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649145" y="657951"/>
            <a:ext cx="8147318" cy="9140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dirty="0">
                <a:latin typeface="宋体" panose="02010600030101010101" pitchFamily="2" charset="-122"/>
                <a:ea typeface="宋体" panose="02010600030101010101" pitchFamily="2" charset="-122"/>
              </a:rPr>
              <a:t>1</a:t>
            </a:r>
            <a:r>
              <a:rPr lang="zh-CN" altLang="en-US" sz="2800" dirty="0">
                <a:latin typeface="宋体" panose="02010600030101010101" pitchFamily="2" charset="-122"/>
                <a:ea typeface="宋体" panose="02010600030101010101" pitchFamily="2" charset="-122"/>
              </a:rPr>
              <a:t>、继承中构造方法的调用</a:t>
            </a:r>
            <a:endParaRPr lang="zh-CN" altLang="en-US" sz="2800" dirty="0">
              <a:latin typeface="宋体" panose="02010600030101010101" pitchFamily="2" charset="-122"/>
              <a:ea typeface="宋体" panose="02010600030101010101" pitchFamily="2" charset="-122"/>
            </a:endParaRPr>
          </a:p>
        </p:txBody>
      </p:sp>
      <p:sp>
        <p:nvSpPr>
          <p:cNvPr id="6" name="标题 1"/>
          <p:cNvSpPr txBox="1"/>
          <p:nvPr/>
        </p:nvSpPr>
        <p:spPr>
          <a:xfrm>
            <a:off x="389263" y="0"/>
            <a:ext cx="8147318" cy="91405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3.4 </a:t>
            </a:r>
            <a:r>
              <a:rPr lang="zh-CN" altLang="en-US" dirty="0">
                <a:latin typeface="宋体" panose="02010600030101010101" pitchFamily="2" charset="-122"/>
                <a:ea typeface="宋体" panose="02010600030101010101" pitchFamily="2" charset="-122"/>
              </a:rPr>
              <a:t>类的继承</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59395" name="内容占位符 2"/>
          <p:cNvSpPr>
            <a:spLocks noGrp="1"/>
          </p:cNvSpPr>
          <p:nvPr>
            <p:ph idx="4294967295"/>
          </p:nvPr>
        </p:nvSpPr>
        <p:spPr>
          <a:xfrm>
            <a:off x="779383" y="1711806"/>
            <a:ext cx="10633233" cy="4611991"/>
          </a:xfrm>
        </p:spPr>
        <p:txBody>
          <a:bodyPr>
            <a:normAutofit fontScale="85000" lnSpcReduction="10000"/>
          </a:bodyPr>
          <a:lstStyle/>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例</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3.13】</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继承关系下构造方法的调用</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class Person{</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private String name;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zh-CN" altLang="en-US"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private int age;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zh-CN" altLang="en-US"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public Person(){</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System.out.println</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调用了个人构造方法</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Person()");</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public void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SetNameAge</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(String name, int age){</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this.name=name;</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this.age</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=age;</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public void show(){</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System.out.println</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姓名：</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"+name+"  </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年龄：</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"+age);</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59396"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6C7D68A1-5CE2-4422-BDC7-FA5F86E0D2F7}"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649145" y="657951"/>
            <a:ext cx="8147318" cy="9140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a:latin typeface="宋体" panose="02010600030101010101" pitchFamily="2" charset="-122"/>
                <a:ea typeface="宋体" panose="02010600030101010101" pitchFamily="2" charset="-122"/>
              </a:rPr>
              <a:t>1</a:t>
            </a:r>
            <a:r>
              <a:rPr lang="zh-CN" altLang="en-US" sz="2800">
                <a:latin typeface="宋体" panose="02010600030101010101" pitchFamily="2" charset="-122"/>
                <a:ea typeface="宋体" panose="02010600030101010101" pitchFamily="2" charset="-122"/>
              </a:rPr>
              <a:t>、继承的实现</a:t>
            </a:r>
            <a:endParaRPr lang="zh-CN" altLang="en-US" sz="2800" dirty="0">
              <a:latin typeface="宋体" panose="02010600030101010101" pitchFamily="2" charset="-122"/>
              <a:ea typeface="宋体" panose="02010600030101010101" pitchFamily="2" charset="-122"/>
            </a:endParaRPr>
          </a:p>
        </p:txBody>
      </p:sp>
      <p:sp>
        <p:nvSpPr>
          <p:cNvPr id="6" name="标题 1"/>
          <p:cNvSpPr txBox="1"/>
          <p:nvPr/>
        </p:nvSpPr>
        <p:spPr>
          <a:xfrm>
            <a:off x="389263" y="0"/>
            <a:ext cx="8147318" cy="91405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3.4 </a:t>
            </a:r>
            <a:r>
              <a:rPr lang="zh-CN" altLang="en-US" dirty="0">
                <a:latin typeface="宋体" panose="02010600030101010101" pitchFamily="2" charset="-122"/>
                <a:ea typeface="宋体" panose="02010600030101010101" pitchFamily="2" charset="-122"/>
              </a:rPr>
              <a:t>类的继承</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60419" name="内容占位符 2"/>
          <p:cNvSpPr>
            <a:spLocks noGrp="1"/>
          </p:cNvSpPr>
          <p:nvPr>
            <p:ph idx="4294967295"/>
          </p:nvPr>
        </p:nvSpPr>
        <p:spPr>
          <a:xfrm>
            <a:off x="832025" y="1660467"/>
            <a:ext cx="10239192" cy="4066565"/>
          </a:xfrm>
        </p:spPr>
        <p:txBody>
          <a:bodyPr>
            <a:normAutofit/>
          </a:bodyPr>
          <a:lstStyle/>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class Student extends Person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private String department;</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public Student(){</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System.out.println</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调用了学生构造方法</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Student()");</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public void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SetDepartment</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(String dep){</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department=dep;</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System.out.println</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我是</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"+department +"</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的学生</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60420"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44386BD7-DDCE-42F8-8696-3D470B302A0C}"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649145" y="657951"/>
            <a:ext cx="8147318" cy="9140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a:latin typeface="宋体" panose="02010600030101010101" pitchFamily="2" charset="-122"/>
                <a:ea typeface="宋体" panose="02010600030101010101" pitchFamily="2" charset="-122"/>
              </a:rPr>
              <a:t>1</a:t>
            </a:r>
            <a:r>
              <a:rPr lang="zh-CN" altLang="en-US" sz="2800">
                <a:latin typeface="宋体" panose="02010600030101010101" pitchFamily="2" charset="-122"/>
                <a:ea typeface="宋体" panose="02010600030101010101" pitchFamily="2" charset="-122"/>
              </a:rPr>
              <a:t>、继承的实现</a:t>
            </a:r>
            <a:endParaRPr lang="zh-CN" altLang="en-US" sz="2800" dirty="0">
              <a:latin typeface="宋体" panose="02010600030101010101" pitchFamily="2" charset="-122"/>
              <a:ea typeface="宋体" panose="02010600030101010101" pitchFamily="2" charset="-122"/>
            </a:endParaRPr>
          </a:p>
        </p:txBody>
      </p:sp>
      <p:sp>
        <p:nvSpPr>
          <p:cNvPr id="6" name="标题 1"/>
          <p:cNvSpPr txBox="1"/>
          <p:nvPr/>
        </p:nvSpPr>
        <p:spPr>
          <a:xfrm>
            <a:off x="389263" y="0"/>
            <a:ext cx="8147318" cy="91405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3.4 </a:t>
            </a:r>
            <a:r>
              <a:rPr lang="zh-CN" altLang="en-US" dirty="0">
                <a:latin typeface="宋体" panose="02010600030101010101" pitchFamily="2" charset="-122"/>
                <a:ea typeface="宋体" panose="02010600030101010101" pitchFamily="2" charset="-122"/>
              </a:rPr>
              <a:t>类的继承</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61443" name="内容占位符 2"/>
          <p:cNvSpPr>
            <a:spLocks noGrp="1"/>
          </p:cNvSpPr>
          <p:nvPr>
            <p:ph idx="4294967295"/>
          </p:nvPr>
        </p:nvSpPr>
        <p:spPr>
          <a:xfrm>
            <a:off x="947527" y="1731650"/>
            <a:ext cx="10410283" cy="4498046"/>
          </a:xfrm>
        </p:spPr>
        <p:txBody>
          <a:bodyPr>
            <a:normAutofit/>
          </a:bodyPr>
          <a:lstStyle/>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public class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testStu</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public static void main(String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args</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Student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stu</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=new Student();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zh-CN" altLang="en-US"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stu.SetNameAge</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张三</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",21);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zh-CN" altLang="en-US"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stu.show</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zh-CN" altLang="en-US"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stu.SetDepartment</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计算机系</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zh-CN" altLang="en-US"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zh-CN" altLang="en-US" sz="2800" b="1" dirty="0">
                <a:latin typeface="宋体" panose="02010600030101010101" pitchFamily="2" charset="-122"/>
                <a:ea typeface="宋体" panose="02010600030101010101" pitchFamily="2" charset="-122"/>
              </a:rPr>
              <a:t>子类对象在实例化时会默认先去调用父类的无参构造方法，之后再调用本类中的相应构造方法。</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endParaRPr lang="en-US" altLang="zh-CN" sz="3035"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endParaRPr lang="zh-CN" altLang="en-US" sz="3035"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endParaRPr lang="zh-CN" altLang="en-US" sz="2820" b="1" dirty="0">
              <a:latin typeface="宋体" panose="02010600030101010101" pitchFamily="2" charset="-122"/>
              <a:ea typeface="宋体" panose="02010600030101010101" pitchFamily="2" charset="-122"/>
            </a:endParaRPr>
          </a:p>
        </p:txBody>
      </p:sp>
      <p:sp>
        <p:nvSpPr>
          <p:cNvPr id="61444"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6ACB9A32-8B9C-4677-B722-9290D2A56B3F}"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649145" y="657951"/>
            <a:ext cx="8147318" cy="9140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a:latin typeface="宋体" panose="02010600030101010101" pitchFamily="2" charset="-122"/>
                <a:ea typeface="宋体" panose="02010600030101010101" pitchFamily="2" charset="-122"/>
              </a:rPr>
              <a:t>1</a:t>
            </a:r>
            <a:r>
              <a:rPr lang="zh-CN" altLang="en-US" sz="2800">
                <a:latin typeface="宋体" panose="02010600030101010101" pitchFamily="2" charset="-122"/>
                <a:ea typeface="宋体" panose="02010600030101010101" pitchFamily="2" charset="-122"/>
              </a:rPr>
              <a:t>、继承的实现</a:t>
            </a:r>
            <a:endParaRPr lang="zh-CN" altLang="en-US" sz="2800" dirty="0">
              <a:latin typeface="宋体" panose="02010600030101010101" pitchFamily="2" charset="-122"/>
              <a:ea typeface="宋体" panose="02010600030101010101" pitchFamily="2" charset="-122"/>
            </a:endParaRPr>
          </a:p>
        </p:txBody>
      </p:sp>
      <p:sp>
        <p:nvSpPr>
          <p:cNvPr id="6" name="标题 1"/>
          <p:cNvSpPr txBox="1"/>
          <p:nvPr/>
        </p:nvSpPr>
        <p:spPr>
          <a:xfrm>
            <a:off x="389263" y="0"/>
            <a:ext cx="8147318" cy="91405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3.4 </a:t>
            </a:r>
            <a:r>
              <a:rPr lang="zh-CN" altLang="en-US" dirty="0">
                <a:latin typeface="宋体" panose="02010600030101010101" pitchFamily="2" charset="-122"/>
                <a:ea typeface="宋体" panose="02010600030101010101" pitchFamily="2" charset="-122"/>
              </a:rPr>
              <a:t>类的继承</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62467" name="内容占位符 2"/>
          <p:cNvSpPr>
            <a:spLocks noGrp="1"/>
          </p:cNvSpPr>
          <p:nvPr>
            <p:ph idx="4294967295"/>
          </p:nvPr>
        </p:nvSpPr>
        <p:spPr>
          <a:xfrm>
            <a:off x="1082282" y="1699430"/>
            <a:ext cx="8978747" cy="5240386"/>
          </a:xfrm>
        </p:spPr>
        <p:txBody>
          <a:bodyPr>
            <a:normAutofit lnSpcReduction="10000"/>
          </a:bodyPr>
          <a:lstStyle/>
          <a:p>
            <a:pPr marL="0" indent="0">
              <a:lnSpc>
                <a:spcPct val="120000"/>
              </a:lnSpc>
              <a:spcBef>
                <a:spcPts val="0"/>
              </a:spcBef>
              <a:buNone/>
            </a:pPr>
            <a:r>
              <a:rPr lang="zh-CN" altLang="en-US" sz="1800" b="1" dirty="0">
                <a:latin typeface="宋体" panose="02010600030101010101" pitchFamily="2" charset="-122"/>
                <a:ea typeface="宋体" panose="02010600030101010101" pitchFamily="2" charset="-122"/>
                <a:cs typeface="Times New Roman" panose="02020603050405020304" pitchFamily="18" charset="0"/>
              </a:rPr>
              <a:t>【例</a:t>
            </a:r>
            <a:r>
              <a:rPr lang="en-US" altLang="zh-CN" sz="1800" b="1" dirty="0">
                <a:latin typeface="宋体" panose="02010600030101010101" pitchFamily="2" charset="-122"/>
                <a:ea typeface="宋体" panose="02010600030101010101" pitchFamily="2" charset="-122"/>
                <a:cs typeface="Times New Roman" panose="02020603050405020304" pitchFamily="18" charset="0"/>
              </a:rPr>
              <a:t>3.14</a:t>
            </a:r>
            <a:r>
              <a:rPr lang="zh-CN" altLang="en-US" sz="1800" b="1" dirty="0">
                <a:latin typeface="宋体" panose="02010600030101010101" pitchFamily="2" charset="-122"/>
                <a:ea typeface="宋体" panose="02010600030101010101" pitchFamily="2" charset="-122"/>
                <a:cs typeface="Times New Roman" panose="02020603050405020304" pitchFamily="18" charset="0"/>
              </a:rPr>
              <a:t>】调用父类中指定参数的构造方法。</a:t>
            </a:r>
            <a:endParaRPr lang="zh-CN" altLang="en-US" sz="1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1800" b="1" dirty="0">
                <a:latin typeface="宋体" panose="02010600030101010101" pitchFamily="2" charset="-122"/>
                <a:ea typeface="宋体" panose="02010600030101010101" pitchFamily="2" charset="-122"/>
                <a:cs typeface="Times New Roman" panose="02020603050405020304" pitchFamily="18" charset="0"/>
              </a:rPr>
              <a:t>class Person      {</a:t>
            </a:r>
            <a:endParaRPr lang="zh-CN" altLang="en-US" sz="1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1800" b="1" dirty="0">
                <a:latin typeface="宋体" panose="02010600030101010101" pitchFamily="2" charset="-122"/>
                <a:ea typeface="宋体" panose="02010600030101010101" pitchFamily="2" charset="-122"/>
                <a:cs typeface="Times New Roman" panose="02020603050405020304" pitchFamily="18" charset="0"/>
              </a:rPr>
              <a:t>    private String name; </a:t>
            </a:r>
            <a:endParaRPr lang="zh-CN" altLang="en-US" sz="1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1800" b="1" dirty="0">
                <a:latin typeface="宋体" panose="02010600030101010101" pitchFamily="2" charset="-122"/>
                <a:ea typeface="宋体" panose="02010600030101010101" pitchFamily="2" charset="-122"/>
                <a:cs typeface="Times New Roman" panose="02020603050405020304" pitchFamily="18" charset="0"/>
              </a:rPr>
              <a:t>    private int age; </a:t>
            </a:r>
            <a:endParaRPr lang="zh-CN" altLang="en-US" sz="1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1800" b="1" dirty="0">
                <a:latin typeface="宋体" panose="02010600030101010101" pitchFamily="2" charset="-122"/>
                <a:ea typeface="宋体" panose="02010600030101010101" pitchFamily="2" charset="-122"/>
                <a:cs typeface="Times New Roman" panose="02020603050405020304" pitchFamily="18" charset="0"/>
              </a:rPr>
              <a:t>    public Person()  {</a:t>
            </a:r>
            <a:endParaRPr lang="zh-CN" altLang="en-US" sz="1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1800" b="1" dirty="0">
                <a:latin typeface="宋体" panose="02010600030101010101" pitchFamily="2" charset="-122"/>
                <a:ea typeface="宋体" panose="02010600030101010101" pitchFamily="2" charset="-122"/>
                <a:cs typeface="Times New Roman" panose="02020603050405020304" pitchFamily="18" charset="0"/>
              </a:rPr>
              <a:t>        </a:t>
            </a:r>
            <a:r>
              <a:rPr lang="en-US" altLang="zh-CN" sz="1800" b="1" dirty="0" err="1">
                <a:latin typeface="宋体" panose="02010600030101010101" pitchFamily="2" charset="-122"/>
                <a:ea typeface="宋体" panose="02010600030101010101" pitchFamily="2" charset="-122"/>
                <a:cs typeface="Times New Roman" panose="02020603050405020304" pitchFamily="18" charset="0"/>
              </a:rPr>
              <a:t>System.out.println</a:t>
            </a:r>
            <a:r>
              <a:rPr lang="en-US" altLang="zh-CN" sz="1800" b="1" dirty="0">
                <a:latin typeface="宋体" panose="02010600030101010101" pitchFamily="2" charset="-122"/>
                <a:ea typeface="宋体" panose="02010600030101010101" pitchFamily="2" charset="-122"/>
                <a:cs typeface="Times New Roman" panose="02020603050405020304" pitchFamily="18" charset="0"/>
              </a:rPr>
              <a:t>("</a:t>
            </a:r>
            <a:r>
              <a:rPr lang="zh-CN" altLang="en-US" sz="1800" b="1" dirty="0">
                <a:latin typeface="宋体" panose="02010600030101010101" pitchFamily="2" charset="-122"/>
                <a:ea typeface="宋体" panose="02010600030101010101" pitchFamily="2" charset="-122"/>
                <a:cs typeface="Times New Roman" panose="02020603050405020304" pitchFamily="18" charset="0"/>
              </a:rPr>
              <a:t>调用了</a:t>
            </a:r>
            <a:r>
              <a:rPr lang="en-US" altLang="zh-CN" sz="1800" b="1" dirty="0">
                <a:latin typeface="宋体" panose="02010600030101010101" pitchFamily="2" charset="-122"/>
                <a:ea typeface="宋体" panose="02010600030101010101" pitchFamily="2" charset="-122"/>
                <a:cs typeface="Times New Roman" panose="02020603050405020304" pitchFamily="18" charset="0"/>
              </a:rPr>
              <a:t>Person</a:t>
            </a:r>
            <a:r>
              <a:rPr lang="zh-CN" altLang="en-US" sz="1800" b="1" dirty="0">
                <a:latin typeface="宋体" panose="02010600030101010101" pitchFamily="2" charset="-122"/>
                <a:ea typeface="宋体" panose="02010600030101010101" pitchFamily="2" charset="-122"/>
                <a:cs typeface="Times New Roman" panose="02020603050405020304" pitchFamily="18" charset="0"/>
              </a:rPr>
              <a:t>的无参构造方法</a:t>
            </a:r>
            <a:r>
              <a:rPr lang="en-US" altLang="zh-CN" sz="180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1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1800" b="1" dirty="0">
                <a:latin typeface="宋体" panose="02010600030101010101" pitchFamily="2" charset="-122"/>
                <a:ea typeface="宋体" panose="02010600030101010101" pitchFamily="2" charset="-122"/>
                <a:cs typeface="Times New Roman" panose="02020603050405020304" pitchFamily="18" charset="0"/>
              </a:rPr>
              <a:t>    }</a:t>
            </a:r>
            <a:endParaRPr lang="zh-CN" altLang="en-US" sz="1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1800" b="1" dirty="0">
                <a:latin typeface="宋体" panose="02010600030101010101" pitchFamily="2" charset="-122"/>
                <a:ea typeface="宋体" panose="02010600030101010101" pitchFamily="2" charset="-122"/>
                <a:cs typeface="Times New Roman" panose="02020603050405020304" pitchFamily="18" charset="0"/>
              </a:rPr>
              <a:t>    public Person(String name, int age)  {</a:t>
            </a:r>
            <a:endParaRPr lang="zh-CN" altLang="en-US" sz="1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1800" b="1" dirty="0">
                <a:latin typeface="宋体" panose="02010600030101010101" pitchFamily="2" charset="-122"/>
                <a:ea typeface="宋体" panose="02010600030101010101" pitchFamily="2" charset="-122"/>
                <a:cs typeface="Times New Roman" panose="02020603050405020304" pitchFamily="18" charset="0"/>
              </a:rPr>
              <a:t>        </a:t>
            </a:r>
            <a:r>
              <a:rPr lang="en-US" altLang="zh-CN" sz="1800" b="1" dirty="0" err="1">
                <a:latin typeface="宋体" panose="02010600030101010101" pitchFamily="2" charset="-122"/>
                <a:ea typeface="宋体" panose="02010600030101010101" pitchFamily="2" charset="-122"/>
                <a:cs typeface="Times New Roman" panose="02020603050405020304" pitchFamily="18" charset="0"/>
              </a:rPr>
              <a:t>System.out.println</a:t>
            </a:r>
            <a:r>
              <a:rPr lang="en-US" altLang="zh-CN" sz="1800" b="1" dirty="0">
                <a:latin typeface="宋体" panose="02010600030101010101" pitchFamily="2" charset="-122"/>
                <a:ea typeface="宋体" panose="02010600030101010101" pitchFamily="2" charset="-122"/>
                <a:cs typeface="Times New Roman" panose="02020603050405020304" pitchFamily="18" charset="0"/>
              </a:rPr>
              <a:t>("</a:t>
            </a:r>
            <a:r>
              <a:rPr lang="zh-CN" altLang="en-US" sz="1800" b="1" dirty="0">
                <a:latin typeface="宋体" panose="02010600030101010101" pitchFamily="2" charset="-122"/>
                <a:ea typeface="宋体" panose="02010600030101010101" pitchFamily="2" charset="-122"/>
                <a:cs typeface="Times New Roman" panose="02020603050405020304" pitchFamily="18" charset="0"/>
              </a:rPr>
              <a:t>调用了</a:t>
            </a:r>
            <a:r>
              <a:rPr lang="en-US" altLang="zh-CN" sz="1800" b="1" dirty="0">
                <a:latin typeface="宋体" panose="02010600030101010101" pitchFamily="2" charset="-122"/>
                <a:ea typeface="宋体" panose="02010600030101010101" pitchFamily="2" charset="-122"/>
                <a:cs typeface="Times New Roman" panose="02020603050405020304" pitchFamily="18" charset="0"/>
              </a:rPr>
              <a:t>Person</a:t>
            </a:r>
            <a:r>
              <a:rPr lang="zh-CN" altLang="en-US" sz="1800" b="1" dirty="0">
                <a:latin typeface="宋体" panose="02010600030101010101" pitchFamily="2" charset="-122"/>
                <a:ea typeface="宋体" panose="02010600030101010101" pitchFamily="2" charset="-122"/>
                <a:cs typeface="Times New Roman" panose="02020603050405020304" pitchFamily="18" charset="0"/>
              </a:rPr>
              <a:t>的有参构造方法</a:t>
            </a:r>
            <a:r>
              <a:rPr lang="en-US" altLang="zh-CN" sz="1800" b="1" dirty="0">
                <a:latin typeface="宋体" panose="02010600030101010101" pitchFamily="2" charset="-122"/>
                <a:ea typeface="宋体" panose="02010600030101010101" pitchFamily="2" charset="-122"/>
                <a:cs typeface="Times New Roman" panose="02020603050405020304" pitchFamily="18" charset="0"/>
              </a:rPr>
              <a:t>");</a:t>
            </a:r>
            <a:endParaRPr lang="zh-CN" altLang="en-US" sz="1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1800" b="1" dirty="0">
                <a:latin typeface="宋体" panose="02010600030101010101" pitchFamily="2" charset="-122"/>
                <a:ea typeface="宋体" panose="02010600030101010101" pitchFamily="2" charset="-122"/>
                <a:cs typeface="Times New Roman" panose="02020603050405020304" pitchFamily="18" charset="0"/>
              </a:rPr>
              <a:t>        this.name=name;</a:t>
            </a:r>
            <a:endParaRPr lang="zh-CN" altLang="en-US" sz="1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1800" b="1" dirty="0">
                <a:latin typeface="宋体" panose="02010600030101010101" pitchFamily="2" charset="-122"/>
                <a:ea typeface="宋体" panose="02010600030101010101" pitchFamily="2" charset="-122"/>
                <a:cs typeface="Times New Roman" panose="02020603050405020304" pitchFamily="18" charset="0"/>
              </a:rPr>
              <a:t>        </a:t>
            </a:r>
            <a:r>
              <a:rPr lang="en-US" altLang="zh-CN" sz="1800" b="1" dirty="0" err="1">
                <a:latin typeface="宋体" panose="02010600030101010101" pitchFamily="2" charset="-122"/>
                <a:ea typeface="宋体" panose="02010600030101010101" pitchFamily="2" charset="-122"/>
                <a:cs typeface="Times New Roman" panose="02020603050405020304" pitchFamily="18" charset="0"/>
              </a:rPr>
              <a:t>this.age</a:t>
            </a:r>
            <a:r>
              <a:rPr lang="en-US" altLang="zh-CN" sz="1800" b="1" dirty="0">
                <a:latin typeface="宋体" panose="02010600030101010101" pitchFamily="2" charset="-122"/>
                <a:ea typeface="宋体" panose="02010600030101010101" pitchFamily="2" charset="-122"/>
                <a:cs typeface="Times New Roman" panose="02020603050405020304" pitchFamily="18" charset="0"/>
              </a:rPr>
              <a:t>=age;</a:t>
            </a:r>
            <a:endParaRPr lang="zh-CN" altLang="en-US" sz="1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1800" b="1" dirty="0">
                <a:latin typeface="宋体" panose="02010600030101010101" pitchFamily="2" charset="-122"/>
                <a:ea typeface="宋体" panose="02010600030101010101" pitchFamily="2" charset="-122"/>
                <a:cs typeface="Times New Roman" panose="02020603050405020304" pitchFamily="18" charset="0"/>
              </a:rPr>
              <a:t>    }</a:t>
            </a:r>
            <a:endParaRPr lang="zh-CN" altLang="en-US" sz="1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1800" b="1" dirty="0">
                <a:latin typeface="宋体" panose="02010600030101010101" pitchFamily="2" charset="-122"/>
                <a:ea typeface="宋体" panose="02010600030101010101" pitchFamily="2" charset="-122"/>
                <a:cs typeface="Times New Roman" panose="02020603050405020304" pitchFamily="18" charset="0"/>
              </a:rPr>
              <a:t>    public void show() {</a:t>
            </a:r>
            <a:endParaRPr lang="en-US" altLang="zh-CN" sz="1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1800" b="1" dirty="0">
                <a:latin typeface="宋体" panose="02010600030101010101" pitchFamily="2" charset="-122"/>
                <a:ea typeface="宋体" panose="02010600030101010101" pitchFamily="2" charset="-122"/>
                <a:cs typeface="Times New Roman" panose="02020603050405020304" pitchFamily="18" charset="0"/>
              </a:rPr>
              <a:t>         </a:t>
            </a:r>
            <a:r>
              <a:rPr lang="en-US" altLang="zh-CN" sz="1800" b="1" dirty="0" err="1">
                <a:latin typeface="宋体" panose="02010600030101010101" pitchFamily="2" charset="-122"/>
                <a:ea typeface="宋体" panose="02010600030101010101" pitchFamily="2" charset="-122"/>
                <a:cs typeface="Times New Roman" panose="02020603050405020304" pitchFamily="18" charset="0"/>
              </a:rPr>
              <a:t>System.out.println</a:t>
            </a:r>
            <a:r>
              <a:rPr lang="en-US" altLang="zh-CN" sz="1800" b="1" dirty="0">
                <a:latin typeface="宋体" panose="02010600030101010101" pitchFamily="2" charset="-122"/>
                <a:ea typeface="宋体" panose="02010600030101010101" pitchFamily="2" charset="-122"/>
                <a:cs typeface="Times New Roman" panose="02020603050405020304" pitchFamily="18" charset="0"/>
              </a:rPr>
              <a:t>("</a:t>
            </a:r>
            <a:r>
              <a:rPr lang="zh-CN" altLang="en-US" sz="1800" b="1" dirty="0">
                <a:latin typeface="宋体" panose="02010600030101010101" pitchFamily="2" charset="-122"/>
                <a:ea typeface="宋体" panose="02010600030101010101" pitchFamily="2" charset="-122"/>
                <a:cs typeface="Times New Roman" panose="02020603050405020304" pitchFamily="18" charset="0"/>
              </a:rPr>
              <a:t>姓名：</a:t>
            </a:r>
            <a:r>
              <a:rPr lang="en-US" altLang="zh-CN" sz="1800" b="1" dirty="0">
                <a:latin typeface="宋体" panose="02010600030101010101" pitchFamily="2" charset="-122"/>
                <a:ea typeface="宋体" panose="02010600030101010101" pitchFamily="2" charset="-122"/>
                <a:cs typeface="Times New Roman" panose="02020603050405020304" pitchFamily="18" charset="0"/>
              </a:rPr>
              <a:t>"+name+"  </a:t>
            </a:r>
            <a:r>
              <a:rPr lang="zh-CN" altLang="en-US" sz="1800" b="1" dirty="0">
                <a:latin typeface="宋体" panose="02010600030101010101" pitchFamily="2" charset="-122"/>
                <a:ea typeface="宋体" panose="02010600030101010101" pitchFamily="2" charset="-122"/>
                <a:cs typeface="Times New Roman" panose="02020603050405020304" pitchFamily="18" charset="0"/>
              </a:rPr>
              <a:t>年龄：</a:t>
            </a:r>
            <a:r>
              <a:rPr lang="en-US" altLang="zh-CN" sz="1800" b="1" dirty="0">
                <a:latin typeface="宋体" panose="02010600030101010101" pitchFamily="2" charset="-122"/>
                <a:ea typeface="宋体" panose="02010600030101010101" pitchFamily="2" charset="-122"/>
                <a:cs typeface="Times New Roman" panose="02020603050405020304" pitchFamily="18" charset="0"/>
              </a:rPr>
              <a:t>"+age);</a:t>
            </a:r>
            <a:endParaRPr lang="zh-CN" altLang="en-US" sz="1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180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1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1800" b="1" dirty="0">
                <a:latin typeface="宋体" panose="02010600030101010101" pitchFamily="2" charset="-122"/>
                <a:ea typeface="宋体" panose="02010600030101010101" pitchFamily="2" charset="-122"/>
                <a:cs typeface="Times New Roman" panose="02020603050405020304" pitchFamily="18" charset="0"/>
              </a:rPr>
              <a:t>}</a:t>
            </a:r>
            <a:endParaRPr lang="zh-CN" altLang="en-US" sz="1800"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62468"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38179C97-9C69-4BF6-8F79-D4776597276C}"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649145" y="657951"/>
            <a:ext cx="8147318" cy="9140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a:latin typeface="宋体" panose="02010600030101010101" pitchFamily="2" charset="-122"/>
                <a:ea typeface="宋体" panose="02010600030101010101" pitchFamily="2" charset="-122"/>
              </a:rPr>
              <a:t>1</a:t>
            </a:r>
            <a:r>
              <a:rPr lang="zh-CN" altLang="en-US" sz="2800">
                <a:latin typeface="宋体" panose="02010600030101010101" pitchFamily="2" charset="-122"/>
                <a:ea typeface="宋体" panose="02010600030101010101" pitchFamily="2" charset="-122"/>
              </a:rPr>
              <a:t>、继承的实现</a:t>
            </a:r>
            <a:endParaRPr lang="zh-CN" altLang="en-US" sz="2800" dirty="0">
              <a:latin typeface="宋体" panose="02010600030101010101" pitchFamily="2" charset="-122"/>
              <a:ea typeface="宋体" panose="02010600030101010101" pitchFamily="2" charset="-122"/>
            </a:endParaRPr>
          </a:p>
        </p:txBody>
      </p:sp>
      <p:sp>
        <p:nvSpPr>
          <p:cNvPr id="6" name="标题 1"/>
          <p:cNvSpPr txBox="1"/>
          <p:nvPr/>
        </p:nvSpPr>
        <p:spPr>
          <a:xfrm>
            <a:off x="389263" y="0"/>
            <a:ext cx="8147318" cy="91405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3.4 </a:t>
            </a:r>
            <a:r>
              <a:rPr lang="zh-CN" altLang="en-US" dirty="0">
                <a:latin typeface="宋体" panose="02010600030101010101" pitchFamily="2" charset="-122"/>
                <a:ea typeface="宋体" panose="02010600030101010101" pitchFamily="2" charset="-122"/>
              </a:rPr>
              <a:t>类的继承</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63491" name="内容占位符 2"/>
          <p:cNvSpPr>
            <a:spLocks noGrp="1"/>
          </p:cNvSpPr>
          <p:nvPr>
            <p:ph idx="4294967295"/>
          </p:nvPr>
        </p:nvSpPr>
        <p:spPr>
          <a:xfrm>
            <a:off x="796553" y="1709056"/>
            <a:ext cx="10946268" cy="4490994"/>
          </a:xfrm>
        </p:spPr>
        <p:txBody>
          <a:bodyPr>
            <a:normAutofit/>
          </a:bodyPr>
          <a:lstStyle/>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class Student extends Person{</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private String department;</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public Student(){</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System.out.println</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调用了学生的无参构造方法</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Student()");</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public Student (String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name,int</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age,String</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dep)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super(</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name,age</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调用父类的有参构造方法</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department=dep;</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System.out.println</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我是</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"+department +"</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的学生</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System.out.println</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调用了学生的有参构造方法</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Student(String dep)");</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63492"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499DB2E2-68AE-4D2E-A8C1-854954857A34}"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649145" y="657951"/>
            <a:ext cx="8147318" cy="9140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a:latin typeface="宋体" panose="02010600030101010101" pitchFamily="2" charset="-122"/>
                <a:ea typeface="宋体" panose="02010600030101010101" pitchFamily="2" charset="-122"/>
              </a:rPr>
              <a:t>1</a:t>
            </a:r>
            <a:r>
              <a:rPr lang="zh-CN" altLang="en-US" sz="2800">
                <a:latin typeface="宋体" panose="02010600030101010101" pitchFamily="2" charset="-122"/>
                <a:ea typeface="宋体" panose="02010600030101010101" pitchFamily="2" charset="-122"/>
              </a:rPr>
              <a:t>、继承的实现</a:t>
            </a:r>
            <a:endParaRPr lang="zh-CN" altLang="en-US" sz="2800" dirty="0">
              <a:latin typeface="宋体" panose="02010600030101010101" pitchFamily="2" charset="-122"/>
              <a:ea typeface="宋体" panose="02010600030101010101" pitchFamily="2" charset="-122"/>
            </a:endParaRPr>
          </a:p>
        </p:txBody>
      </p:sp>
      <p:sp>
        <p:nvSpPr>
          <p:cNvPr id="6" name="标题 1"/>
          <p:cNvSpPr txBox="1"/>
          <p:nvPr/>
        </p:nvSpPr>
        <p:spPr>
          <a:xfrm>
            <a:off x="389263" y="0"/>
            <a:ext cx="8147318" cy="91405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3.4 </a:t>
            </a:r>
            <a:r>
              <a:rPr lang="zh-CN" altLang="en-US" dirty="0">
                <a:latin typeface="宋体" panose="02010600030101010101" pitchFamily="2" charset="-122"/>
                <a:ea typeface="宋体" panose="02010600030101010101" pitchFamily="2" charset="-122"/>
              </a:rPr>
              <a:t>类的继承</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64515" name="内容占位符 2"/>
          <p:cNvSpPr>
            <a:spLocks noGrp="1"/>
          </p:cNvSpPr>
          <p:nvPr>
            <p:ph idx="4294967295"/>
          </p:nvPr>
        </p:nvSpPr>
        <p:spPr>
          <a:xfrm>
            <a:off x="986029" y="1651304"/>
            <a:ext cx="10554661" cy="2882196"/>
          </a:xfrm>
        </p:spPr>
        <p:txBody>
          <a:bodyPr/>
          <a:lstStyle/>
          <a:p>
            <a:pPr marL="0" indent="0">
              <a:lnSpc>
                <a:spcPct val="10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public class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TestSuper</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public static void main(String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args</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Student stu1=new Student();        //</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创建对象，并调用无参构造方法</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Student stu2=new Student("</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张三</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",21,"</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计算机系</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stu1.show();</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stu2.show();</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endParaRPr lang="zh-CN" altLang="en-US" sz="3035"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endParaRPr lang="zh-CN" altLang="en-US" sz="2820" b="1" dirty="0">
              <a:latin typeface="宋体" panose="02010600030101010101" pitchFamily="2" charset="-122"/>
              <a:ea typeface="宋体" panose="02010600030101010101" pitchFamily="2" charset="-122"/>
            </a:endParaRPr>
          </a:p>
        </p:txBody>
      </p:sp>
      <p:sp>
        <p:nvSpPr>
          <p:cNvPr id="64516"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327EA88E-85E5-42A6-B0A0-AE0487F4B02D}"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649145" y="657951"/>
            <a:ext cx="8147318" cy="9140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a:latin typeface="宋体" panose="02010600030101010101" pitchFamily="2" charset="-122"/>
                <a:ea typeface="宋体" panose="02010600030101010101" pitchFamily="2" charset="-122"/>
              </a:rPr>
              <a:t>1</a:t>
            </a:r>
            <a:r>
              <a:rPr lang="zh-CN" altLang="en-US" sz="2800">
                <a:latin typeface="宋体" panose="02010600030101010101" pitchFamily="2" charset="-122"/>
                <a:ea typeface="宋体" panose="02010600030101010101" pitchFamily="2" charset="-122"/>
              </a:rPr>
              <a:t>、继承的实现</a:t>
            </a:r>
            <a:endParaRPr lang="zh-CN" altLang="en-US" sz="2800" dirty="0">
              <a:latin typeface="宋体" panose="02010600030101010101" pitchFamily="2" charset="-122"/>
              <a:ea typeface="宋体" panose="02010600030101010101" pitchFamily="2" charset="-122"/>
            </a:endParaRPr>
          </a:p>
        </p:txBody>
      </p:sp>
      <p:sp>
        <p:nvSpPr>
          <p:cNvPr id="6" name="标题 1"/>
          <p:cNvSpPr txBox="1"/>
          <p:nvPr/>
        </p:nvSpPr>
        <p:spPr>
          <a:xfrm>
            <a:off x="389263" y="0"/>
            <a:ext cx="8147318" cy="91405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3.4 </a:t>
            </a:r>
            <a:r>
              <a:rPr lang="zh-CN" altLang="en-US" dirty="0">
                <a:latin typeface="宋体" panose="02010600030101010101" pitchFamily="2" charset="-122"/>
                <a:ea typeface="宋体" panose="02010600030101010101" pitchFamily="2" charset="-122"/>
              </a:rPr>
              <a:t>类的继承</a:t>
            </a:r>
            <a:endParaRPr lang="zh-CN" altLang="en-US" dirty="0">
              <a:latin typeface="宋体" panose="02010600030101010101" pitchFamily="2" charset="-122"/>
              <a:ea typeface="宋体" panose="02010600030101010101" pitchFamily="2" charset="-122"/>
            </a:endParaRPr>
          </a:p>
        </p:txBody>
      </p:sp>
      <p:sp>
        <p:nvSpPr>
          <p:cNvPr id="2" name="矩形 1"/>
          <p:cNvSpPr/>
          <p:nvPr/>
        </p:nvSpPr>
        <p:spPr>
          <a:xfrm>
            <a:off x="867878" y="4365859"/>
            <a:ext cx="10456244" cy="2091919"/>
          </a:xfrm>
          <a:prstGeom prst="rect">
            <a:avLst/>
          </a:prstGeom>
        </p:spPr>
        <p:txBody>
          <a:bodyPr wrap="square">
            <a:spAutoFit/>
          </a:bodyPr>
          <a:lstStyle/>
          <a:p>
            <a:pPr>
              <a:lnSpc>
                <a:spcPct val="120000"/>
              </a:lnSpc>
            </a:pPr>
            <a:r>
              <a:rPr lang="zh-CN" altLang="en-US" sz="2800" b="1" dirty="0">
                <a:latin typeface="宋体" panose="02010600030101010101" pitchFamily="2" charset="-122"/>
                <a:ea typeface="宋体" panose="02010600030101010101" pitchFamily="2" charset="-122"/>
              </a:rPr>
              <a:t>调用父类中有参数的构造方法可以使用</a:t>
            </a:r>
            <a:r>
              <a:rPr lang="en-US" altLang="zh-CN" sz="2800" b="1" dirty="0">
                <a:latin typeface="宋体" panose="02010600030101010101" pitchFamily="2" charset="-122"/>
                <a:ea typeface="宋体" panose="02010600030101010101" pitchFamily="2" charset="-122"/>
              </a:rPr>
              <a:t>super</a:t>
            </a:r>
            <a:r>
              <a:rPr lang="zh-CN" altLang="en-US" sz="2800" b="1" dirty="0">
                <a:latin typeface="宋体" panose="02010600030101010101" pitchFamily="2" charset="-122"/>
                <a:ea typeface="宋体" panose="02010600030101010101" pitchFamily="2" charset="-122"/>
              </a:rPr>
              <a:t>关键字，</a:t>
            </a:r>
            <a:r>
              <a:rPr lang="en-US" altLang="zh-CN" sz="2800" b="1" dirty="0">
                <a:latin typeface="宋体" panose="02010600030101010101" pitchFamily="2" charset="-122"/>
                <a:ea typeface="宋体" panose="02010600030101010101" pitchFamily="2" charset="-122"/>
              </a:rPr>
              <a:t>super</a:t>
            </a:r>
            <a:r>
              <a:rPr lang="zh-CN" altLang="en-US" sz="2800" b="1" dirty="0">
                <a:latin typeface="宋体" panose="02010600030101010101" pitchFamily="2" charset="-122"/>
                <a:ea typeface="宋体" panose="02010600030101010101" pitchFamily="2" charset="-122"/>
              </a:rPr>
              <a:t>关键字主要应用在两个方面：</a:t>
            </a:r>
            <a:endParaRPr lang="zh-CN" altLang="en-US" sz="2800" b="1" dirty="0">
              <a:latin typeface="宋体" panose="02010600030101010101" pitchFamily="2" charset="-122"/>
              <a:ea typeface="宋体" panose="02010600030101010101" pitchFamily="2" charset="-122"/>
            </a:endParaRPr>
          </a:p>
          <a:p>
            <a:pPr>
              <a:lnSpc>
                <a:spcPct val="120000"/>
              </a:lnSpc>
            </a:pP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1</a:t>
            </a:r>
            <a:r>
              <a:rPr lang="zh-CN" altLang="en-US" sz="2800" b="1" dirty="0">
                <a:latin typeface="宋体" panose="02010600030101010101" pitchFamily="2" charset="-122"/>
                <a:ea typeface="宋体" panose="02010600030101010101" pitchFamily="2" charset="-122"/>
              </a:rPr>
              <a:t>）应用于调用父类中有指定参数的构造方法。</a:t>
            </a:r>
            <a:endParaRPr lang="zh-CN" altLang="en-US" sz="2800" b="1" dirty="0">
              <a:latin typeface="宋体" panose="02010600030101010101" pitchFamily="2" charset="-122"/>
              <a:ea typeface="宋体" panose="02010600030101010101" pitchFamily="2" charset="-122"/>
            </a:endParaRPr>
          </a:p>
          <a:p>
            <a:pPr>
              <a:lnSpc>
                <a:spcPct val="120000"/>
              </a:lnSpc>
            </a:pP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2</a:t>
            </a:r>
            <a:r>
              <a:rPr lang="zh-CN" altLang="en-US" sz="2800" b="1" dirty="0">
                <a:latin typeface="宋体" panose="02010600030101010101" pitchFamily="2" charset="-122"/>
                <a:ea typeface="宋体" panose="02010600030101010101" pitchFamily="2" charset="-122"/>
              </a:rPr>
              <a:t>）引用父类的成员。</a:t>
            </a:r>
            <a:endParaRPr lang="zh-CN" altLang="en-US" sz="2800" b="1"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65539" name="内容占位符 2"/>
          <p:cNvSpPr>
            <a:spLocks noGrp="1"/>
          </p:cNvSpPr>
          <p:nvPr>
            <p:ph idx="4294967295"/>
          </p:nvPr>
        </p:nvSpPr>
        <p:spPr>
          <a:xfrm>
            <a:off x="649145" y="1757181"/>
            <a:ext cx="10862670" cy="5221135"/>
          </a:xfrm>
        </p:spPr>
        <p:txBody>
          <a:bodyPr>
            <a:normAutofit/>
          </a:bodyPr>
          <a:lstStyle/>
          <a:p>
            <a:pPr marL="0" indent="0">
              <a:lnSpc>
                <a:spcPct val="120000"/>
              </a:lnSpc>
              <a:spcBef>
                <a:spcPts val="0"/>
              </a:spcBef>
              <a:buNone/>
            </a:pPr>
            <a:r>
              <a:rPr lang="zh-CN" altLang="en-US" sz="2170" b="1" dirty="0">
                <a:latin typeface="宋体" panose="02010600030101010101" pitchFamily="2" charset="-122"/>
                <a:ea typeface="宋体" panose="02010600030101010101" pitchFamily="2" charset="-122"/>
                <a:cs typeface="Times New Roman" panose="02020603050405020304" pitchFamily="18" charset="0"/>
              </a:rPr>
              <a:t>【例</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3.15</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】在子类中访问父类的成员。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class Person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protected String name;</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protected int age;</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public Person() {}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public Person(String name, int age)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this.name=name;</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this.age</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=age;</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protected void show(){</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System.out.println</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姓名：</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"+name+"  </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年龄：</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"+age);</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65540"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10D8030C-3BDD-4028-AE73-B1918145B275}"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649145" y="657951"/>
            <a:ext cx="8147318" cy="9140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a:latin typeface="宋体" panose="02010600030101010101" pitchFamily="2" charset="-122"/>
                <a:ea typeface="宋体" panose="02010600030101010101" pitchFamily="2" charset="-122"/>
              </a:rPr>
              <a:t>1</a:t>
            </a:r>
            <a:r>
              <a:rPr lang="zh-CN" altLang="en-US" sz="2800">
                <a:latin typeface="宋体" panose="02010600030101010101" pitchFamily="2" charset="-122"/>
                <a:ea typeface="宋体" panose="02010600030101010101" pitchFamily="2" charset="-122"/>
              </a:rPr>
              <a:t>、继承的实现</a:t>
            </a:r>
            <a:endParaRPr lang="zh-CN" altLang="en-US" sz="2800" dirty="0">
              <a:latin typeface="宋体" panose="02010600030101010101" pitchFamily="2" charset="-122"/>
              <a:ea typeface="宋体" panose="02010600030101010101" pitchFamily="2" charset="-122"/>
            </a:endParaRPr>
          </a:p>
        </p:txBody>
      </p:sp>
      <p:sp>
        <p:nvSpPr>
          <p:cNvPr id="6" name="标题 1"/>
          <p:cNvSpPr txBox="1"/>
          <p:nvPr/>
        </p:nvSpPr>
        <p:spPr>
          <a:xfrm>
            <a:off x="389263" y="0"/>
            <a:ext cx="8147318" cy="91405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3.4 </a:t>
            </a:r>
            <a:r>
              <a:rPr lang="zh-CN" altLang="en-US" dirty="0">
                <a:latin typeface="宋体" panose="02010600030101010101" pitchFamily="2" charset="-122"/>
                <a:ea typeface="宋体" panose="02010600030101010101" pitchFamily="2" charset="-122"/>
              </a:rPr>
              <a:t>类的继承</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66563" name="内容占位符 2"/>
          <p:cNvSpPr>
            <a:spLocks noGrp="1"/>
          </p:cNvSpPr>
          <p:nvPr>
            <p:ph idx="4294967295"/>
          </p:nvPr>
        </p:nvSpPr>
        <p:spPr>
          <a:xfrm>
            <a:off x="1022216" y="1572006"/>
            <a:ext cx="10008336" cy="4838419"/>
          </a:xfrm>
        </p:spPr>
        <p:txBody>
          <a:bodyPr>
            <a:normAutofit lnSpcReduction="10000"/>
          </a:bodyPr>
          <a:lstStyle/>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class Student extends Person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private String department;</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a:solidFill>
                  <a:srgbClr val="FF0000"/>
                </a:solidFill>
                <a:latin typeface="宋体" panose="02010600030101010101" pitchFamily="2" charset="-122"/>
                <a:ea typeface="宋体" panose="02010600030101010101" pitchFamily="2" charset="-122"/>
                <a:cs typeface="Times New Roman" panose="02020603050405020304" pitchFamily="18" charset="0"/>
              </a:rPr>
              <a:t>int age=20;    </a:t>
            </a:r>
            <a:endParaRPr lang="zh-CN" altLang="en-US" sz="2170" b="1" dirty="0">
              <a:solidFill>
                <a:srgbClr val="FF0000"/>
              </a:solidFill>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public Student (String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xm,String</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dep)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name=</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xm</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department=dep;</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super.age</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=25;    //</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利用</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super</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将父类的成员变量</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age</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赋值为</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25</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System.out.println</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子类</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Student</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中的成员变量</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age="+age);</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super.show</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去掉</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super</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而只写</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show()</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亦可</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System.out.println</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系别：</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department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66564"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12AD59AD-BD98-450D-81A7-52A56D550F10}"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649145" y="657951"/>
            <a:ext cx="8147318" cy="9140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a:latin typeface="宋体" panose="02010600030101010101" pitchFamily="2" charset="-122"/>
                <a:ea typeface="宋体" panose="02010600030101010101" pitchFamily="2" charset="-122"/>
              </a:rPr>
              <a:t>1</a:t>
            </a:r>
            <a:r>
              <a:rPr lang="zh-CN" altLang="en-US" sz="2800">
                <a:latin typeface="宋体" panose="02010600030101010101" pitchFamily="2" charset="-122"/>
                <a:ea typeface="宋体" panose="02010600030101010101" pitchFamily="2" charset="-122"/>
              </a:rPr>
              <a:t>、继承的实现</a:t>
            </a:r>
            <a:endParaRPr lang="zh-CN" altLang="en-US" sz="2800" dirty="0">
              <a:latin typeface="宋体" panose="02010600030101010101" pitchFamily="2" charset="-122"/>
              <a:ea typeface="宋体" panose="02010600030101010101" pitchFamily="2" charset="-122"/>
            </a:endParaRPr>
          </a:p>
        </p:txBody>
      </p:sp>
      <p:sp>
        <p:nvSpPr>
          <p:cNvPr id="6" name="标题 1"/>
          <p:cNvSpPr txBox="1"/>
          <p:nvPr/>
        </p:nvSpPr>
        <p:spPr>
          <a:xfrm>
            <a:off x="389263" y="0"/>
            <a:ext cx="8147318" cy="91405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3.4 </a:t>
            </a:r>
            <a:r>
              <a:rPr lang="zh-CN" altLang="en-US" dirty="0">
                <a:latin typeface="宋体" panose="02010600030101010101" pitchFamily="2" charset="-122"/>
                <a:ea typeface="宋体" panose="02010600030101010101" pitchFamily="2" charset="-122"/>
              </a:rPr>
              <a:t>类的继承</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67587" name="内容占位符 2"/>
          <p:cNvSpPr>
            <a:spLocks noGrp="1"/>
          </p:cNvSpPr>
          <p:nvPr>
            <p:ph idx="4294967295"/>
          </p:nvPr>
        </p:nvSpPr>
        <p:spPr>
          <a:xfrm>
            <a:off x="1209847" y="1769908"/>
            <a:ext cx="10109462" cy="3745368"/>
          </a:xfrm>
        </p:spPr>
        <p:txBody>
          <a:bodyPr>
            <a:normAutofit/>
          </a:bodyPr>
          <a:lstStyle/>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public class TestSuper2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public static void main(String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args</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Student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stu</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=new Student("</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张三</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计算机系</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a:lnSpc>
                <a:spcPct val="110000"/>
              </a:lnSpc>
              <a:spcBef>
                <a:spcPts val="0"/>
              </a:spcBef>
              <a:buFont typeface="Wingdings" panose="05000000000000000000" pitchFamily="2" charset="2"/>
              <a:buChar char="u"/>
            </a:pPr>
            <a:r>
              <a:rPr lang="zh-CN" altLang="en-US" sz="2820" b="1" dirty="0">
                <a:latin typeface="宋体" panose="02010600030101010101" pitchFamily="2" charset="-122"/>
                <a:ea typeface="宋体" panose="02010600030101010101" pitchFamily="2" charset="-122"/>
              </a:rPr>
              <a:t>父类的</a:t>
            </a:r>
            <a:r>
              <a:rPr lang="zh-CN" altLang="en-US" sz="2820" b="1" dirty="0">
                <a:solidFill>
                  <a:srgbClr val="FF0000"/>
                </a:solidFill>
                <a:latin typeface="宋体" panose="02010600030101010101" pitchFamily="2" charset="-122"/>
                <a:ea typeface="宋体" panose="02010600030101010101" pitchFamily="2" charset="-122"/>
              </a:rPr>
              <a:t>私有数据成员不能通过</a:t>
            </a:r>
            <a:r>
              <a:rPr lang="en-US" altLang="zh-CN" sz="2820" b="1" dirty="0">
                <a:solidFill>
                  <a:srgbClr val="FF0000"/>
                </a:solidFill>
                <a:latin typeface="宋体" panose="02010600030101010101" pitchFamily="2" charset="-122"/>
                <a:ea typeface="宋体" panose="02010600030101010101" pitchFamily="2" charset="-122"/>
              </a:rPr>
              <a:t>super</a:t>
            </a:r>
            <a:r>
              <a:rPr lang="zh-CN" altLang="en-US" sz="2820" b="1" dirty="0">
                <a:solidFill>
                  <a:srgbClr val="FF0000"/>
                </a:solidFill>
                <a:latin typeface="宋体" panose="02010600030101010101" pitchFamily="2" charset="-122"/>
                <a:ea typeface="宋体" panose="02010600030101010101" pitchFamily="2" charset="-122"/>
              </a:rPr>
              <a:t>关键字来访问</a:t>
            </a:r>
            <a:r>
              <a:rPr lang="zh-CN" altLang="en-US" sz="2820" b="1" dirty="0">
                <a:latin typeface="宋体" panose="02010600030101010101" pitchFamily="2" charset="-122"/>
                <a:ea typeface="宋体" panose="02010600030101010101" pitchFamily="2" charset="-122"/>
              </a:rPr>
              <a:t>。</a:t>
            </a:r>
            <a:endParaRPr lang="en-US" altLang="zh-CN" sz="2820" b="1" dirty="0">
              <a:latin typeface="宋体" panose="02010600030101010101" pitchFamily="2" charset="-122"/>
              <a:ea typeface="宋体" panose="02010600030101010101" pitchFamily="2" charset="-122"/>
            </a:endParaRPr>
          </a:p>
          <a:p>
            <a:pPr>
              <a:lnSpc>
                <a:spcPct val="110000"/>
              </a:lnSpc>
              <a:spcBef>
                <a:spcPts val="0"/>
              </a:spcBef>
              <a:buFont typeface="Wingdings" panose="05000000000000000000" pitchFamily="2" charset="2"/>
              <a:buChar char="u"/>
            </a:pPr>
            <a:r>
              <a:rPr lang="zh-CN" altLang="en-US" sz="2820" b="1" dirty="0">
                <a:latin typeface="宋体" panose="02010600030101010101" pitchFamily="2" charset="-122"/>
                <a:ea typeface="宋体" panose="02010600030101010101" pitchFamily="2" charset="-122"/>
              </a:rPr>
              <a:t>不能通过</a:t>
            </a:r>
            <a:r>
              <a:rPr lang="en-US" altLang="zh-CN" sz="2820" b="1" dirty="0">
                <a:latin typeface="宋体" panose="02010600030101010101" pitchFamily="2" charset="-122"/>
                <a:ea typeface="宋体" panose="02010600030101010101" pitchFamily="2" charset="-122"/>
              </a:rPr>
              <a:t>super</a:t>
            </a:r>
            <a:r>
              <a:rPr lang="zh-CN" altLang="en-US" sz="2820" b="1" dirty="0">
                <a:latin typeface="宋体" panose="02010600030101010101" pitchFamily="2" charset="-122"/>
                <a:ea typeface="宋体" panose="02010600030101010101" pitchFamily="2" charset="-122"/>
              </a:rPr>
              <a:t>关键字在子类对象中引用父类静态成员。</a:t>
            </a:r>
            <a:r>
              <a:rPr lang="en-US" altLang="zh-CN" sz="2820" b="1" dirty="0">
                <a:latin typeface="宋体" panose="02010600030101010101" pitchFamily="2" charset="-122"/>
                <a:ea typeface="宋体" panose="02010600030101010101" pitchFamily="2" charset="-122"/>
              </a:rPr>
              <a:t> </a:t>
            </a:r>
            <a:endParaRPr lang="en-US" altLang="zh-CN" sz="2820"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67588"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A21EFAC8-9670-46B4-9192-E24F6C1E10A0}"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649145" y="657951"/>
            <a:ext cx="8147318" cy="9140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a:latin typeface="宋体" panose="02010600030101010101" pitchFamily="2" charset="-122"/>
                <a:ea typeface="宋体" panose="02010600030101010101" pitchFamily="2" charset="-122"/>
              </a:rPr>
              <a:t>1</a:t>
            </a:r>
            <a:r>
              <a:rPr lang="zh-CN" altLang="en-US" sz="2800">
                <a:latin typeface="宋体" panose="02010600030101010101" pitchFamily="2" charset="-122"/>
                <a:ea typeface="宋体" panose="02010600030101010101" pitchFamily="2" charset="-122"/>
              </a:rPr>
              <a:t>、继承的实现</a:t>
            </a:r>
            <a:endParaRPr lang="zh-CN" altLang="en-US" sz="2800" dirty="0">
              <a:latin typeface="宋体" panose="02010600030101010101" pitchFamily="2" charset="-122"/>
              <a:ea typeface="宋体" panose="02010600030101010101" pitchFamily="2" charset="-122"/>
            </a:endParaRPr>
          </a:p>
        </p:txBody>
      </p:sp>
      <p:sp>
        <p:nvSpPr>
          <p:cNvPr id="6" name="标题 1"/>
          <p:cNvSpPr txBox="1"/>
          <p:nvPr/>
        </p:nvSpPr>
        <p:spPr>
          <a:xfrm>
            <a:off x="389263" y="0"/>
            <a:ext cx="8147318" cy="91405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3.4 </a:t>
            </a:r>
            <a:r>
              <a:rPr lang="zh-CN" altLang="en-US" dirty="0">
                <a:latin typeface="宋体" panose="02010600030101010101" pitchFamily="2" charset="-122"/>
                <a:ea typeface="宋体" panose="02010600030101010101" pitchFamily="2" charset="-122"/>
              </a:rPr>
              <a:t>类的继承</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9994" y="203866"/>
            <a:ext cx="9601200" cy="708930"/>
          </a:xfrm>
        </p:spPr>
        <p:txBody>
          <a:bodyPr/>
          <a:lstStyle/>
          <a:p>
            <a:r>
              <a:rPr lang="zh-CN" altLang="en-US" dirty="0"/>
              <a:t>练习：</a:t>
            </a:r>
            <a:endParaRPr lang="zh-CN" altLang="en-US" dirty="0"/>
          </a:p>
        </p:txBody>
      </p:sp>
      <p:sp>
        <p:nvSpPr>
          <p:cNvPr id="3" name="内容占位符 2"/>
          <p:cNvSpPr>
            <a:spLocks noGrp="1"/>
          </p:cNvSpPr>
          <p:nvPr>
            <p:ph idx="1"/>
          </p:nvPr>
        </p:nvSpPr>
        <p:spPr>
          <a:xfrm>
            <a:off x="429527" y="912796"/>
            <a:ext cx="11332946" cy="5945204"/>
          </a:xfrm>
        </p:spPr>
        <p:txBody>
          <a:bodyPr>
            <a:noAutofit/>
          </a:bodyPr>
          <a:lstStyle/>
          <a:p>
            <a:pPr marL="0" indent="0">
              <a:lnSpc>
                <a:spcPct val="100000"/>
              </a:lnSpc>
              <a:spcBef>
                <a:spcPts val="0"/>
              </a:spcBef>
              <a:buNone/>
            </a:pPr>
            <a:r>
              <a:rPr lang="en-US" altLang="zh-CN" sz="2400" dirty="0">
                <a:latin typeface="宋体" panose="02010600030101010101" pitchFamily="2" charset="-122"/>
                <a:ea typeface="宋体" panose="02010600030101010101" pitchFamily="2" charset="-122"/>
              </a:rPr>
              <a:t>1</a:t>
            </a:r>
            <a:r>
              <a:rPr lang="zh-CN" altLang="zh-CN" sz="2400" dirty="0">
                <a:latin typeface="宋体" panose="02010600030101010101" pitchFamily="2" charset="-122"/>
                <a:ea typeface="宋体" panose="02010600030101010101" pitchFamily="2" charset="-122"/>
              </a:rPr>
              <a:t>、编写一个完整的</a:t>
            </a:r>
            <a:r>
              <a:rPr lang="en-US" altLang="zh-CN" sz="2400" dirty="0">
                <a:latin typeface="宋体" panose="02010600030101010101" pitchFamily="2" charset="-122"/>
                <a:ea typeface="宋体" panose="02010600030101010101" pitchFamily="2" charset="-122"/>
              </a:rPr>
              <a:t>Java  Application </a:t>
            </a:r>
            <a:r>
              <a:rPr lang="zh-CN" altLang="zh-CN" sz="2400" dirty="0">
                <a:latin typeface="宋体" panose="02010600030101010101" pitchFamily="2" charset="-122"/>
                <a:ea typeface="宋体" panose="02010600030101010101" pitchFamily="2" charset="-122"/>
              </a:rPr>
              <a:t>程序。包含类</a:t>
            </a:r>
            <a:r>
              <a:rPr lang="en-US" altLang="zh-CN" sz="2400" dirty="0">
                <a:latin typeface="宋体" panose="02010600030101010101" pitchFamily="2" charset="-122"/>
                <a:ea typeface="宋体" panose="02010600030101010101" pitchFamily="2" charset="-122"/>
              </a:rPr>
              <a:t>Person</a:t>
            </a:r>
            <a:r>
              <a:rPr lang="zh-CN" altLang="zh-CN"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Student</a:t>
            </a:r>
            <a:r>
              <a:rPr lang="zh-CN" altLang="zh-CN" sz="2400" dirty="0">
                <a:latin typeface="宋体" panose="02010600030101010101" pitchFamily="2" charset="-122"/>
                <a:ea typeface="宋体" panose="02010600030101010101" pitchFamily="2" charset="-122"/>
              </a:rPr>
              <a:t>、</a:t>
            </a:r>
            <a:r>
              <a:rPr lang="en-US" altLang="zh-CN" sz="2400" dirty="0" err="1">
                <a:latin typeface="宋体" panose="02010600030101010101" pitchFamily="2" charset="-122"/>
                <a:ea typeface="宋体" panose="02010600030101010101" pitchFamily="2" charset="-122"/>
              </a:rPr>
              <a:t>TestStudent</a:t>
            </a:r>
            <a:r>
              <a:rPr lang="zh-CN" altLang="zh-CN" sz="2400" dirty="0">
                <a:latin typeface="宋体" panose="02010600030101010101" pitchFamily="2" charset="-122"/>
                <a:ea typeface="宋体" panose="02010600030101010101" pitchFamily="2" charset="-122"/>
              </a:rPr>
              <a:t>，具体要求如下：</a:t>
            </a:r>
            <a:endParaRPr lang="zh-CN" altLang="zh-CN" sz="2400" dirty="0">
              <a:latin typeface="宋体" panose="02010600030101010101" pitchFamily="2" charset="-122"/>
              <a:ea typeface="宋体" panose="02010600030101010101" pitchFamily="2" charset="-122"/>
            </a:endParaRPr>
          </a:p>
          <a:p>
            <a:pPr marL="0" indent="0">
              <a:lnSpc>
                <a:spcPct val="100000"/>
              </a:lnSpc>
              <a:spcBef>
                <a:spcPts val="0"/>
              </a:spcBef>
              <a:buNone/>
            </a:pPr>
            <a:r>
              <a:rPr lang="zh-CN" altLang="zh-CN" sz="2400" dirty="0">
                <a:latin typeface="宋体" panose="02010600030101010101" pitchFamily="2" charset="-122"/>
                <a:ea typeface="宋体" panose="02010600030101010101" pitchFamily="2" charset="-122"/>
              </a:rPr>
              <a:t>⑴类</a:t>
            </a:r>
            <a:r>
              <a:rPr lang="en-US" altLang="zh-CN" sz="2400" dirty="0">
                <a:latin typeface="宋体" panose="02010600030101010101" pitchFamily="2" charset="-122"/>
                <a:ea typeface="宋体" panose="02010600030101010101" pitchFamily="2" charset="-122"/>
              </a:rPr>
              <a:t>Person</a:t>
            </a:r>
            <a:r>
              <a:rPr lang="zh-CN" altLang="zh-CN" sz="2400" dirty="0">
                <a:latin typeface="宋体" panose="02010600030101010101" pitchFamily="2" charset="-122"/>
                <a:ea typeface="宋体" panose="02010600030101010101" pitchFamily="2" charset="-122"/>
              </a:rPr>
              <a:t>：</a:t>
            </a:r>
            <a:endParaRPr lang="zh-CN" altLang="zh-CN" sz="24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400" dirty="0">
                <a:latin typeface="宋体" panose="02010600030101010101" pitchFamily="2" charset="-122"/>
                <a:ea typeface="宋体" panose="02010600030101010101" pitchFamily="2" charset="-122"/>
              </a:rPr>
              <a:t>  </a:t>
            </a:r>
            <a:r>
              <a:rPr lang="zh-CN" altLang="zh-CN" sz="2400" dirty="0">
                <a:latin typeface="宋体" panose="02010600030101010101" pitchFamily="2" charset="-122"/>
                <a:ea typeface="宋体" panose="02010600030101010101" pitchFamily="2" charset="-122"/>
              </a:rPr>
              <a:t>①属性</a:t>
            </a:r>
            <a:endParaRPr lang="zh-CN" altLang="zh-CN" sz="24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400" dirty="0">
                <a:latin typeface="宋体" panose="02010600030101010101" pitchFamily="2" charset="-122"/>
                <a:ea typeface="宋体" panose="02010600030101010101" pitchFamily="2" charset="-122"/>
              </a:rPr>
              <a:t> 	name :  String</a:t>
            </a:r>
            <a:r>
              <a:rPr lang="zh-CN" altLang="zh-CN" sz="2400" dirty="0">
                <a:latin typeface="宋体" panose="02010600030101010101" pitchFamily="2" charset="-122"/>
                <a:ea typeface="宋体" panose="02010600030101010101" pitchFamily="2" charset="-122"/>
              </a:rPr>
              <a:t>对象，表示一个人姓名</a:t>
            </a:r>
            <a:endParaRPr lang="zh-CN" altLang="zh-CN" sz="24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400" dirty="0">
                <a:latin typeface="宋体" panose="02010600030101010101" pitchFamily="2" charset="-122"/>
                <a:ea typeface="宋体" panose="02010600030101010101" pitchFamily="2" charset="-122"/>
              </a:rPr>
              <a:t>  	sex</a:t>
            </a:r>
            <a:r>
              <a:rPr lang="zh-CN" altLang="zh-CN"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  char</a:t>
            </a:r>
            <a:r>
              <a:rPr lang="zh-CN" altLang="zh-CN" sz="2400" dirty="0">
                <a:latin typeface="宋体" panose="02010600030101010101" pitchFamily="2" charset="-122"/>
                <a:ea typeface="宋体" panose="02010600030101010101" pitchFamily="2" charset="-122"/>
              </a:rPr>
              <a:t>类型，用来表示性别</a:t>
            </a:r>
            <a:endParaRPr lang="zh-CN" altLang="zh-CN" sz="24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400" dirty="0">
                <a:latin typeface="宋体" panose="02010600030101010101" pitchFamily="2" charset="-122"/>
                <a:ea typeface="宋体" panose="02010600030101010101" pitchFamily="2" charset="-122"/>
              </a:rPr>
              <a:t>  	id</a:t>
            </a:r>
            <a:r>
              <a:rPr lang="zh-CN" altLang="zh-CN"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String</a:t>
            </a:r>
            <a:r>
              <a:rPr lang="zh-CN" altLang="zh-CN" sz="2400" dirty="0">
                <a:latin typeface="宋体" panose="02010600030101010101" pitchFamily="2" charset="-122"/>
                <a:ea typeface="宋体" panose="02010600030101010101" pitchFamily="2" charset="-122"/>
              </a:rPr>
              <a:t>对象，表示身份证号</a:t>
            </a:r>
            <a:endParaRPr lang="zh-CN" altLang="zh-CN" sz="24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400" dirty="0">
                <a:latin typeface="宋体" panose="02010600030101010101" pitchFamily="2" charset="-122"/>
                <a:ea typeface="宋体" panose="02010600030101010101" pitchFamily="2" charset="-122"/>
              </a:rPr>
              <a:t>      phone</a:t>
            </a:r>
            <a:r>
              <a:rPr lang="zh-CN" altLang="zh-CN"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String</a:t>
            </a:r>
            <a:r>
              <a:rPr lang="zh-CN" altLang="zh-CN" sz="2400" dirty="0">
                <a:latin typeface="宋体" panose="02010600030101010101" pitchFamily="2" charset="-122"/>
                <a:ea typeface="宋体" panose="02010600030101010101" pitchFamily="2" charset="-122"/>
              </a:rPr>
              <a:t>对象，表示联系电话</a:t>
            </a:r>
            <a:endParaRPr lang="zh-CN" altLang="zh-CN" sz="24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400" dirty="0">
                <a:latin typeface="宋体" panose="02010600030101010101" pitchFamily="2" charset="-122"/>
                <a:ea typeface="宋体" panose="02010600030101010101" pitchFamily="2" charset="-122"/>
              </a:rPr>
              <a:t>      email </a:t>
            </a:r>
            <a:r>
              <a:rPr lang="zh-CN" altLang="zh-CN"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String</a:t>
            </a:r>
            <a:r>
              <a:rPr lang="zh-CN" altLang="zh-CN" sz="2400" dirty="0">
                <a:latin typeface="宋体" panose="02010600030101010101" pitchFamily="2" charset="-122"/>
                <a:ea typeface="宋体" panose="02010600030101010101" pitchFamily="2" charset="-122"/>
              </a:rPr>
              <a:t>对象，表示</a:t>
            </a:r>
            <a:r>
              <a:rPr lang="en-US" altLang="zh-CN" sz="2400" dirty="0">
                <a:latin typeface="宋体" panose="02010600030101010101" pitchFamily="2" charset="-122"/>
                <a:ea typeface="宋体" panose="02010600030101010101" pitchFamily="2" charset="-122"/>
              </a:rPr>
              <a:t>E-mail</a:t>
            </a:r>
            <a:r>
              <a:rPr lang="zh-CN" altLang="zh-CN" sz="2400" dirty="0">
                <a:latin typeface="宋体" panose="02010600030101010101" pitchFamily="2" charset="-122"/>
                <a:ea typeface="宋体" panose="02010600030101010101" pitchFamily="2" charset="-122"/>
              </a:rPr>
              <a:t>地址</a:t>
            </a:r>
            <a:r>
              <a:rPr lang="en-US" altLang="zh-CN" sz="2400" dirty="0">
                <a:latin typeface="宋体" panose="02010600030101010101" pitchFamily="2" charset="-122"/>
                <a:ea typeface="宋体" panose="02010600030101010101" pitchFamily="2" charset="-122"/>
              </a:rPr>
              <a:t>     </a:t>
            </a:r>
            <a:endParaRPr lang="zh-CN" altLang="zh-CN" sz="24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400" dirty="0">
                <a:latin typeface="宋体" panose="02010600030101010101" pitchFamily="2" charset="-122"/>
                <a:ea typeface="宋体" panose="02010600030101010101" pitchFamily="2" charset="-122"/>
              </a:rPr>
              <a:t>  </a:t>
            </a:r>
            <a:r>
              <a:rPr lang="zh-CN" altLang="zh-CN" sz="2400" dirty="0">
                <a:latin typeface="宋体" panose="02010600030101010101" pitchFamily="2" charset="-122"/>
                <a:ea typeface="宋体" panose="02010600030101010101" pitchFamily="2" charset="-122"/>
              </a:rPr>
              <a:t>②方法</a:t>
            </a:r>
            <a:endParaRPr lang="zh-CN" altLang="zh-CN" sz="24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400" dirty="0">
                <a:latin typeface="宋体" panose="02010600030101010101" pitchFamily="2" charset="-122"/>
                <a:ea typeface="宋体" panose="02010600030101010101" pitchFamily="2" charset="-122"/>
              </a:rPr>
              <a:t>    Person(Name </a:t>
            </a:r>
            <a:r>
              <a:rPr lang="en-US" altLang="zh-CN" sz="2400" dirty="0" err="1">
                <a:latin typeface="宋体" panose="02010600030101010101" pitchFamily="2" charset="-122"/>
                <a:ea typeface="宋体" panose="02010600030101010101" pitchFamily="2" charset="-122"/>
              </a:rPr>
              <a:t>name</a:t>
            </a:r>
            <a:r>
              <a:rPr lang="en-US" altLang="zh-CN" sz="2400" dirty="0">
                <a:latin typeface="宋体" panose="02010600030101010101" pitchFamily="2" charset="-122"/>
                <a:ea typeface="宋体" panose="02010600030101010101" pitchFamily="2" charset="-122"/>
              </a:rPr>
              <a:t>, char sex, String id)</a:t>
            </a:r>
            <a:r>
              <a:rPr lang="zh-CN" altLang="zh-CN" sz="2400" dirty="0">
                <a:latin typeface="宋体" panose="02010600030101010101" pitchFamily="2" charset="-122"/>
                <a:ea typeface="宋体" panose="02010600030101010101" pitchFamily="2" charset="-122"/>
              </a:rPr>
              <a:t>：构造函数</a:t>
            </a:r>
            <a:endParaRPr lang="zh-CN" altLang="zh-CN" sz="24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400" dirty="0">
                <a:latin typeface="宋体" panose="02010600030101010101" pitchFamily="2" charset="-122"/>
                <a:ea typeface="宋体" panose="02010600030101010101" pitchFamily="2" charset="-122"/>
              </a:rPr>
              <a:t>    String </a:t>
            </a:r>
            <a:r>
              <a:rPr lang="en-US" altLang="zh-CN" sz="2400" dirty="0" err="1">
                <a:latin typeface="宋体" panose="02010600030101010101" pitchFamily="2" charset="-122"/>
                <a:ea typeface="宋体" panose="02010600030101010101" pitchFamily="2" charset="-122"/>
              </a:rPr>
              <a:t>getId</a:t>
            </a:r>
            <a:r>
              <a:rPr lang="en-US" altLang="zh-CN" sz="2400" dirty="0">
                <a:latin typeface="宋体" panose="02010600030101010101" pitchFamily="2" charset="-122"/>
                <a:ea typeface="宋体" panose="02010600030101010101" pitchFamily="2" charset="-122"/>
              </a:rPr>
              <a:t>() </a:t>
            </a:r>
            <a:r>
              <a:rPr lang="zh-CN" altLang="zh-CN" sz="2400" dirty="0">
                <a:latin typeface="宋体" panose="02010600030101010101" pitchFamily="2" charset="-122"/>
                <a:ea typeface="宋体" panose="02010600030101010101" pitchFamily="2" charset="-122"/>
              </a:rPr>
              <a:t>：设置身份证号</a:t>
            </a:r>
            <a:endParaRPr lang="zh-CN" altLang="zh-CN" sz="24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400" dirty="0">
                <a:latin typeface="宋体" panose="02010600030101010101" pitchFamily="2" charset="-122"/>
                <a:ea typeface="宋体" panose="02010600030101010101" pitchFamily="2" charset="-122"/>
              </a:rPr>
              <a:t>    void </a:t>
            </a:r>
            <a:r>
              <a:rPr lang="en-US" altLang="zh-CN" sz="2400" dirty="0" err="1">
                <a:latin typeface="宋体" panose="02010600030101010101" pitchFamily="2" charset="-122"/>
                <a:ea typeface="宋体" panose="02010600030101010101" pitchFamily="2" charset="-122"/>
              </a:rPr>
              <a:t>setEmail</a:t>
            </a:r>
            <a:r>
              <a:rPr lang="en-US" altLang="zh-CN" sz="2400" dirty="0">
                <a:latin typeface="宋体" panose="02010600030101010101" pitchFamily="2" charset="-122"/>
                <a:ea typeface="宋体" panose="02010600030101010101" pitchFamily="2" charset="-122"/>
              </a:rPr>
              <a:t>(String  email) </a:t>
            </a:r>
            <a:r>
              <a:rPr lang="zh-CN" altLang="zh-CN" sz="2400" dirty="0">
                <a:latin typeface="宋体" panose="02010600030101010101" pitchFamily="2" charset="-122"/>
                <a:ea typeface="宋体" panose="02010600030101010101" pitchFamily="2" charset="-122"/>
              </a:rPr>
              <a:t>：设置</a:t>
            </a:r>
            <a:r>
              <a:rPr lang="en-US" altLang="zh-CN" sz="2400" dirty="0">
                <a:latin typeface="宋体" panose="02010600030101010101" pitchFamily="2" charset="-122"/>
                <a:ea typeface="宋体" panose="02010600030101010101" pitchFamily="2" charset="-122"/>
              </a:rPr>
              <a:t>E-mail</a:t>
            </a:r>
            <a:r>
              <a:rPr lang="zh-CN" altLang="zh-CN" sz="2400" dirty="0">
                <a:latin typeface="宋体" panose="02010600030101010101" pitchFamily="2" charset="-122"/>
                <a:ea typeface="宋体" panose="02010600030101010101" pitchFamily="2" charset="-122"/>
              </a:rPr>
              <a:t>地址</a:t>
            </a:r>
            <a:endParaRPr lang="zh-CN" altLang="zh-CN" sz="24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400" dirty="0">
                <a:latin typeface="宋体" panose="02010600030101010101" pitchFamily="2" charset="-122"/>
                <a:ea typeface="宋体" panose="02010600030101010101" pitchFamily="2" charset="-122"/>
              </a:rPr>
              <a:t>    void </a:t>
            </a:r>
            <a:r>
              <a:rPr lang="en-US" altLang="zh-CN" sz="2400" dirty="0" err="1">
                <a:latin typeface="宋体" panose="02010600030101010101" pitchFamily="2" charset="-122"/>
                <a:ea typeface="宋体" panose="02010600030101010101" pitchFamily="2" charset="-122"/>
              </a:rPr>
              <a:t>setPhone</a:t>
            </a:r>
            <a:r>
              <a:rPr lang="en-US" altLang="zh-CN" sz="2400" dirty="0">
                <a:latin typeface="宋体" panose="02010600030101010101" pitchFamily="2" charset="-122"/>
                <a:ea typeface="宋体" panose="02010600030101010101" pitchFamily="2" charset="-122"/>
              </a:rPr>
              <a:t>(String phone) </a:t>
            </a:r>
            <a:r>
              <a:rPr lang="zh-CN" altLang="zh-CN" sz="2400" dirty="0">
                <a:latin typeface="宋体" panose="02010600030101010101" pitchFamily="2" charset="-122"/>
                <a:ea typeface="宋体" panose="02010600030101010101" pitchFamily="2" charset="-122"/>
              </a:rPr>
              <a:t>：设置联系电话</a:t>
            </a:r>
            <a:endParaRPr lang="zh-CN" altLang="zh-CN" sz="24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400" dirty="0">
                <a:latin typeface="宋体" panose="02010600030101010101" pitchFamily="2" charset="-122"/>
                <a:ea typeface="宋体" panose="02010600030101010101" pitchFamily="2" charset="-122"/>
              </a:rPr>
              <a:t>    public String </a:t>
            </a:r>
            <a:r>
              <a:rPr lang="en-US" altLang="zh-CN" sz="2400" dirty="0" err="1">
                <a:latin typeface="宋体" panose="02010600030101010101" pitchFamily="2" charset="-122"/>
                <a:ea typeface="宋体" panose="02010600030101010101" pitchFamily="2" charset="-122"/>
              </a:rPr>
              <a:t>toString</a:t>
            </a:r>
            <a:r>
              <a:rPr lang="en-US" altLang="zh-CN" sz="2400" dirty="0">
                <a:latin typeface="宋体" panose="02010600030101010101" pitchFamily="2" charset="-122"/>
                <a:ea typeface="宋体" panose="02010600030101010101" pitchFamily="2" charset="-122"/>
              </a:rPr>
              <a:t>() </a:t>
            </a:r>
            <a:r>
              <a:rPr lang="zh-CN" altLang="zh-CN" sz="2400" dirty="0">
                <a:latin typeface="宋体" panose="02010600030101010101" pitchFamily="2" charset="-122"/>
                <a:ea typeface="宋体" panose="02010600030101010101" pitchFamily="2" charset="-122"/>
              </a:rPr>
              <a:t>：返回个人的各项信息，包括姓名、性别等上述属性</a:t>
            </a:r>
            <a:endParaRPr lang="zh-CN" altLang="zh-CN" sz="24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400" dirty="0">
                <a:latin typeface="宋体" panose="02010600030101010101" pitchFamily="2" charset="-122"/>
                <a:ea typeface="宋体" panose="02010600030101010101" pitchFamily="2" charset="-122"/>
              </a:rPr>
              <a:t> </a:t>
            </a:r>
            <a:endParaRPr lang="zh-CN" altLang="zh-CN" sz="2400" dirty="0">
              <a:latin typeface="宋体" panose="02010600030101010101" pitchFamily="2" charset="-122"/>
              <a:ea typeface="宋体" panose="02010600030101010101" pitchFamily="2" charset="-122"/>
            </a:endParaRPr>
          </a:p>
          <a:p>
            <a:pPr marL="0" indent="0">
              <a:lnSpc>
                <a:spcPct val="100000"/>
              </a:lnSpc>
              <a:spcBef>
                <a:spcPts val="0"/>
              </a:spcBef>
              <a:buNone/>
            </a:pPr>
            <a:endParaRPr lang="zh-CN" altLang="en-US" sz="24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8002" y="357870"/>
            <a:ext cx="9601200" cy="708930"/>
          </a:xfrm>
        </p:spPr>
        <p:txBody>
          <a:bodyPr/>
          <a:lstStyle/>
          <a:p>
            <a:r>
              <a:rPr lang="zh-CN" altLang="en-US" dirty="0"/>
              <a:t>练习：</a:t>
            </a:r>
            <a:endParaRPr lang="zh-CN" altLang="en-US" dirty="0"/>
          </a:p>
        </p:txBody>
      </p:sp>
      <p:sp>
        <p:nvSpPr>
          <p:cNvPr id="3" name="内容占位符 2"/>
          <p:cNvSpPr>
            <a:spLocks noGrp="1"/>
          </p:cNvSpPr>
          <p:nvPr>
            <p:ph idx="1"/>
          </p:nvPr>
        </p:nvSpPr>
        <p:spPr>
          <a:xfrm>
            <a:off x="612005" y="1153428"/>
            <a:ext cx="10986437" cy="4862361"/>
          </a:xfrm>
        </p:spPr>
        <p:txBody>
          <a:bodyPr>
            <a:noAutofit/>
          </a:bodyPr>
          <a:lstStyle/>
          <a:p>
            <a:pPr marL="0" indent="0">
              <a:lnSpc>
                <a:spcPct val="100000"/>
              </a:lnSpc>
              <a:spcBef>
                <a:spcPts val="0"/>
              </a:spcBef>
              <a:buNone/>
            </a:pPr>
            <a:r>
              <a:rPr lang="zh-CN" altLang="zh-CN" sz="2800" dirty="0">
                <a:latin typeface="宋体" panose="02010600030101010101" pitchFamily="2" charset="-122"/>
                <a:ea typeface="宋体" panose="02010600030101010101" pitchFamily="2" charset="-122"/>
              </a:rPr>
              <a:t>⑵类</a:t>
            </a:r>
            <a:r>
              <a:rPr lang="en-US" altLang="zh-CN" sz="2800" dirty="0">
                <a:latin typeface="宋体" panose="02010600030101010101" pitchFamily="2" charset="-122"/>
                <a:ea typeface="宋体" panose="02010600030101010101" pitchFamily="2" charset="-122"/>
              </a:rPr>
              <a:t>Student</a:t>
            </a:r>
            <a:r>
              <a:rPr lang="zh-CN" altLang="zh-CN" sz="2800" dirty="0">
                <a:latin typeface="宋体" panose="02010600030101010101" pitchFamily="2" charset="-122"/>
                <a:ea typeface="宋体" panose="02010600030101010101" pitchFamily="2" charset="-122"/>
              </a:rPr>
              <a:t>：从</a:t>
            </a:r>
            <a:r>
              <a:rPr lang="en-US" altLang="zh-CN" sz="2800" dirty="0">
                <a:latin typeface="宋体" panose="02010600030101010101" pitchFamily="2" charset="-122"/>
                <a:ea typeface="宋体" panose="02010600030101010101" pitchFamily="2" charset="-122"/>
              </a:rPr>
              <a:t>Person</a:t>
            </a:r>
            <a:r>
              <a:rPr lang="zh-CN" altLang="zh-CN" sz="2800" dirty="0">
                <a:latin typeface="宋体" panose="02010600030101010101" pitchFamily="2" charset="-122"/>
                <a:ea typeface="宋体" panose="02010600030101010101" pitchFamily="2" charset="-122"/>
              </a:rPr>
              <a:t>类派生，增加了以下属性和方法：</a:t>
            </a:r>
            <a:endParaRPr lang="zh-CN" altLang="zh-CN" sz="2800" dirty="0">
              <a:latin typeface="宋体" panose="02010600030101010101" pitchFamily="2" charset="-122"/>
              <a:ea typeface="宋体" panose="02010600030101010101" pitchFamily="2" charset="-122"/>
            </a:endParaRPr>
          </a:p>
          <a:p>
            <a:pPr marL="0" lvl="0" indent="0">
              <a:lnSpc>
                <a:spcPct val="100000"/>
              </a:lnSpc>
              <a:spcBef>
                <a:spcPts val="0"/>
              </a:spcBef>
              <a:buNone/>
            </a:pPr>
            <a:r>
              <a:rPr lang="zh-CN" altLang="zh-CN" sz="2800" dirty="0">
                <a:latin typeface="宋体" panose="02010600030101010101" pitchFamily="2" charset="-122"/>
                <a:ea typeface="宋体" panose="02010600030101010101" pitchFamily="2" charset="-122"/>
              </a:rPr>
              <a:t>①属性</a:t>
            </a:r>
            <a:endParaRPr lang="zh-CN" altLang="zh-CN" sz="28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800" dirty="0">
                <a:latin typeface="宋体" panose="02010600030101010101" pitchFamily="2" charset="-122"/>
                <a:ea typeface="宋体" panose="02010600030101010101" pitchFamily="2" charset="-122"/>
              </a:rPr>
              <a:t>   </a:t>
            </a:r>
            <a:r>
              <a:rPr lang="en-US" altLang="zh-CN" sz="2800" dirty="0" err="1">
                <a:latin typeface="宋体" panose="02010600030101010101" pitchFamily="2" charset="-122"/>
                <a:ea typeface="宋体" panose="02010600030101010101" pitchFamily="2" charset="-122"/>
              </a:rPr>
              <a:t>sNo</a:t>
            </a:r>
            <a:r>
              <a:rPr lang="en-US" altLang="zh-CN" sz="2800" dirty="0">
                <a:latin typeface="宋体" panose="02010600030101010101" pitchFamily="2" charset="-122"/>
                <a:ea typeface="宋体" panose="02010600030101010101" pitchFamily="2" charset="-122"/>
              </a:rPr>
              <a:t>:  long</a:t>
            </a:r>
            <a:r>
              <a:rPr lang="zh-CN" altLang="zh-CN" sz="2800" dirty="0">
                <a:latin typeface="宋体" panose="02010600030101010101" pitchFamily="2" charset="-122"/>
                <a:ea typeface="宋体" panose="02010600030101010101" pitchFamily="2" charset="-122"/>
              </a:rPr>
              <a:t>类型，表示学生的学号</a:t>
            </a:r>
            <a:endParaRPr lang="zh-CN" altLang="zh-CN" sz="28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800" dirty="0">
                <a:latin typeface="宋体" panose="02010600030101010101" pitchFamily="2" charset="-122"/>
                <a:ea typeface="宋体" panose="02010600030101010101" pitchFamily="2" charset="-122"/>
              </a:rPr>
              <a:t>   </a:t>
            </a:r>
            <a:r>
              <a:rPr lang="en-US" altLang="zh-CN" sz="2800" dirty="0" err="1">
                <a:latin typeface="宋体" panose="02010600030101010101" pitchFamily="2" charset="-122"/>
                <a:ea typeface="宋体" panose="02010600030101010101" pitchFamily="2" charset="-122"/>
              </a:rPr>
              <a:t>sClass</a:t>
            </a:r>
            <a:r>
              <a:rPr lang="en-US" altLang="zh-CN" sz="2800" dirty="0">
                <a:latin typeface="宋体" panose="02010600030101010101" pitchFamily="2" charset="-122"/>
                <a:ea typeface="宋体" panose="02010600030101010101" pitchFamily="2" charset="-122"/>
              </a:rPr>
              <a:t>: String</a:t>
            </a:r>
            <a:r>
              <a:rPr lang="zh-CN" altLang="zh-CN" sz="2800" dirty="0">
                <a:latin typeface="宋体" panose="02010600030101010101" pitchFamily="2" charset="-122"/>
                <a:ea typeface="宋体" panose="02010600030101010101" pitchFamily="2" charset="-122"/>
              </a:rPr>
              <a:t>对象，表示学生的班级</a:t>
            </a:r>
            <a:endParaRPr lang="zh-CN" altLang="zh-CN" sz="2800" dirty="0">
              <a:latin typeface="宋体" panose="02010600030101010101" pitchFamily="2" charset="-122"/>
              <a:ea typeface="宋体" panose="02010600030101010101" pitchFamily="2" charset="-122"/>
            </a:endParaRPr>
          </a:p>
          <a:p>
            <a:pPr marL="0" lvl="0" indent="0">
              <a:lnSpc>
                <a:spcPct val="100000"/>
              </a:lnSpc>
              <a:spcBef>
                <a:spcPts val="0"/>
              </a:spcBef>
              <a:buNone/>
            </a:pPr>
            <a:r>
              <a:rPr lang="zh-CN" altLang="zh-CN" sz="2800" dirty="0">
                <a:latin typeface="宋体" panose="02010600030101010101" pitchFamily="2" charset="-122"/>
                <a:ea typeface="宋体" panose="02010600030101010101" pitchFamily="2" charset="-122"/>
              </a:rPr>
              <a:t>②方法</a:t>
            </a:r>
            <a:endParaRPr lang="zh-CN" altLang="zh-CN" sz="28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800" dirty="0">
                <a:latin typeface="宋体" panose="02010600030101010101" pitchFamily="2" charset="-122"/>
                <a:ea typeface="宋体" panose="02010600030101010101" pitchFamily="2" charset="-122"/>
              </a:rPr>
              <a:t>   Student(long </a:t>
            </a:r>
            <a:r>
              <a:rPr lang="en-US" altLang="zh-CN" sz="2800" dirty="0" err="1">
                <a:latin typeface="宋体" panose="02010600030101010101" pitchFamily="2" charset="-122"/>
                <a:ea typeface="宋体" panose="02010600030101010101" pitchFamily="2" charset="-122"/>
              </a:rPr>
              <a:t>sNo</a:t>
            </a:r>
            <a:r>
              <a:rPr lang="en-US" altLang="zh-CN" sz="2800" dirty="0">
                <a:latin typeface="宋体" panose="02010600030101010101" pitchFamily="2" charset="-122"/>
                <a:ea typeface="宋体" panose="02010600030101010101" pitchFamily="2" charset="-122"/>
              </a:rPr>
              <a:t>, String name,  char sex,  String  id):</a:t>
            </a:r>
            <a:r>
              <a:rPr lang="zh-CN" altLang="zh-CN" sz="2800" dirty="0">
                <a:latin typeface="宋体" panose="02010600030101010101" pitchFamily="2" charset="-122"/>
                <a:ea typeface="宋体" panose="02010600030101010101" pitchFamily="2" charset="-122"/>
              </a:rPr>
              <a:t>构造函数</a:t>
            </a:r>
            <a:endParaRPr lang="zh-CN" altLang="zh-CN" sz="28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800" dirty="0">
                <a:latin typeface="宋体" panose="02010600030101010101" pitchFamily="2" charset="-122"/>
                <a:ea typeface="宋体" panose="02010600030101010101" pitchFamily="2" charset="-122"/>
              </a:rPr>
              <a:t>   </a:t>
            </a:r>
            <a:r>
              <a:rPr lang="en-US" altLang="zh-CN" sz="2800" dirty="0" err="1">
                <a:latin typeface="宋体" panose="02010600030101010101" pitchFamily="2" charset="-122"/>
                <a:ea typeface="宋体" panose="02010600030101010101" pitchFamily="2" charset="-122"/>
              </a:rPr>
              <a:t>setClass</a:t>
            </a:r>
            <a:r>
              <a:rPr lang="en-US" altLang="zh-CN" sz="2800" dirty="0">
                <a:latin typeface="宋体" panose="02010600030101010101" pitchFamily="2" charset="-122"/>
                <a:ea typeface="宋体" panose="02010600030101010101" pitchFamily="2" charset="-122"/>
              </a:rPr>
              <a:t>(String  </a:t>
            </a:r>
            <a:r>
              <a:rPr lang="en-US" altLang="zh-CN" sz="2800" dirty="0" err="1">
                <a:latin typeface="宋体" panose="02010600030101010101" pitchFamily="2" charset="-122"/>
                <a:ea typeface="宋体" panose="02010600030101010101" pitchFamily="2" charset="-122"/>
              </a:rPr>
              <a:t>sClass</a:t>
            </a:r>
            <a:r>
              <a:rPr lang="en-US" altLang="zh-CN" sz="2800" dirty="0">
                <a:latin typeface="宋体" panose="02010600030101010101" pitchFamily="2" charset="-122"/>
                <a:ea typeface="宋体" panose="02010600030101010101" pitchFamily="2" charset="-122"/>
              </a:rPr>
              <a:t>): </a:t>
            </a:r>
            <a:r>
              <a:rPr lang="zh-CN" altLang="zh-CN" sz="2800" dirty="0">
                <a:latin typeface="宋体" panose="02010600030101010101" pitchFamily="2" charset="-122"/>
                <a:ea typeface="宋体" panose="02010600030101010101" pitchFamily="2" charset="-122"/>
              </a:rPr>
              <a:t>设置学生的班级信息</a:t>
            </a:r>
            <a:endParaRPr lang="zh-CN" altLang="zh-CN" sz="28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800" dirty="0">
                <a:latin typeface="宋体" panose="02010600030101010101" pitchFamily="2" charset="-122"/>
                <a:ea typeface="宋体" panose="02010600030101010101" pitchFamily="2" charset="-122"/>
              </a:rPr>
              <a:t>   public String </a:t>
            </a:r>
            <a:r>
              <a:rPr lang="en-US" altLang="zh-CN" sz="2800" dirty="0" err="1">
                <a:latin typeface="宋体" panose="02010600030101010101" pitchFamily="2" charset="-122"/>
                <a:ea typeface="宋体" panose="02010600030101010101" pitchFamily="2" charset="-122"/>
              </a:rPr>
              <a:t>toString</a:t>
            </a:r>
            <a:r>
              <a:rPr lang="en-US" altLang="zh-CN" sz="2800" dirty="0">
                <a:latin typeface="宋体" panose="02010600030101010101" pitchFamily="2" charset="-122"/>
                <a:ea typeface="宋体" panose="02010600030101010101" pitchFamily="2" charset="-122"/>
              </a:rPr>
              <a:t>() </a:t>
            </a:r>
            <a:r>
              <a:rPr lang="zh-CN" altLang="zh-CN" sz="2800" dirty="0">
                <a:latin typeface="宋体" panose="02010600030101010101" pitchFamily="2" charset="-122"/>
                <a:ea typeface="宋体" panose="02010600030101010101" pitchFamily="2" charset="-122"/>
              </a:rPr>
              <a:t>：返回学生的各项信息，包括学号、班级、姓名等上述属性</a:t>
            </a:r>
            <a:endParaRPr lang="zh-CN" altLang="zh-CN" sz="2800" dirty="0">
              <a:latin typeface="宋体" panose="02010600030101010101" pitchFamily="2" charset="-122"/>
              <a:ea typeface="宋体" panose="02010600030101010101" pitchFamily="2" charset="-122"/>
            </a:endParaRPr>
          </a:p>
          <a:p>
            <a:pPr marL="0" lvl="0" indent="0">
              <a:lnSpc>
                <a:spcPct val="100000"/>
              </a:lnSpc>
              <a:spcBef>
                <a:spcPts val="0"/>
              </a:spcBef>
              <a:buNone/>
            </a:pPr>
            <a:r>
              <a:rPr lang="en-US" altLang="zh-CN" sz="2800" dirty="0">
                <a:latin typeface="宋体" panose="02010600030101010101" pitchFamily="2" charset="-122"/>
                <a:ea typeface="宋体" panose="02010600030101010101" pitchFamily="2" charset="-122"/>
              </a:rPr>
              <a:t> </a:t>
            </a:r>
            <a:endParaRPr lang="zh-CN" altLang="zh-CN" sz="2800" dirty="0">
              <a:latin typeface="宋体" panose="02010600030101010101" pitchFamily="2" charset="-122"/>
              <a:ea typeface="宋体" panose="02010600030101010101" pitchFamily="2" charset="-122"/>
            </a:endParaRPr>
          </a:p>
          <a:p>
            <a:pPr marL="0" indent="0">
              <a:lnSpc>
                <a:spcPct val="100000"/>
              </a:lnSpc>
              <a:spcBef>
                <a:spcPts val="0"/>
              </a:spcBef>
              <a:buNone/>
            </a:pPr>
            <a:endParaRPr lang="zh-CN" altLang="en-US" sz="28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8002" y="357870"/>
            <a:ext cx="9601200" cy="708930"/>
          </a:xfrm>
        </p:spPr>
        <p:txBody>
          <a:bodyPr/>
          <a:lstStyle/>
          <a:p>
            <a:r>
              <a:rPr lang="zh-CN" altLang="en-US" dirty="0"/>
              <a:t>练习：</a:t>
            </a:r>
            <a:endParaRPr lang="zh-CN" altLang="en-US" dirty="0"/>
          </a:p>
        </p:txBody>
      </p:sp>
      <p:sp>
        <p:nvSpPr>
          <p:cNvPr id="3" name="内容占位符 2"/>
          <p:cNvSpPr>
            <a:spLocks noGrp="1"/>
          </p:cNvSpPr>
          <p:nvPr>
            <p:ph idx="1"/>
          </p:nvPr>
        </p:nvSpPr>
        <p:spPr>
          <a:xfrm>
            <a:off x="612005" y="1153428"/>
            <a:ext cx="11332946" cy="4361848"/>
          </a:xfrm>
        </p:spPr>
        <p:txBody>
          <a:bodyPr>
            <a:noAutofit/>
          </a:bodyPr>
          <a:lstStyle/>
          <a:p>
            <a:pPr marL="0" lvl="0" indent="0">
              <a:lnSpc>
                <a:spcPct val="100000"/>
              </a:lnSpc>
              <a:spcBef>
                <a:spcPts val="0"/>
              </a:spcBef>
              <a:buNone/>
            </a:pPr>
            <a:r>
              <a:rPr lang="en-US" altLang="zh-CN" sz="2800" dirty="0">
                <a:latin typeface="宋体" panose="02010600030101010101" pitchFamily="2" charset="-122"/>
                <a:ea typeface="宋体" panose="02010600030101010101" pitchFamily="2" charset="-122"/>
              </a:rPr>
              <a:t>(3)</a:t>
            </a:r>
            <a:r>
              <a:rPr lang="zh-CN" altLang="zh-CN" sz="2800" dirty="0">
                <a:latin typeface="宋体" panose="02010600030101010101" pitchFamily="2" charset="-122"/>
                <a:ea typeface="宋体" panose="02010600030101010101" pitchFamily="2" charset="-122"/>
              </a:rPr>
              <a:t>类</a:t>
            </a:r>
            <a:r>
              <a:rPr lang="en-US" altLang="zh-CN" sz="2800" dirty="0" err="1">
                <a:latin typeface="宋体" panose="02010600030101010101" pitchFamily="2" charset="-122"/>
                <a:ea typeface="宋体" panose="02010600030101010101" pitchFamily="2" charset="-122"/>
              </a:rPr>
              <a:t>TestStudent</a:t>
            </a:r>
            <a:r>
              <a:rPr lang="zh-CN" altLang="zh-CN" sz="2800" dirty="0">
                <a:latin typeface="宋体" panose="02010600030101010101" pitchFamily="2" charset="-122"/>
                <a:ea typeface="宋体" panose="02010600030101010101" pitchFamily="2" charset="-122"/>
              </a:rPr>
              <a:t>作为主类要完成测试功能</a:t>
            </a:r>
            <a:endParaRPr lang="zh-CN" altLang="zh-CN" sz="2800" dirty="0">
              <a:latin typeface="宋体" panose="02010600030101010101" pitchFamily="2" charset="-122"/>
              <a:ea typeface="宋体" panose="02010600030101010101" pitchFamily="2" charset="-122"/>
            </a:endParaRPr>
          </a:p>
          <a:p>
            <a:pPr marL="506095" lvl="2" indent="0">
              <a:lnSpc>
                <a:spcPct val="100000"/>
              </a:lnSpc>
              <a:spcBef>
                <a:spcPts val="0"/>
              </a:spcBef>
              <a:buNone/>
            </a:pPr>
            <a:r>
              <a:rPr lang="zh-CN" altLang="zh-CN" sz="2800" dirty="0">
                <a:latin typeface="宋体" panose="02010600030101010101" pitchFamily="2" charset="-122"/>
                <a:ea typeface="宋体" panose="02010600030101010101" pitchFamily="2" charset="-122"/>
              </a:rPr>
              <a:t>用以下信息生成一个</a:t>
            </a:r>
            <a:r>
              <a:rPr lang="en-US" altLang="zh-CN" sz="2800" dirty="0">
                <a:latin typeface="宋体" panose="02010600030101010101" pitchFamily="2" charset="-122"/>
                <a:ea typeface="宋体" panose="02010600030101010101" pitchFamily="2" charset="-122"/>
              </a:rPr>
              <a:t>Student</a:t>
            </a:r>
            <a:r>
              <a:rPr lang="zh-CN" altLang="zh-CN" sz="2800" dirty="0">
                <a:latin typeface="宋体" panose="02010600030101010101" pitchFamily="2" charset="-122"/>
                <a:ea typeface="宋体" panose="02010600030101010101" pitchFamily="2" charset="-122"/>
              </a:rPr>
              <a:t>对象</a:t>
            </a:r>
            <a:r>
              <a:rPr lang="en-US" altLang="zh-CN" sz="2800" dirty="0" err="1">
                <a:latin typeface="宋体" panose="02010600030101010101" pitchFamily="2" charset="-122"/>
                <a:ea typeface="宋体" panose="02010600030101010101" pitchFamily="2" charset="-122"/>
              </a:rPr>
              <a:t>aStudent</a:t>
            </a:r>
            <a:endParaRPr lang="zh-CN" altLang="zh-CN" sz="28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800" dirty="0">
                <a:latin typeface="宋体" panose="02010600030101010101" pitchFamily="2" charset="-122"/>
                <a:ea typeface="宋体" panose="02010600030101010101" pitchFamily="2" charset="-122"/>
              </a:rPr>
              <a:t>    </a:t>
            </a:r>
            <a:r>
              <a:rPr lang="zh-CN" altLang="zh-CN" sz="2800" dirty="0">
                <a:latin typeface="宋体" panose="02010600030101010101" pitchFamily="2" charset="-122"/>
                <a:ea typeface="宋体" panose="02010600030101010101" pitchFamily="2" charset="-122"/>
              </a:rPr>
              <a:t>姓名 ：</a:t>
            </a:r>
            <a:r>
              <a:rPr lang="zh-CN" altLang="zh-CN" sz="2800" u="sng" dirty="0">
                <a:latin typeface="宋体" panose="02010600030101010101" pitchFamily="2" charset="-122"/>
                <a:ea typeface="宋体" panose="02010600030101010101" pitchFamily="2" charset="-122"/>
              </a:rPr>
              <a:t> 刘德华</a:t>
            </a:r>
            <a:r>
              <a:rPr lang="en-US" altLang="zh-CN" sz="2800" u="sng" dirty="0">
                <a:latin typeface="宋体" panose="02010600030101010101" pitchFamily="2" charset="-122"/>
                <a:ea typeface="宋体" panose="02010600030101010101" pitchFamily="2" charset="-122"/>
              </a:rPr>
              <a:t>  </a:t>
            </a:r>
            <a:r>
              <a:rPr lang="en-US" altLang="zh-CN" sz="2800" dirty="0">
                <a:latin typeface="宋体" panose="02010600030101010101" pitchFamily="2" charset="-122"/>
                <a:ea typeface="宋体" panose="02010600030101010101" pitchFamily="2" charset="-122"/>
              </a:rPr>
              <a:t> 	</a:t>
            </a:r>
            <a:endParaRPr lang="zh-CN" altLang="zh-CN" sz="28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800" dirty="0">
                <a:latin typeface="宋体" panose="02010600030101010101" pitchFamily="2" charset="-122"/>
                <a:ea typeface="宋体" panose="02010600030101010101" pitchFamily="2" charset="-122"/>
              </a:rPr>
              <a:t>    </a:t>
            </a:r>
            <a:r>
              <a:rPr lang="zh-CN" altLang="zh-CN" sz="2800" dirty="0">
                <a:latin typeface="宋体" panose="02010600030101010101" pitchFamily="2" charset="-122"/>
                <a:ea typeface="宋体" panose="02010600030101010101" pitchFamily="2" charset="-122"/>
              </a:rPr>
              <a:t>性别 ：</a:t>
            </a:r>
            <a:r>
              <a:rPr lang="zh-CN" altLang="zh-CN" sz="2800" u="sng" dirty="0">
                <a:latin typeface="宋体" panose="02010600030101010101" pitchFamily="2" charset="-122"/>
                <a:ea typeface="宋体" panose="02010600030101010101" pitchFamily="2" charset="-122"/>
              </a:rPr>
              <a:t> 男</a:t>
            </a:r>
            <a:r>
              <a:rPr lang="en-US" altLang="zh-CN" sz="2800" u="sng" dirty="0">
                <a:latin typeface="宋体" panose="02010600030101010101" pitchFamily="2" charset="-122"/>
                <a:ea typeface="宋体" panose="02010600030101010101" pitchFamily="2" charset="-122"/>
              </a:rPr>
              <a:t> </a:t>
            </a:r>
            <a:endParaRPr lang="zh-CN" altLang="zh-CN" sz="28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800" dirty="0">
                <a:latin typeface="宋体" panose="02010600030101010101" pitchFamily="2" charset="-122"/>
                <a:ea typeface="宋体" panose="02010600030101010101" pitchFamily="2" charset="-122"/>
              </a:rPr>
              <a:t>    </a:t>
            </a:r>
            <a:r>
              <a:rPr lang="zh-CN" altLang="zh-CN" sz="2800" dirty="0">
                <a:latin typeface="宋体" panose="02010600030101010101" pitchFamily="2" charset="-122"/>
                <a:ea typeface="宋体" panose="02010600030101010101" pitchFamily="2" charset="-122"/>
              </a:rPr>
              <a:t>身份证号：</a:t>
            </a:r>
            <a:r>
              <a:rPr lang="en-US" altLang="zh-CN" sz="2800" u="sng" dirty="0">
                <a:latin typeface="宋体" panose="02010600030101010101" pitchFamily="2" charset="-122"/>
                <a:ea typeface="宋体" panose="02010600030101010101" pitchFamily="2" charset="-122"/>
              </a:rPr>
              <a:t>  22033198807070333  </a:t>
            </a:r>
            <a:endParaRPr lang="zh-CN" altLang="zh-CN" sz="28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800" dirty="0">
                <a:latin typeface="宋体" panose="02010600030101010101" pitchFamily="2" charset="-122"/>
                <a:ea typeface="宋体" panose="02010600030101010101" pitchFamily="2" charset="-122"/>
              </a:rPr>
              <a:t>    </a:t>
            </a:r>
            <a:r>
              <a:rPr lang="zh-CN" altLang="zh-CN" sz="2800" dirty="0">
                <a:latin typeface="宋体" panose="02010600030101010101" pitchFamily="2" charset="-122"/>
                <a:ea typeface="宋体" panose="02010600030101010101" pitchFamily="2" charset="-122"/>
              </a:rPr>
              <a:t>学号： </a:t>
            </a:r>
            <a:r>
              <a:rPr lang="en-US" altLang="zh-CN" sz="2800" u="sng" dirty="0">
                <a:latin typeface="宋体" panose="02010600030101010101" pitchFamily="2" charset="-122"/>
                <a:ea typeface="宋体" panose="02010600030101010101" pitchFamily="2" charset="-122"/>
              </a:rPr>
              <a:t> 2008002</a:t>
            </a:r>
            <a:endParaRPr lang="zh-CN" altLang="zh-CN" sz="2800" dirty="0">
              <a:latin typeface="宋体" panose="02010600030101010101" pitchFamily="2" charset="-122"/>
              <a:ea typeface="宋体" panose="02010600030101010101" pitchFamily="2" charset="-122"/>
            </a:endParaRPr>
          </a:p>
          <a:p>
            <a:pPr marL="506095" lvl="2" indent="0">
              <a:lnSpc>
                <a:spcPct val="100000"/>
              </a:lnSpc>
              <a:spcBef>
                <a:spcPts val="0"/>
              </a:spcBef>
              <a:buNone/>
            </a:pPr>
            <a:r>
              <a:rPr lang="en-US" altLang="zh-CN" sz="2800" dirty="0">
                <a:latin typeface="宋体" panose="02010600030101010101" pitchFamily="2" charset="-122"/>
                <a:ea typeface="宋体" panose="02010600030101010101" pitchFamily="2" charset="-122"/>
              </a:rPr>
              <a:t> </a:t>
            </a:r>
            <a:r>
              <a:rPr lang="zh-CN" altLang="zh-CN" sz="2800" dirty="0">
                <a:latin typeface="宋体" panose="02010600030101010101" pitchFamily="2" charset="-122"/>
                <a:ea typeface="宋体" panose="02010600030101010101" pitchFamily="2" charset="-122"/>
              </a:rPr>
              <a:t>设置</a:t>
            </a:r>
            <a:r>
              <a:rPr lang="en-US" altLang="zh-CN" sz="2800" dirty="0">
                <a:latin typeface="宋体" panose="02010600030101010101" pitchFamily="2" charset="-122"/>
                <a:ea typeface="宋体" panose="02010600030101010101" pitchFamily="2" charset="-122"/>
              </a:rPr>
              <a:t>E-mail:</a:t>
            </a:r>
            <a:r>
              <a:rPr lang="en-US" altLang="zh-CN" sz="2800" u="sng" dirty="0">
                <a:latin typeface="宋体" panose="02010600030101010101" pitchFamily="2" charset="-122"/>
                <a:ea typeface="宋体" panose="02010600030101010101" pitchFamily="2" charset="-122"/>
              </a:rPr>
              <a:t>  gzdx@126.com</a:t>
            </a:r>
            <a:endParaRPr lang="zh-CN" altLang="zh-CN" sz="28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800" dirty="0">
                <a:latin typeface="宋体" panose="02010600030101010101" pitchFamily="2" charset="-122"/>
                <a:ea typeface="宋体" panose="02010600030101010101" pitchFamily="2" charset="-122"/>
              </a:rPr>
              <a:t>    </a:t>
            </a:r>
            <a:r>
              <a:rPr lang="zh-CN" altLang="zh-CN" sz="2800" dirty="0">
                <a:latin typeface="宋体" panose="02010600030101010101" pitchFamily="2" charset="-122"/>
                <a:ea typeface="宋体" panose="02010600030101010101" pitchFamily="2" charset="-122"/>
              </a:rPr>
              <a:t>设置联系电话：</a:t>
            </a:r>
            <a:r>
              <a:rPr lang="en-US" altLang="zh-CN" sz="2800" u="sng" dirty="0">
                <a:latin typeface="宋体" panose="02010600030101010101" pitchFamily="2" charset="-122"/>
                <a:ea typeface="宋体" panose="02010600030101010101" pitchFamily="2" charset="-122"/>
              </a:rPr>
              <a:t>88078549</a:t>
            </a:r>
            <a:r>
              <a:rPr lang="en-US" altLang="zh-CN" sz="2800" dirty="0">
                <a:latin typeface="宋体" panose="02010600030101010101" pitchFamily="2" charset="-122"/>
                <a:ea typeface="宋体" panose="02010600030101010101" pitchFamily="2" charset="-122"/>
              </a:rPr>
              <a:t> </a:t>
            </a:r>
            <a:endParaRPr lang="zh-CN" altLang="zh-CN" sz="2800" dirty="0">
              <a:latin typeface="宋体" panose="02010600030101010101" pitchFamily="2" charset="-122"/>
              <a:ea typeface="宋体" panose="02010600030101010101" pitchFamily="2" charset="-122"/>
            </a:endParaRPr>
          </a:p>
          <a:p>
            <a:pPr marL="506095" lvl="2" indent="0">
              <a:lnSpc>
                <a:spcPct val="100000"/>
              </a:lnSpc>
              <a:spcBef>
                <a:spcPts val="0"/>
              </a:spcBef>
              <a:buNone/>
            </a:pPr>
            <a:r>
              <a:rPr lang="en-US" altLang="zh-CN" sz="2800" dirty="0">
                <a:latin typeface="宋体" panose="02010600030101010101" pitchFamily="2" charset="-122"/>
                <a:ea typeface="宋体" panose="02010600030101010101" pitchFamily="2" charset="-122"/>
              </a:rPr>
              <a:t> </a:t>
            </a:r>
            <a:r>
              <a:rPr lang="zh-CN" altLang="zh-CN" sz="2800" dirty="0">
                <a:latin typeface="宋体" panose="02010600030101010101" pitchFamily="2" charset="-122"/>
                <a:ea typeface="宋体" panose="02010600030101010101" pitchFamily="2" charset="-122"/>
              </a:rPr>
              <a:t>输出对象</a:t>
            </a:r>
            <a:r>
              <a:rPr lang="en-US" altLang="zh-CN" sz="2800" dirty="0" err="1">
                <a:latin typeface="宋体" panose="02010600030101010101" pitchFamily="2" charset="-122"/>
                <a:ea typeface="宋体" panose="02010600030101010101" pitchFamily="2" charset="-122"/>
              </a:rPr>
              <a:t>aStudent</a:t>
            </a:r>
            <a:r>
              <a:rPr lang="zh-CN" altLang="zh-CN" sz="2800" dirty="0">
                <a:latin typeface="宋体" panose="02010600030101010101" pitchFamily="2" charset="-122"/>
                <a:ea typeface="宋体" panose="02010600030101010101" pitchFamily="2" charset="-122"/>
              </a:rPr>
              <a:t>的各项信息</a:t>
            </a:r>
            <a:endParaRPr lang="zh-CN" altLang="zh-CN" sz="2800" dirty="0">
              <a:latin typeface="宋体" panose="02010600030101010101" pitchFamily="2" charset="-122"/>
              <a:ea typeface="宋体" panose="02010600030101010101" pitchFamily="2" charset="-122"/>
            </a:endParaRPr>
          </a:p>
          <a:p>
            <a:pPr marL="0" indent="0">
              <a:lnSpc>
                <a:spcPct val="100000"/>
              </a:lnSpc>
              <a:spcBef>
                <a:spcPts val="0"/>
              </a:spcBef>
              <a:buNone/>
            </a:pPr>
            <a:endParaRPr lang="zh-CN" altLang="en-US" sz="28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8002" y="357870"/>
            <a:ext cx="9601200" cy="708930"/>
          </a:xfrm>
        </p:spPr>
        <p:txBody>
          <a:bodyPr/>
          <a:lstStyle/>
          <a:p>
            <a:r>
              <a:rPr lang="zh-CN" altLang="en-US" dirty="0"/>
              <a:t>练习：</a:t>
            </a:r>
            <a:endParaRPr lang="zh-CN" altLang="en-US" dirty="0"/>
          </a:p>
        </p:txBody>
      </p:sp>
      <p:sp>
        <p:nvSpPr>
          <p:cNvPr id="3" name="内容占位符 2"/>
          <p:cNvSpPr>
            <a:spLocks noGrp="1"/>
          </p:cNvSpPr>
          <p:nvPr>
            <p:ph idx="1"/>
          </p:nvPr>
        </p:nvSpPr>
        <p:spPr>
          <a:xfrm>
            <a:off x="612005" y="1153428"/>
            <a:ext cx="11332946" cy="4361848"/>
          </a:xfrm>
        </p:spPr>
        <p:txBody>
          <a:bodyPr>
            <a:noAutofit/>
          </a:bodyPr>
          <a:lstStyle/>
          <a:p>
            <a:pPr marL="0" lvl="0" indent="0">
              <a:lnSpc>
                <a:spcPct val="100000"/>
              </a:lnSpc>
              <a:spcBef>
                <a:spcPts val="0"/>
              </a:spcBef>
              <a:buNone/>
            </a:pPr>
            <a:r>
              <a:rPr lang="en-US" altLang="zh-CN" sz="2800" dirty="0">
                <a:latin typeface="宋体" panose="02010600030101010101" pitchFamily="2" charset="-122"/>
                <a:ea typeface="宋体" panose="02010600030101010101" pitchFamily="2" charset="-122"/>
              </a:rPr>
              <a:t>2</a:t>
            </a:r>
            <a:r>
              <a:rPr lang="zh-CN" altLang="en-US" sz="2800" dirty="0">
                <a:latin typeface="宋体" panose="02010600030101010101" pitchFamily="2" charset="-122"/>
                <a:ea typeface="宋体" panose="02010600030101010101" pitchFamily="2" charset="-122"/>
              </a:rPr>
              <a:t>、（</a:t>
            </a:r>
            <a:r>
              <a:rPr lang="en-US" altLang="zh-CN" sz="2800" dirty="0">
                <a:latin typeface="宋体" panose="02010600030101010101" pitchFamily="2" charset="-122"/>
                <a:ea typeface="宋体" panose="02010600030101010101" pitchFamily="2" charset="-122"/>
              </a:rPr>
              <a:t>1</a:t>
            </a:r>
            <a:r>
              <a:rPr lang="zh-CN" altLang="en-US" sz="2800" dirty="0">
                <a:latin typeface="宋体" panose="02010600030101010101" pitchFamily="2" charset="-122"/>
                <a:ea typeface="宋体" panose="02010600030101010101" pitchFamily="2" charset="-122"/>
              </a:rPr>
              <a:t>）编写一个</a:t>
            </a:r>
            <a:r>
              <a:rPr lang="en-US" altLang="zh-CN" sz="2800" dirty="0">
                <a:latin typeface="宋体" panose="02010600030101010101" pitchFamily="2" charset="-122"/>
                <a:ea typeface="宋体" panose="02010600030101010101" pitchFamily="2" charset="-122"/>
              </a:rPr>
              <a:t>Teacher</a:t>
            </a:r>
            <a:r>
              <a:rPr lang="zh-CN" altLang="en-US" sz="2800" dirty="0">
                <a:latin typeface="宋体" panose="02010600030101010101" pitchFamily="2" charset="-122"/>
                <a:ea typeface="宋体" panose="02010600030101010101" pitchFamily="2" charset="-122"/>
              </a:rPr>
              <a:t>类，含有职工号、姓名、性别、年龄、职称几个成员变量，还含有一个打印详细资料的成员函数。</a:t>
            </a:r>
            <a:endParaRPr lang="en-US" altLang="zh-CN" sz="2800" dirty="0">
              <a:latin typeface="宋体" panose="02010600030101010101" pitchFamily="2" charset="-122"/>
              <a:ea typeface="宋体" panose="02010600030101010101" pitchFamily="2" charset="-122"/>
            </a:endParaRPr>
          </a:p>
          <a:p>
            <a:pPr marL="0" lvl="0" indent="0">
              <a:lnSpc>
                <a:spcPct val="100000"/>
              </a:lnSpc>
              <a:spcBef>
                <a:spcPts val="0"/>
              </a:spcBef>
              <a:buNone/>
            </a:pPr>
            <a:r>
              <a:rPr lang="zh-CN" altLang="en-US" sz="2800" dirty="0">
                <a:latin typeface="宋体" panose="02010600030101010101" pitchFamily="2" charset="-122"/>
                <a:ea typeface="宋体" panose="02010600030101010101" pitchFamily="2" charset="-122"/>
              </a:rPr>
              <a:t>（</a:t>
            </a:r>
            <a:r>
              <a:rPr lang="en-US" altLang="zh-CN" sz="2800" dirty="0">
                <a:latin typeface="宋体" panose="02010600030101010101" pitchFamily="2" charset="-122"/>
                <a:ea typeface="宋体" panose="02010600030101010101" pitchFamily="2" charset="-122"/>
              </a:rPr>
              <a:t>2</a:t>
            </a:r>
            <a:r>
              <a:rPr lang="zh-CN" altLang="en-US" sz="2800" dirty="0">
                <a:latin typeface="宋体" panose="02010600030101010101" pitchFamily="2" charset="-122"/>
                <a:ea typeface="宋体" panose="02010600030101010101" pitchFamily="2" charset="-122"/>
              </a:rPr>
              <a:t>）编写一个</a:t>
            </a:r>
            <a:r>
              <a:rPr lang="en-US" altLang="zh-CN" sz="2800" dirty="0">
                <a:latin typeface="宋体" panose="02010600030101010101" pitchFamily="2" charset="-122"/>
                <a:ea typeface="宋体" panose="02010600030101010101" pitchFamily="2" charset="-122"/>
              </a:rPr>
              <a:t>Student</a:t>
            </a:r>
            <a:r>
              <a:rPr lang="zh-CN" altLang="en-US" sz="2800" dirty="0">
                <a:latin typeface="宋体" panose="02010600030101010101" pitchFamily="2" charset="-122"/>
                <a:ea typeface="宋体" panose="02010600030101010101" pitchFamily="2" charset="-122"/>
              </a:rPr>
              <a:t>类，含有学号、姓名、性别、年龄、家庭住址几个成员变量，还含有一个打印详细资料的成员函数。</a:t>
            </a:r>
            <a:endParaRPr lang="en-US" altLang="zh-CN" sz="2800" dirty="0">
              <a:latin typeface="宋体" panose="02010600030101010101" pitchFamily="2" charset="-122"/>
              <a:ea typeface="宋体" panose="02010600030101010101" pitchFamily="2" charset="-122"/>
            </a:endParaRPr>
          </a:p>
          <a:p>
            <a:pPr marL="0" lvl="0" indent="0">
              <a:lnSpc>
                <a:spcPct val="100000"/>
              </a:lnSpc>
              <a:spcBef>
                <a:spcPts val="0"/>
              </a:spcBef>
              <a:buNone/>
            </a:pPr>
            <a:r>
              <a:rPr lang="zh-CN" altLang="en-US" sz="2800" dirty="0">
                <a:latin typeface="宋体" panose="02010600030101010101" pitchFamily="2" charset="-122"/>
                <a:ea typeface="宋体" panose="02010600030101010101" pitchFamily="2" charset="-122"/>
              </a:rPr>
              <a:t>（</a:t>
            </a:r>
            <a:r>
              <a:rPr lang="en-US" altLang="zh-CN" sz="2800" dirty="0">
                <a:latin typeface="宋体" panose="02010600030101010101" pitchFamily="2" charset="-122"/>
                <a:ea typeface="宋体" panose="02010600030101010101" pitchFamily="2" charset="-122"/>
              </a:rPr>
              <a:t>3</a:t>
            </a:r>
            <a:r>
              <a:rPr lang="zh-CN" altLang="en-US" sz="2800" dirty="0">
                <a:latin typeface="宋体" panose="02010600030101010101" pitchFamily="2" charset="-122"/>
                <a:ea typeface="宋体" panose="02010600030101010101" pitchFamily="2" charset="-122"/>
              </a:rPr>
              <a:t>）将它们共同的内容编写为父类，让两个子类继承。</a:t>
            </a:r>
            <a:endParaRPr lang="zh-CN" altLang="en-US" sz="28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p:cNvSpPr>
            <a:spLocks noGrp="1"/>
          </p:cNvSpPr>
          <p:nvPr>
            <p:ph type="title" idx="4294967295"/>
          </p:nvPr>
        </p:nvSpPr>
        <p:spPr>
          <a:xfrm>
            <a:off x="312261" y="360304"/>
            <a:ext cx="8147318" cy="1093111"/>
          </a:xfrm>
        </p:spPr>
        <p:txBody>
          <a:bodyPr>
            <a:normAutofit fontScale="90000"/>
          </a:bodyPr>
          <a:lstStyle/>
          <a:p>
            <a:pPr>
              <a:lnSpc>
                <a:spcPct val="150000"/>
              </a:lnSpc>
            </a:pPr>
            <a:r>
              <a:rPr lang="de-DE" altLang="en-US" sz="3600" dirty="0">
                <a:latin typeface="宋体" panose="02010600030101010101" pitchFamily="2" charset="-122"/>
                <a:ea typeface="宋体" panose="02010600030101010101" pitchFamily="2" charset="-122"/>
              </a:rPr>
              <a:t>3.5</a:t>
            </a:r>
            <a:r>
              <a:rPr lang="zh-CN" altLang="en-US" sz="3600" dirty="0">
                <a:latin typeface="宋体" panose="02010600030101010101" pitchFamily="2" charset="-122"/>
                <a:ea typeface="宋体" panose="02010600030101010101" pitchFamily="2" charset="-122"/>
              </a:rPr>
              <a:t>抽象类与接口</a:t>
            </a:r>
            <a:br>
              <a:rPr lang="en-US" altLang="zh-CN" dirty="0">
                <a:latin typeface="宋体" panose="02010600030101010101" pitchFamily="2" charset="-122"/>
                <a:ea typeface="宋体" panose="02010600030101010101" pitchFamily="2" charset="-122"/>
              </a:rPr>
            </a:br>
            <a:r>
              <a:rPr lang="en-US" altLang="zh-CN" sz="3100" dirty="0">
                <a:latin typeface="宋体" panose="02010600030101010101" pitchFamily="2" charset="-122"/>
                <a:ea typeface="宋体" panose="02010600030101010101" pitchFamily="2" charset="-122"/>
              </a:rPr>
              <a:t>1</a:t>
            </a:r>
            <a:r>
              <a:rPr lang="zh-CN" altLang="en-US" sz="3100" dirty="0">
                <a:latin typeface="宋体" panose="02010600030101010101" pitchFamily="2" charset="-122"/>
                <a:ea typeface="宋体" panose="02010600030101010101" pitchFamily="2" charset="-122"/>
              </a:rPr>
              <a:t>、抽象类</a:t>
            </a:r>
            <a:endParaRPr lang="zh-CN" altLang="en-US" sz="3100" dirty="0">
              <a:latin typeface="宋体" panose="02010600030101010101" pitchFamily="2" charset="-122"/>
              <a:ea typeface="宋体" panose="02010600030101010101" pitchFamily="2" charset="-122"/>
            </a:endParaRPr>
          </a:p>
        </p:txBody>
      </p:sp>
      <p:sp>
        <p:nvSpPr>
          <p:cNvPr id="68611" name="内容占位符 2"/>
          <p:cNvSpPr>
            <a:spLocks noGrp="1"/>
          </p:cNvSpPr>
          <p:nvPr>
            <p:ph idx="4294967295"/>
          </p:nvPr>
        </p:nvSpPr>
        <p:spPr>
          <a:xfrm>
            <a:off x="577516" y="1653616"/>
            <a:ext cx="11213432" cy="4570278"/>
          </a:xfrm>
        </p:spPr>
        <p:txBody>
          <a:bodyPr>
            <a:noAutofit/>
          </a:bodyPr>
          <a:lstStyle/>
          <a:p>
            <a:pPr marL="0" indent="0">
              <a:lnSpc>
                <a:spcPct val="100000"/>
              </a:lnSpc>
              <a:spcBef>
                <a:spcPts val="0"/>
              </a:spcBef>
              <a:buNone/>
            </a:pPr>
            <a:r>
              <a:rPr lang="zh-CN" altLang="en-US" sz="2800" b="1" dirty="0">
                <a:latin typeface="宋体" panose="02010600030101010101" pitchFamily="2" charset="-122"/>
                <a:ea typeface="宋体" panose="02010600030101010101" pitchFamily="2" charset="-122"/>
              </a:rPr>
              <a:t>抽象类是对一组具体实现的抽象性描述，不能建立对象，只用来派生子类。</a:t>
            </a:r>
            <a:endParaRPr lang="en-US" altLang="zh-CN" sz="2800" b="1" dirty="0">
              <a:latin typeface="宋体" panose="02010600030101010101" pitchFamily="2" charset="-122"/>
              <a:ea typeface="宋体" panose="02010600030101010101" pitchFamily="2" charset="-122"/>
            </a:endParaRPr>
          </a:p>
          <a:p>
            <a:pPr marL="0" indent="0">
              <a:lnSpc>
                <a:spcPct val="100000"/>
              </a:lnSpc>
              <a:spcBef>
                <a:spcPts val="0"/>
              </a:spcBef>
              <a:buNone/>
            </a:pPr>
            <a:r>
              <a:rPr lang="zh-CN" altLang="en-US" sz="2800" b="1" dirty="0">
                <a:latin typeface="宋体" panose="02010600030101010101" pitchFamily="2" charset="-122"/>
                <a:ea typeface="宋体" panose="02010600030101010101" pitchFamily="2" charset="-122"/>
              </a:rPr>
              <a:t>抽象类是用关键字</a:t>
            </a:r>
            <a:r>
              <a:rPr lang="en-US" altLang="zh-CN" sz="2800" b="1" dirty="0">
                <a:latin typeface="宋体" panose="02010600030101010101" pitchFamily="2" charset="-122"/>
                <a:ea typeface="宋体" panose="02010600030101010101" pitchFamily="2" charset="-122"/>
              </a:rPr>
              <a:t>abstract</a:t>
            </a:r>
            <a:r>
              <a:rPr lang="zh-CN" altLang="en-US" sz="2800" b="1" dirty="0">
                <a:latin typeface="宋体" panose="02010600030101010101" pitchFamily="2" charset="-122"/>
                <a:ea typeface="宋体" panose="02010600030101010101" pitchFamily="2" charset="-122"/>
              </a:rPr>
              <a:t>修饰的。语法格式形如：</a:t>
            </a:r>
            <a:endParaRPr lang="zh-CN" altLang="en-US" sz="2800" b="1"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访问限定符</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  abstract  class  </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类名</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a:t>
            </a:r>
            <a:endParaRPr lang="zh-CN" altLang="en-US" sz="2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	   //</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属性说明</a:t>
            </a:r>
            <a:endParaRPr lang="zh-CN" altLang="en-US" sz="2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               …………</a:t>
            </a:r>
            <a:endParaRPr lang="zh-CN" altLang="en-US" sz="2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       //</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抽象方法声明</a:t>
            </a:r>
            <a:endParaRPr lang="zh-CN" altLang="en-US" sz="2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           …………</a:t>
            </a:r>
            <a:endParaRPr lang="zh-CN" altLang="en-US" sz="2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       //</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非抽象方法定义</a:t>
            </a:r>
            <a:endParaRPr lang="zh-CN" altLang="en-US" sz="2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          ……………</a:t>
            </a:r>
            <a:endParaRPr lang="zh-CN" altLang="en-US" sz="2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a:t>
            </a:r>
            <a:endParaRPr lang="zh-CN" altLang="en-US" sz="2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endParaRPr lang="zh-CN" altLang="en-US" sz="2800" b="1" dirty="0">
              <a:latin typeface="宋体" panose="02010600030101010101" pitchFamily="2" charset="-122"/>
              <a:ea typeface="宋体" panose="02010600030101010101" pitchFamily="2" charset="-122"/>
            </a:endParaRPr>
          </a:p>
        </p:txBody>
      </p:sp>
      <p:sp>
        <p:nvSpPr>
          <p:cNvPr id="68612"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6BDF5F69-7CFD-4915-98D3-2215388EAEBD}"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内容占位符 2"/>
          <p:cNvSpPr>
            <a:spLocks noGrp="1"/>
          </p:cNvSpPr>
          <p:nvPr>
            <p:ph idx="4294967295"/>
          </p:nvPr>
        </p:nvSpPr>
        <p:spPr>
          <a:xfrm>
            <a:off x="691415" y="1682042"/>
            <a:ext cx="10809170" cy="5003820"/>
          </a:xfrm>
        </p:spPr>
        <p:txBody>
          <a:bodyPr>
            <a:normAutofit/>
          </a:bodyPr>
          <a:lstStyle/>
          <a:p>
            <a:pPr marL="0" indent="353060">
              <a:buNone/>
            </a:pPr>
            <a:r>
              <a:rPr lang="zh-CN" altLang="en-US" sz="2800" b="1" dirty="0">
                <a:latin typeface="宋体" panose="02010600030101010101" pitchFamily="2" charset="-122"/>
                <a:ea typeface="宋体" panose="02010600030101010101" pitchFamily="2" charset="-122"/>
              </a:rPr>
              <a:t>抽象方法语法格式形如：</a:t>
            </a:r>
            <a:endParaRPr lang="zh-CN" altLang="en-US" sz="2800" b="1" dirty="0">
              <a:latin typeface="宋体" panose="02010600030101010101" pitchFamily="2" charset="-122"/>
              <a:ea typeface="宋体" panose="02010600030101010101" pitchFamily="2" charset="-122"/>
            </a:endParaRPr>
          </a:p>
          <a:p>
            <a:pPr marL="0" indent="353060">
              <a:buNone/>
            </a:pPr>
            <a:r>
              <a:rPr lang="en-US" altLang="zh-CN" sz="2800" b="1" dirty="0">
                <a:solidFill>
                  <a:srgbClr val="FF0000"/>
                </a:solidFill>
                <a:latin typeface="宋体" panose="02010600030101010101" pitchFamily="2" charset="-122"/>
                <a:ea typeface="宋体" panose="02010600030101010101" pitchFamily="2" charset="-122"/>
              </a:rPr>
              <a:t>         abstract </a:t>
            </a:r>
            <a:r>
              <a:rPr lang="zh-CN" altLang="en-US" sz="2800" b="1" dirty="0">
                <a:solidFill>
                  <a:srgbClr val="FF0000"/>
                </a:solidFill>
                <a:latin typeface="宋体" panose="02010600030101010101" pitchFamily="2" charset="-122"/>
                <a:ea typeface="宋体" panose="02010600030101010101" pitchFamily="2" charset="-122"/>
              </a:rPr>
              <a:t>返回值类型 方法名（</a:t>
            </a:r>
            <a:r>
              <a:rPr lang="en-US" altLang="zh-CN" sz="2800" b="1" dirty="0">
                <a:solidFill>
                  <a:srgbClr val="FF0000"/>
                </a:solidFill>
                <a:latin typeface="宋体" panose="02010600030101010101" pitchFamily="2" charset="-122"/>
                <a:ea typeface="宋体" panose="02010600030101010101" pitchFamily="2" charset="-122"/>
              </a:rPr>
              <a:t>[</a:t>
            </a:r>
            <a:r>
              <a:rPr lang="zh-CN" altLang="en-US" sz="2800" b="1" dirty="0">
                <a:solidFill>
                  <a:srgbClr val="FF0000"/>
                </a:solidFill>
                <a:latin typeface="宋体" panose="02010600030101010101" pitchFamily="2" charset="-122"/>
                <a:ea typeface="宋体" panose="02010600030101010101" pitchFamily="2" charset="-122"/>
              </a:rPr>
              <a:t>形式参数</a:t>
            </a:r>
            <a:r>
              <a:rPr lang="en-US" altLang="zh-CN" sz="2800" b="1" dirty="0">
                <a:solidFill>
                  <a:srgbClr val="FF0000"/>
                </a:solidFill>
                <a:latin typeface="宋体" panose="02010600030101010101" pitchFamily="2" charset="-122"/>
                <a:ea typeface="宋体" panose="02010600030101010101" pitchFamily="2" charset="-122"/>
              </a:rPr>
              <a:t>]</a:t>
            </a:r>
            <a:r>
              <a:rPr lang="zh-CN" altLang="en-US" sz="2800" b="1" dirty="0">
                <a:solidFill>
                  <a:srgbClr val="FF0000"/>
                </a:solidFill>
                <a:latin typeface="宋体" panose="02010600030101010101" pitchFamily="2" charset="-122"/>
                <a:ea typeface="宋体" panose="02010600030101010101" pitchFamily="2" charset="-122"/>
              </a:rPr>
              <a:t>）；</a:t>
            </a:r>
            <a:endParaRPr lang="en-US" altLang="zh-CN" sz="2800" b="1" dirty="0">
              <a:solidFill>
                <a:srgbClr val="FF0000"/>
              </a:solidFill>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1</a:t>
            </a:r>
            <a:r>
              <a:rPr lang="zh-CN" altLang="en-US" sz="2800" b="1" dirty="0">
                <a:latin typeface="宋体" panose="02010600030101010101" pitchFamily="2" charset="-122"/>
                <a:ea typeface="宋体" panose="02010600030101010101" pitchFamily="2" charset="-122"/>
              </a:rPr>
              <a:t>）抽象方法仅仅是为所有的派生子类定义一个统一的接口，方法具体实现的程序代码交给了各个派生子类来完成，不同的子类可以根据自身的情况以不同的程序代码实现。</a:t>
            </a:r>
            <a:endParaRPr lang="zh-CN" altLang="en-US" sz="2800" b="1" dirty="0">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2</a:t>
            </a:r>
            <a:r>
              <a:rPr lang="zh-CN" altLang="en-US" sz="2800" b="1" dirty="0">
                <a:latin typeface="宋体" panose="02010600030101010101" pitchFamily="2" charset="-122"/>
                <a:ea typeface="宋体" panose="02010600030101010101" pitchFamily="2" charset="-122"/>
              </a:rPr>
              <a:t>）抽象类只能派生出子类，不能创建具体的对象，一个抽象类中可以有一个或多个抽象方法，也可以没有抽象方法。但一个类中只要有一个方法是抽象的，则这个类就是抽象的。</a:t>
            </a:r>
            <a:endParaRPr lang="zh-CN" altLang="en-US" sz="2800" b="1" dirty="0">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3</a:t>
            </a:r>
            <a:r>
              <a:rPr lang="zh-CN" altLang="en-US" sz="2800" b="1" dirty="0">
                <a:latin typeface="宋体" panose="02010600030101010101" pitchFamily="2" charset="-122"/>
                <a:ea typeface="宋体" panose="02010600030101010101" pitchFamily="2" charset="-122"/>
              </a:rPr>
              <a:t>）构造方法、静态（</a:t>
            </a:r>
            <a:r>
              <a:rPr lang="en-US" altLang="zh-CN" sz="2800" b="1" dirty="0">
                <a:latin typeface="宋体" panose="02010600030101010101" pitchFamily="2" charset="-122"/>
                <a:ea typeface="宋体" panose="02010600030101010101" pitchFamily="2" charset="-122"/>
              </a:rPr>
              <a:t>static</a:t>
            </a:r>
            <a:r>
              <a:rPr lang="zh-CN" altLang="en-US" sz="2800" b="1" dirty="0">
                <a:latin typeface="宋体" panose="02010600030101010101" pitchFamily="2" charset="-122"/>
                <a:ea typeface="宋体" panose="02010600030101010101" pitchFamily="2" charset="-122"/>
              </a:rPr>
              <a:t>）方法、最终（</a:t>
            </a:r>
            <a:r>
              <a:rPr lang="en-US" altLang="zh-CN" sz="2800" b="1" dirty="0">
                <a:latin typeface="宋体" panose="02010600030101010101" pitchFamily="2" charset="-122"/>
                <a:ea typeface="宋体" panose="02010600030101010101" pitchFamily="2" charset="-122"/>
              </a:rPr>
              <a:t>final</a:t>
            </a:r>
            <a:r>
              <a:rPr lang="zh-CN" altLang="en-US" sz="2800" b="1" dirty="0">
                <a:latin typeface="宋体" panose="02010600030101010101" pitchFamily="2" charset="-122"/>
                <a:ea typeface="宋体" panose="02010600030101010101" pitchFamily="2" charset="-122"/>
              </a:rPr>
              <a:t>）方法和私有（</a:t>
            </a:r>
            <a:r>
              <a:rPr lang="en-US" altLang="zh-CN" sz="2800" b="1" dirty="0">
                <a:latin typeface="宋体" panose="02010600030101010101" pitchFamily="2" charset="-122"/>
                <a:ea typeface="宋体" panose="02010600030101010101" pitchFamily="2" charset="-122"/>
              </a:rPr>
              <a:t>private</a:t>
            </a:r>
            <a:r>
              <a:rPr lang="zh-CN" altLang="en-US" sz="2800" b="1" dirty="0">
                <a:latin typeface="宋体" panose="02010600030101010101" pitchFamily="2" charset="-122"/>
                <a:ea typeface="宋体" panose="02010600030101010101" pitchFamily="2" charset="-122"/>
              </a:rPr>
              <a:t>）方法不能被声明为抽象方法。</a:t>
            </a:r>
            <a:endParaRPr lang="zh-CN" altLang="en-US" sz="2800" b="1" dirty="0">
              <a:latin typeface="宋体" panose="02010600030101010101" pitchFamily="2" charset="-122"/>
              <a:ea typeface="宋体" panose="02010600030101010101" pitchFamily="2" charset="-122"/>
            </a:endParaRPr>
          </a:p>
        </p:txBody>
      </p:sp>
      <p:sp>
        <p:nvSpPr>
          <p:cNvPr id="69636"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7523FA3D-0A75-44C8-84A7-6737CF7E5BD3}"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244883" y="239886"/>
            <a:ext cx="10997423" cy="1223154"/>
          </a:xfrm>
          <a:prstGeom prst="rect">
            <a:avLst/>
          </a:prstGeom>
        </p:spPr>
        <p:txBody>
          <a:bodyPr vert="horz" lIns="91440" tIns="45720" rIns="91440" bIns="45720" rtlCol="0" anchor="b">
            <a:normAutofit fontScale="90000" lnSpcReduction="20000"/>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nSpc>
                <a:spcPct val="150000"/>
              </a:lnSpc>
            </a:pPr>
            <a:r>
              <a:rPr lang="de-DE" altLang="en-US" sz="3600" dirty="0">
                <a:latin typeface="宋体" panose="02010600030101010101" pitchFamily="2" charset="-122"/>
                <a:ea typeface="宋体" panose="02010600030101010101" pitchFamily="2" charset="-122"/>
              </a:rPr>
              <a:t>3.5 </a:t>
            </a:r>
            <a:r>
              <a:rPr lang="zh-CN" altLang="en-US" sz="3600" dirty="0">
                <a:latin typeface="宋体" panose="02010600030101010101" pitchFamily="2" charset="-122"/>
                <a:ea typeface="宋体" panose="02010600030101010101" pitchFamily="2" charset="-122"/>
              </a:rPr>
              <a:t>抽象类与接口</a:t>
            </a:r>
            <a:br>
              <a:rPr lang="en-US" altLang="zh-CN" dirty="0">
                <a:latin typeface="宋体" panose="02010600030101010101" pitchFamily="2" charset="-122"/>
                <a:ea typeface="宋体" panose="02010600030101010101" pitchFamily="2" charset="-122"/>
              </a:rPr>
            </a:br>
            <a:r>
              <a:rPr lang="en-US" altLang="zh-CN" sz="3100" dirty="0">
                <a:latin typeface="宋体" panose="02010600030101010101" pitchFamily="2" charset="-122"/>
                <a:ea typeface="宋体" panose="02010600030101010101" pitchFamily="2" charset="-122"/>
              </a:rPr>
              <a:t>1</a:t>
            </a:r>
            <a:r>
              <a:rPr lang="zh-CN" altLang="en-US" sz="3100" dirty="0">
                <a:latin typeface="宋体" panose="02010600030101010101" pitchFamily="2" charset="-122"/>
                <a:ea typeface="宋体" panose="02010600030101010101" pitchFamily="2" charset="-122"/>
              </a:rPr>
              <a:t>、抽象类</a:t>
            </a:r>
            <a:endParaRPr lang="zh-CN" altLang="en-US" sz="31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70659" name="内容占位符 2"/>
          <p:cNvSpPr>
            <a:spLocks noGrp="1"/>
          </p:cNvSpPr>
          <p:nvPr>
            <p:ph idx="4294967295"/>
          </p:nvPr>
        </p:nvSpPr>
        <p:spPr>
          <a:xfrm>
            <a:off x="494756" y="1373290"/>
            <a:ext cx="10786052" cy="5312572"/>
          </a:xfrm>
        </p:spPr>
        <p:txBody>
          <a:bodyPr>
            <a:normAutofit/>
          </a:bodyPr>
          <a:lstStyle/>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例</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3.17】</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抽象类的使用</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abstract class Person{</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String name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int age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String occupation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public abstract String tell();   // </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声明抽象方法</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tell()</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70660"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2C757942-47F5-422B-BC02-DB933E032589}"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216007" y="150136"/>
            <a:ext cx="10997423" cy="1223154"/>
          </a:xfrm>
          <a:prstGeom prst="rect">
            <a:avLst/>
          </a:prstGeom>
        </p:spPr>
        <p:txBody>
          <a:bodyPr vert="horz" lIns="91440" tIns="45720" rIns="91440" bIns="45720" rtlCol="0" anchor="b">
            <a:normAutofit fontScale="90000" lnSpcReduction="20000"/>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nSpc>
                <a:spcPct val="150000"/>
              </a:lnSpc>
            </a:pPr>
            <a:r>
              <a:rPr lang="de-DE" altLang="en-US" sz="3600" dirty="0">
                <a:latin typeface="宋体" panose="02010600030101010101" pitchFamily="2" charset="-122"/>
                <a:ea typeface="宋体" panose="02010600030101010101" pitchFamily="2" charset="-122"/>
              </a:rPr>
              <a:t>3.5 </a:t>
            </a:r>
            <a:r>
              <a:rPr lang="zh-CN" altLang="en-US" sz="3600" dirty="0">
                <a:latin typeface="宋体" panose="02010600030101010101" pitchFamily="2" charset="-122"/>
                <a:ea typeface="宋体" panose="02010600030101010101" pitchFamily="2" charset="-122"/>
              </a:rPr>
              <a:t>抽象类与接口</a:t>
            </a:r>
            <a:br>
              <a:rPr lang="en-US" altLang="zh-CN" dirty="0">
                <a:latin typeface="宋体" panose="02010600030101010101" pitchFamily="2" charset="-122"/>
                <a:ea typeface="宋体" panose="02010600030101010101" pitchFamily="2" charset="-122"/>
              </a:rPr>
            </a:br>
            <a:r>
              <a:rPr lang="en-US" altLang="zh-CN" sz="3100" dirty="0">
                <a:latin typeface="宋体" panose="02010600030101010101" pitchFamily="2" charset="-122"/>
                <a:ea typeface="宋体" panose="02010600030101010101" pitchFamily="2" charset="-122"/>
              </a:rPr>
              <a:t>1</a:t>
            </a:r>
            <a:r>
              <a:rPr lang="zh-CN" altLang="en-US" sz="3100" dirty="0">
                <a:latin typeface="宋体" panose="02010600030101010101" pitchFamily="2" charset="-122"/>
                <a:ea typeface="宋体" panose="02010600030101010101" pitchFamily="2" charset="-122"/>
              </a:rPr>
              <a:t>、抽象类</a:t>
            </a:r>
            <a:endParaRPr lang="zh-CN" altLang="en-US" sz="31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71683" name="内容占位符 2"/>
          <p:cNvSpPr>
            <a:spLocks noGrp="1"/>
          </p:cNvSpPr>
          <p:nvPr>
            <p:ph idx="4294967295"/>
          </p:nvPr>
        </p:nvSpPr>
        <p:spPr>
          <a:xfrm>
            <a:off x="702427" y="1592094"/>
            <a:ext cx="10997423" cy="4701856"/>
          </a:xfrm>
        </p:spPr>
        <p:txBody>
          <a:bodyPr>
            <a:normAutofit/>
          </a:bodyPr>
          <a:lstStyle/>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class Student extends Person{</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public Student(String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name,int</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age,String</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occupation){</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this.name = name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this.age</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 age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this.occupation</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 occupation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public String tell() {    // </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重写</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tell()</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方法</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return "</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学生</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——&gt;</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姓名：</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"+this.name+"</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，年龄：</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this.age</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，职业：</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this.occupation</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71684"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61B89CB2-0644-42E4-B4FD-B2EA3A4220C8}"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6" name="标题 1"/>
          <p:cNvSpPr txBox="1"/>
          <p:nvPr/>
        </p:nvSpPr>
        <p:spPr>
          <a:xfrm>
            <a:off x="216007" y="150136"/>
            <a:ext cx="10997423" cy="1223154"/>
          </a:xfrm>
          <a:prstGeom prst="rect">
            <a:avLst/>
          </a:prstGeom>
        </p:spPr>
        <p:txBody>
          <a:bodyPr vert="horz" lIns="91440" tIns="45720" rIns="91440" bIns="45720" rtlCol="0" anchor="b">
            <a:normAutofit fontScale="90000" lnSpcReduction="20000"/>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nSpc>
                <a:spcPct val="150000"/>
              </a:lnSpc>
            </a:pPr>
            <a:r>
              <a:rPr lang="de-DE" altLang="en-US" sz="3600" dirty="0">
                <a:latin typeface="宋体" panose="02010600030101010101" pitchFamily="2" charset="-122"/>
                <a:ea typeface="宋体" panose="02010600030101010101" pitchFamily="2" charset="-122"/>
              </a:rPr>
              <a:t>3.5 </a:t>
            </a:r>
            <a:r>
              <a:rPr lang="zh-CN" altLang="en-US" sz="3600" dirty="0">
                <a:latin typeface="宋体" panose="02010600030101010101" pitchFamily="2" charset="-122"/>
                <a:ea typeface="宋体" panose="02010600030101010101" pitchFamily="2" charset="-122"/>
              </a:rPr>
              <a:t>抽象类与接口</a:t>
            </a:r>
            <a:br>
              <a:rPr lang="en-US" altLang="zh-CN" dirty="0">
                <a:latin typeface="宋体" panose="02010600030101010101" pitchFamily="2" charset="-122"/>
                <a:ea typeface="宋体" panose="02010600030101010101" pitchFamily="2" charset="-122"/>
              </a:rPr>
            </a:br>
            <a:r>
              <a:rPr lang="en-US" altLang="zh-CN" sz="3100" dirty="0">
                <a:latin typeface="宋体" panose="02010600030101010101" pitchFamily="2" charset="-122"/>
                <a:ea typeface="宋体" panose="02010600030101010101" pitchFamily="2" charset="-122"/>
              </a:rPr>
              <a:t>1</a:t>
            </a:r>
            <a:r>
              <a:rPr lang="zh-CN" altLang="en-US" sz="3100" dirty="0">
                <a:latin typeface="宋体" panose="02010600030101010101" pitchFamily="2" charset="-122"/>
                <a:ea typeface="宋体" panose="02010600030101010101" pitchFamily="2" charset="-122"/>
              </a:rPr>
              <a:t>、抽象类</a:t>
            </a:r>
            <a:endParaRPr lang="zh-CN" altLang="en-US" sz="31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71683" name="内容占位符 2"/>
          <p:cNvSpPr>
            <a:spLocks noGrp="1"/>
          </p:cNvSpPr>
          <p:nvPr>
            <p:ph idx="4294967295"/>
          </p:nvPr>
        </p:nvSpPr>
        <p:spPr>
          <a:xfrm>
            <a:off x="731302" y="1373291"/>
            <a:ext cx="10997423" cy="4701856"/>
          </a:xfrm>
        </p:spPr>
        <p:txBody>
          <a:bodyPr>
            <a:normAutofit/>
          </a:bodyPr>
          <a:lstStyle/>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class Worker extends Person{</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public Worker(String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name,int</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age,String</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occupation){</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this.name = name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this.age</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 age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this.occupation</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 occupation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public String tell() {     // </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重写</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tell()</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方法</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return "</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工人</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——&gt;</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姓名：</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"+this.name+"</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，年龄：</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this.age</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，职业：</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this.occupation</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   </a:t>
            </a:r>
            <a:endParaRPr lang="zh-CN" altLang="en-US" sz="2820" b="1" dirty="0">
              <a:latin typeface="宋体" panose="02010600030101010101" pitchFamily="2" charset="-122"/>
              <a:ea typeface="宋体" panose="02010600030101010101" pitchFamily="2" charset="-122"/>
            </a:endParaRPr>
          </a:p>
        </p:txBody>
      </p:sp>
      <p:sp>
        <p:nvSpPr>
          <p:cNvPr id="71684"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61B89CB2-0644-42E4-B4FD-B2EA3A4220C8}"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6" name="标题 1"/>
          <p:cNvSpPr txBox="1"/>
          <p:nvPr/>
        </p:nvSpPr>
        <p:spPr>
          <a:xfrm>
            <a:off x="216007" y="150136"/>
            <a:ext cx="10997423" cy="1223154"/>
          </a:xfrm>
          <a:prstGeom prst="rect">
            <a:avLst/>
          </a:prstGeom>
        </p:spPr>
        <p:txBody>
          <a:bodyPr vert="horz" lIns="91440" tIns="45720" rIns="91440" bIns="45720" rtlCol="0" anchor="b">
            <a:normAutofit fontScale="90000" lnSpcReduction="20000"/>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nSpc>
                <a:spcPct val="150000"/>
              </a:lnSpc>
            </a:pPr>
            <a:r>
              <a:rPr lang="de-DE" altLang="en-US" sz="3600" dirty="0">
                <a:latin typeface="宋体" panose="02010600030101010101" pitchFamily="2" charset="-122"/>
                <a:ea typeface="宋体" panose="02010600030101010101" pitchFamily="2" charset="-122"/>
              </a:rPr>
              <a:t>3.5 </a:t>
            </a:r>
            <a:r>
              <a:rPr lang="zh-CN" altLang="en-US" sz="3600" dirty="0">
                <a:latin typeface="宋体" panose="02010600030101010101" pitchFamily="2" charset="-122"/>
                <a:ea typeface="宋体" panose="02010600030101010101" pitchFamily="2" charset="-122"/>
              </a:rPr>
              <a:t>抽象类与接口</a:t>
            </a:r>
            <a:br>
              <a:rPr lang="en-US" altLang="zh-CN" dirty="0">
                <a:latin typeface="宋体" panose="02010600030101010101" pitchFamily="2" charset="-122"/>
                <a:ea typeface="宋体" panose="02010600030101010101" pitchFamily="2" charset="-122"/>
              </a:rPr>
            </a:br>
            <a:r>
              <a:rPr lang="en-US" altLang="zh-CN" sz="3100" dirty="0">
                <a:latin typeface="宋体" panose="02010600030101010101" pitchFamily="2" charset="-122"/>
                <a:ea typeface="宋体" panose="02010600030101010101" pitchFamily="2" charset="-122"/>
              </a:rPr>
              <a:t>1</a:t>
            </a:r>
            <a:r>
              <a:rPr lang="zh-CN" altLang="en-US" sz="3100" dirty="0">
                <a:latin typeface="宋体" panose="02010600030101010101" pitchFamily="2" charset="-122"/>
                <a:ea typeface="宋体" panose="02010600030101010101" pitchFamily="2" charset="-122"/>
              </a:rPr>
              <a:t>、抽象类</a:t>
            </a:r>
            <a:endParaRPr lang="zh-CN" altLang="en-US" sz="31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72707" name="内容占位符 2"/>
          <p:cNvSpPr>
            <a:spLocks noGrp="1"/>
          </p:cNvSpPr>
          <p:nvPr>
            <p:ph idx="4294967295"/>
          </p:nvPr>
        </p:nvSpPr>
        <p:spPr>
          <a:xfrm>
            <a:off x="691710" y="1389418"/>
            <a:ext cx="11195490" cy="3952603"/>
          </a:xfrm>
        </p:spPr>
        <p:txBody>
          <a:bodyPr>
            <a:normAutofit/>
          </a:bodyPr>
          <a:lstStyle/>
          <a:p>
            <a:pPr marL="0" indent="0">
              <a:lnSpc>
                <a:spcPct val="10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class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TestAbstract</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public static void main(String[]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args</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Student s = new Student("</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张三</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",20,"</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学生</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Worker w = new Worker("</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李四</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",30,"</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工人</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System.out.println</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s.tell</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System.out.println</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w.tell</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r>
              <a:rPr lang="zh-CN" altLang="en-US" sz="2800" b="1" dirty="0">
                <a:latin typeface="宋体" panose="02010600030101010101" pitchFamily="2" charset="-122"/>
                <a:ea typeface="宋体" panose="02010600030101010101" pitchFamily="2" charset="-122"/>
                <a:cs typeface="Times New Roman" panose="02020603050405020304" pitchFamily="18" charset="0"/>
              </a:rPr>
              <a:t>由程序可以看出抽象方法需要在它的派生子类中进行重写（又称为覆盖）来实现具体功能。</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72708"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9823B53D-BB84-4F8A-8F7D-354CE82D940C}"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216007" y="150136"/>
            <a:ext cx="10997423" cy="1223154"/>
          </a:xfrm>
          <a:prstGeom prst="rect">
            <a:avLst/>
          </a:prstGeom>
        </p:spPr>
        <p:txBody>
          <a:bodyPr vert="horz" lIns="91440" tIns="45720" rIns="91440" bIns="45720" rtlCol="0" anchor="b">
            <a:normAutofit fontScale="90000" lnSpcReduction="20000"/>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nSpc>
                <a:spcPct val="150000"/>
              </a:lnSpc>
            </a:pPr>
            <a:r>
              <a:rPr lang="de-DE" altLang="en-US" sz="3600" dirty="0">
                <a:latin typeface="宋体" panose="02010600030101010101" pitchFamily="2" charset="-122"/>
                <a:ea typeface="宋体" panose="02010600030101010101" pitchFamily="2" charset="-122"/>
              </a:rPr>
              <a:t>3.5 </a:t>
            </a:r>
            <a:r>
              <a:rPr lang="zh-CN" altLang="en-US" sz="3600" dirty="0">
                <a:latin typeface="宋体" panose="02010600030101010101" pitchFamily="2" charset="-122"/>
                <a:ea typeface="宋体" panose="02010600030101010101" pitchFamily="2" charset="-122"/>
              </a:rPr>
              <a:t>抽象类与接口</a:t>
            </a:r>
            <a:br>
              <a:rPr lang="en-US" altLang="zh-CN" dirty="0">
                <a:latin typeface="宋体" panose="02010600030101010101" pitchFamily="2" charset="-122"/>
                <a:ea typeface="宋体" panose="02010600030101010101" pitchFamily="2" charset="-122"/>
              </a:rPr>
            </a:br>
            <a:r>
              <a:rPr lang="en-US" altLang="zh-CN" sz="3100" dirty="0">
                <a:latin typeface="宋体" panose="02010600030101010101" pitchFamily="2" charset="-122"/>
                <a:ea typeface="宋体" panose="02010600030101010101" pitchFamily="2" charset="-122"/>
              </a:rPr>
              <a:t>1</a:t>
            </a:r>
            <a:r>
              <a:rPr lang="zh-CN" altLang="en-US" sz="3100" dirty="0">
                <a:latin typeface="宋体" panose="02010600030101010101" pitchFamily="2" charset="-122"/>
                <a:ea typeface="宋体" panose="02010600030101010101" pitchFamily="2" charset="-122"/>
              </a:rPr>
              <a:t>、抽象类</a:t>
            </a:r>
            <a:endParaRPr lang="zh-CN" altLang="en-US" sz="31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内容占位符 2"/>
          <p:cNvSpPr>
            <a:spLocks noGrp="1"/>
          </p:cNvSpPr>
          <p:nvPr>
            <p:ph idx="4294967295"/>
          </p:nvPr>
        </p:nvSpPr>
        <p:spPr>
          <a:xfrm>
            <a:off x="995655" y="1659417"/>
            <a:ext cx="10554661" cy="4570278"/>
          </a:xfrm>
        </p:spPr>
        <p:txBody>
          <a:bodyPr>
            <a:normAutofit/>
          </a:bodyPr>
          <a:lstStyle/>
          <a:p>
            <a:pPr>
              <a:buFont typeface="Wingdings" panose="05000000000000000000" pitchFamily="2" charset="2"/>
              <a:buChar char="u"/>
            </a:pPr>
            <a:r>
              <a:rPr lang="zh-CN" altLang="en-US" sz="2400" b="1" dirty="0">
                <a:latin typeface="宋体" panose="02010600030101010101" pitchFamily="2" charset="-122"/>
                <a:ea typeface="宋体" panose="02010600030101010101" pitchFamily="2" charset="-122"/>
              </a:rPr>
              <a:t>接口（</a:t>
            </a:r>
            <a:r>
              <a:rPr lang="en-US" altLang="zh-CN" sz="2400" b="1" dirty="0">
                <a:latin typeface="宋体" panose="02010600030101010101" pitchFamily="2" charset="-122"/>
                <a:ea typeface="宋体" panose="02010600030101010101" pitchFamily="2" charset="-122"/>
              </a:rPr>
              <a:t>Interface</a:t>
            </a:r>
            <a:r>
              <a:rPr lang="zh-CN" altLang="en-US" sz="2400" b="1" dirty="0">
                <a:latin typeface="宋体" panose="02010600030101010101" pitchFamily="2" charset="-122"/>
                <a:ea typeface="宋体" panose="02010600030101010101" pitchFamily="2" charset="-122"/>
              </a:rPr>
              <a:t>）实质上就是为外界提供运算而不揭示这些运算的结构或具体的实现内容。</a:t>
            </a:r>
            <a:endParaRPr lang="en-US" altLang="zh-CN" sz="2400" b="1" dirty="0">
              <a:latin typeface="宋体" panose="02010600030101010101" pitchFamily="2" charset="-122"/>
              <a:ea typeface="宋体" panose="02010600030101010101" pitchFamily="2" charset="-122"/>
            </a:endParaRPr>
          </a:p>
          <a:p>
            <a:pPr>
              <a:buFont typeface="Wingdings" panose="05000000000000000000" pitchFamily="2" charset="2"/>
              <a:buChar char="u"/>
            </a:pPr>
            <a:r>
              <a:rPr lang="en-US" altLang="zh-CN" sz="2400" b="1" dirty="0">
                <a:latin typeface="宋体" panose="02010600030101010101" pitchFamily="2" charset="-122"/>
                <a:ea typeface="宋体" panose="02010600030101010101" pitchFamily="2" charset="-122"/>
              </a:rPr>
              <a:t>Java</a:t>
            </a:r>
            <a:r>
              <a:rPr lang="zh-CN" altLang="en-US" sz="2400" b="1" dirty="0">
                <a:latin typeface="宋体" panose="02010600030101010101" pitchFamily="2" charset="-122"/>
                <a:ea typeface="宋体" panose="02010600030101010101" pitchFamily="2" charset="-122"/>
              </a:rPr>
              <a:t>语言定义的接口实际上是一组抽象方法和常量的集合，为其他类提供运算的外部说明。</a:t>
            </a:r>
            <a:endParaRPr lang="en-US" altLang="zh-CN" sz="2400" b="1" dirty="0">
              <a:latin typeface="宋体" panose="02010600030101010101" pitchFamily="2" charset="-122"/>
              <a:ea typeface="宋体" panose="02010600030101010101" pitchFamily="2" charset="-122"/>
            </a:endParaRPr>
          </a:p>
          <a:p>
            <a:pPr>
              <a:buFont typeface="Wingdings" panose="05000000000000000000" pitchFamily="2" charset="2"/>
              <a:buChar char="u"/>
            </a:pPr>
            <a:r>
              <a:rPr lang="zh-CN" altLang="en-US" sz="2400" b="1" dirty="0">
                <a:latin typeface="宋体" panose="02010600030101010101" pitchFamily="2" charset="-122"/>
                <a:ea typeface="宋体" panose="02010600030101010101" pitchFamily="2" charset="-122"/>
              </a:rPr>
              <a:t>接口为一个或多个类提供一个行为规范，具体的实现在这些类中完成，这些类之间并不存在层次关系。通过接口可以了解对象的实例方法的原型，而不需要了解这些方法的具体实现。</a:t>
            </a:r>
            <a:endParaRPr lang="en-US" altLang="zh-CN" sz="2400" b="1" dirty="0">
              <a:latin typeface="宋体" panose="02010600030101010101" pitchFamily="2" charset="-122"/>
              <a:ea typeface="宋体" panose="02010600030101010101" pitchFamily="2" charset="-122"/>
            </a:endParaRPr>
          </a:p>
          <a:p>
            <a:pPr>
              <a:buFont typeface="Wingdings" panose="05000000000000000000" pitchFamily="2" charset="2"/>
              <a:buChar char="u"/>
            </a:pPr>
            <a:r>
              <a:rPr lang="zh-CN" altLang="en-US" sz="2400" b="1" dirty="0">
                <a:latin typeface="宋体" panose="02010600030101010101" pitchFamily="2" charset="-122"/>
                <a:ea typeface="宋体" panose="02010600030101010101" pitchFamily="2" charset="-122"/>
              </a:rPr>
              <a:t>接口的存在有效解决了如何实现</a:t>
            </a:r>
            <a:r>
              <a:rPr lang="zh-CN" altLang="en-US" sz="2400" b="1" dirty="0">
                <a:solidFill>
                  <a:srgbClr val="FF0000"/>
                </a:solidFill>
                <a:latin typeface="宋体" panose="02010600030101010101" pitchFamily="2" charset="-122"/>
                <a:ea typeface="宋体" panose="02010600030101010101" pitchFamily="2" charset="-122"/>
              </a:rPr>
              <a:t>多重继承</a:t>
            </a:r>
            <a:r>
              <a:rPr lang="zh-CN" altLang="en-US" sz="2400" b="1" dirty="0">
                <a:latin typeface="宋体" panose="02010600030101010101" pitchFamily="2" charset="-122"/>
                <a:ea typeface="宋体" panose="02010600030101010101" pitchFamily="2" charset="-122"/>
              </a:rPr>
              <a:t>，同时避免了由于多重继承产生的“二义性问题”。</a:t>
            </a:r>
            <a:endParaRPr lang="zh-CN" altLang="en-US" sz="2400" b="1" dirty="0">
              <a:latin typeface="宋体" panose="02010600030101010101" pitchFamily="2" charset="-122"/>
              <a:ea typeface="宋体" panose="02010600030101010101" pitchFamily="2" charset="-122"/>
            </a:endParaRPr>
          </a:p>
        </p:txBody>
      </p:sp>
      <p:sp>
        <p:nvSpPr>
          <p:cNvPr id="74756"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6FB7B8D3-A9D3-49A9-9D54-964FF6C0D140}"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315867" y="287618"/>
            <a:ext cx="10997423" cy="1223154"/>
          </a:xfrm>
          <a:prstGeom prst="rect">
            <a:avLst/>
          </a:prstGeom>
        </p:spPr>
        <p:txBody>
          <a:bodyPr vert="horz" lIns="91440" tIns="45720" rIns="91440" bIns="45720" rtlCol="0" anchor="b">
            <a:normAutofit fontScale="90000" lnSpcReduction="20000"/>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nSpc>
                <a:spcPct val="150000"/>
              </a:lnSpc>
            </a:pPr>
            <a:r>
              <a:rPr lang="de-DE" altLang="en-US" sz="3600" dirty="0">
                <a:latin typeface="宋体" panose="02010600030101010101" pitchFamily="2" charset="-122"/>
                <a:ea typeface="宋体" panose="02010600030101010101" pitchFamily="2" charset="-122"/>
              </a:rPr>
              <a:t>3.5 </a:t>
            </a:r>
            <a:r>
              <a:rPr lang="zh-CN" altLang="en-US" sz="3600" dirty="0">
                <a:latin typeface="宋体" panose="02010600030101010101" pitchFamily="2" charset="-122"/>
                <a:ea typeface="宋体" panose="02010600030101010101" pitchFamily="2" charset="-122"/>
              </a:rPr>
              <a:t>抽象类与接口</a:t>
            </a:r>
            <a:br>
              <a:rPr lang="en-US" altLang="zh-CN" dirty="0">
                <a:latin typeface="宋体" panose="02010600030101010101" pitchFamily="2" charset="-122"/>
                <a:ea typeface="宋体" panose="02010600030101010101" pitchFamily="2" charset="-122"/>
              </a:rPr>
            </a:br>
            <a:r>
              <a:rPr lang="en-US" altLang="zh-CN" sz="3100" dirty="0">
                <a:latin typeface="宋体" panose="02010600030101010101" pitchFamily="2" charset="-122"/>
                <a:ea typeface="宋体" panose="02010600030101010101" pitchFamily="2" charset="-122"/>
              </a:rPr>
              <a:t>2</a:t>
            </a:r>
            <a:r>
              <a:rPr lang="zh-CN" altLang="en-US" sz="3100" dirty="0">
                <a:latin typeface="宋体" panose="02010600030101010101" pitchFamily="2" charset="-122"/>
                <a:ea typeface="宋体" panose="02010600030101010101" pitchFamily="2" charset="-122"/>
              </a:rPr>
              <a:t>、接口</a:t>
            </a:r>
            <a:endParaRPr lang="zh-CN" altLang="en-US" sz="31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75779" name="内容占位符 2"/>
          <p:cNvSpPr>
            <a:spLocks noGrp="1"/>
          </p:cNvSpPr>
          <p:nvPr>
            <p:ph idx="4294967295"/>
          </p:nvPr>
        </p:nvSpPr>
        <p:spPr>
          <a:xfrm>
            <a:off x="542630" y="1218741"/>
            <a:ext cx="11106740" cy="5639259"/>
          </a:xfrm>
        </p:spPr>
        <p:txBody>
          <a:bodyPr>
            <a:noAutofit/>
          </a:bodyPr>
          <a:lstStyle/>
          <a:p>
            <a:pPr marL="0" indent="353060">
              <a:lnSpc>
                <a:spcPct val="100000"/>
              </a:lnSpc>
              <a:spcBef>
                <a:spcPts val="0"/>
              </a:spcBef>
              <a:buNone/>
            </a:pPr>
            <a:r>
              <a:rPr lang="zh-CN" altLang="en-US" sz="2800" b="1" dirty="0">
                <a:latin typeface="宋体" panose="02010600030101010101" pitchFamily="2" charset="-122"/>
                <a:ea typeface="宋体" panose="02010600030101010101" pitchFamily="2" charset="-122"/>
              </a:rPr>
              <a:t>接口的结构与抽象类非常相似。接口本身也具有数据成员与抽象方法。它与抽象类的不同主要有两点：</a:t>
            </a:r>
            <a:endParaRPr lang="zh-CN" altLang="en-US" sz="2800" b="1" dirty="0">
              <a:latin typeface="宋体" panose="02010600030101010101" pitchFamily="2" charset="-122"/>
              <a:ea typeface="宋体" panose="02010600030101010101" pitchFamily="2" charset="-122"/>
            </a:endParaRPr>
          </a:p>
          <a:p>
            <a:pPr marL="0" indent="353060">
              <a:lnSpc>
                <a:spcPct val="100000"/>
              </a:lnSpc>
              <a:spcBef>
                <a:spcPts val="0"/>
              </a:spcBef>
              <a:buNone/>
            </a:pP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1</a:t>
            </a:r>
            <a:r>
              <a:rPr lang="zh-CN" altLang="en-US" sz="2800" b="1" dirty="0">
                <a:latin typeface="宋体" panose="02010600030101010101" pitchFamily="2" charset="-122"/>
                <a:ea typeface="宋体" panose="02010600030101010101" pitchFamily="2" charset="-122"/>
              </a:rPr>
              <a:t>）接口的数据成员必须初始化。</a:t>
            </a:r>
            <a:endParaRPr lang="zh-CN" altLang="en-US" sz="2800" b="1" dirty="0">
              <a:latin typeface="宋体" panose="02010600030101010101" pitchFamily="2" charset="-122"/>
              <a:ea typeface="宋体" panose="02010600030101010101" pitchFamily="2" charset="-122"/>
            </a:endParaRPr>
          </a:p>
          <a:p>
            <a:pPr marL="0" indent="353060">
              <a:lnSpc>
                <a:spcPct val="100000"/>
              </a:lnSpc>
              <a:spcBef>
                <a:spcPts val="0"/>
              </a:spcBef>
              <a:buNone/>
            </a:pP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2</a:t>
            </a:r>
            <a:r>
              <a:rPr lang="zh-CN" altLang="en-US" sz="2800" b="1" dirty="0">
                <a:latin typeface="宋体" panose="02010600030101010101" pitchFamily="2" charset="-122"/>
                <a:ea typeface="宋体" panose="02010600030101010101" pitchFamily="2" charset="-122"/>
              </a:rPr>
              <a:t>）接口中的方法必须全部都声明为</a:t>
            </a:r>
            <a:r>
              <a:rPr lang="en-US" altLang="zh-CN" sz="2800" b="1" dirty="0">
                <a:latin typeface="宋体" panose="02010600030101010101" pitchFamily="2" charset="-122"/>
                <a:ea typeface="宋体" panose="02010600030101010101" pitchFamily="2" charset="-122"/>
              </a:rPr>
              <a:t>abstract</a:t>
            </a:r>
            <a:r>
              <a:rPr lang="zh-CN" altLang="en-US" sz="2800" b="1" dirty="0">
                <a:latin typeface="宋体" panose="02010600030101010101" pitchFamily="2" charset="-122"/>
                <a:ea typeface="宋体" panose="02010600030101010101" pitchFamily="2" charset="-122"/>
              </a:rPr>
              <a:t>的，即接口必须全部是抽象方法。</a:t>
            </a:r>
            <a:endParaRPr lang="zh-CN" altLang="en-US" sz="2800" b="1" dirty="0">
              <a:latin typeface="宋体" panose="02010600030101010101" pitchFamily="2" charset="-122"/>
              <a:ea typeface="宋体" panose="02010600030101010101" pitchFamily="2" charset="-122"/>
            </a:endParaRPr>
          </a:p>
          <a:p>
            <a:pPr marL="0" indent="353060">
              <a:lnSpc>
                <a:spcPct val="100000"/>
              </a:lnSpc>
              <a:spcBef>
                <a:spcPts val="0"/>
              </a:spcBef>
              <a:buNone/>
            </a:pPr>
            <a:r>
              <a:rPr lang="zh-CN" altLang="en-US" sz="2800" b="1" dirty="0">
                <a:latin typeface="宋体" panose="02010600030101010101" pitchFamily="2" charset="-122"/>
                <a:ea typeface="宋体" panose="02010600030101010101" pitchFamily="2" charset="-122"/>
                <a:cs typeface="Times New Roman" panose="02020603050405020304" pitchFamily="18" charset="0"/>
              </a:rPr>
              <a:t>具体格式如下：</a:t>
            </a:r>
            <a:endParaRPr lang="zh-CN" altLang="en-US"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lnSpc>
                <a:spcPct val="100000"/>
              </a:lnSpc>
              <a:spcBef>
                <a:spcPts val="0"/>
              </a:spcBef>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[public] interface </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接口名称 </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[extends </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父接口名列表</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lnSpc>
                <a:spcPct val="100000"/>
              </a:lnSpc>
              <a:spcBef>
                <a:spcPts val="0"/>
              </a:spcBef>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lnSpc>
                <a:spcPct val="100000"/>
              </a:lnSpc>
              <a:spcBef>
                <a:spcPts val="0"/>
              </a:spcBef>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[public][static][final] </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数据类型 成员变量名</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常量；</a:t>
            </a:r>
            <a:endParaRPr lang="zh-CN" altLang="en-US"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lnSpc>
                <a:spcPct val="100000"/>
              </a:lnSpc>
              <a:spcBef>
                <a:spcPts val="0"/>
              </a:spcBef>
              <a:buNone/>
            </a:pPr>
            <a:r>
              <a:rPr lang="zh-CN" altLang="en-US" sz="2800" b="1" dirty="0">
                <a:latin typeface="宋体" panose="02010600030101010101" pitchFamily="2" charset="-122"/>
                <a:ea typeface="宋体" panose="02010600030101010101" pitchFamily="2" charset="-122"/>
                <a:cs typeface="Times New Roman" panose="02020603050405020304" pitchFamily="18" charset="0"/>
              </a:rPr>
              <a:t>    </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lnSpc>
                <a:spcPct val="100000"/>
              </a:lnSpc>
              <a:spcBef>
                <a:spcPts val="0"/>
              </a:spcBef>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[public][abstract] </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返回值的数据类型 方法名</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参数表</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a:t>
            </a:r>
            <a:endParaRPr lang="zh-CN" altLang="en-US"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lnSpc>
                <a:spcPct val="100000"/>
              </a:lnSpc>
              <a:spcBef>
                <a:spcPts val="0"/>
              </a:spcBef>
              <a:buNone/>
            </a:pPr>
            <a:r>
              <a:rPr lang="zh-CN" altLang="en-US" sz="2800" b="1" dirty="0">
                <a:latin typeface="宋体" panose="02010600030101010101" pitchFamily="2" charset="-122"/>
                <a:ea typeface="宋体" panose="02010600030101010101" pitchFamily="2" charset="-122"/>
                <a:cs typeface="Times New Roman" panose="02020603050405020304" pitchFamily="18" charset="0"/>
              </a:rPr>
              <a:t>    </a:t>
            </a:r>
            <a:r>
              <a:rPr lang="en-US" altLang="zh-CN" sz="280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marL="0" indent="353060">
              <a:lnSpc>
                <a:spcPct val="100000"/>
              </a:lnSpc>
              <a:spcBef>
                <a:spcPts val="0"/>
              </a:spcBef>
              <a:buNone/>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75780"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1E386342-C37D-4730-8107-0F75702C5706}"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267741" y="150136"/>
            <a:ext cx="10997423" cy="1223154"/>
          </a:xfrm>
          <a:prstGeom prst="rect">
            <a:avLst/>
          </a:prstGeom>
        </p:spPr>
        <p:txBody>
          <a:bodyPr vert="horz" lIns="91440" tIns="45720" rIns="91440" bIns="45720" rtlCol="0" anchor="b">
            <a:normAutofit fontScale="90000" lnSpcReduction="20000"/>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nSpc>
                <a:spcPct val="150000"/>
              </a:lnSpc>
            </a:pPr>
            <a:r>
              <a:rPr lang="de-DE" altLang="en-US" sz="3600" dirty="0">
                <a:latin typeface="宋体" panose="02010600030101010101" pitchFamily="2" charset="-122"/>
                <a:ea typeface="宋体" panose="02010600030101010101" pitchFamily="2" charset="-122"/>
              </a:rPr>
              <a:t>3.5 </a:t>
            </a:r>
            <a:r>
              <a:rPr lang="zh-CN" altLang="en-US" sz="3600" dirty="0">
                <a:latin typeface="宋体" panose="02010600030101010101" pitchFamily="2" charset="-122"/>
                <a:ea typeface="宋体" panose="02010600030101010101" pitchFamily="2" charset="-122"/>
              </a:rPr>
              <a:t>抽象类与接口</a:t>
            </a:r>
            <a:br>
              <a:rPr lang="en-US" altLang="zh-CN" dirty="0">
                <a:latin typeface="宋体" panose="02010600030101010101" pitchFamily="2" charset="-122"/>
                <a:ea typeface="宋体" panose="02010600030101010101" pitchFamily="2" charset="-122"/>
              </a:rPr>
            </a:br>
            <a:r>
              <a:rPr lang="en-US" altLang="zh-CN" sz="3100" dirty="0">
                <a:latin typeface="宋体" panose="02010600030101010101" pitchFamily="2" charset="-122"/>
                <a:ea typeface="宋体" panose="02010600030101010101" pitchFamily="2" charset="-122"/>
              </a:rPr>
              <a:t>2</a:t>
            </a:r>
            <a:r>
              <a:rPr lang="zh-CN" altLang="en-US" sz="3100" dirty="0">
                <a:latin typeface="宋体" panose="02010600030101010101" pitchFamily="2" charset="-122"/>
                <a:ea typeface="宋体" panose="02010600030101010101" pitchFamily="2" charset="-122"/>
              </a:rPr>
              <a:t>、接口</a:t>
            </a:r>
            <a:endParaRPr lang="zh-CN" altLang="en-US" sz="31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内容占位符 2"/>
          <p:cNvSpPr>
            <a:spLocks noGrp="1"/>
          </p:cNvSpPr>
          <p:nvPr>
            <p:ph idx="4294967295"/>
          </p:nvPr>
        </p:nvSpPr>
        <p:spPr>
          <a:xfrm>
            <a:off x="745397" y="1460595"/>
            <a:ext cx="10516159" cy="4997183"/>
          </a:xfrm>
        </p:spPr>
        <p:txBody>
          <a:bodyPr>
            <a:normAutofit/>
          </a:bodyPr>
          <a:lstStyle/>
          <a:p>
            <a:pPr>
              <a:buFont typeface="Wingdings" panose="05000000000000000000" pitchFamily="2" charset="2"/>
              <a:buChar char="u"/>
            </a:pPr>
            <a:r>
              <a:rPr lang="zh-CN" altLang="en-US" sz="2800" b="1" dirty="0">
                <a:latin typeface="宋体" panose="02010600030101010101" pitchFamily="2" charset="-122"/>
                <a:ea typeface="宋体" panose="02010600030101010101" pitchFamily="2" charset="-122"/>
              </a:rPr>
              <a:t>用</a:t>
            </a:r>
            <a:r>
              <a:rPr lang="en-US" altLang="zh-CN" sz="2800" b="1" dirty="0">
                <a:latin typeface="宋体" panose="02010600030101010101" pitchFamily="2" charset="-122"/>
                <a:ea typeface="宋体" panose="02010600030101010101" pitchFamily="2" charset="-122"/>
              </a:rPr>
              <a:t>implements</a:t>
            </a:r>
            <a:r>
              <a:rPr lang="zh-CN" altLang="en-US" sz="2800" b="1" dirty="0">
                <a:latin typeface="宋体" panose="02010600030101010101" pitchFamily="2" charset="-122"/>
                <a:ea typeface="宋体" panose="02010600030101010101" pitchFamily="2" charset="-122"/>
              </a:rPr>
              <a:t>子句表示一个类用于实现某个接口。</a:t>
            </a:r>
            <a:r>
              <a:rPr lang="zh-CN" altLang="en-US" sz="2800" b="1" dirty="0">
                <a:solidFill>
                  <a:srgbClr val="FF0000"/>
                </a:solidFill>
                <a:latin typeface="宋体" panose="02010600030101010101" pitchFamily="2" charset="-122"/>
                <a:ea typeface="宋体" panose="02010600030101010101" pitchFamily="2" charset="-122"/>
              </a:rPr>
              <a:t>一个类可以同时实现多个接口，接口之间用逗号“，”分隔。</a:t>
            </a:r>
            <a:endParaRPr lang="en-US" altLang="zh-CN" sz="2800" b="1" dirty="0">
              <a:solidFill>
                <a:srgbClr val="FF0000"/>
              </a:solidFill>
              <a:latin typeface="宋体" panose="02010600030101010101" pitchFamily="2" charset="-122"/>
              <a:ea typeface="宋体" panose="02010600030101010101" pitchFamily="2" charset="-122"/>
            </a:endParaRPr>
          </a:p>
          <a:p>
            <a:pPr>
              <a:buFont typeface="Wingdings" panose="05000000000000000000" pitchFamily="2" charset="2"/>
              <a:buChar char="u"/>
            </a:pPr>
            <a:r>
              <a:rPr lang="zh-CN" altLang="en-US" sz="2800" b="1" dirty="0">
                <a:latin typeface="宋体" panose="02010600030101010101" pitchFamily="2" charset="-122"/>
                <a:ea typeface="宋体" panose="02010600030101010101" pitchFamily="2" charset="-122"/>
              </a:rPr>
              <a:t>在类体中可以使用接口中定义的常量，由于接口中的方法为抽象方法，所以必须在类体中加入要实现接口方法的代码，如果一个接口是从别的一个或多个父接口中继承而来，则在类体中必须加入实现该接口及其父接口中所有方法的代码。</a:t>
            </a:r>
            <a:endParaRPr lang="en-US" altLang="zh-CN" sz="2800" b="1" dirty="0">
              <a:latin typeface="宋体" panose="02010600030101010101" pitchFamily="2" charset="-122"/>
              <a:ea typeface="宋体" panose="02010600030101010101" pitchFamily="2" charset="-122"/>
            </a:endParaRPr>
          </a:p>
          <a:p>
            <a:pPr>
              <a:buFont typeface="Wingdings" panose="05000000000000000000" pitchFamily="2" charset="2"/>
              <a:buChar char="u"/>
            </a:pPr>
            <a:r>
              <a:rPr lang="zh-CN" altLang="en-US" sz="2800" b="1" dirty="0">
                <a:latin typeface="宋体" panose="02010600030101010101" pitchFamily="2" charset="-122"/>
                <a:ea typeface="宋体" panose="02010600030101010101" pitchFamily="2" charset="-122"/>
              </a:rPr>
              <a:t>在实现一个接口时，类中对方法的定义要和接口中的相应方法的定义相匹配，其方法名、方法的返回值类型、方法的访问权限和参数的数目与类型信息要一致。</a:t>
            </a:r>
            <a:endParaRPr lang="zh-CN" altLang="en-US" sz="2800" b="1" dirty="0">
              <a:latin typeface="宋体" panose="02010600030101010101" pitchFamily="2" charset="-122"/>
              <a:ea typeface="宋体" panose="02010600030101010101" pitchFamily="2" charset="-122"/>
            </a:endParaRPr>
          </a:p>
        </p:txBody>
      </p:sp>
      <p:sp>
        <p:nvSpPr>
          <p:cNvPr id="76804"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36B71436-0982-413E-B586-B8060BDBE2B3}"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264133" y="172138"/>
            <a:ext cx="10997423" cy="1223154"/>
          </a:xfrm>
          <a:prstGeom prst="rect">
            <a:avLst/>
          </a:prstGeom>
        </p:spPr>
        <p:txBody>
          <a:bodyPr vert="horz" lIns="91440" tIns="45720" rIns="91440" bIns="45720" rtlCol="0" anchor="b">
            <a:normAutofit fontScale="90000" lnSpcReduction="20000"/>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nSpc>
                <a:spcPct val="150000"/>
              </a:lnSpc>
            </a:pPr>
            <a:r>
              <a:rPr lang="de-DE" altLang="en-US" sz="3600" dirty="0">
                <a:latin typeface="宋体" panose="02010600030101010101" pitchFamily="2" charset="-122"/>
                <a:ea typeface="宋体" panose="02010600030101010101" pitchFamily="2" charset="-122"/>
              </a:rPr>
              <a:t>3.5 </a:t>
            </a:r>
            <a:r>
              <a:rPr lang="zh-CN" altLang="en-US" sz="3600" dirty="0">
                <a:latin typeface="宋体" panose="02010600030101010101" pitchFamily="2" charset="-122"/>
                <a:ea typeface="宋体" panose="02010600030101010101" pitchFamily="2" charset="-122"/>
              </a:rPr>
              <a:t>抽象类与接口</a:t>
            </a:r>
            <a:br>
              <a:rPr lang="en-US" altLang="zh-CN" dirty="0">
                <a:latin typeface="宋体" panose="02010600030101010101" pitchFamily="2" charset="-122"/>
                <a:ea typeface="宋体" panose="02010600030101010101" pitchFamily="2" charset="-122"/>
              </a:rPr>
            </a:br>
            <a:r>
              <a:rPr lang="en-US" altLang="zh-CN" sz="3100" dirty="0">
                <a:latin typeface="宋体" panose="02010600030101010101" pitchFamily="2" charset="-122"/>
                <a:ea typeface="宋体" panose="02010600030101010101" pitchFamily="2" charset="-122"/>
              </a:rPr>
              <a:t>2</a:t>
            </a:r>
            <a:r>
              <a:rPr lang="zh-CN" altLang="en-US" sz="3100" dirty="0">
                <a:latin typeface="宋体" panose="02010600030101010101" pitchFamily="2" charset="-122"/>
                <a:ea typeface="宋体" panose="02010600030101010101" pitchFamily="2" charset="-122"/>
              </a:rPr>
              <a:t>、接口</a:t>
            </a:r>
            <a:endParaRPr lang="zh-CN" altLang="en-US" sz="31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77827" name="内容占位符 2"/>
          <p:cNvSpPr>
            <a:spLocks noGrp="1"/>
          </p:cNvSpPr>
          <p:nvPr>
            <p:ph idx="4294967295"/>
          </p:nvPr>
        </p:nvSpPr>
        <p:spPr>
          <a:xfrm>
            <a:off x="784665" y="1343295"/>
            <a:ext cx="10640522" cy="5210019"/>
          </a:xfrm>
        </p:spPr>
        <p:txBody>
          <a:bodyPr>
            <a:normAutofit/>
          </a:bodyPr>
          <a:lstStyle/>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例</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3.17】 </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接口的实现</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interface Person{</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String name = "</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张三</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int age = 25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String occupation = "</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学生</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public abstract String tell();</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class Student implements Person{</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public String tell() {     //</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重写</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tell()</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方法</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return "</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学生</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——&gt;</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姓名：</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"+this.name+"</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，年龄：</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this.age</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，职业：</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this.occupation</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77828"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DCD67154-17D5-43ED-95FA-3D1ACCC546E4}"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209989" y="172138"/>
            <a:ext cx="10997423" cy="1223154"/>
          </a:xfrm>
          <a:prstGeom prst="rect">
            <a:avLst/>
          </a:prstGeom>
        </p:spPr>
        <p:txBody>
          <a:bodyPr vert="horz" lIns="91440" tIns="45720" rIns="91440" bIns="45720" rtlCol="0" anchor="b">
            <a:normAutofit fontScale="90000" lnSpcReduction="20000"/>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nSpc>
                <a:spcPct val="150000"/>
              </a:lnSpc>
            </a:pPr>
            <a:r>
              <a:rPr lang="de-DE" altLang="en-US" sz="3600" dirty="0">
                <a:latin typeface="宋体" panose="02010600030101010101" pitchFamily="2" charset="-122"/>
                <a:ea typeface="宋体" panose="02010600030101010101" pitchFamily="2" charset="-122"/>
              </a:rPr>
              <a:t>3.5 </a:t>
            </a:r>
            <a:r>
              <a:rPr lang="zh-CN" altLang="en-US" sz="3600" dirty="0">
                <a:latin typeface="宋体" panose="02010600030101010101" pitchFamily="2" charset="-122"/>
                <a:ea typeface="宋体" panose="02010600030101010101" pitchFamily="2" charset="-122"/>
              </a:rPr>
              <a:t>抽象类与接口</a:t>
            </a:r>
            <a:br>
              <a:rPr lang="en-US" altLang="zh-CN" dirty="0">
                <a:latin typeface="宋体" panose="02010600030101010101" pitchFamily="2" charset="-122"/>
                <a:ea typeface="宋体" panose="02010600030101010101" pitchFamily="2" charset="-122"/>
              </a:rPr>
            </a:br>
            <a:r>
              <a:rPr lang="en-US" altLang="zh-CN" sz="3100" dirty="0">
                <a:latin typeface="宋体" panose="02010600030101010101" pitchFamily="2" charset="-122"/>
                <a:ea typeface="宋体" panose="02010600030101010101" pitchFamily="2" charset="-122"/>
              </a:rPr>
              <a:t>2</a:t>
            </a:r>
            <a:r>
              <a:rPr lang="zh-CN" altLang="en-US" sz="3100" dirty="0">
                <a:latin typeface="宋体" panose="02010600030101010101" pitchFamily="2" charset="-122"/>
                <a:ea typeface="宋体" panose="02010600030101010101" pitchFamily="2" charset="-122"/>
              </a:rPr>
              <a:t>、接口</a:t>
            </a:r>
            <a:endParaRPr lang="zh-CN" altLang="en-US" sz="31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78851" name="内容占位符 2"/>
          <p:cNvSpPr>
            <a:spLocks noGrp="1"/>
          </p:cNvSpPr>
          <p:nvPr>
            <p:ph idx="4294967295"/>
          </p:nvPr>
        </p:nvSpPr>
        <p:spPr>
          <a:xfrm>
            <a:off x="914242" y="1527840"/>
            <a:ext cx="10934457" cy="3964040"/>
          </a:xfrm>
        </p:spPr>
        <p:txBody>
          <a:bodyPr>
            <a:normAutofit/>
          </a:bodyPr>
          <a:lstStyle/>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class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TestInterface</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public static void main(String[]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args</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Student s = new Student()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System.out.println</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s.tell</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zh-CN" altLang="en-US" sz="2820" b="1" dirty="0">
                <a:latin typeface="宋体" panose="02010600030101010101" pitchFamily="2" charset="-122"/>
                <a:ea typeface="宋体" panose="02010600030101010101" pitchFamily="2" charset="-122"/>
              </a:rPr>
              <a:t> 在实现的类中，需要对接口中定义的所有方法进行覆盖，根据具体要求进行定义。如果没有对所有方法覆盖，会导致实现接口的类编译错误，或必须定义该类为抽象类。</a:t>
            </a:r>
            <a:endParaRPr lang="en-US" altLang="zh-CN" sz="2820" b="1" dirty="0">
              <a:latin typeface="宋体" panose="02010600030101010101" pitchFamily="2" charset="-122"/>
              <a:ea typeface="宋体" panose="02010600030101010101" pitchFamily="2" charset="-122"/>
            </a:endParaRPr>
          </a:p>
          <a:p>
            <a:pPr marL="0" indent="0">
              <a:lnSpc>
                <a:spcPct val="110000"/>
              </a:lnSpc>
              <a:spcBef>
                <a:spcPts val="0"/>
              </a:spcBef>
              <a:buNone/>
            </a:pPr>
            <a:endParaRPr lang="zh-CN" altLang="en-US" sz="2820" b="1" dirty="0">
              <a:latin typeface="宋体" panose="02010600030101010101" pitchFamily="2" charset="-122"/>
              <a:ea typeface="宋体" panose="02010600030101010101" pitchFamily="2" charset="-122"/>
            </a:endParaRPr>
          </a:p>
        </p:txBody>
      </p:sp>
      <p:sp>
        <p:nvSpPr>
          <p:cNvPr id="78852"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381BDBFC-54E9-491E-A0BC-E5B47A30B96B}"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296617" y="178448"/>
            <a:ext cx="10997423" cy="1223154"/>
          </a:xfrm>
          <a:prstGeom prst="rect">
            <a:avLst/>
          </a:prstGeom>
        </p:spPr>
        <p:txBody>
          <a:bodyPr vert="horz" lIns="91440" tIns="45720" rIns="91440" bIns="45720" rtlCol="0" anchor="b">
            <a:normAutofit fontScale="90000" lnSpcReduction="20000"/>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nSpc>
                <a:spcPct val="150000"/>
              </a:lnSpc>
            </a:pPr>
            <a:r>
              <a:rPr lang="de-DE" altLang="en-US" sz="3600" dirty="0">
                <a:latin typeface="宋体" panose="02010600030101010101" pitchFamily="2" charset="-122"/>
                <a:ea typeface="宋体" panose="02010600030101010101" pitchFamily="2" charset="-122"/>
              </a:rPr>
              <a:t>3.5 </a:t>
            </a:r>
            <a:r>
              <a:rPr lang="zh-CN" altLang="en-US" sz="3600" dirty="0">
                <a:latin typeface="宋体" panose="02010600030101010101" pitchFamily="2" charset="-122"/>
                <a:ea typeface="宋体" panose="02010600030101010101" pitchFamily="2" charset="-122"/>
              </a:rPr>
              <a:t>抽象类与接口</a:t>
            </a:r>
            <a:br>
              <a:rPr lang="en-US" altLang="zh-CN" dirty="0">
                <a:latin typeface="宋体" panose="02010600030101010101" pitchFamily="2" charset="-122"/>
                <a:ea typeface="宋体" panose="02010600030101010101" pitchFamily="2" charset="-122"/>
              </a:rPr>
            </a:br>
            <a:r>
              <a:rPr lang="en-US" altLang="zh-CN" sz="3100" dirty="0">
                <a:latin typeface="宋体" panose="02010600030101010101" pitchFamily="2" charset="-122"/>
                <a:ea typeface="宋体" panose="02010600030101010101" pitchFamily="2" charset="-122"/>
              </a:rPr>
              <a:t>2</a:t>
            </a:r>
            <a:r>
              <a:rPr lang="zh-CN" altLang="en-US" sz="3100" dirty="0">
                <a:latin typeface="宋体" panose="02010600030101010101" pitchFamily="2" charset="-122"/>
                <a:ea typeface="宋体" panose="02010600030101010101" pitchFamily="2" charset="-122"/>
              </a:rPr>
              <a:t>、接口</a:t>
            </a:r>
            <a:endParaRPr lang="zh-CN" altLang="en-US" sz="31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79875" name="内容占位符 2"/>
          <p:cNvSpPr>
            <a:spLocks noGrp="1"/>
          </p:cNvSpPr>
          <p:nvPr>
            <p:ph idx="4294967295"/>
          </p:nvPr>
        </p:nvSpPr>
        <p:spPr>
          <a:xfrm>
            <a:off x="658770" y="1159180"/>
            <a:ext cx="10785667" cy="5298598"/>
          </a:xfrm>
        </p:spPr>
        <p:txBody>
          <a:bodyPr>
            <a:normAutofit/>
          </a:bodyPr>
          <a:lstStyle/>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interface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CanRun</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  void run(); }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interface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CanSwim</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  void swim(); }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interface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CanEat</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  void eat(); }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class Person implements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CanEat</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CanRun</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CanSwim</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public void swim() {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System.out.println</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("I can swim");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public void run() {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System.out.println</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("I can run");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public void eat() {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System.out.println</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("I can eat");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79876"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12953F12-2007-44CB-BF3F-23C93F66A729}"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248490" y="120356"/>
            <a:ext cx="10997423" cy="1223154"/>
          </a:xfrm>
          <a:prstGeom prst="rect">
            <a:avLst/>
          </a:prstGeom>
        </p:spPr>
        <p:txBody>
          <a:bodyPr vert="horz" lIns="91440" tIns="45720" rIns="91440" bIns="45720" rtlCol="0" anchor="b">
            <a:normAutofit fontScale="90000" lnSpcReduction="20000"/>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nSpc>
                <a:spcPct val="150000"/>
              </a:lnSpc>
            </a:pPr>
            <a:r>
              <a:rPr lang="de-DE" altLang="en-US" sz="3600" dirty="0">
                <a:latin typeface="宋体" panose="02010600030101010101" pitchFamily="2" charset="-122"/>
                <a:ea typeface="宋体" panose="02010600030101010101" pitchFamily="2" charset="-122"/>
              </a:rPr>
              <a:t>3.5 </a:t>
            </a:r>
            <a:r>
              <a:rPr lang="zh-CN" altLang="en-US" sz="3600" dirty="0">
                <a:latin typeface="宋体" panose="02010600030101010101" pitchFamily="2" charset="-122"/>
                <a:ea typeface="宋体" panose="02010600030101010101" pitchFamily="2" charset="-122"/>
              </a:rPr>
              <a:t>抽象类与接口</a:t>
            </a:r>
            <a:br>
              <a:rPr lang="en-US" altLang="zh-CN" dirty="0">
                <a:latin typeface="宋体" panose="02010600030101010101" pitchFamily="2" charset="-122"/>
                <a:ea typeface="宋体" panose="02010600030101010101" pitchFamily="2" charset="-122"/>
              </a:rPr>
            </a:br>
            <a:r>
              <a:rPr lang="en-US" altLang="zh-CN" sz="3100" dirty="0">
                <a:latin typeface="宋体" panose="02010600030101010101" pitchFamily="2" charset="-122"/>
                <a:ea typeface="宋体" panose="02010600030101010101" pitchFamily="2" charset="-122"/>
              </a:rPr>
              <a:t>2</a:t>
            </a:r>
            <a:r>
              <a:rPr lang="zh-CN" altLang="en-US" sz="3100" dirty="0">
                <a:latin typeface="宋体" panose="02010600030101010101" pitchFamily="2" charset="-122"/>
                <a:ea typeface="宋体" panose="02010600030101010101" pitchFamily="2" charset="-122"/>
              </a:rPr>
              <a:t>、接口</a:t>
            </a:r>
            <a:endParaRPr lang="zh-CN" altLang="en-US" sz="31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54306" y="1513467"/>
            <a:ext cx="10311000" cy="4401205"/>
          </a:xfrm>
          <a:prstGeom prst="rect">
            <a:avLst/>
          </a:prstGeom>
        </p:spPr>
        <p:txBody>
          <a:bodyPr wrap="square">
            <a:spAutoFit/>
          </a:bodyPr>
          <a:lstStyle/>
          <a:p>
            <a:pPr>
              <a:defRPr/>
            </a:pPr>
            <a:r>
              <a:rPr lang="zh-CN" altLang="en-US" sz="2800" dirty="0">
                <a:latin typeface="宋体" panose="02010600030101010101" pitchFamily="2" charset="-122"/>
                <a:ea typeface="宋体" panose="02010600030101010101" pitchFamily="2" charset="-122"/>
              </a:rPr>
              <a:t>接口和</a:t>
            </a:r>
            <a:r>
              <a:rPr lang="en-US" altLang="zh-CN" sz="2800" dirty="0">
                <a:latin typeface="宋体" panose="02010600030101010101" pitchFamily="2" charset="-122"/>
                <a:ea typeface="宋体" panose="02010600030101010101" pitchFamily="2" charset="-122"/>
              </a:rPr>
              <a:t>abstract</a:t>
            </a:r>
            <a:r>
              <a:rPr lang="zh-CN" altLang="en-US" sz="2800" dirty="0">
                <a:latin typeface="宋体" panose="02010600030101010101" pitchFamily="2" charset="-122"/>
                <a:ea typeface="宋体" panose="02010600030101010101" pitchFamily="2" charset="-122"/>
              </a:rPr>
              <a:t>类的比较：</a:t>
            </a:r>
            <a:endParaRPr lang="zh-CN" altLang="en-US" sz="2800" dirty="0">
              <a:latin typeface="宋体" panose="02010600030101010101" pitchFamily="2" charset="-122"/>
              <a:ea typeface="宋体" panose="02010600030101010101" pitchFamily="2" charset="-122"/>
            </a:endParaRPr>
          </a:p>
          <a:p>
            <a:pPr marL="495935" indent="-495935">
              <a:buFont typeface="Wingdings" panose="05000000000000000000" pitchFamily="2" charset="2"/>
              <a:buChar char="u"/>
              <a:defRPr/>
            </a:pPr>
            <a:r>
              <a:rPr lang="en-US" altLang="zh-CN" sz="2800" dirty="0">
                <a:latin typeface="宋体" panose="02010600030101010101" pitchFamily="2" charset="-122"/>
                <a:ea typeface="宋体" panose="02010600030101010101" pitchFamily="2" charset="-122"/>
              </a:rPr>
              <a:t>abstract</a:t>
            </a:r>
            <a:r>
              <a:rPr lang="zh-CN" altLang="en-US" sz="2800" dirty="0">
                <a:latin typeface="宋体" panose="02010600030101010101" pitchFamily="2" charset="-122"/>
                <a:ea typeface="宋体" panose="02010600030101010101" pitchFamily="2" charset="-122"/>
              </a:rPr>
              <a:t>类和接口都可以有</a:t>
            </a:r>
            <a:r>
              <a:rPr lang="en-US" altLang="zh-CN" sz="2800" dirty="0">
                <a:latin typeface="宋体" panose="02010600030101010101" pitchFamily="2" charset="-122"/>
                <a:ea typeface="宋体" panose="02010600030101010101" pitchFamily="2" charset="-122"/>
              </a:rPr>
              <a:t>abstract</a:t>
            </a:r>
            <a:r>
              <a:rPr lang="zh-CN" altLang="en-US" sz="2800" dirty="0">
                <a:latin typeface="宋体" panose="02010600030101010101" pitchFamily="2" charset="-122"/>
                <a:ea typeface="宋体" panose="02010600030101010101" pitchFamily="2" charset="-122"/>
              </a:rPr>
              <a:t>方法。</a:t>
            </a:r>
            <a:r>
              <a:rPr lang="en-US" altLang="zh-CN" sz="2800" dirty="0">
                <a:latin typeface="宋体" panose="02010600030101010101" pitchFamily="2" charset="-122"/>
                <a:ea typeface="宋体" panose="02010600030101010101" pitchFamily="2" charset="-122"/>
              </a:rPr>
              <a:t>abstract</a:t>
            </a:r>
            <a:r>
              <a:rPr lang="zh-CN" altLang="en-US" sz="2800" dirty="0">
                <a:latin typeface="宋体" panose="02010600030101010101" pitchFamily="2" charset="-122"/>
                <a:ea typeface="宋体" panose="02010600030101010101" pitchFamily="2" charset="-122"/>
              </a:rPr>
              <a:t>类中也可以有非</a:t>
            </a:r>
            <a:r>
              <a:rPr lang="en-US" altLang="zh-CN" sz="2800" dirty="0">
                <a:latin typeface="宋体" panose="02010600030101010101" pitchFamily="2" charset="-122"/>
                <a:ea typeface="宋体" panose="02010600030101010101" pitchFamily="2" charset="-122"/>
              </a:rPr>
              <a:t>abstract</a:t>
            </a:r>
            <a:r>
              <a:rPr lang="zh-CN" altLang="en-US" sz="2800" dirty="0">
                <a:latin typeface="宋体" panose="02010600030101010101" pitchFamily="2" charset="-122"/>
                <a:ea typeface="宋体" panose="02010600030101010101" pitchFamily="2" charset="-122"/>
              </a:rPr>
              <a:t>方法，接口不可以。</a:t>
            </a:r>
            <a:endParaRPr lang="zh-CN" altLang="en-US" sz="2800" dirty="0">
              <a:latin typeface="宋体" panose="02010600030101010101" pitchFamily="2" charset="-122"/>
              <a:ea typeface="宋体" panose="02010600030101010101" pitchFamily="2" charset="-122"/>
            </a:endParaRPr>
          </a:p>
          <a:p>
            <a:pPr marL="495935" indent="-495935">
              <a:buFont typeface="Wingdings" panose="05000000000000000000" pitchFamily="2" charset="2"/>
              <a:buChar char="u"/>
              <a:defRPr/>
            </a:pPr>
            <a:r>
              <a:rPr lang="zh-CN" altLang="en-US" sz="2800" dirty="0">
                <a:latin typeface="宋体" panose="02010600030101010101" pitchFamily="2" charset="-122"/>
                <a:ea typeface="宋体" panose="02010600030101010101" pitchFamily="2" charset="-122"/>
              </a:rPr>
              <a:t> 接口中只可以有常量，不能有变量；而</a:t>
            </a:r>
            <a:r>
              <a:rPr lang="en-US" altLang="zh-CN" sz="2800" dirty="0">
                <a:latin typeface="宋体" panose="02010600030101010101" pitchFamily="2" charset="-122"/>
                <a:ea typeface="宋体" panose="02010600030101010101" pitchFamily="2" charset="-122"/>
              </a:rPr>
              <a:t>abstract</a:t>
            </a:r>
            <a:r>
              <a:rPr lang="zh-CN" altLang="en-US" sz="2800" dirty="0">
                <a:latin typeface="宋体" panose="02010600030101010101" pitchFamily="2" charset="-122"/>
                <a:ea typeface="宋体" panose="02010600030101010101" pitchFamily="2" charset="-122"/>
              </a:rPr>
              <a:t>类中既可以有常量也可以有变量。</a:t>
            </a:r>
            <a:endParaRPr lang="zh-CN" altLang="en-US" sz="2800" dirty="0">
              <a:latin typeface="宋体" panose="02010600030101010101" pitchFamily="2" charset="-122"/>
              <a:ea typeface="宋体" panose="02010600030101010101" pitchFamily="2" charset="-122"/>
            </a:endParaRPr>
          </a:p>
          <a:p>
            <a:pPr marL="495935" indent="-495935">
              <a:buFont typeface="Wingdings" panose="05000000000000000000" pitchFamily="2" charset="2"/>
              <a:buChar char="u"/>
              <a:defRPr/>
            </a:pPr>
            <a:r>
              <a:rPr lang="zh-CN" altLang="en-US" sz="2800" dirty="0">
                <a:latin typeface="宋体" panose="02010600030101010101" pitchFamily="2" charset="-122"/>
                <a:ea typeface="宋体" panose="02010600030101010101" pitchFamily="2" charset="-122"/>
              </a:rPr>
              <a:t>如果某个重要问题需要使用继承才能更好地解决，比如，子类需要重写父类的</a:t>
            </a:r>
            <a:r>
              <a:rPr lang="en-US" altLang="zh-CN" sz="2800" dirty="0">
                <a:latin typeface="宋体" panose="02010600030101010101" pitchFamily="2" charset="-122"/>
                <a:ea typeface="宋体" panose="02010600030101010101" pitchFamily="2" charset="-122"/>
              </a:rPr>
              <a:t>abstract</a:t>
            </a:r>
            <a:r>
              <a:rPr lang="zh-CN" altLang="en-US" sz="2800" dirty="0">
                <a:latin typeface="宋体" panose="02010600030101010101" pitchFamily="2" charset="-122"/>
                <a:ea typeface="宋体" panose="02010600030101010101" pitchFamily="2" charset="-122"/>
              </a:rPr>
              <a:t>方法，还需要从父类继承一些变量或继承一些重要的非</a:t>
            </a:r>
            <a:r>
              <a:rPr lang="en-US" altLang="zh-CN" sz="2800" dirty="0">
                <a:latin typeface="宋体" panose="02010600030101010101" pitchFamily="2" charset="-122"/>
                <a:ea typeface="宋体" panose="02010600030101010101" pitchFamily="2" charset="-122"/>
              </a:rPr>
              <a:t>abstract</a:t>
            </a:r>
            <a:r>
              <a:rPr lang="zh-CN" altLang="en-US" sz="2800" dirty="0">
                <a:latin typeface="宋体" panose="02010600030101010101" pitchFamily="2" charset="-122"/>
                <a:ea typeface="宋体" panose="02010600030101010101" pitchFamily="2" charset="-122"/>
              </a:rPr>
              <a:t>方法，就可以考虑用</a:t>
            </a:r>
            <a:r>
              <a:rPr lang="en-US" altLang="zh-CN" sz="2800" dirty="0">
                <a:latin typeface="宋体" panose="02010600030101010101" pitchFamily="2" charset="-122"/>
                <a:ea typeface="宋体" panose="02010600030101010101" pitchFamily="2" charset="-122"/>
              </a:rPr>
              <a:t>abstract</a:t>
            </a:r>
            <a:r>
              <a:rPr lang="zh-CN" altLang="en-US" sz="2800" dirty="0">
                <a:latin typeface="宋体" panose="02010600030101010101" pitchFamily="2" charset="-122"/>
                <a:ea typeface="宋体" panose="02010600030101010101" pitchFamily="2" charset="-122"/>
              </a:rPr>
              <a:t>类。如果某个问题不需要继承，只是需要若干个类给出某些重要的</a:t>
            </a:r>
            <a:r>
              <a:rPr lang="en-US" altLang="zh-CN" sz="2800" dirty="0">
                <a:latin typeface="宋体" panose="02010600030101010101" pitchFamily="2" charset="-122"/>
                <a:ea typeface="宋体" panose="02010600030101010101" pitchFamily="2" charset="-122"/>
              </a:rPr>
              <a:t>abstract</a:t>
            </a:r>
            <a:r>
              <a:rPr lang="zh-CN" altLang="en-US" sz="2800" dirty="0">
                <a:latin typeface="宋体" panose="02010600030101010101" pitchFamily="2" charset="-122"/>
                <a:ea typeface="宋体" panose="02010600030101010101" pitchFamily="2" charset="-122"/>
              </a:rPr>
              <a:t>方法的实现细节，就可以考虑使用接口。</a:t>
            </a:r>
            <a:endParaRPr lang="zh-CN" altLang="en-US" sz="2800" dirty="0">
              <a:latin typeface="宋体" panose="02010600030101010101" pitchFamily="2" charset="-122"/>
              <a:ea typeface="宋体" panose="02010600030101010101" pitchFamily="2" charset="-122"/>
            </a:endParaRPr>
          </a:p>
        </p:txBody>
      </p:sp>
      <p:sp>
        <p:nvSpPr>
          <p:cNvPr id="3" name="标题 1"/>
          <p:cNvSpPr txBox="1"/>
          <p:nvPr/>
        </p:nvSpPr>
        <p:spPr>
          <a:xfrm>
            <a:off x="277366" y="220687"/>
            <a:ext cx="10997423" cy="1223154"/>
          </a:xfrm>
          <a:prstGeom prst="rect">
            <a:avLst/>
          </a:prstGeom>
        </p:spPr>
        <p:txBody>
          <a:bodyPr vert="horz" lIns="91440" tIns="45720" rIns="91440" bIns="45720" rtlCol="0" anchor="b">
            <a:normAutofit fontScale="90000" lnSpcReduction="20000"/>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nSpc>
                <a:spcPct val="150000"/>
              </a:lnSpc>
            </a:pPr>
            <a:r>
              <a:rPr lang="de-DE" altLang="en-US" sz="3600" dirty="0">
                <a:latin typeface="宋体" panose="02010600030101010101" pitchFamily="2" charset="-122"/>
                <a:ea typeface="宋体" panose="02010600030101010101" pitchFamily="2" charset="-122"/>
              </a:rPr>
              <a:t>3.5 </a:t>
            </a:r>
            <a:r>
              <a:rPr lang="zh-CN" altLang="en-US" sz="3600" dirty="0">
                <a:latin typeface="宋体" panose="02010600030101010101" pitchFamily="2" charset="-122"/>
                <a:ea typeface="宋体" panose="02010600030101010101" pitchFamily="2" charset="-122"/>
              </a:rPr>
              <a:t>抽象类与接口</a:t>
            </a:r>
            <a:br>
              <a:rPr lang="en-US" altLang="zh-CN" dirty="0">
                <a:latin typeface="宋体" panose="02010600030101010101" pitchFamily="2" charset="-122"/>
                <a:ea typeface="宋体" panose="02010600030101010101" pitchFamily="2" charset="-122"/>
              </a:rPr>
            </a:br>
            <a:r>
              <a:rPr lang="en-US" altLang="zh-CN" sz="3100" dirty="0">
                <a:latin typeface="宋体" panose="02010600030101010101" pitchFamily="2" charset="-122"/>
                <a:ea typeface="宋体" panose="02010600030101010101" pitchFamily="2" charset="-122"/>
              </a:rPr>
              <a:t>2</a:t>
            </a:r>
            <a:r>
              <a:rPr lang="zh-CN" altLang="en-US" sz="3100" dirty="0">
                <a:latin typeface="宋体" panose="02010600030101010101" pitchFamily="2" charset="-122"/>
                <a:ea typeface="宋体" panose="02010600030101010101" pitchFamily="2" charset="-122"/>
              </a:rPr>
              <a:t>、接口</a:t>
            </a:r>
            <a:endParaRPr lang="zh-CN" altLang="en-US" sz="31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1118" y="-44606"/>
            <a:ext cx="9601200" cy="728181"/>
          </a:xfrm>
        </p:spPr>
        <p:txBody>
          <a:bodyPr/>
          <a:lstStyle/>
          <a:p>
            <a:r>
              <a:rPr lang="zh-CN" altLang="en-US" dirty="0"/>
              <a:t>练习：</a:t>
            </a:r>
            <a:endParaRPr lang="zh-CN" altLang="en-US" dirty="0"/>
          </a:p>
        </p:txBody>
      </p:sp>
      <p:sp>
        <p:nvSpPr>
          <p:cNvPr id="4" name="Rectangle 1"/>
          <p:cNvSpPr>
            <a:spLocks noGrp="1" noChangeArrowheads="1"/>
          </p:cNvSpPr>
          <p:nvPr>
            <p:ph idx="1"/>
          </p:nvPr>
        </p:nvSpPr>
        <p:spPr bwMode="auto">
          <a:xfrm>
            <a:off x="602966" y="683575"/>
            <a:ext cx="1131311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eaLnBrk="0" fontAlgn="base" hangingPunct="0">
              <a:spcBef>
                <a:spcPct val="0"/>
              </a:spcBef>
              <a:spcAft>
                <a:spcPct val="0"/>
              </a:spcAft>
              <a:tabLst>
                <a:tab pos="1028700" algn="l"/>
              </a:tabLst>
              <a:defRPr>
                <a:solidFill>
                  <a:schemeClr val="tx1"/>
                </a:solidFill>
                <a:latin typeface="Arial" panose="020B0604020202020204" pitchFamily="34" charset="0"/>
              </a:defRPr>
            </a:lvl1pPr>
            <a:lvl2pPr eaLnBrk="0" fontAlgn="base" hangingPunct="0">
              <a:spcBef>
                <a:spcPct val="0"/>
              </a:spcBef>
              <a:spcAft>
                <a:spcPct val="0"/>
              </a:spcAft>
              <a:tabLst>
                <a:tab pos="1028700" algn="l"/>
              </a:tabLst>
              <a:defRPr>
                <a:solidFill>
                  <a:schemeClr val="tx1"/>
                </a:solidFill>
                <a:latin typeface="Arial" panose="020B0604020202020204" pitchFamily="34" charset="0"/>
              </a:defRPr>
            </a:lvl2pPr>
            <a:lvl3pPr eaLnBrk="0" fontAlgn="base" hangingPunct="0">
              <a:spcBef>
                <a:spcPct val="0"/>
              </a:spcBef>
              <a:spcAft>
                <a:spcPct val="0"/>
              </a:spcAft>
              <a:tabLst>
                <a:tab pos="1028700" algn="l"/>
              </a:tabLst>
              <a:defRPr>
                <a:solidFill>
                  <a:schemeClr val="tx1"/>
                </a:solidFill>
                <a:latin typeface="Arial" panose="020B0604020202020204" pitchFamily="34" charset="0"/>
              </a:defRPr>
            </a:lvl3pPr>
            <a:lvl4pPr eaLnBrk="0" fontAlgn="base" hangingPunct="0">
              <a:spcBef>
                <a:spcPct val="0"/>
              </a:spcBef>
              <a:spcAft>
                <a:spcPct val="0"/>
              </a:spcAft>
              <a:tabLst>
                <a:tab pos="1028700" algn="l"/>
              </a:tabLst>
              <a:defRPr>
                <a:solidFill>
                  <a:schemeClr val="tx1"/>
                </a:solidFill>
                <a:latin typeface="Arial" panose="020B0604020202020204" pitchFamily="34" charset="0"/>
              </a:defRPr>
            </a:lvl4pPr>
            <a:lvl5pPr eaLnBrk="0" fontAlgn="base" hangingPunct="0">
              <a:spcBef>
                <a:spcPct val="0"/>
              </a:spcBef>
              <a:spcAft>
                <a:spcPct val="0"/>
              </a:spcAft>
              <a:tabLst>
                <a:tab pos="1028700" algn="l"/>
              </a:tabLst>
              <a:defRPr>
                <a:solidFill>
                  <a:schemeClr val="tx1"/>
                </a:solidFill>
                <a:latin typeface="Arial" panose="020B0604020202020204" pitchFamily="34" charset="0"/>
              </a:defRPr>
            </a:lvl5pPr>
            <a:lvl6pPr eaLnBrk="0" fontAlgn="base" hangingPunct="0">
              <a:spcBef>
                <a:spcPct val="0"/>
              </a:spcBef>
              <a:spcAft>
                <a:spcPct val="0"/>
              </a:spcAft>
              <a:tabLst>
                <a:tab pos="1028700" algn="l"/>
              </a:tabLst>
              <a:defRPr>
                <a:solidFill>
                  <a:schemeClr val="tx1"/>
                </a:solidFill>
                <a:latin typeface="Arial" panose="020B0604020202020204" pitchFamily="34" charset="0"/>
              </a:defRPr>
            </a:lvl6pPr>
            <a:lvl7pPr eaLnBrk="0" fontAlgn="base" hangingPunct="0">
              <a:spcBef>
                <a:spcPct val="0"/>
              </a:spcBef>
              <a:spcAft>
                <a:spcPct val="0"/>
              </a:spcAft>
              <a:tabLst>
                <a:tab pos="1028700" algn="l"/>
              </a:tabLst>
              <a:defRPr>
                <a:solidFill>
                  <a:schemeClr val="tx1"/>
                </a:solidFill>
                <a:latin typeface="Arial" panose="020B0604020202020204" pitchFamily="34" charset="0"/>
              </a:defRPr>
            </a:lvl7pPr>
            <a:lvl8pPr eaLnBrk="0" fontAlgn="base" hangingPunct="0">
              <a:spcBef>
                <a:spcPct val="0"/>
              </a:spcBef>
              <a:spcAft>
                <a:spcPct val="0"/>
              </a:spcAft>
              <a:tabLst>
                <a:tab pos="1028700" algn="l"/>
              </a:tabLst>
              <a:defRPr>
                <a:solidFill>
                  <a:schemeClr val="tx1"/>
                </a:solidFill>
                <a:latin typeface="Arial" panose="020B0604020202020204" pitchFamily="34" charset="0"/>
              </a:defRPr>
            </a:lvl8pPr>
            <a:lvl9pPr eaLnBrk="0" fontAlgn="base" hangingPunct="0">
              <a:spcBef>
                <a:spcPct val="0"/>
              </a:spcBef>
              <a:spcAft>
                <a:spcPct val="0"/>
              </a:spcAft>
              <a:tabLst>
                <a:tab pos="10287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1028700" algn="l"/>
              </a:tabLst>
            </a:pPr>
            <a:r>
              <a:rPr kumimoji="0"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r>
              <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alibri" panose="020F0502020204030204" pitchFamily="34" charset="0"/>
              </a:rPr>
              <a:t>、编写一个完整的</a:t>
            </a:r>
            <a:r>
              <a:rPr kumimoji="0"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Java  Application </a:t>
            </a:r>
            <a:r>
              <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alibri" panose="020F0502020204030204" pitchFamily="34" charset="0"/>
              </a:rPr>
              <a:t>程序。包含接口</a:t>
            </a:r>
            <a:r>
              <a:rPr kumimoji="0" lang="en-US" altLang="zh-CN" sz="2400" b="0" i="0" u="none" strike="noStrike" cap="none" normalizeH="0" baseline="0" dirty="0" err="1">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ShapeArea</a:t>
            </a:r>
            <a:r>
              <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alibri" panose="020F0502020204030204" pitchFamily="34" charset="0"/>
              </a:rPr>
              <a:t>，</a:t>
            </a:r>
            <a:r>
              <a:rPr kumimoji="0" lang="en-US" altLang="zh-CN" sz="2400" b="0" i="0" u="none" strike="noStrike" cap="none" normalizeH="0" baseline="0" dirty="0" err="1">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MyRectangle</a:t>
            </a:r>
            <a:r>
              <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alibri" panose="020F0502020204030204" pitchFamily="34" charset="0"/>
              </a:rPr>
              <a:t>类及</a:t>
            </a:r>
            <a:r>
              <a:rPr kumimoji="0"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Test</a:t>
            </a:r>
            <a:r>
              <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alibri" panose="020F0502020204030204" pitchFamily="34" charset="0"/>
              </a:rPr>
              <a:t>类，具体要求如下：</a:t>
            </a:r>
            <a:endPar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tab pos="1028700" algn="l"/>
              </a:tabLst>
            </a:pPr>
            <a:r>
              <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⑴</a:t>
            </a:r>
            <a:r>
              <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alibri" panose="020F0502020204030204" pitchFamily="34" charset="0"/>
              </a:rPr>
              <a:t>接口</a:t>
            </a:r>
            <a:r>
              <a:rPr kumimoji="0" lang="en-US" altLang="zh-CN" sz="2400" b="0" i="0" u="none" strike="noStrike" cap="none" normalizeH="0" baseline="0" dirty="0" err="1">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ShapeArea</a:t>
            </a:r>
            <a:r>
              <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alibri" panose="020F0502020204030204" pitchFamily="34" charset="0"/>
              </a:rPr>
              <a:t>：</a:t>
            </a:r>
            <a:endPar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tab pos="1028700" algn="l"/>
              </a:tabLst>
            </a:pPr>
            <a:r>
              <a:rPr lang="zh-CN" altLang="en-US" sz="2400" dirty="0">
                <a:latin typeface="宋体" panose="02010600030101010101" pitchFamily="2" charset="-122"/>
                <a:ea typeface="宋体" panose="02010600030101010101" pitchFamily="2" charset="-122"/>
                <a:cs typeface="Times New Roman" panose="02020603050405020304" pitchFamily="18" charset="0"/>
              </a:rPr>
              <a:t>    </a:t>
            </a:r>
            <a:r>
              <a:rPr kumimoji="0"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double  </a:t>
            </a:r>
            <a:r>
              <a:rPr kumimoji="0" lang="en-US" altLang="zh-CN" sz="2400" b="0" i="0" u="none" strike="noStrike" cap="none" normalizeH="0" baseline="0" dirty="0" err="1">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getArea</a:t>
            </a:r>
            <a:r>
              <a:rPr kumimoji="0"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r>
              <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alibri" panose="020F0502020204030204" pitchFamily="34" charset="0"/>
              </a:rPr>
              <a:t>：求一个形状的面积</a:t>
            </a:r>
            <a:endPar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tab pos="1028700" algn="l"/>
              </a:tabLst>
            </a:pPr>
            <a:r>
              <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    </a:t>
            </a:r>
            <a:r>
              <a:rPr kumimoji="0"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double  </a:t>
            </a:r>
            <a:r>
              <a:rPr kumimoji="0" lang="en-US" altLang="zh-CN" sz="2400" b="0" i="0" u="none" strike="noStrike" cap="none" normalizeH="0" baseline="0" dirty="0" err="1">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getPerimeter</a:t>
            </a:r>
            <a:r>
              <a:rPr kumimoji="0"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alibri" panose="020F0502020204030204" pitchFamily="34" charset="0"/>
              </a:rPr>
              <a:t>：求一个形状的周长</a:t>
            </a:r>
            <a:endPar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tab pos="1028700" algn="l"/>
              </a:tabLst>
            </a:pPr>
            <a:r>
              <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⑵</a:t>
            </a:r>
            <a:r>
              <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alibri" panose="020F0502020204030204" pitchFamily="34" charset="0"/>
              </a:rPr>
              <a:t>类</a:t>
            </a:r>
            <a:r>
              <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 </a:t>
            </a:r>
            <a:r>
              <a:rPr kumimoji="0" lang="en-US" altLang="zh-CN" sz="2400" b="0" i="0" u="none" strike="noStrike" cap="none" normalizeH="0" baseline="0" dirty="0" err="1">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MyRectangle</a:t>
            </a:r>
            <a:r>
              <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alibri" panose="020F0502020204030204" pitchFamily="34" charset="0"/>
              </a:rPr>
              <a:t>：实现</a:t>
            </a:r>
            <a:r>
              <a:rPr kumimoji="0" lang="en-US" altLang="zh-CN" sz="2400" b="0" i="0" u="none" strike="noStrike" cap="none" normalizeH="0" baseline="0" dirty="0" err="1">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ShapeArea</a:t>
            </a:r>
            <a:r>
              <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alibri" panose="020F0502020204030204" pitchFamily="34" charset="0"/>
              </a:rPr>
              <a:t>接口，另有以下属性和方法：</a:t>
            </a:r>
            <a:endPar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Char char="•"/>
              <a:tabLst>
                <a:tab pos="1028700" algn="l"/>
              </a:tabLst>
            </a:pPr>
            <a:r>
              <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alibri" panose="020F0502020204030204" pitchFamily="34" charset="0"/>
              </a:rPr>
              <a:t>属性</a:t>
            </a:r>
            <a:endPar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tab pos="1028700" algn="l"/>
              </a:tabLst>
            </a:pPr>
            <a:r>
              <a:rPr kumimoji="0"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    width</a:t>
            </a:r>
            <a:r>
              <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  </a:t>
            </a:r>
            <a:r>
              <a:rPr kumimoji="0"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double</a:t>
            </a:r>
            <a:r>
              <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类型，表示矩形的长</a:t>
            </a:r>
            <a:endPar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tab pos="1028700" algn="l"/>
              </a:tabLst>
            </a:pPr>
            <a:r>
              <a:rPr kumimoji="0"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    height</a:t>
            </a:r>
            <a:r>
              <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  </a:t>
            </a:r>
            <a:r>
              <a:rPr kumimoji="0"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double</a:t>
            </a:r>
            <a:r>
              <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类型，表示矩形的高</a:t>
            </a:r>
            <a:endPar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Char char="•"/>
              <a:tabLst>
                <a:tab pos="1028700" algn="l"/>
              </a:tabLst>
            </a:pPr>
            <a:r>
              <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alibri" panose="020F0502020204030204" pitchFamily="34" charset="0"/>
              </a:rPr>
              <a:t>方法</a:t>
            </a:r>
            <a:endPar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tab pos="1028700" algn="l"/>
              </a:tabLst>
            </a:pPr>
            <a:r>
              <a:rPr kumimoji="0"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    </a:t>
            </a:r>
            <a:r>
              <a:rPr kumimoji="0" lang="en-US" altLang="zh-CN" sz="2400" b="0" i="0" u="none" strike="noStrike" cap="none" normalizeH="0" baseline="0" dirty="0" err="1">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MyRectangle</a:t>
            </a:r>
            <a:r>
              <a:rPr kumimoji="0"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(double  w, double  h)</a:t>
            </a:r>
            <a:r>
              <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：构造函数</a:t>
            </a:r>
            <a:endPar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tab pos="1028700" algn="l"/>
              </a:tabLst>
            </a:pPr>
            <a:r>
              <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    </a:t>
            </a:r>
            <a:r>
              <a:rPr kumimoji="0" lang="en-US" altLang="zh-CN" sz="2400" b="0" i="0" u="none" strike="noStrike" cap="none" normalizeH="0" baseline="0" dirty="0" err="1">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toString</a:t>
            </a:r>
            <a:r>
              <a:rPr kumimoji="0"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r>
              <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方法 ：输出矩形的描述信息，如“</a:t>
            </a:r>
            <a:r>
              <a:rPr kumimoji="0"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width=1.0,height=2.0, perimeter=6.0, area=2.0”</a:t>
            </a:r>
            <a:endParaRPr kumimoji="0"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tab pos="1028700" algn="l"/>
              </a:tabLst>
            </a:pPr>
            <a:r>
              <a:rPr kumimoji="0"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⑶</a:t>
            </a:r>
            <a:r>
              <a:rPr kumimoji="0"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Test</a:t>
            </a:r>
            <a:r>
              <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alibri" panose="020F0502020204030204" pitchFamily="34" charset="0"/>
              </a:rPr>
              <a:t>类作为主类要完成测试功能</a:t>
            </a:r>
            <a:r>
              <a:rPr lang="zh-CN" altLang="en-US" sz="2400" dirty="0">
                <a:latin typeface="宋体" panose="02010600030101010101" pitchFamily="2" charset="-122"/>
                <a:ea typeface="宋体" panose="02010600030101010101" pitchFamily="2" charset="-122"/>
              </a:rPr>
              <a:t>，</a:t>
            </a:r>
            <a:r>
              <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alibri" panose="020F0502020204030204" pitchFamily="34" charset="0"/>
              </a:rPr>
              <a:t>生成</a:t>
            </a:r>
            <a:r>
              <a:rPr kumimoji="0" lang="en-US" altLang="zh-CN" sz="2400" b="0" i="0" u="none" strike="noStrike" cap="none" normalizeH="0" baseline="0" dirty="0" err="1">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MyRectangle</a:t>
            </a:r>
            <a:r>
              <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alibri" panose="020F0502020204030204" pitchFamily="34" charset="0"/>
              </a:rPr>
              <a:t>对象，调用对象的</a:t>
            </a:r>
            <a:r>
              <a:rPr kumimoji="0" lang="en-US" altLang="zh-CN" sz="2400" b="0" i="0" u="none" strike="noStrike" cap="none" normalizeH="0" baseline="0" dirty="0" err="1">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toString</a:t>
            </a:r>
            <a:r>
              <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alibri" panose="020F0502020204030204" pitchFamily="34" charset="0"/>
              </a:rPr>
              <a:t>方法，输出对象的描述信息</a:t>
            </a:r>
            <a:endPar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1118" y="-44606"/>
            <a:ext cx="9601200" cy="728181"/>
          </a:xfrm>
        </p:spPr>
        <p:txBody>
          <a:bodyPr/>
          <a:lstStyle/>
          <a:p>
            <a:r>
              <a:rPr lang="zh-CN" altLang="en-US" dirty="0"/>
              <a:t>练习：</a:t>
            </a:r>
            <a:endParaRPr lang="zh-CN" altLang="en-US" dirty="0"/>
          </a:p>
        </p:txBody>
      </p:sp>
      <p:sp>
        <p:nvSpPr>
          <p:cNvPr id="4" name="Rectangle 1"/>
          <p:cNvSpPr>
            <a:spLocks noGrp="1" noChangeArrowheads="1"/>
          </p:cNvSpPr>
          <p:nvPr>
            <p:ph idx="1"/>
          </p:nvPr>
        </p:nvSpPr>
        <p:spPr bwMode="auto">
          <a:xfrm>
            <a:off x="439445" y="954172"/>
            <a:ext cx="1131311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eaLnBrk="0" fontAlgn="base" hangingPunct="0">
              <a:spcBef>
                <a:spcPct val="0"/>
              </a:spcBef>
              <a:spcAft>
                <a:spcPct val="0"/>
              </a:spcAft>
              <a:tabLst>
                <a:tab pos="1028700" algn="l"/>
              </a:tabLst>
              <a:defRPr>
                <a:solidFill>
                  <a:schemeClr val="tx1"/>
                </a:solidFill>
                <a:latin typeface="Arial" panose="020B0604020202020204" pitchFamily="34" charset="0"/>
              </a:defRPr>
            </a:lvl1pPr>
            <a:lvl2pPr eaLnBrk="0" fontAlgn="base" hangingPunct="0">
              <a:spcBef>
                <a:spcPct val="0"/>
              </a:spcBef>
              <a:spcAft>
                <a:spcPct val="0"/>
              </a:spcAft>
              <a:tabLst>
                <a:tab pos="1028700" algn="l"/>
              </a:tabLst>
              <a:defRPr>
                <a:solidFill>
                  <a:schemeClr val="tx1"/>
                </a:solidFill>
                <a:latin typeface="Arial" panose="020B0604020202020204" pitchFamily="34" charset="0"/>
              </a:defRPr>
            </a:lvl2pPr>
            <a:lvl3pPr eaLnBrk="0" fontAlgn="base" hangingPunct="0">
              <a:spcBef>
                <a:spcPct val="0"/>
              </a:spcBef>
              <a:spcAft>
                <a:spcPct val="0"/>
              </a:spcAft>
              <a:tabLst>
                <a:tab pos="1028700" algn="l"/>
              </a:tabLst>
              <a:defRPr>
                <a:solidFill>
                  <a:schemeClr val="tx1"/>
                </a:solidFill>
                <a:latin typeface="Arial" panose="020B0604020202020204" pitchFamily="34" charset="0"/>
              </a:defRPr>
            </a:lvl3pPr>
            <a:lvl4pPr eaLnBrk="0" fontAlgn="base" hangingPunct="0">
              <a:spcBef>
                <a:spcPct val="0"/>
              </a:spcBef>
              <a:spcAft>
                <a:spcPct val="0"/>
              </a:spcAft>
              <a:tabLst>
                <a:tab pos="1028700" algn="l"/>
              </a:tabLst>
              <a:defRPr>
                <a:solidFill>
                  <a:schemeClr val="tx1"/>
                </a:solidFill>
                <a:latin typeface="Arial" panose="020B0604020202020204" pitchFamily="34" charset="0"/>
              </a:defRPr>
            </a:lvl4pPr>
            <a:lvl5pPr eaLnBrk="0" fontAlgn="base" hangingPunct="0">
              <a:spcBef>
                <a:spcPct val="0"/>
              </a:spcBef>
              <a:spcAft>
                <a:spcPct val="0"/>
              </a:spcAft>
              <a:tabLst>
                <a:tab pos="1028700" algn="l"/>
              </a:tabLst>
              <a:defRPr>
                <a:solidFill>
                  <a:schemeClr val="tx1"/>
                </a:solidFill>
                <a:latin typeface="Arial" panose="020B0604020202020204" pitchFamily="34" charset="0"/>
              </a:defRPr>
            </a:lvl5pPr>
            <a:lvl6pPr eaLnBrk="0" fontAlgn="base" hangingPunct="0">
              <a:spcBef>
                <a:spcPct val="0"/>
              </a:spcBef>
              <a:spcAft>
                <a:spcPct val="0"/>
              </a:spcAft>
              <a:tabLst>
                <a:tab pos="1028700" algn="l"/>
              </a:tabLst>
              <a:defRPr>
                <a:solidFill>
                  <a:schemeClr val="tx1"/>
                </a:solidFill>
                <a:latin typeface="Arial" panose="020B0604020202020204" pitchFamily="34" charset="0"/>
              </a:defRPr>
            </a:lvl6pPr>
            <a:lvl7pPr eaLnBrk="0" fontAlgn="base" hangingPunct="0">
              <a:spcBef>
                <a:spcPct val="0"/>
              </a:spcBef>
              <a:spcAft>
                <a:spcPct val="0"/>
              </a:spcAft>
              <a:tabLst>
                <a:tab pos="1028700" algn="l"/>
              </a:tabLst>
              <a:defRPr>
                <a:solidFill>
                  <a:schemeClr val="tx1"/>
                </a:solidFill>
                <a:latin typeface="Arial" panose="020B0604020202020204" pitchFamily="34" charset="0"/>
              </a:defRPr>
            </a:lvl7pPr>
            <a:lvl8pPr eaLnBrk="0" fontAlgn="base" hangingPunct="0">
              <a:spcBef>
                <a:spcPct val="0"/>
              </a:spcBef>
              <a:spcAft>
                <a:spcPct val="0"/>
              </a:spcAft>
              <a:tabLst>
                <a:tab pos="1028700" algn="l"/>
              </a:tabLst>
              <a:defRPr>
                <a:solidFill>
                  <a:schemeClr val="tx1"/>
                </a:solidFill>
                <a:latin typeface="Arial" panose="020B0604020202020204" pitchFamily="34" charset="0"/>
              </a:defRPr>
            </a:lvl8pPr>
            <a:lvl9pPr eaLnBrk="0" fontAlgn="base" hangingPunct="0">
              <a:spcBef>
                <a:spcPct val="0"/>
              </a:spcBef>
              <a:spcAft>
                <a:spcPct val="0"/>
              </a:spcAft>
              <a:tabLst>
                <a:tab pos="1028700" algn="l"/>
              </a:tabLst>
              <a:defRPr>
                <a:solidFill>
                  <a:schemeClr val="tx1"/>
                </a:solidFill>
                <a:latin typeface="Arial" panose="020B0604020202020204" pitchFamily="34" charset="0"/>
              </a:defRPr>
            </a:lvl9pPr>
          </a:lstStyle>
          <a:p>
            <a:pPr marL="0" lvl="0" indent="0">
              <a:lnSpc>
                <a:spcPct val="100000"/>
              </a:lnSpc>
              <a:buClrTx/>
              <a:buSzTx/>
              <a:buNone/>
            </a:pPr>
            <a:r>
              <a:rPr lang="en-US" altLang="zh-CN" sz="2400" dirty="0">
                <a:latin typeface="宋体" panose="02010600030101010101" pitchFamily="2" charset="-122"/>
                <a:ea typeface="宋体" panose="02010600030101010101" pitchFamily="2" charset="-122"/>
                <a:cs typeface="Times New Roman" panose="02020603050405020304" pitchFamily="18" charset="0"/>
              </a:rPr>
              <a:t>2</a:t>
            </a:r>
            <a:r>
              <a:rPr lang="zh-CN" altLang="en-US" sz="2400" dirty="0">
                <a:latin typeface="宋体" panose="02010600030101010101" pitchFamily="2" charset="-122"/>
                <a:ea typeface="宋体" panose="02010600030101010101" pitchFamily="2" charset="-122"/>
                <a:cs typeface="Times New Roman" panose="02020603050405020304" pitchFamily="18" charset="0"/>
              </a:rPr>
              <a:t>、按如下要求编写</a:t>
            </a:r>
            <a:r>
              <a:rPr lang="en-US" altLang="zh-CN" sz="2400" dirty="0">
                <a:latin typeface="宋体" panose="02010600030101010101" pitchFamily="2" charset="-122"/>
                <a:ea typeface="宋体" panose="02010600030101010101" pitchFamily="2" charset="-122"/>
                <a:cs typeface="Times New Roman" panose="02020603050405020304" pitchFamily="18" charset="0"/>
              </a:rPr>
              <a:t>Java</a:t>
            </a:r>
            <a:r>
              <a:rPr lang="zh-CN" altLang="en-US" sz="2400" dirty="0">
                <a:latin typeface="宋体" panose="02010600030101010101" pitchFamily="2" charset="-122"/>
                <a:ea typeface="宋体" panose="02010600030101010101" pitchFamily="2" charset="-122"/>
                <a:cs typeface="Times New Roman" panose="02020603050405020304" pitchFamily="18" charset="0"/>
              </a:rPr>
              <a:t>程序： </a:t>
            </a:r>
            <a:endParaRPr lang="en-US" altLang="zh-CN" sz="2400" dirty="0">
              <a:latin typeface="宋体" panose="02010600030101010101" pitchFamily="2" charset="-122"/>
              <a:ea typeface="宋体" panose="02010600030101010101" pitchFamily="2" charset="-122"/>
              <a:cs typeface="Times New Roman" panose="02020603050405020304" pitchFamily="18" charset="0"/>
            </a:endParaRPr>
          </a:p>
          <a:p>
            <a:pPr marL="0" lvl="0" indent="0">
              <a:lnSpc>
                <a:spcPct val="100000"/>
              </a:lnSpc>
              <a:buClrTx/>
              <a:buSzTx/>
              <a:buNone/>
            </a:pPr>
            <a:r>
              <a:rPr lang="zh-CN" altLang="en-US" sz="2400" dirty="0">
                <a:latin typeface="宋体" panose="02010600030101010101" pitchFamily="2" charset="-122"/>
                <a:ea typeface="宋体" panose="02010600030101010101" pitchFamily="2" charset="-122"/>
                <a:cs typeface="Times New Roman" panose="02020603050405020304" pitchFamily="18" charset="0"/>
              </a:rPr>
              <a:t>（</a:t>
            </a:r>
            <a:r>
              <a:rPr lang="en-US" altLang="zh-CN" sz="2400" dirty="0">
                <a:latin typeface="宋体" panose="02010600030101010101" pitchFamily="2" charset="-122"/>
                <a:ea typeface="宋体" panose="02010600030101010101" pitchFamily="2" charset="-122"/>
                <a:cs typeface="Times New Roman" panose="02020603050405020304" pitchFamily="18" charset="0"/>
              </a:rPr>
              <a:t>1</a:t>
            </a:r>
            <a:r>
              <a:rPr lang="zh-CN" altLang="en-US" sz="2400" dirty="0">
                <a:latin typeface="宋体" panose="02010600030101010101" pitchFamily="2" charset="-122"/>
                <a:ea typeface="宋体" panose="02010600030101010101" pitchFamily="2" charset="-122"/>
                <a:cs typeface="Times New Roman" panose="02020603050405020304" pitchFamily="18" charset="0"/>
              </a:rPr>
              <a:t>）定义接口</a:t>
            </a:r>
            <a:r>
              <a:rPr lang="en-US" altLang="zh-CN" sz="2400" dirty="0">
                <a:latin typeface="宋体" panose="02010600030101010101" pitchFamily="2" charset="-122"/>
                <a:ea typeface="宋体" panose="02010600030101010101" pitchFamily="2" charset="-122"/>
                <a:cs typeface="Times New Roman" panose="02020603050405020304" pitchFamily="18" charset="0"/>
              </a:rPr>
              <a:t>Area</a:t>
            </a:r>
            <a:r>
              <a:rPr lang="zh-CN" altLang="en-US" sz="2400" dirty="0">
                <a:latin typeface="宋体" panose="02010600030101010101" pitchFamily="2" charset="-122"/>
                <a:ea typeface="宋体" panose="02010600030101010101" pitchFamily="2" charset="-122"/>
                <a:cs typeface="Times New Roman" panose="02020603050405020304" pitchFamily="18" charset="0"/>
              </a:rPr>
              <a:t>，里面包含值为</a:t>
            </a:r>
            <a:r>
              <a:rPr lang="en-US" altLang="zh-CN" sz="2400" dirty="0">
                <a:latin typeface="宋体" panose="02010600030101010101" pitchFamily="2" charset="-122"/>
                <a:ea typeface="宋体" panose="02010600030101010101" pitchFamily="2" charset="-122"/>
                <a:cs typeface="Times New Roman" panose="02020603050405020304" pitchFamily="18" charset="0"/>
              </a:rPr>
              <a:t>3.14</a:t>
            </a:r>
            <a:r>
              <a:rPr lang="zh-CN" altLang="en-US" sz="2400" dirty="0">
                <a:latin typeface="宋体" panose="02010600030101010101" pitchFamily="2" charset="-122"/>
                <a:ea typeface="宋体" panose="02010600030101010101" pitchFamily="2" charset="-122"/>
                <a:cs typeface="Times New Roman" panose="02020603050405020304" pitchFamily="18" charset="0"/>
              </a:rPr>
              <a:t>的常量</a:t>
            </a:r>
            <a:r>
              <a:rPr lang="en-US" altLang="zh-CN" sz="2400" dirty="0">
                <a:latin typeface="宋体" panose="02010600030101010101" pitchFamily="2" charset="-122"/>
                <a:ea typeface="宋体" panose="02010600030101010101" pitchFamily="2" charset="-122"/>
                <a:cs typeface="Times New Roman" panose="02020603050405020304" pitchFamily="18" charset="0"/>
              </a:rPr>
              <a:t>PI</a:t>
            </a:r>
            <a:r>
              <a:rPr lang="zh-CN" altLang="en-US" sz="2400" dirty="0">
                <a:latin typeface="宋体" panose="02010600030101010101" pitchFamily="2" charset="-122"/>
                <a:ea typeface="宋体" panose="02010600030101010101" pitchFamily="2" charset="-122"/>
                <a:cs typeface="Times New Roman" panose="02020603050405020304" pitchFamily="18" charset="0"/>
              </a:rPr>
              <a:t>和抽象方法</a:t>
            </a:r>
            <a:r>
              <a:rPr lang="en-US" altLang="zh-CN" sz="2400" dirty="0">
                <a:latin typeface="宋体" panose="02010600030101010101" pitchFamily="2" charset="-122"/>
                <a:ea typeface="宋体" panose="02010600030101010101" pitchFamily="2" charset="-122"/>
                <a:cs typeface="Times New Roman" panose="02020603050405020304" pitchFamily="18" charset="0"/>
              </a:rPr>
              <a:t>double area()</a:t>
            </a:r>
            <a:r>
              <a:rPr lang="zh-CN" altLang="en-US" sz="2400" dirty="0">
                <a:latin typeface="宋体" panose="02010600030101010101" pitchFamily="2" charset="-122"/>
                <a:ea typeface="宋体" panose="02010600030101010101" pitchFamily="2" charset="-122"/>
                <a:cs typeface="Times New Roman" panose="02020603050405020304" pitchFamily="18" charset="0"/>
              </a:rPr>
              <a:t>。 </a:t>
            </a:r>
            <a:endParaRPr lang="zh-CN" altLang="en-US" sz="2400" dirty="0">
              <a:latin typeface="宋体" panose="02010600030101010101" pitchFamily="2" charset="-122"/>
              <a:ea typeface="宋体" panose="02010600030101010101" pitchFamily="2" charset="-122"/>
              <a:cs typeface="Times New Roman" panose="02020603050405020304" pitchFamily="18" charset="0"/>
            </a:endParaRPr>
          </a:p>
          <a:p>
            <a:pPr marL="0" lvl="0" indent="0">
              <a:lnSpc>
                <a:spcPct val="100000"/>
              </a:lnSpc>
              <a:buClrTx/>
              <a:buSzTx/>
              <a:buNone/>
            </a:pPr>
            <a:r>
              <a:rPr lang="zh-CN" altLang="en-US" sz="2400" dirty="0">
                <a:latin typeface="宋体" panose="02010600030101010101" pitchFamily="2" charset="-122"/>
                <a:ea typeface="宋体" panose="02010600030101010101" pitchFamily="2" charset="-122"/>
                <a:cs typeface="Times New Roman" panose="02020603050405020304" pitchFamily="18" charset="0"/>
              </a:rPr>
              <a:t>（</a:t>
            </a:r>
            <a:r>
              <a:rPr lang="en-US" altLang="zh-CN" sz="2400" dirty="0">
                <a:latin typeface="宋体" panose="02010600030101010101" pitchFamily="2" charset="-122"/>
                <a:ea typeface="宋体" panose="02010600030101010101" pitchFamily="2" charset="-122"/>
                <a:cs typeface="Times New Roman" panose="02020603050405020304" pitchFamily="18" charset="0"/>
              </a:rPr>
              <a:t>2</a:t>
            </a:r>
            <a:r>
              <a:rPr lang="zh-CN" altLang="en-US" sz="2400" dirty="0">
                <a:latin typeface="宋体" panose="02010600030101010101" pitchFamily="2" charset="-122"/>
                <a:ea typeface="宋体" panose="02010600030101010101" pitchFamily="2" charset="-122"/>
                <a:cs typeface="Times New Roman" panose="02020603050405020304" pitchFamily="18" charset="0"/>
              </a:rPr>
              <a:t>）定义接口</a:t>
            </a:r>
            <a:r>
              <a:rPr lang="en-US" altLang="zh-CN" sz="2400" dirty="0" err="1">
                <a:latin typeface="宋体" panose="02010600030101010101" pitchFamily="2" charset="-122"/>
                <a:ea typeface="宋体" panose="02010600030101010101" pitchFamily="2" charset="-122"/>
                <a:cs typeface="Times New Roman" panose="02020603050405020304" pitchFamily="18" charset="0"/>
              </a:rPr>
              <a:t>SetColor</a:t>
            </a:r>
            <a:r>
              <a:rPr lang="zh-CN" altLang="en-US" sz="2400" dirty="0">
                <a:latin typeface="宋体" panose="02010600030101010101" pitchFamily="2" charset="-122"/>
                <a:ea typeface="宋体" panose="02010600030101010101" pitchFamily="2" charset="-122"/>
                <a:cs typeface="Times New Roman" panose="02020603050405020304" pitchFamily="18" charset="0"/>
              </a:rPr>
              <a:t>，里面包含抽象方法</a:t>
            </a:r>
            <a:r>
              <a:rPr lang="en-US" altLang="zh-CN" sz="2400" dirty="0">
                <a:latin typeface="宋体" panose="02010600030101010101" pitchFamily="2" charset="-122"/>
                <a:ea typeface="宋体" panose="02010600030101010101" pitchFamily="2" charset="-122"/>
                <a:cs typeface="Times New Roman" panose="02020603050405020304" pitchFamily="18" charset="0"/>
              </a:rPr>
              <a:t>void </a:t>
            </a:r>
            <a:r>
              <a:rPr lang="en-US" altLang="zh-CN" sz="2400" dirty="0" err="1">
                <a:latin typeface="宋体" panose="02010600030101010101" pitchFamily="2" charset="-122"/>
                <a:ea typeface="宋体" panose="02010600030101010101" pitchFamily="2" charset="-122"/>
                <a:cs typeface="Times New Roman" panose="02020603050405020304" pitchFamily="18" charset="0"/>
              </a:rPr>
              <a:t>setColor</a:t>
            </a:r>
            <a:r>
              <a:rPr lang="en-US" altLang="zh-CN" sz="2400" dirty="0">
                <a:latin typeface="宋体" panose="02010600030101010101" pitchFamily="2" charset="-122"/>
                <a:ea typeface="宋体" panose="02010600030101010101" pitchFamily="2" charset="-122"/>
                <a:cs typeface="Times New Roman" panose="02020603050405020304" pitchFamily="18" charset="0"/>
              </a:rPr>
              <a:t>(String c)</a:t>
            </a:r>
            <a:r>
              <a:rPr lang="zh-CN" altLang="en-US" sz="2400" dirty="0">
                <a:latin typeface="宋体" panose="02010600030101010101" pitchFamily="2" charset="-122"/>
                <a:ea typeface="宋体" panose="02010600030101010101" pitchFamily="2" charset="-122"/>
                <a:cs typeface="Times New Roman" panose="02020603050405020304" pitchFamily="18" charset="0"/>
              </a:rPr>
              <a:t>。 </a:t>
            </a:r>
            <a:endParaRPr lang="zh-CN" altLang="en-US" sz="2400" dirty="0">
              <a:latin typeface="宋体" panose="02010600030101010101" pitchFamily="2" charset="-122"/>
              <a:ea typeface="宋体" panose="02010600030101010101" pitchFamily="2" charset="-122"/>
              <a:cs typeface="Times New Roman" panose="02020603050405020304" pitchFamily="18" charset="0"/>
            </a:endParaRPr>
          </a:p>
          <a:p>
            <a:pPr marL="0" lvl="0" indent="0">
              <a:lnSpc>
                <a:spcPct val="100000"/>
              </a:lnSpc>
              <a:buClrTx/>
              <a:buSzTx/>
              <a:buNone/>
            </a:pPr>
            <a:r>
              <a:rPr lang="zh-CN" altLang="en-US" sz="2400" dirty="0">
                <a:latin typeface="宋体" panose="02010600030101010101" pitchFamily="2" charset="-122"/>
                <a:ea typeface="宋体" panose="02010600030101010101" pitchFamily="2" charset="-122"/>
                <a:cs typeface="Times New Roman" panose="02020603050405020304" pitchFamily="18" charset="0"/>
              </a:rPr>
              <a:t>（</a:t>
            </a:r>
            <a:r>
              <a:rPr lang="en-US" altLang="zh-CN" sz="2400" dirty="0">
                <a:latin typeface="宋体" panose="02010600030101010101" pitchFamily="2" charset="-122"/>
                <a:ea typeface="宋体" panose="02010600030101010101" pitchFamily="2" charset="-122"/>
                <a:cs typeface="Times New Roman" panose="02020603050405020304" pitchFamily="18" charset="0"/>
              </a:rPr>
              <a:t>3</a:t>
            </a:r>
            <a:r>
              <a:rPr lang="zh-CN" altLang="en-US" sz="2400" dirty="0">
                <a:latin typeface="宋体" panose="02010600030101010101" pitchFamily="2" charset="-122"/>
                <a:ea typeface="宋体" panose="02010600030101010101" pitchFamily="2" charset="-122"/>
                <a:cs typeface="Times New Roman" panose="02020603050405020304" pitchFamily="18" charset="0"/>
              </a:rPr>
              <a:t>）定义接口</a:t>
            </a:r>
            <a:r>
              <a:rPr lang="en-US" altLang="zh-CN" sz="2400" dirty="0">
                <a:latin typeface="宋体" panose="02010600030101010101" pitchFamily="2" charset="-122"/>
                <a:ea typeface="宋体" panose="02010600030101010101" pitchFamily="2" charset="-122"/>
                <a:cs typeface="Times New Roman" panose="02020603050405020304" pitchFamily="18" charset="0"/>
              </a:rPr>
              <a:t>Shape</a:t>
            </a:r>
            <a:r>
              <a:rPr lang="zh-CN" altLang="en-US" sz="2400" dirty="0">
                <a:latin typeface="宋体" panose="02010600030101010101" pitchFamily="2" charset="-122"/>
                <a:ea typeface="宋体" panose="02010600030101010101" pitchFamily="2" charset="-122"/>
                <a:cs typeface="Times New Roman" panose="02020603050405020304" pitchFamily="18" charset="0"/>
              </a:rPr>
              <a:t>，该接口继承了接口</a:t>
            </a:r>
            <a:r>
              <a:rPr lang="en-US" altLang="zh-CN" sz="2400" dirty="0">
                <a:latin typeface="宋体" panose="02010600030101010101" pitchFamily="2" charset="-122"/>
                <a:ea typeface="宋体" panose="02010600030101010101" pitchFamily="2" charset="-122"/>
                <a:cs typeface="Times New Roman" panose="02020603050405020304" pitchFamily="18" charset="0"/>
              </a:rPr>
              <a:t>Area</a:t>
            </a:r>
            <a:r>
              <a:rPr lang="zh-CN" altLang="en-US" sz="2400" dirty="0">
                <a:latin typeface="宋体" panose="02010600030101010101" pitchFamily="2" charset="-122"/>
                <a:ea typeface="宋体" panose="02010600030101010101" pitchFamily="2" charset="-122"/>
                <a:cs typeface="Times New Roman" panose="02020603050405020304" pitchFamily="18" charset="0"/>
              </a:rPr>
              <a:t>和</a:t>
            </a:r>
            <a:r>
              <a:rPr lang="en-US" altLang="zh-CN" sz="2400" dirty="0" err="1">
                <a:latin typeface="宋体" panose="02010600030101010101" pitchFamily="2" charset="-122"/>
                <a:ea typeface="宋体" panose="02010600030101010101" pitchFamily="2" charset="-122"/>
                <a:cs typeface="Times New Roman" panose="02020603050405020304" pitchFamily="18" charset="0"/>
              </a:rPr>
              <a:t>SetColor</a:t>
            </a:r>
            <a:r>
              <a:rPr lang="en-US" altLang="zh-CN" sz="2400" dirty="0">
                <a:latin typeface="宋体" panose="02010600030101010101" pitchFamily="2" charset="-122"/>
                <a:ea typeface="宋体" panose="02010600030101010101" pitchFamily="2" charset="-122"/>
                <a:cs typeface="Times New Roman" panose="02020603050405020304" pitchFamily="18" charset="0"/>
              </a:rPr>
              <a:t> </a:t>
            </a:r>
            <a:r>
              <a:rPr lang="zh-CN" altLang="en-US" sz="2400" dirty="0">
                <a:latin typeface="宋体" panose="02010600030101010101" pitchFamily="2" charset="-122"/>
                <a:ea typeface="宋体" panose="02010600030101010101" pitchFamily="2" charset="-122"/>
                <a:cs typeface="Times New Roman" panose="02020603050405020304" pitchFamily="18" charset="0"/>
              </a:rPr>
              <a:t>，新增抽象方法</a:t>
            </a:r>
            <a:r>
              <a:rPr lang="en-US" altLang="zh-CN" sz="2400" dirty="0">
                <a:latin typeface="宋体" panose="02010600030101010101" pitchFamily="2" charset="-122"/>
                <a:ea typeface="宋体" panose="02010600030101010101" pitchFamily="2" charset="-122"/>
                <a:cs typeface="Times New Roman" panose="02020603050405020304" pitchFamily="18" charset="0"/>
              </a:rPr>
              <a:t>void volume()</a:t>
            </a:r>
            <a:r>
              <a:rPr lang="zh-CN" altLang="en-US" sz="2400" dirty="0">
                <a:latin typeface="宋体" panose="02010600030101010101" pitchFamily="2" charset="-122"/>
                <a:ea typeface="宋体" panose="02010600030101010101" pitchFamily="2" charset="-122"/>
                <a:cs typeface="Times New Roman" panose="02020603050405020304" pitchFamily="18" charset="0"/>
              </a:rPr>
              <a:t>。 </a:t>
            </a:r>
            <a:endParaRPr lang="zh-CN" altLang="en-US" sz="2400" dirty="0">
              <a:latin typeface="宋体" panose="02010600030101010101" pitchFamily="2" charset="-122"/>
              <a:ea typeface="宋体" panose="02010600030101010101" pitchFamily="2" charset="-122"/>
              <a:cs typeface="Times New Roman" panose="02020603050405020304" pitchFamily="18" charset="0"/>
            </a:endParaRPr>
          </a:p>
          <a:p>
            <a:pPr marL="0" lvl="0" indent="0">
              <a:lnSpc>
                <a:spcPct val="100000"/>
              </a:lnSpc>
              <a:buClrTx/>
              <a:buSzTx/>
              <a:buNone/>
            </a:pPr>
            <a:r>
              <a:rPr lang="zh-CN" altLang="en-US" sz="2400" dirty="0">
                <a:latin typeface="宋体" panose="02010600030101010101" pitchFamily="2" charset="-122"/>
                <a:ea typeface="宋体" panose="02010600030101010101" pitchFamily="2" charset="-122"/>
                <a:cs typeface="Times New Roman" panose="02020603050405020304" pitchFamily="18" charset="0"/>
              </a:rPr>
              <a:t>（</a:t>
            </a:r>
            <a:r>
              <a:rPr lang="en-US" altLang="zh-CN" sz="2400" dirty="0">
                <a:latin typeface="宋体" panose="02010600030101010101" pitchFamily="2" charset="-122"/>
                <a:ea typeface="宋体" panose="02010600030101010101" pitchFamily="2" charset="-122"/>
                <a:cs typeface="Times New Roman" panose="02020603050405020304" pitchFamily="18" charset="0"/>
              </a:rPr>
              <a:t>4</a:t>
            </a:r>
            <a:r>
              <a:rPr lang="zh-CN" altLang="en-US" sz="2400" dirty="0">
                <a:latin typeface="宋体" panose="02010600030101010101" pitchFamily="2" charset="-122"/>
                <a:ea typeface="宋体" panose="02010600030101010101" pitchFamily="2" charset="-122"/>
                <a:cs typeface="Times New Roman" panose="02020603050405020304" pitchFamily="18" charset="0"/>
              </a:rPr>
              <a:t>）定义圆柱体类</a:t>
            </a:r>
            <a:r>
              <a:rPr lang="en-US" altLang="zh-CN" sz="2400" dirty="0">
                <a:latin typeface="宋体" panose="02010600030101010101" pitchFamily="2" charset="-122"/>
                <a:ea typeface="宋体" panose="02010600030101010101" pitchFamily="2" charset="-122"/>
                <a:cs typeface="Times New Roman" panose="02020603050405020304" pitchFamily="18" charset="0"/>
              </a:rPr>
              <a:t>Cylinder</a:t>
            </a:r>
            <a:r>
              <a:rPr lang="zh-CN" altLang="en-US" sz="2400" dirty="0">
                <a:latin typeface="宋体" panose="02010600030101010101" pitchFamily="2" charset="-122"/>
                <a:ea typeface="宋体" panose="02010600030101010101" pitchFamily="2" charset="-122"/>
                <a:cs typeface="Times New Roman" panose="02020603050405020304" pitchFamily="18" charset="0"/>
              </a:rPr>
              <a:t>实现接口</a:t>
            </a:r>
            <a:r>
              <a:rPr lang="en-US" altLang="zh-CN" sz="2400" dirty="0">
                <a:latin typeface="宋体" panose="02010600030101010101" pitchFamily="2" charset="-122"/>
                <a:ea typeface="宋体" panose="02010600030101010101" pitchFamily="2" charset="-122"/>
                <a:cs typeface="Times New Roman" panose="02020603050405020304" pitchFamily="18" charset="0"/>
              </a:rPr>
              <a:t>Shape </a:t>
            </a:r>
            <a:r>
              <a:rPr lang="zh-CN" altLang="en-US" sz="2400" dirty="0">
                <a:latin typeface="宋体" panose="02010600030101010101" pitchFamily="2" charset="-122"/>
                <a:ea typeface="宋体" panose="02010600030101010101" pitchFamily="2" charset="-122"/>
                <a:cs typeface="Times New Roman" panose="02020603050405020304" pitchFamily="18" charset="0"/>
              </a:rPr>
              <a:t>，该类中包含三个成员变量：底圆半径</a:t>
            </a:r>
            <a:r>
              <a:rPr lang="en-US" altLang="zh-CN" sz="2400" dirty="0">
                <a:latin typeface="宋体" panose="02010600030101010101" pitchFamily="2" charset="-122"/>
                <a:ea typeface="宋体" panose="02010600030101010101" pitchFamily="2" charset="-122"/>
                <a:cs typeface="Times New Roman" panose="02020603050405020304" pitchFamily="18" charset="0"/>
              </a:rPr>
              <a:t>radius</a:t>
            </a:r>
            <a:r>
              <a:rPr lang="zh-CN" altLang="en-US" sz="2400" dirty="0">
                <a:latin typeface="宋体" panose="02010600030101010101" pitchFamily="2" charset="-122"/>
                <a:ea typeface="宋体" panose="02010600030101010101" pitchFamily="2" charset="-122"/>
                <a:cs typeface="Times New Roman" panose="02020603050405020304" pitchFamily="18" charset="0"/>
              </a:rPr>
              <a:t>、 圆柱体的高</a:t>
            </a:r>
            <a:r>
              <a:rPr lang="en-US" altLang="zh-CN" sz="2400" dirty="0">
                <a:latin typeface="宋体" panose="02010600030101010101" pitchFamily="2" charset="-122"/>
                <a:ea typeface="宋体" panose="02010600030101010101" pitchFamily="2" charset="-122"/>
                <a:cs typeface="Times New Roman" panose="02020603050405020304" pitchFamily="18" charset="0"/>
              </a:rPr>
              <a:t>height</a:t>
            </a:r>
            <a:r>
              <a:rPr lang="zh-CN" altLang="en-US" sz="2400" dirty="0">
                <a:latin typeface="宋体" panose="02010600030101010101" pitchFamily="2" charset="-122"/>
                <a:ea typeface="宋体" panose="02010600030101010101" pitchFamily="2" charset="-122"/>
                <a:cs typeface="Times New Roman" panose="02020603050405020304" pitchFamily="18" charset="0"/>
              </a:rPr>
              <a:t>、颜色</a:t>
            </a:r>
            <a:r>
              <a:rPr lang="en-US" altLang="zh-CN" sz="2400" dirty="0">
                <a:latin typeface="宋体" panose="02010600030101010101" pitchFamily="2" charset="-122"/>
                <a:ea typeface="宋体" panose="02010600030101010101" pitchFamily="2" charset="-122"/>
                <a:cs typeface="Times New Roman" panose="02020603050405020304" pitchFamily="18" charset="0"/>
              </a:rPr>
              <a:t>color</a:t>
            </a:r>
            <a:r>
              <a:rPr lang="zh-CN" altLang="en-US" sz="2400" dirty="0">
                <a:latin typeface="宋体" panose="02010600030101010101" pitchFamily="2" charset="-122"/>
                <a:ea typeface="宋体" panose="02010600030101010101" pitchFamily="2" charset="-122"/>
                <a:cs typeface="Times New Roman" panose="02020603050405020304" pitchFamily="18" charset="0"/>
              </a:rPr>
              <a:t>，定义构造函数，并实现接口中的抽象函数。</a:t>
            </a:r>
            <a:endParaRPr lang="zh-CN" altLang="en-US" sz="2400" dirty="0">
              <a:latin typeface="宋体" panose="02010600030101010101" pitchFamily="2" charset="-122"/>
              <a:ea typeface="宋体" panose="02010600030101010101" pitchFamily="2" charset="-122"/>
              <a:cs typeface="Times New Roman" panose="02020603050405020304" pitchFamily="18" charset="0"/>
            </a:endParaRPr>
          </a:p>
          <a:p>
            <a:pPr marL="0" lvl="0" indent="0">
              <a:lnSpc>
                <a:spcPct val="100000"/>
              </a:lnSpc>
              <a:buClrTx/>
              <a:buSzTx/>
              <a:buNone/>
            </a:pPr>
            <a:r>
              <a:rPr lang="zh-CN" altLang="en-US" sz="2400" dirty="0">
                <a:latin typeface="宋体" panose="02010600030101010101" pitchFamily="2" charset="-122"/>
                <a:ea typeface="宋体" panose="02010600030101010101" pitchFamily="2" charset="-122"/>
                <a:cs typeface="Times New Roman" panose="02020603050405020304" pitchFamily="18" charset="0"/>
              </a:rPr>
              <a:t>（</a:t>
            </a:r>
            <a:r>
              <a:rPr lang="en-US" altLang="zh-CN" sz="2400" dirty="0">
                <a:latin typeface="宋体" panose="02010600030101010101" pitchFamily="2" charset="-122"/>
                <a:ea typeface="宋体" panose="02010600030101010101" pitchFamily="2" charset="-122"/>
                <a:cs typeface="Times New Roman" panose="02020603050405020304" pitchFamily="18" charset="0"/>
              </a:rPr>
              <a:t>5</a:t>
            </a:r>
            <a:r>
              <a:rPr lang="zh-CN" altLang="en-US" sz="2400" dirty="0">
                <a:latin typeface="宋体" panose="02010600030101010101" pitchFamily="2" charset="-122"/>
                <a:ea typeface="宋体" panose="02010600030101010101" pitchFamily="2" charset="-122"/>
                <a:cs typeface="Times New Roman" panose="02020603050405020304" pitchFamily="18" charset="0"/>
              </a:rPr>
              <a:t>）创建主类来测试类</a:t>
            </a:r>
            <a:r>
              <a:rPr lang="en-US" altLang="zh-CN" sz="2400" dirty="0">
                <a:latin typeface="宋体" panose="02010600030101010101" pitchFamily="2" charset="-122"/>
                <a:ea typeface="宋体" panose="02010600030101010101" pitchFamily="2" charset="-122"/>
                <a:cs typeface="Times New Roman" panose="02020603050405020304" pitchFamily="18" charset="0"/>
              </a:rPr>
              <a:t>Cylinder</a:t>
            </a:r>
            <a:r>
              <a:rPr lang="zh-CN" altLang="en-US" sz="2400" dirty="0">
                <a:latin typeface="宋体" panose="02010600030101010101" pitchFamily="2" charset="-122"/>
                <a:ea typeface="宋体" panose="02010600030101010101" pitchFamily="2" charset="-122"/>
                <a:cs typeface="Times New Roman" panose="02020603050405020304" pitchFamily="18" charset="0"/>
              </a:rPr>
              <a:t>。</a:t>
            </a:r>
            <a:endParaRPr lang="zh-CN" altLang="en-US" sz="2400" dirty="0">
              <a:latin typeface="宋体" panose="02010600030101010101" pitchFamily="2" charset="-122"/>
              <a:ea typeface="宋体"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81923" name="内容占位符 2"/>
          <p:cNvSpPr>
            <a:spLocks noGrp="1"/>
          </p:cNvSpPr>
          <p:nvPr>
            <p:ph idx="4294967295"/>
          </p:nvPr>
        </p:nvSpPr>
        <p:spPr>
          <a:xfrm>
            <a:off x="875899" y="1413258"/>
            <a:ext cx="10828421" cy="4130894"/>
          </a:xfrm>
        </p:spPr>
        <p:txBody>
          <a:bodyPr>
            <a:noAutofit/>
          </a:bodyPr>
          <a:lstStyle/>
          <a:p>
            <a:pPr marL="0" indent="353060">
              <a:buNone/>
            </a:pPr>
            <a:r>
              <a:rPr lang="zh-CN" altLang="en-US" sz="2800" b="1" dirty="0">
                <a:latin typeface="宋体" panose="02010600030101010101" pitchFamily="2" charset="-122"/>
                <a:ea typeface="宋体" panose="02010600030101010101" pitchFamily="2" charset="-122"/>
              </a:rPr>
              <a:t>  多态，是指类中具有相似功能的不同函数使用同一个名称来实现的现象。</a:t>
            </a:r>
            <a:endParaRPr lang="en-US" altLang="zh-CN" sz="2800" b="1" dirty="0">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  </a:t>
            </a:r>
            <a:r>
              <a:rPr lang="en-US" altLang="zh-CN" sz="2800" b="1" dirty="0">
                <a:latin typeface="宋体" panose="02010600030101010101" pitchFamily="2" charset="-122"/>
                <a:ea typeface="宋体" panose="02010600030101010101" pitchFamily="2" charset="-122"/>
              </a:rPr>
              <a:t> Java</a:t>
            </a:r>
            <a:r>
              <a:rPr lang="zh-CN" altLang="en-US" sz="2800" b="1" dirty="0">
                <a:latin typeface="宋体" panose="02010600030101010101" pitchFamily="2" charset="-122"/>
                <a:ea typeface="宋体" panose="02010600030101010101" pitchFamily="2" charset="-122"/>
              </a:rPr>
              <a:t>语言实现多态性有两种形式：编译多态和运行多态。实现编译多态性主要是方法的重载。运行的多态是在程序运行的时才可以确认响应的方法，通常是通过继承机制引起的。</a:t>
            </a:r>
            <a:endParaRPr lang="zh-CN" altLang="en-US" sz="2800" b="1" dirty="0">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1</a:t>
            </a:r>
            <a:r>
              <a:rPr lang="zh-CN" altLang="en-US" sz="2800" b="1" dirty="0">
                <a:latin typeface="宋体" panose="02010600030101010101" pitchFamily="2" charset="-122"/>
                <a:ea typeface="宋体" panose="02010600030101010101" pitchFamily="2" charset="-122"/>
              </a:rPr>
              <a:t>）方法的重载。</a:t>
            </a:r>
            <a:endParaRPr lang="zh-CN" altLang="en-US" sz="2800" b="1" dirty="0">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2</a:t>
            </a:r>
            <a:r>
              <a:rPr lang="zh-CN" altLang="en-US" sz="2800" b="1" dirty="0">
                <a:latin typeface="宋体" panose="02010600030101010101" pitchFamily="2" charset="-122"/>
                <a:ea typeface="宋体" panose="02010600030101010101" pitchFamily="2" charset="-122"/>
              </a:rPr>
              <a:t>）通过继承和接口机制而产生的方法覆盖。</a:t>
            </a:r>
            <a:endParaRPr lang="zh-CN" altLang="en-US" sz="2800" b="1" dirty="0">
              <a:latin typeface="宋体" panose="02010600030101010101" pitchFamily="2" charset="-122"/>
              <a:ea typeface="宋体" panose="02010600030101010101" pitchFamily="2" charset="-122"/>
            </a:endParaRPr>
          </a:p>
        </p:txBody>
      </p:sp>
      <p:sp>
        <p:nvSpPr>
          <p:cNvPr id="81924"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421A25CD-3B3F-4915-97EB-F8B703B7BA94}"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81925" name="标题 1"/>
          <p:cNvSpPr/>
          <p:nvPr/>
        </p:nvSpPr>
        <p:spPr bwMode="auto">
          <a:xfrm>
            <a:off x="470096" y="253237"/>
            <a:ext cx="8147317" cy="914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defTabSz="866775">
              <a:defRPr sz="2000" b="1">
                <a:solidFill>
                  <a:schemeClr val="tx1"/>
                </a:solidFill>
                <a:latin typeface="Times New Roman" panose="02020603050405020304" pitchFamily="18" charset="0"/>
                <a:ea typeface="宋体" panose="02010600030101010101" pitchFamily="2" charset="-122"/>
              </a:defRPr>
            </a:lvl1pPr>
            <a:lvl2pPr marL="742950" indent="-285750" defTabSz="866775">
              <a:defRPr sz="2000" b="1">
                <a:solidFill>
                  <a:schemeClr val="tx1"/>
                </a:solidFill>
                <a:latin typeface="Times New Roman" panose="02020603050405020304" pitchFamily="18" charset="0"/>
                <a:ea typeface="宋体" panose="02010600030101010101" pitchFamily="2" charset="-122"/>
              </a:defRPr>
            </a:lvl2pPr>
            <a:lvl3pPr marL="1143000" indent="-228600" defTabSz="866775">
              <a:defRPr sz="2000" b="1">
                <a:solidFill>
                  <a:schemeClr val="tx1"/>
                </a:solidFill>
                <a:latin typeface="Times New Roman" panose="02020603050405020304" pitchFamily="18" charset="0"/>
                <a:ea typeface="宋体" panose="02010600030101010101" pitchFamily="2" charset="-122"/>
              </a:defRPr>
            </a:lvl3pPr>
            <a:lvl4pPr marL="1600200" indent="-228600" defTabSz="866775">
              <a:defRPr sz="2000" b="1">
                <a:solidFill>
                  <a:schemeClr val="tx1"/>
                </a:solidFill>
                <a:latin typeface="Times New Roman" panose="02020603050405020304" pitchFamily="18" charset="0"/>
                <a:ea typeface="宋体" panose="02010600030101010101" pitchFamily="2" charset="-122"/>
              </a:defRPr>
            </a:lvl4pPr>
            <a:lvl5pPr marL="2057400" indent="-228600" defTabSz="866775">
              <a:defRPr sz="2000" b="1">
                <a:solidFill>
                  <a:schemeClr val="tx1"/>
                </a:solidFill>
                <a:latin typeface="Times New Roman" panose="02020603050405020304" pitchFamily="18" charset="0"/>
                <a:ea typeface="宋体" panose="02010600030101010101" pitchFamily="2" charset="-122"/>
              </a:defRPr>
            </a:lvl5pPr>
            <a:lvl6pPr marL="2514600" indent="-228600" defTabSz="866775"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defTabSz="866775"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defTabSz="866775"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defTabSz="866775"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nSpc>
                <a:spcPct val="130000"/>
              </a:lnSpc>
            </a:pPr>
            <a:r>
              <a:rPr lang="en-US" altLang="zh-CN" sz="3200" dirty="0">
                <a:solidFill>
                  <a:srgbClr val="993300"/>
                </a:solidFill>
                <a:latin typeface="宋体" panose="02010600030101010101" pitchFamily="2" charset="-122"/>
              </a:rPr>
              <a:t>3.6</a:t>
            </a:r>
            <a:r>
              <a:rPr lang="zh-CN" altLang="en-US" sz="3200" dirty="0">
                <a:solidFill>
                  <a:srgbClr val="993300"/>
                </a:solidFill>
                <a:latin typeface="宋体" panose="02010600030101010101" pitchFamily="2" charset="-122"/>
              </a:rPr>
              <a:t>类的多态性</a:t>
            </a:r>
            <a:endParaRPr lang="zh-CN" altLang="en-US" sz="3200" dirty="0">
              <a:solidFill>
                <a:srgbClr val="993300"/>
              </a:solidFill>
              <a:latin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标题 1"/>
          <p:cNvSpPr>
            <a:spLocks noGrp="1"/>
          </p:cNvSpPr>
          <p:nvPr>
            <p:ph type="title" idx="4294967295"/>
          </p:nvPr>
        </p:nvSpPr>
        <p:spPr>
          <a:xfrm>
            <a:off x="187133" y="634216"/>
            <a:ext cx="8147318" cy="569033"/>
          </a:xfrm>
        </p:spPr>
        <p:txBody>
          <a:bodyPr>
            <a:normAutofit/>
          </a:bodyPr>
          <a:lstStyle/>
          <a:p>
            <a:r>
              <a:rPr lang="en-US" altLang="zh-CN" sz="2800" dirty="0">
                <a:latin typeface="宋体" panose="02010600030101010101" pitchFamily="2" charset="-122"/>
                <a:ea typeface="宋体" panose="02010600030101010101" pitchFamily="2" charset="-122"/>
              </a:rPr>
              <a:t>1</a:t>
            </a:r>
            <a:r>
              <a:rPr lang="zh-CN" altLang="en-US" sz="2800" dirty="0">
                <a:latin typeface="宋体" panose="02010600030101010101" pitchFamily="2" charset="-122"/>
                <a:ea typeface="宋体" panose="02010600030101010101" pitchFamily="2" charset="-122"/>
              </a:rPr>
              <a:t>、方法的重载</a:t>
            </a:r>
            <a:endParaRPr lang="zh-CN" altLang="en-US" sz="2800" dirty="0">
              <a:latin typeface="宋体" panose="02010600030101010101" pitchFamily="2" charset="-122"/>
              <a:ea typeface="宋体" panose="02010600030101010101" pitchFamily="2" charset="-122"/>
            </a:endParaRPr>
          </a:p>
        </p:txBody>
      </p:sp>
      <p:sp>
        <p:nvSpPr>
          <p:cNvPr id="83971" name="内容占位符 2"/>
          <p:cNvSpPr>
            <a:spLocks noGrp="1"/>
          </p:cNvSpPr>
          <p:nvPr>
            <p:ph idx="4294967295"/>
          </p:nvPr>
        </p:nvSpPr>
        <p:spPr>
          <a:xfrm>
            <a:off x="644894" y="1414980"/>
            <a:ext cx="11059426" cy="3272524"/>
          </a:xfrm>
        </p:spPr>
        <p:txBody>
          <a:bodyPr>
            <a:normAutofit/>
          </a:bodyPr>
          <a:lstStyle/>
          <a:p>
            <a:pPr marL="0" indent="353060">
              <a:buNone/>
            </a:pPr>
            <a:r>
              <a:rPr lang="zh-CN" altLang="en-US" sz="2800" b="1" dirty="0">
                <a:latin typeface="宋体" panose="02010600030101010101" pitchFamily="2" charset="-122"/>
                <a:ea typeface="宋体" panose="02010600030101010101" pitchFamily="2" charset="-122"/>
              </a:rPr>
              <a:t>  所谓重载</a:t>
            </a:r>
            <a:r>
              <a:rPr lang="en-US" altLang="zh-CN" sz="2800" b="1" dirty="0">
                <a:latin typeface="宋体" panose="02010600030101010101" pitchFamily="2" charset="-122"/>
                <a:ea typeface="宋体" panose="02010600030101010101" pitchFamily="2" charset="-122"/>
              </a:rPr>
              <a:t>(Overloading)</a:t>
            </a:r>
            <a:r>
              <a:rPr lang="zh-CN" altLang="en-US" sz="2800" b="1" dirty="0">
                <a:latin typeface="宋体" panose="02010600030101010101" pitchFamily="2" charset="-122"/>
                <a:ea typeface="宋体" panose="02010600030101010101" pitchFamily="2" charset="-122"/>
              </a:rPr>
              <a:t>就是指在一个类中定义了多个相同名字的方法，这些方法具有不同的参数表，实现不同的功能。</a:t>
            </a:r>
            <a:endParaRPr lang="en-US" altLang="zh-CN" sz="2800" b="1" dirty="0">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1</a:t>
            </a:r>
            <a:r>
              <a:rPr lang="zh-CN" altLang="en-US" sz="2800" b="1" dirty="0">
                <a:latin typeface="宋体" panose="02010600030101010101" pitchFamily="2" charset="-122"/>
                <a:ea typeface="宋体" panose="02010600030101010101" pitchFamily="2" charset="-122"/>
              </a:rPr>
              <a:t>）方法的返回值类型对方法的重载没有影响，即返回值类型不能用于区分方法，因为方法可以没有返回值。</a:t>
            </a:r>
            <a:endParaRPr lang="zh-CN" altLang="en-US" sz="2800" b="1" dirty="0">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2</a:t>
            </a:r>
            <a:r>
              <a:rPr lang="zh-CN" altLang="en-US" sz="2800" b="1" dirty="0">
                <a:latin typeface="宋体" panose="02010600030101010101" pitchFamily="2" charset="-122"/>
                <a:ea typeface="宋体" panose="02010600030101010101" pitchFamily="2" charset="-122"/>
              </a:rPr>
              <a:t>）重载方法之间是以所带参数的个数及相应参数的数据类型来区分的。</a:t>
            </a:r>
            <a:endParaRPr lang="zh-CN" altLang="en-US" sz="2800" b="1" dirty="0">
              <a:latin typeface="宋体" panose="02010600030101010101" pitchFamily="2" charset="-122"/>
              <a:ea typeface="宋体" panose="02010600030101010101" pitchFamily="2" charset="-122"/>
            </a:endParaRPr>
          </a:p>
          <a:p>
            <a:pPr marL="0" indent="353060">
              <a:buNone/>
            </a:pPr>
            <a:endParaRPr lang="zh-CN" altLang="en-US" sz="2800" b="1" dirty="0">
              <a:latin typeface="宋体" panose="02010600030101010101" pitchFamily="2" charset="-122"/>
              <a:ea typeface="宋体" panose="02010600030101010101" pitchFamily="2" charset="-122"/>
            </a:endParaRPr>
          </a:p>
        </p:txBody>
      </p:sp>
      <p:sp>
        <p:nvSpPr>
          <p:cNvPr id="83972"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601A5063-F8BA-454C-939E-664E5833947C}"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p:nvPr/>
        </p:nvSpPr>
        <p:spPr bwMode="auto">
          <a:xfrm>
            <a:off x="75460" y="0"/>
            <a:ext cx="8147317" cy="718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defTabSz="866775">
              <a:defRPr sz="2000" b="1">
                <a:solidFill>
                  <a:schemeClr val="tx1"/>
                </a:solidFill>
                <a:latin typeface="Times New Roman" panose="02020603050405020304" pitchFamily="18" charset="0"/>
                <a:ea typeface="宋体" panose="02010600030101010101" pitchFamily="2" charset="-122"/>
              </a:defRPr>
            </a:lvl1pPr>
            <a:lvl2pPr marL="742950" indent="-285750" defTabSz="866775">
              <a:defRPr sz="2000" b="1">
                <a:solidFill>
                  <a:schemeClr val="tx1"/>
                </a:solidFill>
                <a:latin typeface="Times New Roman" panose="02020603050405020304" pitchFamily="18" charset="0"/>
                <a:ea typeface="宋体" panose="02010600030101010101" pitchFamily="2" charset="-122"/>
              </a:defRPr>
            </a:lvl2pPr>
            <a:lvl3pPr marL="1143000" indent="-228600" defTabSz="866775">
              <a:defRPr sz="2000" b="1">
                <a:solidFill>
                  <a:schemeClr val="tx1"/>
                </a:solidFill>
                <a:latin typeface="Times New Roman" panose="02020603050405020304" pitchFamily="18" charset="0"/>
                <a:ea typeface="宋体" panose="02010600030101010101" pitchFamily="2" charset="-122"/>
              </a:defRPr>
            </a:lvl3pPr>
            <a:lvl4pPr marL="1600200" indent="-228600" defTabSz="866775">
              <a:defRPr sz="2000" b="1">
                <a:solidFill>
                  <a:schemeClr val="tx1"/>
                </a:solidFill>
                <a:latin typeface="Times New Roman" panose="02020603050405020304" pitchFamily="18" charset="0"/>
                <a:ea typeface="宋体" panose="02010600030101010101" pitchFamily="2" charset="-122"/>
              </a:defRPr>
            </a:lvl4pPr>
            <a:lvl5pPr marL="2057400" indent="-228600" defTabSz="866775">
              <a:defRPr sz="2000" b="1">
                <a:solidFill>
                  <a:schemeClr val="tx1"/>
                </a:solidFill>
                <a:latin typeface="Times New Roman" panose="02020603050405020304" pitchFamily="18" charset="0"/>
                <a:ea typeface="宋体" panose="02010600030101010101" pitchFamily="2" charset="-122"/>
              </a:defRPr>
            </a:lvl5pPr>
            <a:lvl6pPr marL="2514600" indent="-228600" defTabSz="866775"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defTabSz="866775"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defTabSz="866775"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defTabSz="866775"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nSpc>
                <a:spcPct val="130000"/>
              </a:lnSpc>
            </a:pPr>
            <a:r>
              <a:rPr lang="en-US" altLang="zh-CN" sz="3200" dirty="0">
                <a:solidFill>
                  <a:srgbClr val="993300"/>
                </a:solidFill>
                <a:latin typeface="宋体" panose="02010600030101010101" pitchFamily="2" charset="-122"/>
              </a:rPr>
              <a:t>3.6</a:t>
            </a:r>
            <a:r>
              <a:rPr lang="zh-CN" altLang="en-US" sz="3200" dirty="0">
                <a:solidFill>
                  <a:srgbClr val="993300"/>
                </a:solidFill>
                <a:latin typeface="宋体" panose="02010600030101010101" pitchFamily="2" charset="-122"/>
              </a:rPr>
              <a:t>类的多态性</a:t>
            </a:r>
            <a:endParaRPr lang="zh-CN" altLang="en-US" sz="3200" dirty="0">
              <a:solidFill>
                <a:srgbClr val="993300"/>
              </a:solidFill>
              <a:latin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xfrm>
            <a:off x="303998" y="224721"/>
            <a:ext cx="9601200" cy="1142385"/>
          </a:xfrm>
        </p:spPr>
        <p:txBody>
          <a:bodyPr/>
          <a:lstStyle/>
          <a:p>
            <a:r>
              <a:rPr lang="zh-CN" altLang="en-US" dirty="0"/>
              <a:t>练习：</a:t>
            </a:r>
            <a:endParaRPr lang="zh-CN" altLang="en-US" dirty="0"/>
          </a:p>
        </p:txBody>
      </p:sp>
      <p:sp>
        <p:nvSpPr>
          <p:cNvPr id="84995" name="Rectangle 3"/>
          <p:cNvSpPr>
            <a:spLocks noGrp="1" noChangeArrowheads="1"/>
          </p:cNvSpPr>
          <p:nvPr>
            <p:ph idx="1"/>
          </p:nvPr>
        </p:nvSpPr>
        <p:spPr>
          <a:xfrm>
            <a:off x="717884" y="1524000"/>
            <a:ext cx="10543673" cy="3809999"/>
          </a:xfrm>
        </p:spPr>
        <p:txBody>
          <a:bodyPr>
            <a:normAutofit/>
          </a:bodyPr>
          <a:lstStyle/>
          <a:p>
            <a:pPr>
              <a:buFont typeface="Monotype Sorts" pitchFamily="2" charset="2"/>
              <a:buNone/>
            </a:pPr>
            <a:r>
              <a:rPr lang="zh-CN" altLang="en-US" sz="2800" dirty="0">
                <a:latin typeface="宋体" panose="02010600030101010101" pitchFamily="2" charset="-122"/>
                <a:ea typeface="宋体" panose="02010600030101010101" pitchFamily="2" charset="-122"/>
              </a:rPr>
              <a:t> </a:t>
            </a:r>
            <a:r>
              <a:rPr lang="en-US" altLang="zh-CN" sz="2800" dirty="0">
                <a:latin typeface="宋体" panose="02010600030101010101" pitchFamily="2" charset="-122"/>
                <a:ea typeface="宋体" panose="02010600030101010101" pitchFamily="2" charset="-122"/>
              </a:rPr>
              <a:t>1.</a:t>
            </a:r>
            <a:r>
              <a:rPr lang="zh-CN" altLang="en-US" sz="2800" dirty="0">
                <a:latin typeface="宋体" panose="02010600030101010101" pitchFamily="2" charset="-122"/>
                <a:ea typeface="宋体" panose="02010600030101010101" pitchFamily="2" charset="-122"/>
              </a:rPr>
              <a:t>编写一个</a:t>
            </a:r>
            <a:r>
              <a:rPr lang="en-US" altLang="zh-CN" sz="2800" dirty="0">
                <a:latin typeface="宋体" panose="02010600030101010101" pitchFamily="2" charset="-122"/>
                <a:ea typeface="宋体" panose="02010600030101010101" pitchFamily="2" charset="-122"/>
              </a:rPr>
              <a:t>Java</a:t>
            </a:r>
            <a:r>
              <a:rPr lang="zh-CN" altLang="en-US" sz="2800" dirty="0">
                <a:latin typeface="宋体" panose="02010600030101010101" pitchFamily="2" charset="-122"/>
                <a:ea typeface="宋体" panose="02010600030101010101" pitchFamily="2" charset="-122"/>
              </a:rPr>
              <a:t>程序，在程序中定义一个</a:t>
            </a:r>
            <a:r>
              <a:rPr lang="en-US" altLang="zh-CN" sz="2800" dirty="0" err="1">
                <a:latin typeface="宋体" panose="02010600030101010101" pitchFamily="2" charset="-122"/>
                <a:ea typeface="宋体" panose="02010600030101010101" pitchFamily="2" charset="-122"/>
              </a:rPr>
              <a:t>MyPlus</a:t>
            </a:r>
            <a:r>
              <a:rPr lang="zh-CN" altLang="en-US" sz="2800" dirty="0">
                <a:latin typeface="宋体" panose="02010600030101010101" pitchFamily="2" charset="-122"/>
                <a:ea typeface="宋体" panose="02010600030101010101" pitchFamily="2" charset="-122"/>
              </a:rPr>
              <a:t>类，</a:t>
            </a:r>
            <a:r>
              <a:rPr lang="en-US" altLang="zh-CN" sz="2800" dirty="0" err="1">
                <a:latin typeface="宋体" panose="02010600030101010101" pitchFamily="2" charset="-122"/>
                <a:ea typeface="宋体" panose="02010600030101010101" pitchFamily="2" charset="-122"/>
              </a:rPr>
              <a:t>MyPlus</a:t>
            </a:r>
            <a:r>
              <a:rPr lang="zh-CN" altLang="en-US" sz="2800" dirty="0">
                <a:latin typeface="宋体" panose="02010600030101010101" pitchFamily="2" charset="-122"/>
                <a:ea typeface="宋体" panose="02010600030101010101" pitchFamily="2" charset="-122"/>
              </a:rPr>
              <a:t>类有三个</a:t>
            </a:r>
            <a:r>
              <a:rPr lang="en-US" altLang="zh-CN" sz="2800" dirty="0">
                <a:latin typeface="宋体" panose="02010600030101010101" pitchFamily="2" charset="-122"/>
                <a:ea typeface="宋体" panose="02010600030101010101" pitchFamily="2" charset="-122"/>
              </a:rPr>
              <a:t>plus( )</a:t>
            </a:r>
            <a:r>
              <a:rPr lang="zh-CN" altLang="en-US" sz="2800" dirty="0">
                <a:latin typeface="宋体" panose="02010600030101010101" pitchFamily="2" charset="-122"/>
                <a:ea typeface="宋体" panose="02010600030101010101" pitchFamily="2" charset="-122"/>
              </a:rPr>
              <a:t>方法，分别对不同的参数进行求和。</a:t>
            </a:r>
            <a:endParaRPr lang="zh-CN" altLang="en-US" sz="2800" dirty="0">
              <a:latin typeface="宋体" panose="02010600030101010101" pitchFamily="2" charset="-122"/>
              <a:ea typeface="宋体" panose="02010600030101010101" pitchFamily="2" charset="-122"/>
            </a:endParaRPr>
          </a:p>
          <a:p>
            <a:pPr>
              <a:buFont typeface="Monotype Sorts" pitchFamily="2" charset="2"/>
              <a:buNone/>
            </a:pPr>
            <a:r>
              <a:rPr lang="en-US" altLang="zh-CN" sz="2800" dirty="0">
                <a:latin typeface="宋体" panose="02010600030101010101" pitchFamily="2" charset="-122"/>
                <a:ea typeface="宋体" panose="02010600030101010101" pitchFamily="2" charset="-122"/>
              </a:rPr>
              <a:t> 2. </a:t>
            </a:r>
            <a:r>
              <a:rPr lang="zh-CN" altLang="en-US" sz="2800" dirty="0">
                <a:latin typeface="宋体" panose="02010600030101010101" pitchFamily="2" charset="-122"/>
                <a:ea typeface="宋体" panose="02010600030101010101" pitchFamily="2" charset="-122"/>
              </a:rPr>
              <a:t>定义一个自己的数学类</a:t>
            </a:r>
            <a:r>
              <a:rPr lang="en-US" altLang="zh-CN" sz="2800" dirty="0" err="1">
                <a:latin typeface="宋体" panose="02010600030101010101" pitchFamily="2" charset="-122"/>
                <a:ea typeface="宋体" panose="02010600030101010101" pitchFamily="2" charset="-122"/>
              </a:rPr>
              <a:t>MyMath</a:t>
            </a:r>
            <a:r>
              <a:rPr lang="zh-CN" altLang="en-US" sz="2800" dirty="0">
                <a:latin typeface="宋体" panose="02010600030101010101" pitchFamily="2" charset="-122"/>
                <a:ea typeface="宋体" panose="02010600030101010101" pitchFamily="2" charset="-122"/>
              </a:rPr>
              <a:t>。类中提供方法</a:t>
            </a:r>
            <a:r>
              <a:rPr lang="en-US" altLang="zh-CN" sz="2800" dirty="0">
                <a:latin typeface="宋体" panose="02010600030101010101" pitchFamily="2" charset="-122"/>
                <a:ea typeface="宋体" panose="02010600030101010101" pitchFamily="2" charset="-122"/>
              </a:rPr>
              <a:t>max</a:t>
            </a:r>
            <a:r>
              <a:rPr lang="zh-CN" altLang="en-US" sz="2800" dirty="0">
                <a:latin typeface="宋体" panose="02010600030101010101" pitchFamily="2" charset="-122"/>
                <a:ea typeface="宋体" panose="02010600030101010101" pitchFamily="2" charset="-122"/>
              </a:rPr>
              <a:t>，该方法接收</a:t>
            </a:r>
            <a:r>
              <a:rPr lang="en-US" altLang="zh-CN" sz="2800" dirty="0">
                <a:latin typeface="宋体" panose="02010600030101010101" pitchFamily="2" charset="-122"/>
                <a:ea typeface="宋体" panose="02010600030101010101" pitchFamily="2" charset="-122"/>
              </a:rPr>
              <a:t>3</a:t>
            </a:r>
            <a:r>
              <a:rPr lang="zh-CN" altLang="en-US" sz="2800" dirty="0">
                <a:latin typeface="宋体" panose="02010600030101010101" pitchFamily="2" charset="-122"/>
                <a:ea typeface="宋体" panose="02010600030101010101" pitchFamily="2" charset="-122"/>
              </a:rPr>
              <a:t>个同类型的参数</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例如整形</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，返回其中的最大值，定义</a:t>
            </a:r>
            <a:r>
              <a:rPr lang="en-US" altLang="zh-CN" sz="2800" dirty="0">
                <a:latin typeface="宋体" panose="02010600030101010101" pitchFamily="2" charset="-122"/>
                <a:ea typeface="宋体" panose="02010600030101010101" pitchFamily="2" charset="-122"/>
              </a:rPr>
              <a:t>max</a:t>
            </a:r>
            <a:r>
              <a:rPr lang="zh-CN" altLang="en-US" sz="2800" dirty="0">
                <a:latin typeface="宋体" panose="02010600030101010101" pitchFamily="2" charset="-122"/>
                <a:ea typeface="宋体" panose="02010600030101010101" pitchFamily="2" charset="-122"/>
              </a:rPr>
              <a:t>函数求数组参数的最大值。</a:t>
            </a:r>
            <a:endParaRPr lang="zh-CN" altLang="en-US" sz="28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1"/>
          <p:cNvSpPr>
            <a:spLocks noGrp="1"/>
          </p:cNvSpPr>
          <p:nvPr>
            <p:ph type="title" idx="4294967295"/>
          </p:nvPr>
        </p:nvSpPr>
        <p:spPr>
          <a:xfrm>
            <a:off x="360387" y="683895"/>
            <a:ext cx="8147318" cy="715592"/>
          </a:xfrm>
        </p:spPr>
        <p:txBody>
          <a:bodyPr>
            <a:normAutofit/>
          </a:bodyPr>
          <a:lstStyle/>
          <a:p>
            <a:r>
              <a:rPr lang="en-US" altLang="zh-CN" sz="2800" dirty="0">
                <a:latin typeface="宋体" panose="02010600030101010101" pitchFamily="2" charset="-122"/>
                <a:ea typeface="宋体" panose="02010600030101010101" pitchFamily="2" charset="-122"/>
              </a:rPr>
              <a:t>2</a:t>
            </a:r>
            <a:r>
              <a:rPr lang="zh-CN" altLang="en-US" sz="2800" dirty="0">
                <a:latin typeface="宋体" panose="02010600030101010101" pitchFamily="2" charset="-122"/>
                <a:ea typeface="宋体" panose="02010600030101010101" pitchFamily="2" charset="-122"/>
              </a:rPr>
              <a:t>、方法的覆盖</a:t>
            </a:r>
            <a:endParaRPr lang="zh-CN" altLang="en-US" sz="2800" dirty="0">
              <a:latin typeface="宋体" panose="02010600030101010101" pitchFamily="2" charset="-122"/>
              <a:ea typeface="宋体" panose="02010600030101010101" pitchFamily="2" charset="-122"/>
            </a:endParaRPr>
          </a:p>
        </p:txBody>
      </p:sp>
      <p:sp>
        <p:nvSpPr>
          <p:cNvPr id="86019" name="内容占位符 2"/>
          <p:cNvSpPr>
            <a:spLocks noGrp="1"/>
          </p:cNvSpPr>
          <p:nvPr>
            <p:ph idx="4294967295"/>
          </p:nvPr>
        </p:nvSpPr>
        <p:spPr>
          <a:xfrm>
            <a:off x="750771" y="1399487"/>
            <a:ext cx="10433785" cy="1738349"/>
          </a:xfrm>
        </p:spPr>
        <p:txBody>
          <a:bodyPr>
            <a:normAutofit/>
          </a:bodyPr>
          <a:lstStyle/>
          <a:p>
            <a:pPr marL="0" indent="353060">
              <a:buNone/>
            </a:pPr>
            <a:r>
              <a:rPr lang="zh-CN" altLang="en-US" sz="2800" b="1" dirty="0">
                <a:latin typeface="宋体" panose="02010600030101010101" pitchFamily="2" charset="-122"/>
                <a:ea typeface="宋体" panose="02010600030101010101" pitchFamily="2" charset="-122"/>
              </a:rPr>
              <a:t>  方法的覆盖（</a:t>
            </a:r>
            <a:r>
              <a:rPr lang="en-US" altLang="zh-CN" sz="2800" b="1" dirty="0">
                <a:latin typeface="宋体" panose="02010600030101010101" pitchFamily="2" charset="-122"/>
                <a:ea typeface="宋体" panose="02010600030101010101" pitchFamily="2" charset="-122"/>
              </a:rPr>
              <a:t>Overriding</a:t>
            </a:r>
            <a:r>
              <a:rPr lang="zh-CN" altLang="en-US" sz="2800" b="1" dirty="0">
                <a:latin typeface="宋体" panose="02010600030101010101" pitchFamily="2" charset="-122"/>
                <a:ea typeface="宋体" panose="02010600030101010101" pitchFamily="2" charset="-122"/>
              </a:rPr>
              <a:t>）实质是指在子类中重新定义与父类中一模一样的成员方法。这种重新定义的方法与父类的方法具有相同的格式，即相同名称、相同参数类型、相同参数个数和次序、相同返回值。</a:t>
            </a:r>
            <a:endParaRPr lang="en-US" altLang="zh-CN" sz="2800" b="1" dirty="0">
              <a:latin typeface="宋体" panose="02010600030101010101" pitchFamily="2" charset="-122"/>
              <a:ea typeface="宋体" panose="02010600030101010101" pitchFamily="2" charset="-122"/>
            </a:endParaRPr>
          </a:p>
        </p:txBody>
      </p:sp>
      <p:sp>
        <p:nvSpPr>
          <p:cNvPr id="86020"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4B37AA19-37BC-46D3-B5C0-0EE004BC232A}"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p:nvPr/>
        </p:nvSpPr>
        <p:spPr bwMode="auto">
          <a:xfrm>
            <a:off x="104336" y="0"/>
            <a:ext cx="8147317" cy="914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defTabSz="866775">
              <a:defRPr sz="2000" b="1">
                <a:solidFill>
                  <a:schemeClr val="tx1"/>
                </a:solidFill>
                <a:latin typeface="Times New Roman" panose="02020603050405020304" pitchFamily="18" charset="0"/>
                <a:ea typeface="宋体" panose="02010600030101010101" pitchFamily="2" charset="-122"/>
              </a:defRPr>
            </a:lvl1pPr>
            <a:lvl2pPr marL="742950" indent="-285750" defTabSz="866775">
              <a:defRPr sz="2000" b="1">
                <a:solidFill>
                  <a:schemeClr val="tx1"/>
                </a:solidFill>
                <a:latin typeface="Times New Roman" panose="02020603050405020304" pitchFamily="18" charset="0"/>
                <a:ea typeface="宋体" panose="02010600030101010101" pitchFamily="2" charset="-122"/>
              </a:defRPr>
            </a:lvl2pPr>
            <a:lvl3pPr marL="1143000" indent="-228600" defTabSz="866775">
              <a:defRPr sz="2000" b="1">
                <a:solidFill>
                  <a:schemeClr val="tx1"/>
                </a:solidFill>
                <a:latin typeface="Times New Roman" panose="02020603050405020304" pitchFamily="18" charset="0"/>
                <a:ea typeface="宋体" panose="02010600030101010101" pitchFamily="2" charset="-122"/>
              </a:defRPr>
            </a:lvl3pPr>
            <a:lvl4pPr marL="1600200" indent="-228600" defTabSz="866775">
              <a:defRPr sz="2000" b="1">
                <a:solidFill>
                  <a:schemeClr val="tx1"/>
                </a:solidFill>
                <a:latin typeface="Times New Roman" panose="02020603050405020304" pitchFamily="18" charset="0"/>
                <a:ea typeface="宋体" panose="02010600030101010101" pitchFamily="2" charset="-122"/>
              </a:defRPr>
            </a:lvl4pPr>
            <a:lvl5pPr marL="2057400" indent="-228600" defTabSz="866775">
              <a:defRPr sz="2000" b="1">
                <a:solidFill>
                  <a:schemeClr val="tx1"/>
                </a:solidFill>
                <a:latin typeface="Times New Roman" panose="02020603050405020304" pitchFamily="18" charset="0"/>
                <a:ea typeface="宋体" panose="02010600030101010101" pitchFamily="2" charset="-122"/>
              </a:defRPr>
            </a:lvl5pPr>
            <a:lvl6pPr marL="2514600" indent="-228600" defTabSz="866775"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defTabSz="866775"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defTabSz="866775"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defTabSz="866775"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nSpc>
                <a:spcPct val="130000"/>
              </a:lnSpc>
            </a:pPr>
            <a:r>
              <a:rPr lang="en-US" altLang="zh-CN" sz="3200" dirty="0">
                <a:solidFill>
                  <a:srgbClr val="993300"/>
                </a:solidFill>
                <a:latin typeface="宋体" panose="02010600030101010101" pitchFamily="2" charset="-122"/>
              </a:rPr>
              <a:t>3.6</a:t>
            </a:r>
            <a:r>
              <a:rPr lang="zh-CN" altLang="en-US" sz="3200" dirty="0">
                <a:solidFill>
                  <a:srgbClr val="993300"/>
                </a:solidFill>
                <a:latin typeface="宋体" panose="02010600030101010101" pitchFamily="2" charset="-122"/>
              </a:rPr>
              <a:t>类的多态性</a:t>
            </a:r>
            <a:endParaRPr lang="zh-CN" altLang="en-US" sz="3200" dirty="0">
              <a:solidFill>
                <a:srgbClr val="993300"/>
              </a:solidFill>
              <a:latin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87043" name="内容占位符 2"/>
          <p:cNvSpPr>
            <a:spLocks noGrp="1"/>
          </p:cNvSpPr>
          <p:nvPr>
            <p:ph idx="4294967295"/>
          </p:nvPr>
        </p:nvSpPr>
        <p:spPr>
          <a:xfrm>
            <a:off x="887948" y="1362545"/>
            <a:ext cx="8978747" cy="4547366"/>
          </a:xfrm>
        </p:spPr>
        <p:txBody>
          <a:bodyPr>
            <a:normAutofit/>
          </a:bodyPr>
          <a:lstStyle/>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例</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3.19】</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覆盖的用法</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class Person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void print(){</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System.out.println</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("this is a person!");</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class Woman extends Person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void print(){</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System.out.println</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("this is a woman!");</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87044" name="灯片编号占位符 3"/>
          <p:cNvSpPr txBox="1">
            <a:spLocks noGrp="1" noChangeArrowheads="1"/>
          </p:cNvSpPr>
          <p:nvPr/>
        </p:nvSpPr>
        <p:spPr bwMode="auto">
          <a:xfrm>
            <a:off x="9531886" y="6240023"/>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061628D5-5256-4D5F-A50D-736B35C672C0}"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p:nvPr/>
        </p:nvSpPr>
        <p:spPr bwMode="auto">
          <a:xfrm>
            <a:off x="104336" y="-152342"/>
            <a:ext cx="8147317" cy="914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defTabSz="866775">
              <a:defRPr sz="2000" b="1">
                <a:solidFill>
                  <a:schemeClr val="tx1"/>
                </a:solidFill>
                <a:latin typeface="Times New Roman" panose="02020603050405020304" pitchFamily="18" charset="0"/>
                <a:ea typeface="宋体" panose="02010600030101010101" pitchFamily="2" charset="-122"/>
              </a:defRPr>
            </a:lvl1pPr>
            <a:lvl2pPr marL="742950" indent="-285750" defTabSz="866775">
              <a:defRPr sz="2000" b="1">
                <a:solidFill>
                  <a:schemeClr val="tx1"/>
                </a:solidFill>
                <a:latin typeface="Times New Roman" panose="02020603050405020304" pitchFamily="18" charset="0"/>
                <a:ea typeface="宋体" panose="02010600030101010101" pitchFamily="2" charset="-122"/>
              </a:defRPr>
            </a:lvl2pPr>
            <a:lvl3pPr marL="1143000" indent="-228600" defTabSz="866775">
              <a:defRPr sz="2000" b="1">
                <a:solidFill>
                  <a:schemeClr val="tx1"/>
                </a:solidFill>
                <a:latin typeface="Times New Roman" panose="02020603050405020304" pitchFamily="18" charset="0"/>
                <a:ea typeface="宋体" panose="02010600030101010101" pitchFamily="2" charset="-122"/>
              </a:defRPr>
            </a:lvl3pPr>
            <a:lvl4pPr marL="1600200" indent="-228600" defTabSz="866775">
              <a:defRPr sz="2000" b="1">
                <a:solidFill>
                  <a:schemeClr val="tx1"/>
                </a:solidFill>
                <a:latin typeface="Times New Roman" panose="02020603050405020304" pitchFamily="18" charset="0"/>
                <a:ea typeface="宋体" panose="02010600030101010101" pitchFamily="2" charset="-122"/>
              </a:defRPr>
            </a:lvl4pPr>
            <a:lvl5pPr marL="2057400" indent="-228600" defTabSz="866775">
              <a:defRPr sz="2000" b="1">
                <a:solidFill>
                  <a:schemeClr val="tx1"/>
                </a:solidFill>
                <a:latin typeface="Times New Roman" panose="02020603050405020304" pitchFamily="18" charset="0"/>
                <a:ea typeface="宋体" panose="02010600030101010101" pitchFamily="2" charset="-122"/>
              </a:defRPr>
            </a:lvl5pPr>
            <a:lvl6pPr marL="2514600" indent="-228600" defTabSz="866775"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defTabSz="866775"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defTabSz="866775"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defTabSz="866775"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nSpc>
                <a:spcPct val="130000"/>
              </a:lnSpc>
            </a:pPr>
            <a:r>
              <a:rPr lang="en-US" altLang="zh-CN" sz="3200" dirty="0">
                <a:solidFill>
                  <a:srgbClr val="993300"/>
                </a:solidFill>
                <a:latin typeface="宋体" panose="02010600030101010101" pitchFamily="2" charset="-122"/>
              </a:rPr>
              <a:t>3.6</a:t>
            </a:r>
            <a:r>
              <a:rPr lang="zh-CN" altLang="en-US" sz="3200" dirty="0">
                <a:solidFill>
                  <a:srgbClr val="993300"/>
                </a:solidFill>
                <a:latin typeface="宋体" panose="02010600030101010101" pitchFamily="2" charset="-122"/>
              </a:rPr>
              <a:t>类的多态性</a:t>
            </a:r>
            <a:endParaRPr lang="zh-CN" altLang="en-US" sz="3200" dirty="0">
              <a:solidFill>
                <a:srgbClr val="993300"/>
              </a:solidFill>
              <a:latin typeface="宋体" panose="02010600030101010101" pitchFamily="2" charset="-122"/>
            </a:endParaRPr>
          </a:p>
        </p:txBody>
      </p:sp>
      <p:sp>
        <p:nvSpPr>
          <p:cNvPr id="6" name="标题 1"/>
          <p:cNvSpPr txBox="1"/>
          <p:nvPr/>
        </p:nvSpPr>
        <p:spPr>
          <a:xfrm>
            <a:off x="360387" y="683895"/>
            <a:ext cx="8147318" cy="715592"/>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a:latin typeface="宋体" panose="02010600030101010101" pitchFamily="2" charset="-122"/>
                <a:ea typeface="宋体" panose="02010600030101010101" pitchFamily="2" charset="-122"/>
              </a:rPr>
              <a:t>2</a:t>
            </a:r>
            <a:r>
              <a:rPr lang="zh-CN" altLang="en-US" sz="2800">
                <a:latin typeface="宋体" panose="02010600030101010101" pitchFamily="2" charset="-122"/>
                <a:ea typeface="宋体" panose="02010600030101010101" pitchFamily="2" charset="-122"/>
              </a:rPr>
              <a:t>、方法的覆盖</a:t>
            </a:r>
            <a:endParaRPr lang="zh-CN" altLang="en-US" sz="28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内容占位符 2"/>
          <p:cNvSpPr>
            <a:spLocks noGrp="1"/>
          </p:cNvSpPr>
          <p:nvPr>
            <p:ph idx="4294967295"/>
          </p:nvPr>
        </p:nvSpPr>
        <p:spPr>
          <a:xfrm>
            <a:off x="573348" y="1361617"/>
            <a:ext cx="11045303" cy="5334573"/>
          </a:xfrm>
        </p:spPr>
        <p:txBody>
          <a:bodyPr>
            <a:normAutofit/>
          </a:bodyPr>
          <a:lstStyle/>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例</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3.19】</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覆盖的用法</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public  class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TestWoman</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public static void main(String[]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args</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Person p=new Woman();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Person p1=new Person();  p1.print();</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Woman w=new Woman();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w.print</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p.print</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endParaRPr lang="en-US" altLang="zh-CN"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zh-CN" altLang="en-US" sz="2800" b="1" dirty="0">
                <a:latin typeface="宋体" panose="02010600030101010101" pitchFamily="2" charset="-122"/>
                <a:ea typeface="宋体" panose="02010600030101010101" pitchFamily="2" charset="-122"/>
                <a:cs typeface="Times New Roman" panose="02020603050405020304" pitchFamily="18" charset="0"/>
              </a:rPr>
              <a:t>需要注意的是子类覆盖父类的方法，子类的访问控制的访问权限不能低于父类的同名方法访问权限。否则，会产生编译错误。</a:t>
            </a:r>
            <a:endParaRPr lang="zh-CN" altLang="en-US" sz="2800"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88068" name="灯片编号占位符 3"/>
          <p:cNvSpPr txBox="1">
            <a:spLocks noGrp="1" noChangeArrowheads="1"/>
          </p:cNvSpPr>
          <p:nvPr/>
        </p:nvSpPr>
        <p:spPr bwMode="auto">
          <a:xfrm>
            <a:off x="9531886" y="6240023"/>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434BD10E-AFAD-4D6D-85B7-BB9A6597F818}"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p:nvPr/>
        </p:nvSpPr>
        <p:spPr bwMode="auto">
          <a:xfrm>
            <a:off x="267965" y="-152342"/>
            <a:ext cx="8147317" cy="914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defTabSz="866775">
              <a:defRPr sz="2000" b="1">
                <a:solidFill>
                  <a:schemeClr val="tx1"/>
                </a:solidFill>
                <a:latin typeface="Times New Roman" panose="02020603050405020304" pitchFamily="18" charset="0"/>
                <a:ea typeface="宋体" panose="02010600030101010101" pitchFamily="2" charset="-122"/>
              </a:defRPr>
            </a:lvl1pPr>
            <a:lvl2pPr marL="742950" indent="-285750" defTabSz="866775">
              <a:defRPr sz="2000" b="1">
                <a:solidFill>
                  <a:schemeClr val="tx1"/>
                </a:solidFill>
                <a:latin typeface="Times New Roman" panose="02020603050405020304" pitchFamily="18" charset="0"/>
                <a:ea typeface="宋体" panose="02010600030101010101" pitchFamily="2" charset="-122"/>
              </a:defRPr>
            </a:lvl2pPr>
            <a:lvl3pPr marL="1143000" indent="-228600" defTabSz="866775">
              <a:defRPr sz="2000" b="1">
                <a:solidFill>
                  <a:schemeClr val="tx1"/>
                </a:solidFill>
                <a:latin typeface="Times New Roman" panose="02020603050405020304" pitchFamily="18" charset="0"/>
                <a:ea typeface="宋体" panose="02010600030101010101" pitchFamily="2" charset="-122"/>
              </a:defRPr>
            </a:lvl3pPr>
            <a:lvl4pPr marL="1600200" indent="-228600" defTabSz="866775">
              <a:defRPr sz="2000" b="1">
                <a:solidFill>
                  <a:schemeClr val="tx1"/>
                </a:solidFill>
                <a:latin typeface="Times New Roman" panose="02020603050405020304" pitchFamily="18" charset="0"/>
                <a:ea typeface="宋体" panose="02010600030101010101" pitchFamily="2" charset="-122"/>
              </a:defRPr>
            </a:lvl4pPr>
            <a:lvl5pPr marL="2057400" indent="-228600" defTabSz="866775">
              <a:defRPr sz="2000" b="1">
                <a:solidFill>
                  <a:schemeClr val="tx1"/>
                </a:solidFill>
                <a:latin typeface="Times New Roman" panose="02020603050405020304" pitchFamily="18" charset="0"/>
                <a:ea typeface="宋体" panose="02010600030101010101" pitchFamily="2" charset="-122"/>
              </a:defRPr>
            </a:lvl5pPr>
            <a:lvl6pPr marL="2514600" indent="-228600" defTabSz="866775"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defTabSz="866775"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defTabSz="866775"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defTabSz="866775"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nSpc>
                <a:spcPct val="130000"/>
              </a:lnSpc>
            </a:pPr>
            <a:r>
              <a:rPr lang="en-US" altLang="zh-CN" sz="3200" dirty="0">
                <a:solidFill>
                  <a:srgbClr val="993300"/>
                </a:solidFill>
                <a:latin typeface="宋体" panose="02010600030101010101" pitchFamily="2" charset="-122"/>
              </a:rPr>
              <a:t>3.6</a:t>
            </a:r>
            <a:r>
              <a:rPr lang="zh-CN" altLang="en-US" sz="3200" dirty="0">
                <a:solidFill>
                  <a:srgbClr val="993300"/>
                </a:solidFill>
                <a:latin typeface="宋体" panose="02010600030101010101" pitchFamily="2" charset="-122"/>
              </a:rPr>
              <a:t>类的多态性</a:t>
            </a:r>
            <a:endParaRPr lang="zh-CN" altLang="en-US" sz="3200" dirty="0">
              <a:solidFill>
                <a:srgbClr val="993300"/>
              </a:solidFill>
              <a:latin typeface="宋体" panose="02010600030101010101" pitchFamily="2" charset="-122"/>
            </a:endParaRPr>
          </a:p>
        </p:txBody>
      </p:sp>
      <p:sp>
        <p:nvSpPr>
          <p:cNvPr id="6" name="标题 1"/>
          <p:cNvSpPr txBox="1"/>
          <p:nvPr/>
        </p:nvSpPr>
        <p:spPr>
          <a:xfrm>
            <a:off x="360387" y="683895"/>
            <a:ext cx="8147318" cy="715592"/>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2800">
                <a:latin typeface="宋体" panose="02010600030101010101" pitchFamily="2" charset="-122"/>
                <a:ea typeface="宋体" panose="02010600030101010101" pitchFamily="2" charset="-122"/>
              </a:rPr>
              <a:t>2</a:t>
            </a:r>
            <a:r>
              <a:rPr lang="zh-CN" altLang="en-US" sz="2800">
                <a:latin typeface="宋体" panose="02010600030101010101" pitchFamily="2" charset="-122"/>
                <a:ea typeface="宋体" panose="02010600030101010101" pitchFamily="2" charset="-122"/>
              </a:rPr>
              <a:t>、方法的覆盖</a:t>
            </a:r>
            <a:endParaRPr lang="zh-CN" altLang="en-US" sz="28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xfrm>
            <a:off x="303998" y="224721"/>
            <a:ext cx="9601200" cy="1142385"/>
          </a:xfrm>
        </p:spPr>
        <p:txBody>
          <a:bodyPr/>
          <a:lstStyle/>
          <a:p>
            <a:r>
              <a:rPr lang="zh-CN" altLang="en-US" dirty="0"/>
              <a:t>练习：</a:t>
            </a:r>
            <a:endParaRPr lang="zh-CN" altLang="en-US" dirty="0"/>
          </a:p>
        </p:txBody>
      </p:sp>
      <p:sp>
        <p:nvSpPr>
          <p:cNvPr id="84995" name="Rectangle 3"/>
          <p:cNvSpPr>
            <a:spLocks noGrp="1" noChangeArrowheads="1"/>
          </p:cNvSpPr>
          <p:nvPr>
            <p:ph idx="1"/>
          </p:nvPr>
        </p:nvSpPr>
        <p:spPr>
          <a:xfrm>
            <a:off x="717884" y="1524000"/>
            <a:ext cx="10543673" cy="3809999"/>
          </a:xfrm>
        </p:spPr>
        <p:txBody>
          <a:bodyPr>
            <a:normAutofit/>
          </a:bodyPr>
          <a:lstStyle/>
          <a:p>
            <a:pPr>
              <a:buFont typeface="Monotype Sorts" pitchFamily="2" charset="2"/>
              <a:buNone/>
            </a:pPr>
            <a:r>
              <a:rPr lang="zh-CN" altLang="en-US" sz="2800" dirty="0">
                <a:latin typeface="宋体" panose="02010600030101010101" pitchFamily="2" charset="-122"/>
                <a:ea typeface="宋体" panose="02010600030101010101" pitchFamily="2" charset="-122"/>
              </a:rPr>
              <a:t> </a:t>
            </a:r>
            <a:r>
              <a:rPr lang="en-US" altLang="zh-CN" sz="2800" dirty="0">
                <a:latin typeface="宋体" panose="02010600030101010101" pitchFamily="2" charset="-122"/>
                <a:ea typeface="宋体" panose="02010600030101010101" pitchFamily="2" charset="-122"/>
              </a:rPr>
              <a:t>1</a:t>
            </a:r>
            <a:r>
              <a:rPr lang="zh-CN" altLang="en-US" sz="2800" dirty="0">
                <a:latin typeface="宋体" panose="02010600030101010101" pitchFamily="2" charset="-122"/>
                <a:ea typeface="宋体" panose="02010600030101010101" pitchFamily="2" charset="-122"/>
              </a:rPr>
              <a:t>、</a:t>
            </a:r>
            <a:endParaRPr lang="zh-CN" altLang="en-US" sz="28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02645" y="1595874"/>
            <a:ext cx="10270155" cy="4401205"/>
          </a:xfrm>
          <a:prstGeom prst="rect">
            <a:avLst/>
          </a:prstGeom>
        </p:spPr>
        <p:txBody>
          <a:bodyPr wrap="square">
            <a:spAutoFit/>
          </a:bodyPr>
          <a:lstStyle/>
          <a:p>
            <a:pPr marL="495935" indent="-495935">
              <a:buFont typeface="Wingdings" panose="05000000000000000000" pitchFamily="2" charset="2"/>
              <a:buChar char="u"/>
              <a:defRPr/>
            </a:pPr>
            <a:r>
              <a:rPr lang="zh-CN" altLang="en-US" sz="2800" dirty="0">
                <a:latin typeface="宋体" panose="02010600030101010101" pitchFamily="2" charset="-122"/>
                <a:ea typeface="宋体" panose="02010600030101010101" pitchFamily="2" charset="-122"/>
              </a:rPr>
              <a:t>使用接口编程的最重要的核心思想就是使用</a:t>
            </a:r>
            <a:r>
              <a:rPr lang="zh-CN" altLang="en-US" sz="2800" dirty="0">
                <a:solidFill>
                  <a:srgbClr val="FF0000"/>
                </a:solidFill>
                <a:latin typeface="宋体" panose="02010600030101010101" pitchFamily="2" charset="-122"/>
                <a:ea typeface="宋体" panose="02010600030101010101" pitchFamily="2" charset="-122"/>
              </a:rPr>
              <a:t>接口回调</a:t>
            </a:r>
            <a:r>
              <a:rPr lang="zh-CN" altLang="en-US" sz="2800" dirty="0">
                <a:latin typeface="宋体" panose="02010600030101010101" pitchFamily="2" charset="-122"/>
                <a:ea typeface="宋体" panose="02010600030101010101" pitchFamily="2" charset="-122"/>
              </a:rPr>
              <a:t>。</a:t>
            </a:r>
            <a:endParaRPr lang="en-US" altLang="zh-CN" sz="2800" dirty="0">
              <a:latin typeface="宋体" panose="02010600030101010101" pitchFamily="2" charset="-122"/>
              <a:ea typeface="宋体" panose="02010600030101010101" pitchFamily="2" charset="-122"/>
            </a:endParaRPr>
          </a:p>
          <a:p>
            <a:pPr marL="495935" indent="-495935">
              <a:buFont typeface="Wingdings" panose="05000000000000000000" pitchFamily="2" charset="2"/>
              <a:buChar char="u"/>
              <a:defRPr/>
            </a:pPr>
            <a:r>
              <a:rPr lang="zh-CN" altLang="en-US" sz="2800" dirty="0">
                <a:latin typeface="宋体" panose="02010600030101010101" pitchFamily="2" charset="-122"/>
                <a:ea typeface="宋体" panose="02010600030101010101" pitchFamily="2" charset="-122"/>
              </a:rPr>
              <a:t>接口回调：可以把实现某一接口的类创建的对象的引用赋值给该接口声明的接口变量，那么该接口变量就可以调用被类实现的接口方法。</a:t>
            </a:r>
            <a:endParaRPr lang="zh-CN" altLang="en-US" sz="2800" dirty="0">
              <a:latin typeface="宋体" panose="02010600030101010101" pitchFamily="2" charset="-122"/>
              <a:ea typeface="宋体" panose="02010600030101010101" pitchFamily="2" charset="-122"/>
            </a:endParaRPr>
          </a:p>
          <a:p>
            <a:pPr>
              <a:defRPr/>
            </a:pPr>
            <a:r>
              <a:rPr lang="en-US" altLang="zh-CN" sz="2800" dirty="0">
                <a:latin typeface="宋体" panose="02010600030101010101" pitchFamily="2" charset="-122"/>
                <a:ea typeface="宋体" panose="02010600030101010101" pitchFamily="2" charset="-122"/>
              </a:rPr>
              <a:t>      Com </a:t>
            </a:r>
            <a:r>
              <a:rPr lang="en-US" altLang="zh-CN" sz="2800" dirty="0" err="1">
                <a:latin typeface="宋体" panose="02010600030101010101" pitchFamily="2" charset="-122"/>
                <a:ea typeface="宋体" panose="02010600030101010101" pitchFamily="2" charset="-122"/>
              </a:rPr>
              <a:t>com</a:t>
            </a:r>
            <a:r>
              <a:rPr lang="en-US" altLang="zh-CN" sz="2800" dirty="0">
                <a:latin typeface="宋体" panose="02010600030101010101" pitchFamily="2" charset="-122"/>
                <a:ea typeface="宋体" panose="02010600030101010101" pitchFamily="2" charset="-122"/>
              </a:rPr>
              <a:t>;           //</a:t>
            </a:r>
            <a:r>
              <a:rPr lang="zh-CN" altLang="en-US" sz="2800" dirty="0">
                <a:latin typeface="宋体" panose="02010600030101010101" pitchFamily="2" charset="-122"/>
                <a:ea typeface="宋体" panose="02010600030101010101" pitchFamily="2" charset="-122"/>
              </a:rPr>
              <a:t>接口</a:t>
            </a:r>
            <a:endParaRPr lang="zh-CN" altLang="en-US" sz="2800" dirty="0">
              <a:latin typeface="宋体" panose="02010600030101010101" pitchFamily="2" charset="-122"/>
              <a:ea typeface="宋体" panose="02010600030101010101" pitchFamily="2" charset="-122"/>
            </a:endParaRPr>
          </a:p>
          <a:p>
            <a:pPr>
              <a:defRPr/>
            </a:pPr>
            <a:r>
              <a:rPr lang="en-US" altLang="zh-CN" sz="2800" dirty="0">
                <a:latin typeface="宋体" panose="02010600030101010101" pitchFamily="2" charset="-122"/>
                <a:ea typeface="宋体" panose="02010600030101010101" pitchFamily="2" charset="-122"/>
              </a:rPr>
              <a:t>      </a:t>
            </a:r>
            <a:r>
              <a:rPr lang="en-US" altLang="zh-CN" sz="2800" dirty="0" err="1">
                <a:latin typeface="宋体" panose="02010600030101010101" pitchFamily="2" charset="-122"/>
                <a:ea typeface="宋体" panose="02010600030101010101" pitchFamily="2" charset="-122"/>
              </a:rPr>
              <a:t>ImplCom</a:t>
            </a:r>
            <a:r>
              <a:rPr lang="en-US" altLang="zh-CN" sz="2800" dirty="0">
                <a:latin typeface="宋体" panose="02010600030101010101" pitchFamily="2" charset="-122"/>
                <a:ea typeface="宋体" panose="02010600030101010101" pitchFamily="2" charset="-122"/>
              </a:rPr>
              <a:t> object;    //</a:t>
            </a:r>
            <a:r>
              <a:rPr lang="zh-CN" altLang="en-US" sz="2800" dirty="0">
                <a:latin typeface="宋体" panose="02010600030101010101" pitchFamily="2" charset="-122"/>
                <a:ea typeface="宋体" panose="02010600030101010101" pitchFamily="2" charset="-122"/>
              </a:rPr>
              <a:t>实现接口的对象</a:t>
            </a:r>
            <a:endParaRPr lang="zh-CN" altLang="en-US" sz="2800" dirty="0">
              <a:latin typeface="宋体" panose="02010600030101010101" pitchFamily="2" charset="-122"/>
              <a:ea typeface="宋体" panose="02010600030101010101" pitchFamily="2" charset="-122"/>
            </a:endParaRPr>
          </a:p>
          <a:p>
            <a:pPr>
              <a:defRPr/>
            </a:pPr>
            <a:r>
              <a:rPr lang="en-US" altLang="zh-CN" sz="2800" dirty="0">
                <a:latin typeface="宋体" panose="02010600030101010101" pitchFamily="2" charset="-122"/>
                <a:ea typeface="宋体" panose="02010600030101010101" pitchFamily="2" charset="-122"/>
              </a:rPr>
              <a:t>      com = object;        //</a:t>
            </a:r>
            <a:r>
              <a:rPr lang="zh-CN" altLang="en-US" sz="2800" dirty="0">
                <a:latin typeface="宋体" panose="02010600030101010101" pitchFamily="2" charset="-122"/>
                <a:ea typeface="宋体" panose="02010600030101010101" pitchFamily="2" charset="-122"/>
              </a:rPr>
              <a:t>接口回调，</a:t>
            </a:r>
            <a:r>
              <a:rPr lang="en-US" altLang="zh-CN" sz="2800" dirty="0">
                <a:latin typeface="宋体" panose="02010600030101010101" pitchFamily="2" charset="-122"/>
                <a:ea typeface="宋体" panose="02010600030101010101" pitchFamily="2" charset="-122"/>
              </a:rPr>
              <a:t>com</a:t>
            </a:r>
            <a:r>
              <a:rPr lang="zh-CN" altLang="en-US" sz="2800" dirty="0">
                <a:latin typeface="宋体" panose="02010600030101010101" pitchFamily="2" charset="-122"/>
                <a:ea typeface="宋体" panose="02010600030101010101" pitchFamily="2" charset="-122"/>
              </a:rPr>
              <a:t>会根据对象的不同而实现不同的接口方法，回调类重写的接口方法</a:t>
            </a:r>
            <a:endParaRPr lang="zh-CN" altLang="en-US" sz="2800" dirty="0">
              <a:latin typeface="宋体" panose="02010600030101010101" pitchFamily="2" charset="-122"/>
              <a:ea typeface="宋体" panose="02010600030101010101" pitchFamily="2" charset="-122"/>
            </a:endParaRPr>
          </a:p>
          <a:p>
            <a:pPr marL="457200" indent="-457200">
              <a:buFont typeface="Wingdings" panose="05000000000000000000" pitchFamily="2" charset="2"/>
              <a:buChar char="u"/>
              <a:defRPr/>
            </a:pPr>
            <a:r>
              <a:rPr lang="zh-CN" altLang="en-US" sz="2800" dirty="0">
                <a:solidFill>
                  <a:srgbClr val="FF0000"/>
                </a:solidFill>
                <a:latin typeface="宋体" panose="02010600030101010101" pitchFamily="2" charset="-122"/>
                <a:ea typeface="宋体" panose="02010600030101010101" pitchFamily="2" charset="-122"/>
              </a:rPr>
              <a:t>函数形参为父类类型，实参可以为父类对象，也可以为子类对象，实现多态。</a:t>
            </a:r>
            <a:endParaRPr lang="zh-CN" altLang="en-US" sz="2800" dirty="0">
              <a:solidFill>
                <a:srgbClr val="FF0000"/>
              </a:solidFill>
              <a:latin typeface="宋体" panose="02010600030101010101" pitchFamily="2" charset="-122"/>
              <a:ea typeface="宋体" panose="02010600030101010101" pitchFamily="2" charset="-122"/>
            </a:endParaRPr>
          </a:p>
        </p:txBody>
      </p:sp>
      <p:sp>
        <p:nvSpPr>
          <p:cNvPr id="89091" name="文本框 2"/>
          <p:cNvSpPr txBox="1">
            <a:spLocks noChangeArrowheads="1"/>
          </p:cNvSpPr>
          <p:nvPr/>
        </p:nvSpPr>
        <p:spPr bwMode="auto">
          <a:xfrm>
            <a:off x="341651" y="732296"/>
            <a:ext cx="366999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r>
              <a:rPr lang="zh-CN" altLang="en-US" sz="3200" dirty="0">
                <a:solidFill>
                  <a:srgbClr val="FF0000"/>
                </a:solidFill>
              </a:rPr>
              <a:t>接口回调</a:t>
            </a:r>
            <a:endParaRPr lang="zh-CN" altLang="en-US" sz="3200"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91139" name="内容占位符 2"/>
          <p:cNvSpPr>
            <a:spLocks noGrp="1"/>
          </p:cNvSpPr>
          <p:nvPr>
            <p:ph idx="4294967295"/>
          </p:nvPr>
        </p:nvSpPr>
        <p:spPr>
          <a:xfrm>
            <a:off x="880152" y="1025201"/>
            <a:ext cx="9135394" cy="5528114"/>
          </a:xfrm>
        </p:spPr>
        <p:txBody>
          <a:bodyPr>
            <a:normAutofit/>
          </a:bodyPr>
          <a:lstStyle/>
          <a:p>
            <a:pPr marL="0" indent="0">
              <a:lnSpc>
                <a:spcPct val="110000"/>
              </a:lnSpc>
              <a:spcBef>
                <a:spcPts val="0"/>
              </a:spcBef>
              <a:buNone/>
            </a:pPr>
            <a:r>
              <a:rPr lang="zh-CN" altLang="en-US" sz="2170" b="1" dirty="0">
                <a:latin typeface="宋体" panose="02010600030101010101" pitchFamily="2" charset="-122"/>
                <a:ea typeface="宋体" panose="02010600030101010101" pitchFamily="2" charset="-122"/>
                <a:cs typeface="Times New Roman" panose="02020603050405020304" pitchFamily="18" charset="0"/>
              </a:rPr>
              <a:t>【例</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3.19</a:t>
            </a:r>
            <a:r>
              <a:rPr lang="zh-CN" altLang="en-US" sz="2170" b="1" dirty="0">
                <a:latin typeface="宋体" panose="02010600030101010101" pitchFamily="2" charset="-122"/>
                <a:ea typeface="宋体" panose="02010600030101010101" pitchFamily="2" charset="-122"/>
                <a:cs typeface="Times New Roman" panose="02020603050405020304" pitchFamily="18" charset="0"/>
              </a:rPr>
              <a:t>】 接口作为数据类型。</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interface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CanRun</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  void run(); }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interface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CanSwim</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  void swim(); }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interface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CanEat</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  void eat(); }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class Person implements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CanEat</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CanRun</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CanSwim</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public void swim() {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System.out.println</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("I can swim");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public void run() {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System.out.println</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("I can run");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public void eat() {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System.out.println</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("I can eat");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1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91140"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C22EEE73-AFC9-440F-91A6-23E3DC42770A}"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文本框 2"/>
          <p:cNvSpPr txBox="1">
            <a:spLocks noChangeArrowheads="1"/>
          </p:cNvSpPr>
          <p:nvPr/>
        </p:nvSpPr>
        <p:spPr bwMode="auto">
          <a:xfrm>
            <a:off x="91394" y="304685"/>
            <a:ext cx="366999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r>
              <a:rPr lang="zh-CN" altLang="en-US" sz="3200" dirty="0">
                <a:solidFill>
                  <a:srgbClr val="FF0000"/>
                </a:solidFill>
              </a:rPr>
              <a:t>接口回调</a:t>
            </a:r>
            <a:endParaRPr lang="zh-CN" altLang="en-US" sz="3200"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90115" name="内容占位符 2"/>
          <p:cNvSpPr>
            <a:spLocks noGrp="1"/>
          </p:cNvSpPr>
          <p:nvPr>
            <p:ph idx="4294967295"/>
          </p:nvPr>
        </p:nvSpPr>
        <p:spPr>
          <a:xfrm>
            <a:off x="691710" y="674171"/>
            <a:ext cx="10078959" cy="6323396"/>
          </a:xfrm>
        </p:spPr>
        <p:txBody>
          <a:bodyPr>
            <a:normAutofit lnSpcReduction="10000"/>
          </a:bodyPr>
          <a:lstStyle/>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public class Test {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public static void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testSwim</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CanSwim</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canSwim</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canSwim.swim</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public static void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testEat</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CanEat</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canEat</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canEat.eat</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public static void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testRun</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CanRun</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canRun</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canRun.run</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public static void main(String[]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args</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Person </a:t>
            </a:r>
            <a:r>
              <a:rPr lang="en-US" altLang="zh-CN" sz="2170" b="1" dirty="0" err="1">
                <a:latin typeface="宋体" panose="02010600030101010101" pitchFamily="2" charset="-122"/>
                <a:ea typeface="宋体" panose="02010600030101010101" pitchFamily="2" charset="-122"/>
                <a:cs typeface="Times New Roman" panose="02020603050405020304" pitchFamily="18" charset="0"/>
              </a:rPr>
              <a:t>person</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 new Person();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solidFill>
                  <a:srgbClr val="FF0000"/>
                </a:solidFill>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solidFill>
                  <a:srgbClr val="FF0000"/>
                </a:solidFill>
                <a:latin typeface="宋体" panose="02010600030101010101" pitchFamily="2" charset="-122"/>
                <a:ea typeface="宋体" panose="02010600030101010101" pitchFamily="2" charset="-122"/>
                <a:cs typeface="Times New Roman" panose="02020603050405020304" pitchFamily="18" charset="0"/>
              </a:rPr>
              <a:t>testSwim</a:t>
            </a:r>
            <a:r>
              <a:rPr lang="en-US" altLang="zh-CN" sz="2170" b="1" dirty="0">
                <a:solidFill>
                  <a:srgbClr val="FF0000"/>
                </a:solidFill>
                <a:latin typeface="宋体" panose="02010600030101010101" pitchFamily="2" charset="-122"/>
                <a:ea typeface="宋体" panose="02010600030101010101" pitchFamily="2" charset="-122"/>
                <a:cs typeface="Times New Roman" panose="02020603050405020304" pitchFamily="18" charset="0"/>
              </a:rPr>
              <a:t>(person);</a:t>
            </a:r>
            <a:endParaRPr lang="zh-CN" altLang="en-US" sz="2170" b="1" dirty="0">
              <a:solidFill>
                <a:srgbClr val="FF0000"/>
              </a:solidFill>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solidFill>
                  <a:srgbClr val="FF0000"/>
                </a:solidFill>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solidFill>
                  <a:srgbClr val="FF0000"/>
                </a:solidFill>
                <a:latin typeface="宋体" panose="02010600030101010101" pitchFamily="2" charset="-122"/>
                <a:ea typeface="宋体" panose="02010600030101010101" pitchFamily="2" charset="-122"/>
                <a:cs typeface="Times New Roman" panose="02020603050405020304" pitchFamily="18" charset="0"/>
              </a:rPr>
              <a:t>testEat</a:t>
            </a:r>
            <a:r>
              <a:rPr lang="en-US" altLang="zh-CN" sz="2170" b="1" dirty="0">
                <a:solidFill>
                  <a:srgbClr val="FF0000"/>
                </a:solidFill>
                <a:latin typeface="宋体" panose="02010600030101010101" pitchFamily="2" charset="-122"/>
                <a:ea typeface="宋体" panose="02010600030101010101" pitchFamily="2" charset="-122"/>
                <a:cs typeface="Times New Roman" panose="02020603050405020304" pitchFamily="18" charset="0"/>
              </a:rPr>
              <a:t>(person);</a:t>
            </a:r>
            <a:endParaRPr lang="zh-CN" altLang="en-US" sz="2170" b="1" dirty="0">
              <a:solidFill>
                <a:srgbClr val="FF0000"/>
              </a:solidFill>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solidFill>
                  <a:srgbClr val="FF0000"/>
                </a:solidFill>
                <a:latin typeface="宋体" panose="02010600030101010101" pitchFamily="2" charset="-122"/>
                <a:ea typeface="宋体" panose="02010600030101010101" pitchFamily="2" charset="-122"/>
                <a:cs typeface="Times New Roman" panose="02020603050405020304" pitchFamily="18" charset="0"/>
              </a:rPr>
              <a:t>        </a:t>
            </a:r>
            <a:r>
              <a:rPr lang="en-US" altLang="zh-CN" sz="2170" b="1" dirty="0" err="1">
                <a:solidFill>
                  <a:srgbClr val="FF0000"/>
                </a:solidFill>
                <a:latin typeface="宋体" panose="02010600030101010101" pitchFamily="2" charset="-122"/>
                <a:ea typeface="宋体" panose="02010600030101010101" pitchFamily="2" charset="-122"/>
                <a:cs typeface="Times New Roman" panose="02020603050405020304" pitchFamily="18" charset="0"/>
              </a:rPr>
              <a:t>testRun</a:t>
            </a:r>
            <a:r>
              <a:rPr lang="en-US" altLang="zh-CN" sz="2170" b="1" dirty="0">
                <a:solidFill>
                  <a:srgbClr val="FF0000"/>
                </a:solidFill>
                <a:latin typeface="宋体" panose="02010600030101010101" pitchFamily="2" charset="-122"/>
                <a:ea typeface="宋体" panose="02010600030101010101" pitchFamily="2" charset="-122"/>
                <a:cs typeface="Times New Roman" panose="02020603050405020304" pitchFamily="18" charset="0"/>
              </a:rPr>
              <a:t>(person); </a:t>
            </a: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170" b="1" dirty="0">
                <a:latin typeface="宋体" panose="02010600030101010101" pitchFamily="2" charset="-122"/>
                <a:ea typeface="宋体" panose="02010600030101010101" pitchFamily="2" charset="-122"/>
                <a:cs typeface="Times New Roman" panose="02020603050405020304" pitchFamily="18" charset="0"/>
              </a:rPr>
              <a:t>}  </a:t>
            </a:r>
            <a:endParaRPr lang="zh-CN" altLang="en-US" sz="2170"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90116"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AC1045C1-4548-4160-BA8F-4C2FD1FC5C6C}"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文本框 2"/>
          <p:cNvSpPr txBox="1">
            <a:spLocks noChangeArrowheads="1"/>
          </p:cNvSpPr>
          <p:nvPr/>
        </p:nvSpPr>
        <p:spPr bwMode="auto">
          <a:xfrm>
            <a:off x="168396" y="176938"/>
            <a:ext cx="366999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r>
              <a:rPr lang="zh-CN" altLang="en-US" sz="3200" dirty="0">
                <a:solidFill>
                  <a:srgbClr val="FF0000"/>
                </a:solidFill>
              </a:rPr>
              <a:t>接口回调</a:t>
            </a:r>
            <a:endParaRPr lang="zh-CN" altLang="en-US" sz="3200"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矩形 1"/>
          <p:cNvSpPr>
            <a:spLocks noChangeArrowheads="1"/>
          </p:cNvSpPr>
          <p:nvPr/>
        </p:nvSpPr>
        <p:spPr bwMode="auto">
          <a:xfrm>
            <a:off x="787388" y="441160"/>
            <a:ext cx="10791804" cy="4031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defRPr/>
            </a:pPr>
            <a:r>
              <a:rPr lang="zh-CN" altLang="en-US" sz="3200" dirty="0">
                <a:solidFill>
                  <a:srgbClr val="FF0000"/>
                </a:solidFill>
                <a:latin typeface="宋体" panose="02010600030101010101" pitchFamily="2" charset="-122"/>
              </a:rPr>
              <a:t>多态实例：</a:t>
            </a:r>
            <a:endParaRPr lang="en-US" altLang="zh-CN" sz="3200" dirty="0">
              <a:solidFill>
                <a:srgbClr val="FF0000"/>
              </a:solidFill>
              <a:latin typeface="宋体" panose="02010600030101010101" pitchFamily="2" charset="-122"/>
            </a:endParaRPr>
          </a:p>
          <a:p>
            <a:pPr marL="495935" indent="-495935">
              <a:buFont typeface="Wingdings" panose="05000000000000000000" pitchFamily="2" charset="2"/>
              <a:buChar char="u"/>
              <a:defRPr/>
            </a:pPr>
            <a:r>
              <a:rPr lang="zh-CN" altLang="en-US" sz="2800" b="0" dirty="0"/>
              <a:t>要开发一个应用，模拟移动存储设备的读写，即计算机与</a:t>
            </a:r>
            <a:r>
              <a:rPr lang="en-US" altLang="zh-CN" sz="2800" b="0" dirty="0"/>
              <a:t>U</a:t>
            </a:r>
            <a:r>
              <a:rPr lang="zh-CN" altLang="en-US" sz="2800" b="0" dirty="0"/>
              <a:t>盘、</a:t>
            </a:r>
            <a:r>
              <a:rPr lang="en-US" altLang="zh-CN" sz="2800" b="0" dirty="0"/>
              <a:t>MP3</a:t>
            </a:r>
            <a:r>
              <a:rPr lang="zh-CN" altLang="en-US" sz="2800" b="0" dirty="0"/>
              <a:t>、移动硬盘等设备进行数据读和写。</a:t>
            </a:r>
            <a:endParaRPr lang="zh-CN" altLang="en-US" sz="2800" b="0" dirty="0"/>
          </a:p>
          <a:p>
            <a:pPr marL="495935" indent="-495935">
              <a:buFont typeface="Wingdings" panose="05000000000000000000" pitchFamily="2" charset="2"/>
              <a:buChar char="u"/>
              <a:defRPr/>
            </a:pPr>
            <a:r>
              <a:rPr lang="zh-CN" altLang="en-US" sz="2800" b="0" dirty="0"/>
              <a:t>已知要实现</a:t>
            </a:r>
            <a:r>
              <a:rPr lang="en-US" altLang="zh-CN" sz="2800" b="0" dirty="0"/>
              <a:t>U</a:t>
            </a:r>
            <a:r>
              <a:rPr lang="zh-CN" altLang="en-US" sz="2800" b="0" dirty="0"/>
              <a:t>盘、</a:t>
            </a:r>
            <a:r>
              <a:rPr lang="en-US" altLang="zh-CN" sz="2800" b="0" dirty="0"/>
              <a:t>MP3</a:t>
            </a:r>
            <a:r>
              <a:rPr lang="zh-CN" altLang="en-US" sz="2800" b="0" dirty="0"/>
              <a:t>播放器、移动硬盘三种移动存储设备，要求计算机能同这三种设备进行数据交换，并且以后可能会有新的第三方的移动存储设备，所以计算机必须有扩展性，能与目前未知而以后可能会出现的存储设备进行数据交换。</a:t>
            </a:r>
            <a:endParaRPr lang="en-US" altLang="zh-CN" sz="2800" b="0" dirty="0"/>
          </a:p>
          <a:p>
            <a:pPr marL="495935" indent="-495935">
              <a:buFont typeface="Wingdings" panose="05000000000000000000" pitchFamily="2" charset="2"/>
              <a:buChar char="u"/>
              <a:defRPr/>
            </a:pPr>
            <a:r>
              <a:rPr lang="zh-CN" altLang="en-US" sz="2800" b="0" dirty="0"/>
              <a:t>各个存储设备间读、写的实现方法不同，</a:t>
            </a:r>
            <a:r>
              <a:rPr lang="en-US" altLang="zh-CN" sz="2800" b="0" dirty="0"/>
              <a:t>U</a:t>
            </a:r>
            <a:r>
              <a:rPr lang="zh-CN" altLang="en-US" sz="2800" b="0" dirty="0"/>
              <a:t>盘和移动硬盘只有这两个方法，</a:t>
            </a:r>
            <a:r>
              <a:rPr lang="en-US" altLang="zh-CN" sz="2800" b="0" dirty="0"/>
              <a:t>MP3Player</a:t>
            </a:r>
            <a:r>
              <a:rPr lang="zh-CN" altLang="en-US" sz="2800" b="0" dirty="0"/>
              <a:t>还有一个</a:t>
            </a:r>
            <a:r>
              <a:rPr lang="en-US" altLang="zh-CN" sz="2800" b="0" dirty="0" err="1"/>
              <a:t>PlayMusic</a:t>
            </a:r>
            <a:r>
              <a:rPr lang="zh-CN" altLang="en-US" sz="2800" b="0" dirty="0"/>
              <a:t>方法。</a:t>
            </a:r>
            <a:endParaRPr lang="en-US" altLang="zh-CN" sz="2800" b="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矩形 1"/>
          <p:cNvSpPr>
            <a:spLocks noChangeArrowheads="1"/>
          </p:cNvSpPr>
          <p:nvPr/>
        </p:nvSpPr>
        <p:spPr bwMode="auto">
          <a:xfrm>
            <a:off x="709684" y="1291481"/>
            <a:ext cx="10754003"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r>
              <a:rPr lang="zh-CN" altLang="en-US" sz="2800" dirty="0">
                <a:latin typeface="宋体" panose="02010600030101010101" pitchFamily="2" charset="-122"/>
              </a:rPr>
              <a:t>解决方案</a:t>
            </a:r>
            <a:endParaRPr lang="zh-CN" altLang="en-US" sz="2800" b="0" dirty="0">
              <a:latin typeface="宋体" panose="02010600030101010101" pitchFamily="2" charset="-122"/>
            </a:endParaRPr>
          </a:p>
          <a:p>
            <a:r>
              <a:rPr lang="zh-CN" altLang="en-US" sz="2800" dirty="0">
                <a:latin typeface="宋体" panose="02010600030101010101" pitchFamily="2" charset="-122"/>
              </a:rPr>
              <a:t>方案一：</a:t>
            </a:r>
            <a:endParaRPr lang="en-US" altLang="zh-CN" sz="2800" dirty="0">
              <a:latin typeface="宋体" panose="02010600030101010101" pitchFamily="2" charset="-122"/>
            </a:endParaRPr>
          </a:p>
          <a:p>
            <a:pPr marL="514350" indent="-514350">
              <a:buFont typeface="+mj-ea"/>
              <a:buAutoNum type="circleNumDbPlain"/>
            </a:pPr>
            <a:r>
              <a:rPr lang="zh-CN" altLang="en-US" sz="2800" b="0" dirty="0">
                <a:latin typeface="宋体" panose="02010600030101010101" pitchFamily="2" charset="-122"/>
              </a:rPr>
              <a:t>分别定义</a:t>
            </a:r>
            <a:r>
              <a:rPr lang="en-US" altLang="zh-CN" sz="2800" b="0" dirty="0" err="1">
                <a:latin typeface="宋体" panose="02010600030101010101" pitchFamily="2" charset="-122"/>
              </a:rPr>
              <a:t>FlashDisk</a:t>
            </a:r>
            <a:r>
              <a:rPr lang="zh-CN" altLang="en-US" sz="2800" b="0" dirty="0">
                <a:latin typeface="宋体" panose="02010600030101010101" pitchFamily="2" charset="-122"/>
              </a:rPr>
              <a:t>、</a:t>
            </a:r>
            <a:r>
              <a:rPr lang="en-US" altLang="zh-CN" sz="2800" b="0" dirty="0">
                <a:latin typeface="宋体" panose="02010600030101010101" pitchFamily="2" charset="-122"/>
              </a:rPr>
              <a:t>MP3Player</a:t>
            </a:r>
            <a:r>
              <a:rPr lang="zh-CN" altLang="en-US" sz="2800" b="0" dirty="0">
                <a:latin typeface="宋体" panose="02010600030101010101" pitchFamily="2" charset="-122"/>
              </a:rPr>
              <a:t>、</a:t>
            </a:r>
            <a:r>
              <a:rPr lang="en-US" altLang="zh-CN" sz="2800" b="0" dirty="0" err="1">
                <a:latin typeface="宋体" panose="02010600030101010101" pitchFamily="2" charset="-122"/>
              </a:rPr>
              <a:t>MobileHardDisk</a:t>
            </a:r>
            <a:r>
              <a:rPr lang="zh-CN" altLang="en-US" sz="2800" b="0" dirty="0">
                <a:latin typeface="宋体" panose="02010600030101010101" pitchFamily="2" charset="-122"/>
              </a:rPr>
              <a:t>三个类，实现各自的</a:t>
            </a:r>
            <a:r>
              <a:rPr lang="en-US" altLang="zh-CN" sz="2800" b="0" dirty="0">
                <a:latin typeface="宋体" panose="02010600030101010101" pitchFamily="2" charset="-122"/>
              </a:rPr>
              <a:t>Read</a:t>
            </a:r>
            <a:r>
              <a:rPr lang="zh-CN" altLang="en-US" sz="2800" b="0" dirty="0">
                <a:latin typeface="宋体" panose="02010600030101010101" pitchFamily="2" charset="-122"/>
              </a:rPr>
              <a:t>和</a:t>
            </a:r>
            <a:r>
              <a:rPr lang="en-US" altLang="zh-CN" sz="2800" b="0" dirty="0">
                <a:latin typeface="宋体" panose="02010600030101010101" pitchFamily="2" charset="-122"/>
              </a:rPr>
              <a:t>Write</a:t>
            </a:r>
            <a:r>
              <a:rPr lang="zh-CN" altLang="en-US" sz="2800" b="0" dirty="0">
                <a:latin typeface="宋体" panose="02010600030101010101" pitchFamily="2" charset="-122"/>
              </a:rPr>
              <a:t>方法。</a:t>
            </a:r>
            <a:endParaRPr lang="en-US" altLang="zh-CN" sz="2800" b="0" dirty="0">
              <a:latin typeface="宋体" panose="02010600030101010101" pitchFamily="2" charset="-122"/>
            </a:endParaRPr>
          </a:p>
          <a:p>
            <a:pPr marL="514350" indent="-514350">
              <a:buFont typeface="+mj-ea"/>
              <a:buAutoNum type="circleNumDbPlain"/>
            </a:pPr>
            <a:r>
              <a:rPr lang="zh-CN" altLang="en-US" sz="2800" b="0" dirty="0">
                <a:latin typeface="宋体" panose="02010600030101010101" pitchFamily="2" charset="-122"/>
              </a:rPr>
              <a:t>在</a:t>
            </a:r>
            <a:r>
              <a:rPr lang="en-US" altLang="zh-CN" sz="2800" b="0" dirty="0">
                <a:latin typeface="宋体" panose="02010600030101010101" pitchFamily="2" charset="-122"/>
              </a:rPr>
              <a:t>Computer</a:t>
            </a:r>
            <a:r>
              <a:rPr lang="zh-CN" altLang="en-US" sz="2800" b="0" dirty="0">
                <a:latin typeface="宋体" panose="02010600030101010101" pitchFamily="2" charset="-122"/>
              </a:rPr>
              <a:t>类中实例化上述三个类，为每个类分别写读、写方法。例如，为</a:t>
            </a:r>
            <a:r>
              <a:rPr lang="en-US" altLang="zh-CN" sz="2800" b="0" dirty="0" err="1">
                <a:latin typeface="宋体" panose="02010600030101010101" pitchFamily="2" charset="-122"/>
              </a:rPr>
              <a:t>FlashDisk</a:t>
            </a:r>
            <a:r>
              <a:rPr lang="zh-CN" altLang="en-US" sz="2800" b="0" dirty="0">
                <a:latin typeface="宋体" panose="02010600030101010101" pitchFamily="2" charset="-122"/>
              </a:rPr>
              <a:t>写</a:t>
            </a:r>
            <a:r>
              <a:rPr lang="en-US" altLang="zh-CN" sz="2800" b="0" dirty="0" err="1">
                <a:latin typeface="宋体" panose="02010600030101010101" pitchFamily="2" charset="-122"/>
              </a:rPr>
              <a:t>ReadFromFlashDisk</a:t>
            </a:r>
            <a:r>
              <a:rPr lang="zh-CN" altLang="en-US" sz="2800" b="0" dirty="0">
                <a:latin typeface="宋体" panose="02010600030101010101" pitchFamily="2" charset="-122"/>
              </a:rPr>
              <a:t>、</a:t>
            </a:r>
            <a:r>
              <a:rPr lang="en-US" altLang="zh-CN" sz="2800" b="0" dirty="0" err="1">
                <a:latin typeface="宋体" panose="02010600030101010101" pitchFamily="2" charset="-122"/>
              </a:rPr>
              <a:t>WriteToFlashDisk</a:t>
            </a:r>
            <a:r>
              <a:rPr lang="zh-CN" altLang="en-US" sz="2800" b="0" dirty="0">
                <a:latin typeface="宋体" panose="02010600030101010101" pitchFamily="2" charset="-122"/>
              </a:rPr>
              <a:t>两个方法。总共六个方法。</a:t>
            </a:r>
            <a:endParaRPr lang="zh-CN" altLang="en-US" sz="2800" b="0" dirty="0">
              <a:latin typeface="宋体" panose="02010600030101010101" pitchFamily="2" charset="-122"/>
            </a:endParaRPr>
          </a:p>
        </p:txBody>
      </p:sp>
      <p:sp>
        <p:nvSpPr>
          <p:cNvPr id="2" name="矩形 1"/>
          <p:cNvSpPr/>
          <p:nvPr/>
        </p:nvSpPr>
        <p:spPr>
          <a:xfrm>
            <a:off x="248194" y="556389"/>
            <a:ext cx="2236510" cy="584775"/>
          </a:xfrm>
          <a:prstGeom prst="rect">
            <a:avLst/>
          </a:prstGeom>
        </p:spPr>
        <p:txBody>
          <a:bodyPr wrap="none">
            <a:spAutoFit/>
          </a:bodyPr>
          <a:lstStyle/>
          <a:p>
            <a:pPr>
              <a:defRPr/>
            </a:pPr>
            <a:r>
              <a:rPr lang="zh-CN" altLang="en-US" sz="3200" dirty="0">
                <a:solidFill>
                  <a:srgbClr val="FF0000"/>
                </a:solidFill>
                <a:latin typeface="宋体" panose="02010600030101010101" pitchFamily="2" charset="-122"/>
                <a:ea typeface="宋体" panose="02010600030101010101" pitchFamily="2" charset="-122"/>
              </a:rPr>
              <a:t>多态实例：</a:t>
            </a:r>
            <a:endParaRPr lang="en-US" altLang="zh-CN" sz="3200" dirty="0">
              <a:solidFill>
                <a:srgbClr val="FF0000"/>
              </a:solidFill>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矩形 1"/>
          <p:cNvSpPr>
            <a:spLocks noChangeArrowheads="1"/>
          </p:cNvSpPr>
          <p:nvPr/>
        </p:nvSpPr>
        <p:spPr bwMode="auto">
          <a:xfrm>
            <a:off x="700300" y="1228397"/>
            <a:ext cx="10320625"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buFont typeface="Wingdings" panose="05000000000000000000" pitchFamily="2" charset="2"/>
              <a:buChar char="u"/>
            </a:pPr>
            <a:r>
              <a:rPr lang="zh-CN" altLang="en-US" sz="2800" b="0" dirty="0">
                <a:latin typeface="宋体" panose="02010600030101010101" pitchFamily="2" charset="-122"/>
              </a:rPr>
              <a:t>优点：思路简单</a:t>
            </a:r>
            <a:endParaRPr lang="en-US" altLang="zh-CN" sz="2800" b="0" dirty="0">
              <a:latin typeface="宋体" panose="02010600030101010101" pitchFamily="2" charset="-122"/>
            </a:endParaRPr>
          </a:p>
          <a:p>
            <a:pPr>
              <a:buFont typeface="Wingdings" panose="05000000000000000000" pitchFamily="2" charset="2"/>
              <a:buChar char="u"/>
            </a:pPr>
            <a:r>
              <a:rPr lang="zh-CN" altLang="en-US" sz="2800" b="0" dirty="0">
                <a:latin typeface="宋体" panose="02010600030101010101" pitchFamily="2" charset="-122"/>
              </a:rPr>
              <a:t>缺点一：可扩展性差。当将来有了第三方扩展移动存储设备时，必须对</a:t>
            </a:r>
            <a:r>
              <a:rPr lang="en-US" altLang="zh-CN" sz="2800" b="0" dirty="0">
                <a:latin typeface="宋体" panose="02010600030101010101" pitchFamily="2" charset="-122"/>
              </a:rPr>
              <a:t>Computer</a:t>
            </a:r>
            <a:r>
              <a:rPr lang="zh-CN" altLang="en-US" sz="2800" b="0" dirty="0">
                <a:latin typeface="宋体" panose="02010600030101010101" pitchFamily="2" charset="-122"/>
              </a:rPr>
              <a:t>进行修改。这就如在一个真实的计算机上，为每一种移动存储设备实现一个不同的插口、并分别有各自的驱动程序。当有了一种新的移动存储设备后，就要将计算机大卸八块，然后增加一个新的插口，在编写一套针对此新设备的驱动程序。这种设计显然不可取。</a:t>
            </a:r>
            <a:endParaRPr lang="zh-CN" altLang="en-US" sz="2800" b="0" dirty="0">
              <a:latin typeface="宋体" panose="02010600030101010101" pitchFamily="2" charset="-122"/>
            </a:endParaRPr>
          </a:p>
          <a:p>
            <a:pPr>
              <a:buFont typeface="Wingdings" panose="05000000000000000000" pitchFamily="2" charset="2"/>
              <a:buChar char="u"/>
            </a:pPr>
            <a:r>
              <a:rPr lang="zh-CN" altLang="en-US" sz="2800" b="0" dirty="0">
                <a:latin typeface="宋体" panose="02010600030101010101" pitchFamily="2" charset="-122"/>
              </a:rPr>
              <a:t>缺点二：冗余代码多。如果有</a:t>
            </a:r>
            <a:r>
              <a:rPr lang="en-US" altLang="zh-CN" sz="2800" b="0" dirty="0">
                <a:latin typeface="宋体" panose="02010600030101010101" pitchFamily="2" charset="-122"/>
              </a:rPr>
              <a:t>100</a:t>
            </a:r>
            <a:r>
              <a:rPr lang="zh-CN" altLang="en-US" sz="2800" b="0" dirty="0">
                <a:latin typeface="宋体" panose="02010600030101010101" pitchFamily="2" charset="-122"/>
              </a:rPr>
              <a:t>种移动存储，那</a:t>
            </a:r>
            <a:r>
              <a:rPr lang="en-US" altLang="zh-CN" sz="2800" b="0" dirty="0">
                <a:latin typeface="宋体" panose="02010600030101010101" pitchFamily="2" charset="-122"/>
              </a:rPr>
              <a:t>Computer</a:t>
            </a:r>
            <a:r>
              <a:rPr lang="zh-CN" altLang="en-US" sz="2800" b="0" dirty="0">
                <a:latin typeface="宋体" panose="02010600030101010101" pitchFamily="2" charset="-122"/>
              </a:rPr>
              <a:t>中要至少写</a:t>
            </a:r>
            <a:r>
              <a:rPr lang="en-US" altLang="zh-CN" sz="2800" b="0" dirty="0">
                <a:latin typeface="宋体" panose="02010600030101010101" pitchFamily="2" charset="-122"/>
              </a:rPr>
              <a:t>200</a:t>
            </a:r>
            <a:r>
              <a:rPr lang="zh-CN" altLang="en-US" sz="2800" b="0" dirty="0">
                <a:latin typeface="宋体" panose="02010600030101010101" pitchFamily="2" charset="-122"/>
              </a:rPr>
              <a:t>个方法。</a:t>
            </a:r>
            <a:endParaRPr lang="zh-CN" altLang="en-US" sz="2800" b="0" dirty="0">
              <a:latin typeface="宋体" panose="02010600030101010101" pitchFamily="2" charset="-122"/>
            </a:endParaRPr>
          </a:p>
        </p:txBody>
      </p:sp>
      <p:sp>
        <p:nvSpPr>
          <p:cNvPr id="3" name="矩形 2"/>
          <p:cNvSpPr/>
          <p:nvPr/>
        </p:nvSpPr>
        <p:spPr>
          <a:xfrm>
            <a:off x="219318" y="393220"/>
            <a:ext cx="2236510" cy="584775"/>
          </a:xfrm>
          <a:prstGeom prst="rect">
            <a:avLst/>
          </a:prstGeom>
        </p:spPr>
        <p:txBody>
          <a:bodyPr wrap="none">
            <a:spAutoFit/>
          </a:bodyPr>
          <a:lstStyle/>
          <a:p>
            <a:pPr>
              <a:defRPr/>
            </a:pPr>
            <a:r>
              <a:rPr lang="zh-CN" altLang="en-US" sz="3200" dirty="0">
                <a:solidFill>
                  <a:srgbClr val="FF0000"/>
                </a:solidFill>
                <a:latin typeface="宋体" panose="02010600030101010101" pitchFamily="2" charset="-122"/>
                <a:ea typeface="宋体" panose="02010600030101010101" pitchFamily="2" charset="-122"/>
              </a:rPr>
              <a:t>多态实例：</a:t>
            </a:r>
            <a:endParaRPr lang="en-US" altLang="zh-CN" sz="3200" dirty="0">
              <a:solidFill>
                <a:srgbClr val="FF0000"/>
              </a:solidFill>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矩形 1"/>
          <p:cNvSpPr>
            <a:spLocks noChangeArrowheads="1"/>
          </p:cNvSpPr>
          <p:nvPr/>
        </p:nvSpPr>
        <p:spPr bwMode="auto">
          <a:xfrm>
            <a:off x="675684" y="1320358"/>
            <a:ext cx="10532623" cy="4832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r>
              <a:rPr lang="zh-CN" altLang="en-US" sz="2800" dirty="0">
                <a:latin typeface="宋体" panose="02010600030101010101" pitchFamily="2" charset="-122"/>
              </a:rPr>
              <a:t>方案二：</a:t>
            </a:r>
            <a:endParaRPr lang="en-US" altLang="zh-CN" sz="2800" dirty="0">
              <a:latin typeface="宋体" panose="02010600030101010101" pitchFamily="2" charset="-122"/>
            </a:endParaRPr>
          </a:p>
          <a:p>
            <a:pPr marL="514350" indent="-514350">
              <a:buFont typeface="+mj-ea"/>
              <a:buAutoNum type="circleNumDbPlain"/>
            </a:pPr>
            <a:r>
              <a:rPr lang="zh-CN" altLang="en-US" sz="2800" b="0" dirty="0">
                <a:latin typeface="宋体" panose="02010600030101010101" pitchFamily="2" charset="-122"/>
              </a:rPr>
              <a:t>定义抽象类</a:t>
            </a:r>
            <a:r>
              <a:rPr lang="en-US" altLang="zh-CN" sz="2800" b="0" dirty="0" err="1">
                <a:latin typeface="宋体" panose="02010600030101010101" pitchFamily="2" charset="-122"/>
              </a:rPr>
              <a:t>MobileStorage</a:t>
            </a:r>
            <a:r>
              <a:rPr lang="zh-CN" altLang="en-US" sz="2800" b="0" dirty="0">
                <a:latin typeface="宋体" panose="02010600030101010101" pitchFamily="2" charset="-122"/>
              </a:rPr>
              <a:t>，在里面写虚方法</a:t>
            </a:r>
            <a:r>
              <a:rPr lang="en-US" altLang="zh-CN" sz="2800" b="0" dirty="0">
                <a:latin typeface="宋体" panose="02010600030101010101" pitchFamily="2" charset="-122"/>
              </a:rPr>
              <a:t>Read</a:t>
            </a:r>
            <a:r>
              <a:rPr lang="zh-CN" altLang="en-US" sz="2800" b="0" dirty="0">
                <a:latin typeface="宋体" panose="02010600030101010101" pitchFamily="2" charset="-122"/>
              </a:rPr>
              <a:t>和</a:t>
            </a:r>
            <a:r>
              <a:rPr lang="en-US" altLang="zh-CN" sz="2800" b="0" dirty="0">
                <a:latin typeface="宋体" panose="02010600030101010101" pitchFamily="2" charset="-122"/>
              </a:rPr>
              <a:t>Write</a:t>
            </a:r>
            <a:r>
              <a:rPr lang="zh-CN" altLang="en-US" sz="2800" b="0" dirty="0">
                <a:latin typeface="宋体" panose="02010600030101010101" pitchFamily="2" charset="-122"/>
              </a:rPr>
              <a:t>，三个存储设备继承此抽象类，并重写</a:t>
            </a:r>
            <a:r>
              <a:rPr lang="en-US" altLang="zh-CN" sz="2800" b="0" dirty="0">
                <a:latin typeface="宋体" panose="02010600030101010101" pitchFamily="2" charset="-122"/>
              </a:rPr>
              <a:t>Read</a:t>
            </a:r>
            <a:r>
              <a:rPr lang="zh-CN" altLang="en-US" sz="2800" b="0" dirty="0">
                <a:latin typeface="宋体" panose="02010600030101010101" pitchFamily="2" charset="-122"/>
              </a:rPr>
              <a:t>和</a:t>
            </a:r>
            <a:r>
              <a:rPr lang="en-US" altLang="zh-CN" sz="2800" b="0" dirty="0">
                <a:latin typeface="宋体" panose="02010600030101010101" pitchFamily="2" charset="-122"/>
              </a:rPr>
              <a:t>Write</a:t>
            </a:r>
            <a:r>
              <a:rPr lang="zh-CN" altLang="en-US" sz="2800" b="0" dirty="0">
                <a:latin typeface="宋体" panose="02010600030101010101" pitchFamily="2" charset="-122"/>
              </a:rPr>
              <a:t>方法。</a:t>
            </a:r>
            <a:endParaRPr lang="en-US" altLang="zh-CN" sz="2800" b="0" dirty="0">
              <a:latin typeface="宋体" panose="02010600030101010101" pitchFamily="2" charset="-122"/>
            </a:endParaRPr>
          </a:p>
          <a:p>
            <a:pPr marL="514350" indent="-514350">
              <a:buFont typeface="+mj-ea"/>
              <a:buAutoNum type="circleNumDbPlain"/>
            </a:pPr>
            <a:r>
              <a:rPr lang="en-US" altLang="zh-CN" sz="2800" b="0" dirty="0">
                <a:latin typeface="宋体" panose="02010600030101010101" pitchFamily="2" charset="-122"/>
              </a:rPr>
              <a:t>Computer</a:t>
            </a:r>
            <a:r>
              <a:rPr lang="zh-CN" altLang="en-US" sz="2800" b="0" dirty="0">
                <a:latin typeface="宋体" panose="02010600030101010101" pitchFamily="2" charset="-122"/>
              </a:rPr>
              <a:t>类中包含一个类型为</a:t>
            </a:r>
            <a:r>
              <a:rPr lang="en-US" altLang="zh-CN" sz="2800" b="0" dirty="0" err="1">
                <a:latin typeface="宋体" panose="02010600030101010101" pitchFamily="2" charset="-122"/>
              </a:rPr>
              <a:t>MobileStorage</a:t>
            </a:r>
            <a:r>
              <a:rPr lang="zh-CN" altLang="en-US" sz="2800" b="0" dirty="0">
                <a:latin typeface="宋体" panose="02010600030101010101" pitchFamily="2" charset="-122"/>
              </a:rPr>
              <a:t>的成员变量，并为其编写</a:t>
            </a:r>
            <a:r>
              <a:rPr lang="en-US" altLang="zh-CN" sz="2800" b="0" dirty="0">
                <a:latin typeface="宋体" panose="02010600030101010101" pitchFamily="2" charset="-122"/>
              </a:rPr>
              <a:t>get/set</a:t>
            </a:r>
            <a:r>
              <a:rPr lang="zh-CN" altLang="en-US" sz="2800" b="0" dirty="0">
                <a:latin typeface="宋体" panose="02010600030101010101" pitchFamily="2" charset="-122"/>
              </a:rPr>
              <a:t>器，这样</a:t>
            </a:r>
            <a:r>
              <a:rPr lang="en-US" altLang="zh-CN" sz="2800" b="0" dirty="0">
                <a:latin typeface="宋体" panose="02010600030101010101" pitchFamily="2" charset="-122"/>
              </a:rPr>
              <a:t>Computer</a:t>
            </a:r>
            <a:r>
              <a:rPr lang="zh-CN" altLang="en-US" sz="2800" b="0" dirty="0">
                <a:latin typeface="宋体" panose="02010600030101010101" pitchFamily="2" charset="-122"/>
              </a:rPr>
              <a:t>中只需要两个方法：</a:t>
            </a:r>
            <a:r>
              <a:rPr lang="en-US" altLang="zh-CN" sz="2800" b="0" dirty="0" err="1">
                <a:latin typeface="宋体" panose="02010600030101010101" pitchFamily="2" charset="-122"/>
              </a:rPr>
              <a:t>ReadData</a:t>
            </a:r>
            <a:r>
              <a:rPr lang="zh-CN" altLang="en-US" sz="2800" b="0" dirty="0">
                <a:latin typeface="宋体" panose="02010600030101010101" pitchFamily="2" charset="-122"/>
              </a:rPr>
              <a:t>和</a:t>
            </a:r>
            <a:r>
              <a:rPr lang="en-US" altLang="zh-CN" sz="2800" b="0" dirty="0" err="1">
                <a:latin typeface="宋体" panose="02010600030101010101" pitchFamily="2" charset="-122"/>
              </a:rPr>
              <a:t>WriteData</a:t>
            </a:r>
            <a:r>
              <a:rPr lang="zh-CN" altLang="en-US" sz="2800" b="0" dirty="0">
                <a:latin typeface="宋体" panose="02010600030101010101" pitchFamily="2" charset="-122"/>
              </a:rPr>
              <a:t>，并通过多态性实现不同移动设备的读写。</a:t>
            </a:r>
            <a:endParaRPr lang="en-US" altLang="zh-CN" sz="2800" b="0" dirty="0">
              <a:latin typeface="宋体" panose="02010600030101010101" pitchFamily="2" charset="-122"/>
            </a:endParaRPr>
          </a:p>
          <a:p>
            <a:r>
              <a:rPr lang="zh-CN" altLang="en-US" sz="2800" dirty="0">
                <a:latin typeface="宋体" panose="02010600030101010101" pitchFamily="2" charset="-122"/>
              </a:rPr>
              <a:t>方案三：</a:t>
            </a:r>
            <a:endParaRPr lang="en-US" altLang="zh-CN" sz="2800" dirty="0">
              <a:latin typeface="宋体" panose="02010600030101010101" pitchFamily="2" charset="-122"/>
            </a:endParaRPr>
          </a:p>
          <a:p>
            <a:r>
              <a:rPr lang="zh-CN" altLang="en-US" sz="2800" b="0" dirty="0">
                <a:latin typeface="宋体" panose="02010600030101010101" pitchFamily="2" charset="-122"/>
              </a:rPr>
              <a:t>与方案二基本相同，只是不定义抽象类，而是定义接口</a:t>
            </a:r>
            <a:r>
              <a:rPr lang="en-US" altLang="zh-CN" sz="2800" b="0" dirty="0" err="1">
                <a:latin typeface="宋体" panose="02010600030101010101" pitchFamily="2" charset="-122"/>
              </a:rPr>
              <a:t>IMobileStorage</a:t>
            </a:r>
            <a:r>
              <a:rPr lang="zh-CN" altLang="en-US" sz="2800" b="0" dirty="0">
                <a:latin typeface="宋体" panose="02010600030101010101" pitchFamily="2" charset="-122"/>
              </a:rPr>
              <a:t>，移动存储器类实现此接口。</a:t>
            </a:r>
            <a:r>
              <a:rPr lang="en-US" altLang="zh-CN" sz="2800" b="0" dirty="0">
                <a:latin typeface="宋体" panose="02010600030101010101" pitchFamily="2" charset="-122"/>
              </a:rPr>
              <a:t>Computer</a:t>
            </a:r>
            <a:r>
              <a:rPr lang="zh-CN" altLang="en-US" sz="2800" b="0" dirty="0">
                <a:latin typeface="宋体" panose="02010600030101010101" pitchFamily="2" charset="-122"/>
              </a:rPr>
              <a:t>中通过依赖接口</a:t>
            </a:r>
            <a:r>
              <a:rPr lang="en-US" altLang="zh-CN" sz="2800" b="0" dirty="0" err="1">
                <a:latin typeface="宋体" panose="02010600030101010101" pitchFamily="2" charset="-122"/>
              </a:rPr>
              <a:t>IMobileStorage</a:t>
            </a:r>
            <a:r>
              <a:rPr lang="zh-CN" altLang="en-US" sz="2800" b="0" dirty="0">
                <a:latin typeface="宋体" panose="02010600030101010101" pitchFamily="2" charset="-122"/>
              </a:rPr>
              <a:t>实现多态性。</a:t>
            </a:r>
            <a:endParaRPr lang="zh-CN" altLang="en-US" sz="2800" b="0" dirty="0">
              <a:latin typeface="宋体" panose="02010600030101010101" pitchFamily="2" charset="-122"/>
            </a:endParaRPr>
          </a:p>
          <a:p>
            <a:endParaRPr lang="zh-CN" altLang="en-US" sz="2800" b="0" dirty="0">
              <a:latin typeface="宋体" panose="02010600030101010101" pitchFamily="2" charset="-122"/>
            </a:endParaRPr>
          </a:p>
        </p:txBody>
      </p:sp>
      <p:sp>
        <p:nvSpPr>
          <p:cNvPr id="3" name="矩形 2"/>
          <p:cNvSpPr/>
          <p:nvPr/>
        </p:nvSpPr>
        <p:spPr>
          <a:xfrm>
            <a:off x="248194" y="556389"/>
            <a:ext cx="2236510" cy="584775"/>
          </a:xfrm>
          <a:prstGeom prst="rect">
            <a:avLst/>
          </a:prstGeom>
        </p:spPr>
        <p:txBody>
          <a:bodyPr wrap="none">
            <a:spAutoFit/>
          </a:bodyPr>
          <a:lstStyle/>
          <a:p>
            <a:pPr>
              <a:defRPr/>
            </a:pPr>
            <a:r>
              <a:rPr lang="zh-CN" altLang="en-US" sz="3200" dirty="0">
                <a:solidFill>
                  <a:srgbClr val="FF0000"/>
                </a:solidFill>
                <a:latin typeface="宋体" panose="02010600030101010101" pitchFamily="2" charset="-122"/>
                <a:ea typeface="宋体" panose="02010600030101010101" pitchFamily="2" charset="-122"/>
              </a:rPr>
              <a:t>多态实例：</a:t>
            </a:r>
            <a:endParaRPr lang="en-US" altLang="zh-CN" sz="3200" dirty="0">
              <a:solidFill>
                <a:srgbClr val="FF0000"/>
              </a:solidFill>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矩形 1"/>
          <p:cNvSpPr>
            <a:spLocks noChangeArrowheads="1"/>
          </p:cNvSpPr>
          <p:nvPr/>
        </p:nvSpPr>
        <p:spPr bwMode="auto">
          <a:xfrm>
            <a:off x="884069" y="1295628"/>
            <a:ext cx="10423861"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defRPr/>
            </a:pPr>
            <a:r>
              <a:rPr lang="zh-CN" altLang="en-US" sz="2800" b="0" dirty="0">
                <a:latin typeface="宋体" panose="02010600030101010101" pitchFamily="2" charset="-122"/>
              </a:rPr>
              <a:t>方案二和方案三</a:t>
            </a:r>
            <a:endParaRPr lang="en-US" altLang="zh-CN" sz="2800" b="0" dirty="0">
              <a:latin typeface="宋体" panose="02010600030101010101" pitchFamily="2" charset="-122"/>
            </a:endParaRPr>
          </a:p>
          <a:p>
            <a:pPr marL="372110" indent="-372110">
              <a:buFont typeface="Wingdings" panose="05000000000000000000" pitchFamily="2" charset="2"/>
              <a:buChar char="u"/>
              <a:defRPr/>
            </a:pPr>
            <a:r>
              <a:rPr lang="zh-CN" altLang="en-US" sz="2800" b="0" dirty="0">
                <a:latin typeface="宋体" panose="02010600030101010101" pitchFamily="2" charset="-122"/>
              </a:rPr>
              <a:t>解决了代码冗余的问题，可以动态替换移动设备，并且都实现了共同的接口，所以不管有多少种移动设备，只要一个</a:t>
            </a:r>
            <a:r>
              <a:rPr lang="en-US" altLang="zh-CN" sz="2800" b="0" dirty="0">
                <a:latin typeface="宋体" panose="02010600030101010101" pitchFamily="2" charset="-122"/>
              </a:rPr>
              <a:t>Read</a:t>
            </a:r>
            <a:r>
              <a:rPr lang="zh-CN" altLang="en-US" sz="2800" b="0" dirty="0">
                <a:latin typeface="宋体" panose="02010600030101010101" pitchFamily="2" charset="-122"/>
              </a:rPr>
              <a:t>方法和一个</a:t>
            </a:r>
            <a:r>
              <a:rPr lang="en-US" altLang="zh-CN" sz="2800" b="0" dirty="0">
                <a:latin typeface="宋体" panose="02010600030101010101" pitchFamily="2" charset="-122"/>
              </a:rPr>
              <a:t>Write</a:t>
            </a:r>
            <a:r>
              <a:rPr lang="zh-CN" altLang="en-US" sz="2800" b="0" dirty="0">
                <a:latin typeface="宋体" panose="02010600030101010101" pitchFamily="2" charset="-122"/>
              </a:rPr>
              <a:t>方法，多态性解决问题了。</a:t>
            </a:r>
            <a:endParaRPr lang="en-US" altLang="zh-CN" sz="2800" b="0" dirty="0">
              <a:latin typeface="宋体" panose="02010600030101010101" pitchFamily="2" charset="-122"/>
            </a:endParaRPr>
          </a:p>
          <a:p>
            <a:pPr marL="372110" indent="-372110">
              <a:buFont typeface="Wingdings" panose="05000000000000000000" pitchFamily="2" charset="2"/>
              <a:buChar char="u"/>
              <a:defRPr/>
            </a:pPr>
            <a:r>
              <a:rPr lang="zh-CN" altLang="en-US" sz="2800" b="0" dirty="0">
                <a:latin typeface="宋体" panose="02010600030101010101" pitchFamily="2" charset="-122"/>
              </a:rPr>
              <a:t>由于可以运行时动态替换，而不必将移动存储类硬编码在</a:t>
            </a:r>
            <a:r>
              <a:rPr lang="en-US" altLang="zh-CN" sz="2800" b="0" dirty="0">
                <a:latin typeface="宋体" panose="02010600030101010101" pitchFamily="2" charset="-122"/>
              </a:rPr>
              <a:t>Computer</a:t>
            </a:r>
            <a:r>
              <a:rPr lang="zh-CN" altLang="en-US" sz="2800" b="0" dirty="0">
                <a:latin typeface="宋体" panose="02010600030101010101" pitchFamily="2" charset="-122"/>
              </a:rPr>
              <a:t>中，所以有了新的第三方设备，完全可以替换进去运行。</a:t>
            </a:r>
            <a:r>
              <a:rPr lang="en-US" altLang="zh-CN" sz="2800" b="0" dirty="0">
                <a:latin typeface="宋体" panose="02010600030101010101" pitchFamily="2" charset="-122"/>
              </a:rPr>
              <a:t>Computer</a:t>
            </a:r>
            <a:r>
              <a:rPr lang="zh-CN" altLang="en-US" sz="2800" b="0" dirty="0">
                <a:latin typeface="宋体" panose="02010600030101010101" pitchFamily="2" charset="-122"/>
              </a:rPr>
              <a:t>类只有一个</a:t>
            </a:r>
            <a:r>
              <a:rPr lang="en-US" altLang="zh-CN" sz="2800" b="0" dirty="0" err="1">
                <a:latin typeface="宋体" panose="02010600030101010101" pitchFamily="2" charset="-122"/>
              </a:rPr>
              <a:t>MobileStorage</a:t>
            </a:r>
            <a:r>
              <a:rPr lang="zh-CN" altLang="en-US" sz="2800" b="0" dirty="0">
                <a:latin typeface="宋体" panose="02010600030101010101" pitchFamily="2" charset="-122"/>
              </a:rPr>
              <a:t>类型或</a:t>
            </a:r>
            <a:r>
              <a:rPr lang="en-US" altLang="zh-CN" sz="2800" b="0" dirty="0" err="1">
                <a:latin typeface="宋体" panose="02010600030101010101" pitchFamily="2" charset="-122"/>
              </a:rPr>
              <a:t>IMobileStorage</a:t>
            </a:r>
            <a:r>
              <a:rPr lang="zh-CN" altLang="en-US" sz="2800" b="0" dirty="0">
                <a:latin typeface="宋体" panose="02010600030101010101" pitchFamily="2" charset="-122"/>
              </a:rPr>
              <a:t>类型的成员变量，至于这个变量具体是什么类型，它并不知道，这取决于在运行时给这个变量的赋值。</a:t>
            </a:r>
            <a:endParaRPr lang="zh-CN" altLang="en-US" sz="2800" b="0" dirty="0">
              <a:latin typeface="宋体" panose="02010600030101010101" pitchFamily="2" charset="-122"/>
            </a:endParaRPr>
          </a:p>
          <a:p>
            <a:pPr>
              <a:defRPr/>
            </a:pPr>
            <a:r>
              <a:rPr lang="zh-CN" altLang="en-US" sz="2800" b="0" dirty="0">
                <a:latin typeface="宋体" panose="02010600030101010101" pitchFamily="2" charset="-122"/>
              </a:rPr>
              <a:t>　　</a:t>
            </a:r>
            <a:endParaRPr lang="zh-CN" altLang="en-US" sz="2800" b="0" dirty="0">
              <a:latin typeface="宋体" panose="02010600030101010101" pitchFamily="2" charset="-122"/>
            </a:endParaRPr>
          </a:p>
        </p:txBody>
      </p:sp>
      <p:sp>
        <p:nvSpPr>
          <p:cNvPr id="3" name="矩形 2"/>
          <p:cNvSpPr/>
          <p:nvPr/>
        </p:nvSpPr>
        <p:spPr>
          <a:xfrm>
            <a:off x="248194" y="556389"/>
            <a:ext cx="2236510" cy="584775"/>
          </a:xfrm>
          <a:prstGeom prst="rect">
            <a:avLst/>
          </a:prstGeom>
        </p:spPr>
        <p:txBody>
          <a:bodyPr wrap="none">
            <a:spAutoFit/>
          </a:bodyPr>
          <a:lstStyle/>
          <a:p>
            <a:pPr>
              <a:defRPr/>
            </a:pPr>
            <a:r>
              <a:rPr lang="zh-CN" altLang="en-US" sz="3200" dirty="0">
                <a:solidFill>
                  <a:srgbClr val="FF0000"/>
                </a:solidFill>
                <a:latin typeface="宋体" panose="02010600030101010101" pitchFamily="2" charset="-122"/>
                <a:ea typeface="宋体" panose="02010600030101010101" pitchFamily="2" charset="-122"/>
              </a:rPr>
              <a:t>多态实例：</a:t>
            </a:r>
            <a:endParaRPr lang="en-US" altLang="zh-CN" sz="3200" dirty="0">
              <a:solidFill>
                <a:srgbClr val="FF0000"/>
              </a:solidFill>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矩形 1"/>
          <p:cNvSpPr>
            <a:spLocks noChangeArrowheads="1"/>
          </p:cNvSpPr>
          <p:nvPr/>
        </p:nvSpPr>
        <p:spPr bwMode="auto">
          <a:xfrm>
            <a:off x="837698" y="1250602"/>
            <a:ext cx="10789620"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defRPr/>
            </a:pPr>
            <a:r>
              <a:rPr lang="zh-CN" altLang="en-US" sz="2800" dirty="0">
                <a:latin typeface="宋体" panose="02010600030101010101" pitchFamily="2" charset="-122"/>
              </a:rPr>
              <a:t>方案四：</a:t>
            </a:r>
            <a:r>
              <a:rPr lang="zh-CN" altLang="en-US" sz="2800" b="0" dirty="0">
                <a:latin typeface="宋体" panose="02010600030101010101" pitchFamily="2" charset="-122"/>
              </a:rPr>
              <a:t>定义接口</a:t>
            </a:r>
            <a:r>
              <a:rPr lang="en-US" altLang="zh-CN" sz="2800" b="0" dirty="0" err="1">
                <a:latin typeface="宋体" panose="02010600030101010101" pitchFamily="2" charset="-122"/>
              </a:rPr>
              <a:t>IReadable</a:t>
            </a:r>
            <a:r>
              <a:rPr lang="zh-CN" altLang="en-US" sz="2800" b="0" dirty="0">
                <a:latin typeface="宋体" panose="02010600030101010101" pitchFamily="2" charset="-122"/>
              </a:rPr>
              <a:t>和</a:t>
            </a:r>
            <a:r>
              <a:rPr lang="en-US" altLang="zh-CN" sz="2800" b="0" dirty="0" err="1">
                <a:latin typeface="宋体" panose="02010600030101010101" pitchFamily="2" charset="-122"/>
              </a:rPr>
              <a:t>IWritable</a:t>
            </a:r>
            <a:r>
              <a:rPr lang="zh-CN" altLang="en-US" sz="2800" b="0" dirty="0">
                <a:latin typeface="宋体" panose="02010600030101010101" pitchFamily="2" charset="-122"/>
              </a:rPr>
              <a:t>，两个接口分别只包含</a:t>
            </a:r>
            <a:r>
              <a:rPr lang="en-US" altLang="zh-CN" sz="2800" b="0" dirty="0">
                <a:latin typeface="宋体" panose="02010600030101010101" pitchFamily="2" charset="-122"/>
              </a:rPr>
              <a:t>Read</a:t>
            </a:r>
            <a:r>
              <a:rPr lang="zh-CN" altLang="en-US" sz="2800" b="0" dirty="0">
                <a:latin typeface="宋体" panose="02010600030101010101" pitchFamily="2" charset="-122"/>
              </a:rPr>
              <a:t>和</a:t>
            </a:r>
            <a:r>
              <a:rPr lang="en-US" altLang="zh-CN" sz="2800" b="0" dirty="0">
                <a:latin typeface="宋体" panose="02010600030101010101" pitchFamily="2" charset="-122"/>
              </a:rPr>
              <a:t>Write</a:t>
            </a:r>
            <a:r>
              <a:rPr lang="zh-CN" altLang="en-US" sz="2800" b="0" dirty="0">
                <a:latin typeface="宋体" panose="02010600030101010101" pitchFamily="2" charset="-122"/>
              </a:rPr>
              <a:t>，然后定义接口</a:t>
            </a:r>
            <a:r>
              <a:rPr lang="en-US" altLang="zh-CN" sz="2800" b="0" dirty="0" err="1">
                <a:latin typeface="宋体" panose="02010600030101010101" pitchFamily="2" charset="-122"/>
              </a:rPr>
              <a:t>IMobileStorage</a:t>
            </a:r>
            <a:r>
              <a:rPr lang="zh-CN" altLang="en-US" sz="2800" b="0" dirty="0">
                <a:latin typeface="宋体" panose="02010600030101010101" pitchFamily="2" charset="-122"/>
              </a:rPr>
              <a:t>接口继承自</a:t>
            </a:r>
            <a:r>
              <a:rPr lang="en-US" altLang="zh-CN" sz="2800" b="0" dirty="0" err="1">
                <a:latin typeface="宋体" panose="02010600030101010101" pitchFamily="2" charset="-122"/>
              </a:rPr>
              <a:t>IReadable</a:t>
            </a:r>
            <a:r>
              <a:rPr lang="zh-CN" altLang="en-US" sz="2800" b="0" dirty="0">
                <a:latin typeface="宋体" panose="02010600030101010101" pitchFamily="2" charset="-122"/>
              </a:rPr>
              <a:t>和</a:t>
            </a:r>
            <a:r>
              <a:rPr lang="en-US" altLang="zh-CN" sz="2800" b="0" dirty="0" err="1">
                <a:latin typeface="宋体" panose="02010600030101010101" pitchFamily="2" charset="-122"/>
              </a:rPr>
              <a:t>IWritable</a:t>
            </a:r>
            <a:r>
              <a:rPr lang="zh-CN" altLang="en-US" sz="2800" b="0" dirty="0">
                <a:latin typeface="宋体" panose="02010600030101010101" pitchFamily="2" charset="-122"/>
              </a:rPr>
              <a:t>，剩下的实现与方案三相同。</a:t>
            </a:r>
            <a:endParaRPr lang="en-US" altLang="zh-CN" sz="2800" b="0" dirty="0">
              <a:latin typeface="宋体" panose="02010600030101010101" pitchFamily="2" charset="-122"/>
            </a:endParaRPr>
          </a:p>
          <a:p>
            <a:pPr marL="495935" indent="-495935">
              <a:buFont typeface="Wingdings" panose="05000000000000000000" pitchFamily="2" charset="2"/>
              <a:buChar char="u"/>
              <a:defRPr/>
            </a:pPr>
            <a:r>
              <a:rPr lang="zh-CN" altLang="en-US" sz="2800" b="0" dirty="0">
                <a:latin typeface="宋体" panose="02010600030101010101" pitchFamily="2" charset="-122"/>
              </a:rPr>
              <a:t>如果应用中可能会出现一些类，这些类只实现读方法或只实现写方法，如只读光盘，那么这样做也是可以的。如果以后出现的东西都是能读又能写的，那这两个接口就没有必要了。</a:t>
            </a:r>
            <a:endParaRPr lang="en-US" altLang="zh-CN" sz="2800" b="0" dirty="0">
              <a:latin typeface="宋体" panose="02010600030101010101" pitchFamily="2" charset="-122"/>
            </a:endParaRPr>
          </a:p>
          <a:p>
            <a:pPr marL="495935" indent="-495935">
              <a:buFont typeface="Wingdings" panose="05000000000000000000" pitchFamily="2" charset="2"/>
              <a:buChar char="u"/>
              <a:defRPr/>
            </a:pPr>
            <a:r>
              <a:rPr lang="zh-CN" altLang="en-US" sz="2800" b="0" dirty="0">
                <a:latin typeface="宋体" panose="02010600030101010101" pitchFamily="2" charset="-122"/>
              </a:rPr>
              <a:t>在这里，姑且认为以后的移动存储都是能读又能写的，所以选方案三。</a:t>
            </a:r>
            <a:endParaRPr lang="zh-CN" altLang="en-US" sz="2800" b="0" dirty="0">
              <a:latin typeface="宋体" panose="02010600030101010101" pitchFamily="2" charset="-122"/>
            </a:endParaRPr>
          </a:p>
          <a:p>
            <a:pPr>
              <a:defRPr/>
            </a:pPr>
            <a:endParaRPr lang="en-US" altLang="zh-CN" sz="2800" b="0" dirty="0">
              <a:latin typeface="宋体" panose="02010600030101010101" pitchFamily="2" charset="-122"/>
            </a:endParaRPr>
          </a:p>
          <a:p>
            <a:pPr>
              <a:defRPr/>
            </a:pPr>
            <a:endParaRPr lang="zh-CN" altLang="en-US" sz="2800" b="0" dirty="0">
              <a:latin typeface="宋体" panose="02010600030101010101" pitchFamily="2" charset="-122"/>
            </a:endParaRPr>
          </a:p>
        </p:txBody>
      </p:sp>
      <p:sp>
        <p:nvSpPr>
          <p:cNvPr id="3" name="矩形 2"/>
          <p:cNvSpPr/>
          <p:nvPr/>
        </p:nvSpPr>
        <p:spPr>
          <a:xfrm>
            <a:off x="248194" y="556389"/>
            <a:ext cx="2236510" cy="584775"/>
          </a:xfrm>
          <a:prstGeom prst="rect">
            <a:avLst/>
          </a:prstGeom>
        </p:spPr>
        <p:txBody>
          <a:bodyPr wrap="none">
            <a:spAutoFit/>
          </a:bodyPr>
          <a:lstStyle/>
          <a:p>
            <a:pPr>
              <a:defRPr/>
            </a:pPr>
            <a:r>
              <a:rPr lang="zh-CN" altLang="en-US" sz="3200" dirty="0">
                <a:solidFill>
                  <a:srgbClr val="FF0000"/>
                </a:solidFill>
                <a:latin typeface="宋体" panose="02010600030101010101" pitchFamily="2" charset="-122"/>
                <a:ea typeface="宋体" panose="02010600030101010101" pitchFamily="2" charset="-122"/>
              </a:rPr>
              <a:t>多态实例：</a:t>
            </a:r>
            <a:endParaRPr lang="en-US" altLang="zh-CN" sz="3200" dirty="0">
              <a:solidFill>
                <a:srgbClr val="FF0000"/>
              </a:solidFill>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1"/>
          <p:cNvSpPr>
            <a:spLocks noChangeArrowheads="1"/>
          </p:cNvSpPr>
          <p:nvPr/>
        </p:nvSpPr>
        <p:spPr bwMode="auto">
          <a:xfrm>
            <a:off x="1037646" y="1141164"/>
            <a:ext cx="7451836" cy="17235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0" tIns="0" rIns="0" bIns="0" anchor="ctr">
            <a:spAutoFit/>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r>
              <a:rPr lang="zh-CN" altLang="zh-CN" sz="2800" b="0" dirty="0">
                <a:solidFill>
                  <a:srgbClr val="0000FF"/>
                </a:solidFill>
                <a:cs typeface="Times New Roman" panose="02020603050405020304" pitchFamily="18" charset="0"/>
              </a:rPr>
              <a:t>public</a:t>
            </a:r>
            <a:r>
              <a:rPr lang="zh-CN" altLang="zh-CN" sz="2800" b="0" dirty="0">
                <a:solidFill>
                  <a:srgbClr val="000000"/>
                </a:solidFill>
                <a:cs typeface="Times New Roman" panose="02020603050405020304" pitchFamily="18" charset="0"/>
              </a:rPr>
              <a:t> </a:t>
            </a:r>
            <a:r>
              <a:rPr lang="zh-CN" altLang="zh-CN" sz="2800" b="0" dirty="0">
                <a:solidFill>
                  <a:srgbClr val="0000FF"/>
                </a:solidFill>
                <a:cs typeface="Times New Roman" panose="02020603050405020304" pitchFamily="18" charset="0"/>
              </a:rPr>
              <a:t>interface</a:t>
            </a:r>
            <a:r>
              <a:rPr lang="zh-CN" altLang="zh-CN" sz="2800" b="0" dirty="0">
                <a:solidFill>
                  <a:srgbClr val="000000"/>
                </a:solidFill>
                <a:cs typeface="Times New Roman" panose="02020603050405020304" pitchFamily="18" charset="0"/>
              </a:rPr>
              <a:t> IMobileStorage { </a:t>
            </a:r>
            <a:endParaRPr lang="en-US" altLang="zh-CN" sz="2800" b="0" dirty="0">
              <a:solidFill>
                <a:srgbClr val="000000"/>
              </a:solidFill>
              <a:cs typeface="Times New Roman" panose="02020603050405020304" pitchFamily="18" charset="0"/>
            </a:endParaRPr>
          </a:p>
          <a:p>
            <a:r>
              <a:rPr lang="en-US" altLang="zh-CN" sz="2800" b="0" dirty="0">
                <a:solidFill>
                  <a:srgbClr val="0000FF"/>
                </a:solidFill>
                <a:cs typeface="Times New Roman" panose="02020603050405020304" pitchFamily="18" charset="0"/>
              </a:rPr>
              <a:t>   </a:t>
            </a:r>
            <a:r>
              <a:rPr lang="zh-CN" altLang="zh-CN" sz="2800" b="0" dirty="0">
                <a:solidFill>
                  <a:srgbClr val="0000FF"/>
                </a:solidFill>
                <a:cs typeface="Times New Roman" panose="02020603050405020304" pitchFamily="18" charset="0"/>
              </a:rPr>
              <a:t>void</a:t>
            </a:r>
            <a:r>
              <a:rPr lang="zh-CN" altLang="zh-CN" sz="2800" b="0" dirty="0">
                <a:solidFill>
                  <a:srgbClr val="000000"/>
                </a:solidFill>
                <a:cs typeface="Times New Roman" panose="02020603050405020304" pitchFamily="18" charset="0"/>
              </a:rPr>
              <a:t> Read(); </a:t>
            </a:r>
            <a:r>
              <a:rPr lang="zh-CN" altLang="zh-CN" sz="2800" b="0" dirty="0">
                <a:solidFill>
                  <a:srgbClr val="008000"/>
                </a:solidFill>
                <a:cs typeface="Times New Roman" panose="02020603050405020304" pitchFamily="18" charset="0"/>
              </a:rPr>
              <a:t>// 读取数据</a:t>
            </a:r>
            <a:r>
              <a:rPr lang="zh-CN" altLang="zh-CN" sz="2800" b="0" dirty="0">
                <a:solidFill>
                  <a:srgbClr val="000000"/>
                </a:solidFill>
                <a:cs typeface="Times New Roman" panose="02020603050405020304" pitchFamily="18" charset="0"/>
              </a:rPr>
              <a:t> </a:t>
            </a:r>
            <a:endParaRPr lang="en-US" altLang="zh-CN" sz="2800" b="0" dirty="0">
              <a:solidFill>
                <a:srgbClr val="000000"/>
              </a:solidFill>
              <a:cs typeface="Times New Roman" panose="02020603050405020304" pitchFamily="18" charset="0"/>
            </a:endParaRPr>
          </a:p>
          <a:p>
            <a:r>
              <a:rPr lang="en-US" altLang="zh-CN" sz="2800" b="0" dirty="0">
                <a:solidFill>
                  <a:srgbClr val="0000FF"/>
                </a:solidFill>
                <a:cs typeface="Times New Roman" panose="02020603050405020304" pitchFamily="18" charset="0"/>
              </a:rPr>
              <a:t>   </a:t>
            </a:r>
            <a:r>
              <a:rPr lang="zh-CN" altLang="zh-CN" sz="2800" b="0" dirty="0">
                <a:solidFill>
                  <a:srgbClr val="0000FF"/>
                </a:solidFill>
                <a:cs typeface="Times New Roman" panose="02020603050405020304" pitchFamily="18" charset="0"/>
              </a:rPr>
              <a:t>void</a:t>
            </a:r>
            <a:r>
              <a:rPr lang="zh-CN" altLang="zh-CN" sz="2800" b="0" dirty="0">
                <a:solidFill>
                  <a:srgbClr val="000000"/>
                </a:solidFill>
                <a:cs typeface="Times New Roman" panose="02020603050405020304" pitchFamily="18" charset="0"/>
              </a:rPr>
              <a:t> Write(); </a:t>
            </a:r>
            <a:r>
              <a:rPr lang="zh-CN" altLang="zh-CN" sz="2800" b="0" dirty="0">
                <a:solidFill>
                  <a:srgbClr val="008000"/>
                </a:solidFill>
                <a:cs typeface="Times New Roman" panose="02020603050405020304" pitchFamily="18" charset="0"/>
              </a:rPr>
              <a:t>// 写入数据</a:t>
            </a:r>
            <a:r>
              <a:rPr lang="zh-CN" altLang="zh-CN" sz="2800" b="0" dirty="0">
                <a:solidFill>
                  <a:srgbClr val="000000"/>
                </a:solidFill>
                <a:cs typeface="Times New Roman" panose="02020603050405020304" pitchFamily="18" charset="0"/>
              </a:rPr>
              <a:t>  </a:t>
            </a:r>
            <a:endParaRPr lang="en-US" altLang="zh-CN" sz="2800" b="0" dirty="0">
              <a:solidFill>
                <a:srgbClr val="000000"/>
              </a:solidFill>
              <a:cs typeface="Times New Roman" panose="02020603050405020304" pitchFamily="18" charset="0"/>
            </a:endParaRPr>
          </a:p>
          <a:p>
            <a:r>
              <a:rPr lang="zh-CN" altLang="zh-CN" sz="2800" b="0" dirty="0">
                <a:solidFill>
                  <a:srgbClr val="000000"/>
                </a:solidFill>
                <a:cs typeface="Times New Roman" panose="02020603050405020304" pitchFamily="18" charset="0"/>
              </a:rPr>
              <a:t>}</a:t>
            </a:r>
            <a:r>
              <a:rPr lang="zh-CN" altLang="zh-CN" sz="2800" dirty="0">
                <a:cs typeface="Times New Roman" panose="02020603050405020304" pitchFamily="18" charset="0"/>
              </a:rPr>
              <a:t> </a:t>
            </a:r>
            <a:endParaRPr lang="zh-CN" altLang="zh-CN" sz="2800" dirty="0">
              <a:cs typeface="Times New Roman" panose="02020603050405020304" pitchFamily="18" charset="0"/>
            </a:endParaRPr>
          </a:p>
        </p:txBody>
      </p:sp>
      <p:sp>
        <p:nvSpPr>
          <p:cNvPr id="3" name="矩形 2"/>
          <p:cNvSpPr/>
          <p:nvPr/>
        </p:nvSpPr>
        <p:spPr>
          <a:xfrm>
            <a:off x="248194" y="556389"/>
            <a:ext cx="2236510" cy="584775"/>
          </a:xfrm>
          <a:prstGeom prst="rect">
            <a:avLst/>
          </a:prstGeom>
        </p:spPr>
        <p:txBody>
          <a:bodyPr wrap="none">
            <a:spAutoFit/>
          </a:bodyPr>
          <a:lstStyle/>
          <a:p>
            <a:pPr>
              <a:defRPr/>
            </a:pPr>
            <a:r>
              <a:rPr lang="zh-CN" altLang="en-US" sz="3200" dirty="0">
                <a:solidFill>
                  <a:srgbClr val="FF0000"/>
                </a:solidFill>
                <a:latin typeface="宋体" panose="02010600030101010101" pitchFamily="2" charset="-122"/>
                <a:ea typeface="宋体" panose="02010600030101010101" pitchFamily="2" charset="-122"/>
              </a:rPr>
              <a:t>多态实例：</a:t>
            </a:r>
            <a:endParaRPr lang="en-US" altLang="zh-CN" sz="3200" dirty="0">
              <a:solidFill>
                <a:srgbClr val="FF0000"/>
              </a:solidFill>
              <a:latin typeface="宋体" panose="02010600030101010101" pitchFamily="2" charset="-122"/>
              <a:ea typeface="宋体" panose="02010600030101010101" pitchFamily="2" charset="-122"/>
            </a:endParaRPr>
          </a:p>
        </p:txBody>
      </p:sp>
      <p:sp>
        <p:nvSpPr>
          <p:cNvPr id="4" name="矩形 1"/>
          <p:cNvSpPr>
            <a:spLocks noChangeArrowheads="1"/>
          </p:cNvSpPr>
          <p:nvPr/>
        </p:nvSpPr>
        <p:spPr bwMode="auto">
          <a:xfrm>
            <a:off x="885823" y="2790185"/>
            <a:ext cx="8510530"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r>
              <a:rPr lang="en-US" altLang="zh-CN" sz="2400" dirty="0"/>
              <a:t>public class </a:t>
            </a:r>
            <a:r>
              <a:rPr lang="en-US" altLang="zh-CN" sz="2400" dirty="0" err="1"/>
              <a:t>FlashDisk</a:t>
            </a:r>
            <a:r>
              <a:rPr lang="en-US" altLang="zh-CN" sz="2400" dirty="0"/>
              <a:t> implements </a:t>
            </a:r>
            <a:r>
              <a:rPr lang="en-US" altLang="zh-CN" sz="2400" dirty="0" err="1"/>
              <a:t>IMobileStorage</a:t>
            </a:r>
            <a:r>
              <a:rPr lang="en-US" altLang="zh-CN" sz="2400" dirty="0"/>
              <a:t>{</a:t>
            </a:r>
            <a:endParaRPr lang="en-US" altLang="zh-CN" sz="2400" dirty="0"/>
          </a:p>
          <a:p>
            <a:r>
              <a:rPr lang="en-US" altLang="zh-CN" sz="2400" dirty="0"/>
              <a:t>       public void Read() {</a:t>
            </a:r>
            <a:endParaRPr lang="en-US" altLang="zh-CN" sz="2400" dirty="0"/>
          </a:p>
          <a:p>
            <a:r>
              <a:rPr lang="en-US" altLang="zh-CN" sz="2400" dirty="0"/>
              <a:t>              </a:t>
            </a:r>
            <a:r>
              <a:rPr lang="en-US" altLang="zh-CN" sz="2400" dirty="0" err="1"/>
              <a:t>System.out.println</a:t>
            </a:r>
            <a:r>
              <a:rPr lang="en-US" altLang="zh-CN" sz="2400" dirty="0"/>
              <a:t>("Reading from </a:t>
            </a:r>
            <a:r>
              <a:rPr lang="en-US" altLang="zh-CN" sz="2400" dirty="0" err="1"/>
              <a:t>FlashDisk</a:t>
            </a:r>
            <a:r>
              <a:rPr lang="en-US" altLang="zh-CN" sz="2400" dirty="0"/>
              <a:t>……");</a:t>
            </a:r>
            <a:endParaRPr lang="en-US" altLang="zh-CN" sz="2400" dirty="0"/>
          </a:p>
          <a:p>
            <a:r>
              <a:rPr lang="en-US" altLang="zh-CN" sz="2400" dirty="0"/>
              <a:t>              </a:t>
            </a:r>
            <a:r>
              <a:rPr lang="en-US" altLang="zh-CN" sz="2400" dirty="0" err="1"/>
              <a:t>System.out.println</a:t>
            </a:r>
            <a:r>
              <a:rPr lang="en-US" altLang="zh-CN" sz="2400" dirty="0"/>
              <a:t>("Read finished!");</a:t>
            </a:r>
            <a:endParaRPr lang="en-US" altLang="zh-CN" sz="2400" dirty="0"/>
          </a:p>
          <a:p>
            <a:r>
              <a:rPr lang="en-US" altLang="zh-CN" sz="2400" dirty="0"/>
              <a:t>       }</a:t>
            </a:r>
            <a:endParaRPr lang="en-US" altLang="zh-CN" sz="2400" dirty="0"/>
          </a:p>
          <a:p>
            <a:r>
              <a:rPr lang="en-US" altLang="zh-CN" sz="2400" dirty="0"/>
              <a:t>      public void Write() {</a:t>
            </a:r>
            <a:endParaRPr lang="en-US" altLang="zh-CN" sz="2400" dirty="0"/>
          </a:p>
          <a:p>
            <a:r>
              <a:rPr lang="en-US" altLang="zh-CN" sz="2400" dirty="0"/>
              <a:t>              </a:t>
            </a:r>
            <a:r>
              <a:rPr lang="en-US" altLang="zh-CN" sz="2400" dirty="0" err="1"/>
              <a:t>System.out.println</a:t>
            </a:r>
            <a:r>
              <a:rPr lang="en-US" altLang="zh-CN" sz="2400" dirty="0"/>
              <a:t>("Writing to </a:t>
            </a:r>
            <a:r>
              <a:rPr lang="en-US" altLang="zh-CN" sz="2400" dirty="0" err="1"/>
              <a:t>FlashDisk</a:t>
            </a:r>
            <a:r>
              <a:rPr lang="en-US" altLang="zh-CN" sz="2400" dirty="0"/>
              <a:t>……");</a:t>
            </a:r>
            <a:endParaRPr lang="en-US" altLang="zh-CN" sz="2400" dirty="0"/>
          </a:p>
          <a:p>
            <a:r>
              <a:rPr lang="en-US" altLang="zh-CN" sz="2400" dirty="0"/>
              <a:t>              </a:t>
            </a:r>
            <a:r>
              <a:rPr lang="en-US" altLang="zh-CN" sz="2400" dirty="0" err="1"/>
              <a:t>System.out.println</a:t>
            </a:r>
            <a:r>
              <a:rPr lang="en-US" altLang="zh-CN" sz="2400" dirty="0"/>
              <a:t>("Write finished!");</a:t>
            </a:r>
            <a:endParaRPr lang="en-US" altLang="zh-CN" sz="2400" dirty="0"/>
          </a:p>
          <a:p>
            <a:r>
              <a:rPr lang="en-US" altLang="zh-CN" sz="2400" dirty="0"/>
              <a:t>       }</a:t>
            </a:r>
            <a:endParaRPr lang="en-US" altLang="zh-CN" sz="2400" dirty="0"/>
          </a:p>
          <a:p>
            <a:r>
              <a:rPr lang="en-US" altLang="zh-CN" sz="2400" dirty="0"/>
              <a:t>}</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矩形 1"/>
          <p:cNvSpPr>
            <a:spLocks noChangeArrowheads="1"/>
          </p:cNvSpPr>
          <p:nvPr/>
        </p:nvSpPr>
        <p:spPr bwMode="auto">
          <a:xfrm>
            <a:off x="992161" y="1124555"/>
            <a:ext cx="8744639"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r>
              <a:rPr lang="en-US" altLang="zh-CN" sz="2400" dirty="0"/>
              <a:t>public class MP3Player implements </a:t>
            </a:r>
            <a:r>
              <a:rPr lang="en-US" altLang="zh-CN" sz="2400" dirty="0" err="1"/>
              <a:t>IMobileStorage</a:t>
            </a:r>
            <a:r>
              <a:rPr lang="en-US" altLang="zh-CN" sz="2400" dirty="0"/>
              <a:t>{</a:t>
            </a:r>
            <a:endParaRPr lang="en-US" altLang="zh-CN" sz="2400" dirty="0"/>
          </a:p>
          <a:p>
            <a:r>
              <a:rPr lang="en-US" altLang="zh-CN" sz="2400" dirty="0"/>
              <a:t>       public void Read() {</a:t>
            </a:r>
            <a:endParaRPr lang="en-US" altLang="zh-CN" sz="2400" dirty="0"/>
          </a:p>
          <a:p>
            <a:r>
              <a:rPr lang="en-US" altLang="zh-CN" sz="2400" dirty="0"/>
              <a:t>              </a:t>
            </a:r>
            <a:r>
              <a:rPr lang="en-US" altLang="zh-CN" sz="2400" dirty="0" err="1"/>
              <a:t>System.out.println</a:t>
            </a:r>
            <a:r>
              <a:rPr lang="en-US" altLang="zh-CN" sz="2400" dirty="0"/>
              <a:t>("Reading from MP3Player……");</a:t>
            </a:r>
            <a:endParaRPr lang="en-US" altLang="zh-CN" sz="2400" dirty="0"/>
          </a:p>
          <a:p>
            <a:r>
              <a:rPr lang="en-US" altLang="zh-CN" sz="2400" dirty="0"/>
              <a:t>              </a:t>
            </a:r>
            <a:r>
              <a:rPr lang="en-US" altLang="zh-CN" sz="2400" dirty="0" err="1"/>
              <a:t>System.out.println</a:t>
            </a:r>
            <a:r>
              <a:rPr lang="en-US" altLang="zh-CN" sz="2400" dirty="0"/>
              <a:t>("Read finished!");</a:t>
            </a:r>
            <a:endParaRPr lang="en-US" altLang="zh-CN" sz="2400" dirty="0"/>
          </a:p>
          <a:p>
            <a:r>
              <a:rPr lang="en-US" altLang="zh-CN" sz="2400" dirty="0"/>
              <a:t>       }</a:t>
            </a:r>
            <a:endParaRPr lang="en-US" altLang="zh-CN" sz="2400" dirty="0"/>
          </a:p>
          <a:p>
            <a:r>
              <a:rPr lang="en-US" altLang="zh-CN" sz="2400" dirty="0"/>
              <a:t>       public void Write() {</a:t>
            </a:r>
            <a:endParaRPr lang="en-US" altLang="zh-CN" sz="2400" dirty="0"/>
          </a:p>
          <a:p>
            <a:r>
              <a:rPr lang="en-US" altLang="zh-CN" sz="2400" dirty="0"/>
              <a:t>              </a:t>
            </a:r>
            <a:r>
              <a:rPr lang="en-US" altLang="zh-CN" sz="2400" dirty="0" err="1"/>
              <a:t>System.out.println</a:t>
            </a:r>
            <a:r>
              <a:rPr lang="en-US" altLang="zh-CN" sz="2400" dirty="0"/>
              <a:t>("Writing to MP3Player……");</a:t>
            </a:r>
            <a:endParaRPr lang="en-US" altLang="zh-CN" sz="2400" dirty="0"/>
          </a:p>
          <a:p>
            <a:r>
              <a:rPr lang="en-US" altLang="zh-CN" sz="2400" dirty="0"/>
              <a:t>              </a:t>
            </a:r>
            <a:r>
              <a:rPr lang="en-US" altLang="zh-CN" sz="2400" dirty="0" err="1"/>
              <a:t>System.out.println</a:t>
            </a:r>
            <a:r>
              <a:rPr lang="en-US" altLang="zh-CN" sz="2400" dirty="0"/>
              <a:t>("Write finished!");</a:t>
            </a:r>
            <a:endParaRPr lang="en-US" altLang="zh-CN" sz="2400" dirty="0"/>
          </a:p>
          <a:p>
            <a:r>
              <a:rPr lang="en-US" altLang="zh-CN" sz="2400" dirty="0"/>
              <a:t>        }</a:t>
            </a:r>
            <a:endParaRPr lang="en-US" altLang="zh-CN" sz="2400" dirty="0"/>
          </a:p>
          <a:p>
            <a:r>
              <a:rPr lang="en-US" altLang="zh-CN" sz="2400" dirty="0"/>
              <a:t>       public void </a:t>
            </a:r>
            <a:r>
              <a:rPr lang="en-US" altLang="zh-CN" sz="2400" dirty="0" err="1"/>
              <a:t>PlayMusic</a:t>
            </a:r>
            <a:r>
              <a:rPr lang="en-US" altLang="zh-CN" sz="2400" dirty="0"/>
              <a:t>(){</a:t>
            </a:r>
            <a:endParaRPr lang="en-US" altLang="zh-CN" sz="2400" dirty="0"/>
          </a:p>
          <a:p>
            <a:r>
              <a:rPr lang="en-US" altLang="zh-CN" sz="2400" dirty="0"/>
              <a:t>              </a:t>
            </a:r>
            <a:r>
              <a:rPr lang="en-US" altLang="zh-CN" sz="2400" dirty="0" err="1"/>
              <a:t>System.out.println</a:t>
            </a:r>
            <a:r>
              <a:rPr lang="en-US" altLang="zh-CN" sz="2400" dirty="0"/>
              <a:t>("Music is playing……");</a:t>
            </a:r>
            <a:endParaRPr lang="en-US" altLang="zh-CN" sz="2400" dirty="0"/>
          </a:p>
          <a:p>
            <a:r>
              <a:rPr lang="en-US" altLang="zh-CN" sz="2400" dirty="0"/>
              <a:t>    }</a:t>
            </a:r>
            <a:endParaRPr lang="en-US" altLang="zh-CN" sz="2400" dirty="0"/>
          </a:p>
          <a:p>
            <a:r>
              <a:rPr lang="en-US" altLang="zh-CN" sz="2400" dirty="0"/>
              <a:t>}</a:t>
            </a:r>
            <a:endParaRPr lang="zh-CN" altLang="en-US" sz="2400" dirty="0"/>
          </a:p>
        </p:txBody>
      </p:sp>
      <p:sp>
        <p:nvSpPr>
          <p:cNvPr id="3" name="矩形 2"/>
          <p:cNvSpPr/>
          <p:nvPr/>
        </p:nvSpPr>
        <p:spPr>
          <a:xfrm>
            <a:off x="286695" y="315757"/>
            <a:ext cx="2236510" cy="584775"/>
          </a:xfrm>
          <a:prstGeom prst="rect">
            <a:avLst/>
          </a:prstGeom>
        </p:spPr>
        <p:txBody>
          <a:bodyPr wrap="none">
            <a:spAutoFit/>
          </a:bodyPr>
          <a:lstStyle/>
          <a:p>
            <a:pPr>
              <a:defRPr/>
            </a:pPr>
            <a:r>
              <a:rPr lang="zh-CN" altLang="en-US" sz="3200" dirty="0">
                <a:solidFill>
                  <a:srgbClr val="FF0000"/>
                </a:solidFill>
                <a:latin typeface="宋体" panose="02010600030101010101" pitchFamily="2" charset="-122"/>
                <a:ea typeface="宋体" panose="02010600030101010101" pitchFamily="2" charset="-122"/>
              </a:rPr>
              <a:t>多态实例：</a:t>
            </a:r>
            <a:endParaRPr lang="en-US" altLang="zh-CN" sz="3200" dirty="0">
              <a:solidFill>
                <a:srgbClr val="FF0000"/>
              </a:solidFill>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矩形 1"/>
          <p:cNvSpPr>
            <a:spLocks noChangeArrowheads="1"/>
          </p:cNvSpPr>
          <p:nvPr/>
        </p:nvSpPr>
        <p:spPr bwMode="auto">
          <a:xfrm>
            <a:off x="1203917" y="1202138"/>
            <a:ext cx="8510530"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r>
              <a:rPr lang="en-US" altLang="zh-CN" sz="2400" dirty="0"/>
              <a:t>public class </a:t>
            </a:r>
            <a:r>
              <a:rPr lang="en-US" altLang="zh-CN" sz="2400" dirty="0" err="1"/>
              <a:t>MobileHardDisk</a:t>
            </a:r>
            <a:r>
              <a:rPr lang="en-US" altLang="zh-CN" sz="2400" dirty="0"/>
              <a:t> implements </a:t>
            </a:r>
            <a:r>
              <a:rPr lang="en-US" altLang="zh-CN" sz="2400" dirty="0" err="1"/>
              <a:t>IMobileStorage</a:t>
            </a:r>
            <a:r>
              <a:rPr lang="en-US" altLang="zh-CN" sz="2400" dirty="0"/>
              <a:t>{</a:t>
            </a:r>
            <a:endParaRPr lang="en-US" altLang="zh-CN" sz="2400" dirty="0"/>
          </a:p>
          <a:p>
            <a:r>
              <a:rPr lang="en-US" altLang="zh-CN" sz="2400" dirty="0"/>
              <a:t>       public void Read() {</a:t>
            </a:r>
            <a:endParaRPr lang="en-US" altLang="zh-CN" sz="2400" dirty="0"/>
          </a:p>
          <a:p>
            <a:r>
              <a:rPr lang="en-US" altLang="zh-CN" sz="2400" dirty="0"/>
              <a:t>             </a:t>
            </a:r>
            <a:r>
              <a:rPr lang="en-US" altLang="zh-CN" sz="2400" dirty="0" err="1"/>
              <a:t>System.out.println</a:t>
            </a:r>
            <a:r>
              <a:rPr lang="en-US" altLang="zh-CN" sz="2400" dirty="0"/>
              <a:t>("Reading from </a:t>
            </a:r>
            <a:r>
              <a:rPr lang="en-US" altLang="zh-CN" sz="2400" dirty="0" err="1"/>
              <a:t>MobileHardDisk</a:t>
            </a:r>
            <a:r>
              <a:rPr lang="en-US" altLang="zh-CN" sz="2400" dirty="0"/>
              <a:t>……");</a:t>
            </a:r>
            <a:endParaRPr lang="en-US" altLang="zh-CN" sz="2400" dirty="0"/>
          </a:p>
          <a:p>
            <a:r>
              <a:rPr lang="en-US" altLang="zh-CN" sz="2400" dirty="0"/>
              <a:t>             </a:t>
            </a:r>
            <a:r>
              <a:rPr lang="en-US" altLang="zh-CN" sz="2400" dirty="0" err="1"/>
              <a:t>System.out.println</a:t>
            </a:r>
            <a:r>
              <a:rPr lang="en-US" altLang="zh-CN" sz="2400" dirty="0"/>
              <a:t>("Read finished!");</a:t>
            </a:r>
            <a:endParaRPr lang="en-US" altLang="zh-CN" sz="2400" dirty="0"/>
          </a:p>
          <a:p>
            <a:r>
              <a:rPr lang="en-US" altLang="zh-CN" sz="2400" dirty="0"/>
              <a:t>       }</a:t>
            </a:r>
            <a:endParaRPr lang="en-US" altLang="zh-CN" sz="2400" dirty="0"/>
          </a:p>
          <a:p>
            <a:r>
              <a:rPr lang="en-US" altLang="zh-CN" sz="2400" dirty="0"/>
              <a:t>       public void Write() {</a:t>
            </a:r>
            <a:endParaRPr lang="en-US" altLang="zh-CN" sz="2400" dirty="0"/>
          </a:p>
          <a:p>
            <a:r>
              <a:rPr lang="en-US" altLang="zh-CN" sz="2400" dirty="0"/>
              <a:t>             </a:t>
            </a:r>
            <a:r>
              <a:rPr lang="en-US" altLang="zh-CN" sz="2400" dirty="0" err="1"/>
              <a:t>System.out.println</a:t>
            </a:r>
            <a:r>
              <a:rPr lang="en-US" altLang="zh-CN" sz="2400" dirty="0"/>
              <a:t>("Writing to </a:t>
            </a:r>
            <a:r>
              <a:rPr lang="en-US" altLang="zh-CN" sz="2400" dirty="0" err="1"/>
              <a:t>MobileHardDisk</a:t>
            </a:r>
            <a:r>
              <a:rPr lang="en-US" altLang="zh-CN" sz="2400" dirty="0"/>
              <a:t>……");</a:t>
            </a:r>
            <a:endParaRPr lang="en-US" altLang="zh-CN" sz="2400" dirty="0"/>
          </a:p>
          <a:p>
            <a:r>
              <a:rPr lang="en-US" altLang="zh-CN" sz="2400" dirty="0"/>
              <a:t>             </a:t>
            </a:r>
            <a:r>
              <a:rPr lang="en-US" altLang="zh-CN" sz="2400" dirty="0" err="1"/>
              <a:t>System.out.println</a:t>
            </a:r>
            <a:r>
              <a:rPr lang="en-US" altLang="zh-CN" sz="2400" dirty="0"/>
              <a:t>("Write finished!");</a:t>
            </a:r>
            <a:endParaRPr lang="en-US" altLang="zh-CN" sz="2400" dirty="0"/>
          </a:p>
          <a:p>
            <a:r>
              <a:rPr lang="en-US" altLang="zh-CN" sz="2400" dirty="0"/>
              <a:t>    }</a:t>
            </a:r>
            <a:endParaRPr lang="en-US" altLang="zh-CN" sz="2400" dirty="0"/>
          </a:p>
          <a:p>
            <a:r>
              <a:rPr lang="en-US" altLang="zh-CN" sz="2400" dirty="0"/>
              <a:t>}</a:t>
            </a:r>
            <a:endParaRPr lang="zh-CN" altLang="en-US" sz="2400" dirty="0"/>
          </a:p>
        </p:txBody>
      </p:sp>
      <p:sp>
        <p:nvSpPr>
          <p:cNvPr id="3" name="矩形 2"/>
          <p:cNvSpPr/>
          <p:nvPr/>
        </p:nvSpPr>
        <p:spPr>
          <a:xfrm>
            <a:off x="248194" y="556389"/>
            <a:ext cx="2236510" cy="584775"/>
          </a:xfrm>
          <a:prstGeom prst="rect">
            <a:avLst/>
          </a:prstGeom>
        </p:spPr>
        <p:txBody>
          <a:bodyPr wrap="none">
            <a:spAutoFit/>
          </a:bodyPr>
          <a:lstStyle/>
          <a:p>
            <a:pPr>
              <a:defRPr/>
            </a:pPr>
            <a:r>
              <a:rPr lang="zh-CN" altLang="en-US" sz="3200" dirty="0">
                <a:solidFill>
                  <a:srgbClr val="FF0000"/>
                </a:solidFill>
                <a:latin typeface="宋体" panose="02010600030101010101" pitchFamily="2" charset="-122"/>
                <a:ea typeface="宋体" panose="02010600030101010101" pitchFamily="2" charset="-122"/>
              </a:rPr>
              <a:t>多态实例：</a:t>
            </a:r>
            <a:endParaRPr lang="en-US" altLang="zh-CN" sz="3200" dirty="0">
              <a:solidFill>
                <a:srgbClr val="FF0000"/>
              </a:solidFill>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矩形 1"/>
          <p:cNvSpPr>
            <a:spLocks noChangeArrowheads="1"/>
          </p:cNvSpPr>
          <p:nvPr/>
        </p:nvSpPr>
        <p:spPr bwMode="auto">
          <a:xfrm>
            <a:off x="1200816" y="1034824"/>
            <a:ext cx="8667177" cy="594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r>
              <a:rPr lang="en-US" altLang="zh-CN" dirty="0"/>
              <a:t>public class Computer {</a:t>
            </a:r>
            <a:endParaRPr lang="en-US" altLang="zh-CN" dirty="0"/>
          </a:p>
          <a:p>
            <a:r>
              <a:rPr lang="en-US" altLang="zh-CN" dirty="0"/>
              <a:t>       private </a:t>
            </a:r>
            <a:r>
              <a:rPr lang="en-US" altLang="zh-CN" dirty="0" err="1"/>
              <a:t>IMobileStorage</a:t>
            </a:r>
            <a:r>
              <a:rPr lang="en-US" altLang="zh-CN" dirty="0"/>
              <a:t> _</a:t>
            </a:r>
            <a:r>
              <a:rPr lang="en-US" altLang="zh-CN" dirty="0" err="1"/>
              <a:t>usbDrive</a:t>
            </a:r>
            <a:r>
              <a:rPr lang="en-US" altLang="zh-CN" dirty="0"/>
              <a:t>;</a:t>
            </a:r>
            <a:endParaRPr lang="en-US" altLang="zh-CN" dirty="0"/>
          </a:p>
          <a:p>
            <a:r>
              <a:rPr lang="en-US" altLang="zh-CN" dirty="0"/>
              <a:t>       public </a:t>
            </a:r>
            <a:r>
              <a:rPr lang="en-US" altLang="zh-CN" dirty="0" err="1"/>
              <a:t>IMobileStorage</a:t>
            </a:r>
            <a:r>
              <a:rPr lang="en-US" altLang="zh-CN" dirty="0"/>
              <a:t> </a:t>
            </a:r>
            <a:r>
              <a:rPr lang="en-US" altLang="zh-CN" dirty="0" err="1"/>
              <a:t>get_usbDrive</a:t>
            </a:r>
            <a:r>
              <a:rPr lang="en-US" altLang="zh-CN" dirty="0"/>
              <a:t>() {</a:t>
            </a:r>
            <a:endParaRPr lang="en-US" altLang="zh-CN" dirty="0"/>
          </a:p>
          <a:p>
            <a:r>
              <a:rPr lang="en-US" altLang="zh-CN" dirty="0"/>
              <a:t>              return _</a:t>
            </a:r>
            <a:r>
              <a:rPr lang="en-US" altLang="zh-CN" dirty="0" err="1"/>
              <a:t>usbDrive</a:t>
            </a:r>
            <a:r>
              <a:rPr lang="en-US" altLang="zh-CN" dirty="0"/>
              <a:t>;</a:t>
            </a:r>
            <a:endParaRPr lang="en-US" altLang="zh-CN" dirty="0"/>
          </a:p>
          <a:p>
            <a:r>
              <a:rPr lang="en-US" altLang="zh-CN" dirty="0"/>
              <a:t>       }</a:t>
            </a:r>
            <a:endParaRPr lang="en-US" altLang="zh-CN" dirty="0"/>
          </a:p>
          <a:p>
            <a:r>
              <a:rPr lang="en-US" altLang="zh-CN" dirty="0"/>
              <a:t>       public void </a:t>
            </a:r>
            <a:r>
              <a:rPr lang="en-US" altLang="zh-CN" dirty="0" err="1"/>
              <a:t>set_usbDrive</a:t>
            </a:r>
            <a:r>
              <a:rPr lang="en-US" altLang="zh-CN" dirty="0"/>
              <a:t>(</a:t>
            </a:r>
            <a:r>
              <a:rPr lang="en-US" altLang="zh-CN" dirty="0" err="1"/>
              <a:t>IMobileStorage</a:t>
            </a:r>
            <a:r>
              <a:rPr lang="en-US" altLang="zh-CN" dirty="0"/>
              <a:t> _</a:t>
            </a:r>
            <a:r>
              <a:rPr lang="en-US" altLang="zh-CN" dirty="0" err="1"/>
              <a:t>usbDrive</a:t>
            </a:r>
            <a:r>
              <a:rPr lang="en-US" altLang="zh-CN" dirty="0"/>
              <a:t>) {</a:t>
            </a:r>
            <a:endParaRPr lang="en-US" altLang="zh-CN" dirty="0"/>
          </a:p>
          <a:p>
            <a:r>
              <a:rPr lang="en-US" altLang="zh-CN" dirty="0"/>
              <a:t>              this._</a:t>
            </a:r>
            <a:r>
              <a:rPr lang="en-US" altLang="zh-CN" dirty="0" err="1"/>
              <a:t>usbDrive</a:t>
            </a:r>
            <a:r>
              <a:rPr lang="en-US" altLang="zh-CN" dirty="0"/>
              <a:t> = _</a:t>
            </a:r>
            <a:r>
              <a:rPr lang="en-US" altLang="zh-CN" dirty="0" err="1"/>
              <a:t>usbDrive</a:t>
            </a:r>
            <a:r>
              <a:rPr lang="en-US" altLang="zh-CN" dirty="0"/>
              <a:t>;</a:t>
            </a:r>
            <a:endParaRPr lang="en-US" altLang="zh-CN" dirty="0"/>
          </a:p>
          <a:p>
            <a:r>
              <a:rPr lang="en-US" altLang="zh-CN" dirty="0"/>
              <a:t>       }</a:t>
            </a:r>
            <a:endParaRPr lang="en-US" altLang="zh-CN" dirty="0"/>
          </a:p>
          <a:p>
            <a:r>
              <a:rPr lang="en-US" altLang="zh-CN" dirty="0"/>
              <a:t>       public Computer(){    }</a:t>
            </a:r>
            <a:endParaRPr lang="en-US" altLang="zh-CN" dirty="0"/>
          </a:p>
          <a:p>
            <a:r>
              <a:rPr lang="en-US" altLang="zh-CN" dirty="0"/>
              <a:t>       public Computer(</a:t>
            </a:r>
            <a:r>
              <a:rPr lang="en-US" altLang="zh-CN" dirty="0" err="1"/>
              <a:t>IMobileStorage</a:t>
            </a:r>
            <a:r>
              <a:rPr lang="en-US" altLang="zh-CN" dirty="0"/>
              <a:t> _</a:t>
            </a:r>
            <a:r>
              <a:rPr lang="en-US" altLang="zh-CN" dirty="0" err="1"/>
              <a:t>usbDrive</a:t>
            </a:r>
            <a:r>
              <a:rPr lang="en-US" altLang="zh-CN" dirty="0"/>
              <a:t>) {</a:t>
            </a:r>
            <a:endParaRPr lang="en-US" altLang="zh-CN" dirty="0"/>
          </a:p>
          <a:p>
            <a:r>
              <a:rPr lang="en-US" altLang="zh-CN" dirty="0"/>
              <a:t>             this._</a:t>
            </a:r>
            <a:r>
              <a:rPr lang="en-US" altLang="zh-CN" dirty="0" err="1"/>
              <a:t>usbDrive</a:t>
            </a:r>
            <a:r>
              <a:rPr lang="en-US" altLang="zh-CN" dirty="0"/>
              <a:t> = _</a:t>
            </a:r>
            <a:r>
              <a:rPr lang="en-US" altLang="zh-CN" dirty="0" err="1"/>
              <a:t>usbDrive</a:t>
            </a:r>
            <a:r>
              <a:rPr lang="en-US" altLang="zh-CN" dirty="0"/>
              <a:t>;</a:t>
            </a:r>
            <a:endParaRPr lang="en-US" altLang="zh-CN" dirty="0"/>
          </a:p>
          <a:p>
            <a:r>
              <a:rPr lang="en-US" altLang="zh-CN" dirty="0"/>
              <a:t>        }</a:t>
            </a:r>
            <a:endParaRPr lang="en-US" altLang="zh-CN" dirty="0"/>
          </a:p>
          <a:p>
            <a:r>
              <a:rPr lang="en-US" altLang="zh-CN" dirty="0"/>
              <a:t>       public void </a:t>
            </a:r>
            <a:r>
              <a:rPr lang="en-US" altLang="zh-CN" dirty="0" err="1"/>
              <a:t>ReadData</a:t>
            </a:r>
            <a:r>
              <a:rPr lang="en-US" altLang="zh-CN" dirty="0"/>
              <a:t>(){</a:t>
            </a:r>
            <a:endParaRPr lang="en-US" altLang="zh-CN" dirty="0"/>
          </a:p>
          <a:p>
            <a:r>
              <a:rPr lang="en-US" altLang="zh-CN" dirty="0"/>
              <a:t>             this._</a:t>
            </a:r>
            <a:r>
              <a:rPr lang="en-US" altLang="zh-CN" dirty="0" err="1"/>
              <a:t>usbDrive.Read</a:t>
            </a:r>
            <a:r>
              <a:rPr lang="en-US" altLang="zh-CN" dirty="0"/>
              <a:t>();</a:t>
            </a:r>
            <a:endParaRPr lang="en-US" altLang="zh-CN" dirty="0"/>
          </a:p>
          <a:p>
            <a:r>
              <a:rPr lang="en-US" altLang="zh-CN" dirty="0"/>
              <a:t>       }</a:t>
            </a:r>
            <a:endParaRPr lang="en-US" altLang="zh-CN" dirty="0"/>
          </a:p>
          <a:p>
            <a:r>
              <a:rPr lang="en-US" altLang="zh-CN" dirty="0"/>
              <a:t>       public void </a:t>
            </a:r>
            <a:r>
              <a:rPr lang="en-US" altLang="zh-CN" dirty="0" err="1"/>
              <a:t>WriteData</a:t>
            </a:r>
            <a:r>
              <a:rPr lang="en-US" altLang="zh-CN" dirty="0"/>
              <a:t>(){</a:t>
            </a:r>
            <a:endParaRPr lang="en-US" altLang="zh-CN" dirty="0"/>
          </a:p>
          <a:p>
            <a:r>
              <a:rPr lang="en-US" altLang="zh-CN" dirty="0"/>
              <a:t>             this._</a:t>
            </a:r>
            <a:r>
              <a:rPr lang="en-US" altLang="zh-CN" dirty="0" err="1"/>
              <a:t>usbDrive.Write</a:t>
            </a:r>
            <a:r>
              <a:rPr lang="en-US" altLang="zh-CN" dirty="0"/>
              <a:t>();</a:t>
            </a:r>
            <a:endParaRPr lang="en-US" altLang="zh-CN" dirty="0"/>
          </a:p>
          <a:p>
            <a:r>
              <a:rPr lang="en-US" altLang="zh-CN" dirty="0"/>
              <a:t>    }</a:t>
            </a:r>
            <a:endParaRPr lang="en-US" altLang="zh-CN" dirty="0"/>
          </a:p>
          <a:p>
            <a:r>
              <a:rPr lang="en-US" altLang="zh-CN" dirty="0"/>
              <a:t>}</a:t>
            </a:r>
            <a:endParaRPr lang="zh-CN" altLang="en-US" dirty="0"/>
          </a:p>
        </p:txBody>
      </p:sp>
      <p:sp>
        <p:nvSpPr>
          <p:cNvPr id="3" name="矩形 2"/>
          <p:cNvSpPr/>
          <p:nvPr/>
        </p:nvSpPr>
        <p:spPr>
          <a:xfrm>
            <a:off x="219318" y="363884"/>
            <a:ext cx="2236510" cy="584775"/>
          </a:xfrm>
          <a:prstGeom prst="rect">
            <a:avLst/>
          </a:prstGeom>
        </p:spPr>
        <p:txBody>
          <a:bodyPr wrap="none">
            <a:spAutoFit/>
          </a:bodyPr>
          <a:lstStyle/>
          <a:p>
            <a:pPr>
              <a:defRPr/>
            </a:pPr>
            <a:r>
              <a:rPr lang="zh-CN" altLang="en-US" sz="3200" dirty="0">
                <a:solidFill>
                  <a:srgbClr val="FF0000"/>
                </a:solidFill>
                <a:latin typeface="宋体" panose="02010600030101010101" pitchFamily="2" charset="-122"/>
                <a:ea typeface="宋体" panose="02010600030101010101" pitchFamily="2" charset="-122"/>
              </a:rPr>
              <a:t>多态实例：</a:t>
            </a:r>
            <a:endParaRPr lang="en-US" altLang="zh-CN" sz="3200" dirty="0">
              <a:solidFill>
                <a:srgbClr val="FF0000"/>
              </a:solidFill>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矩形 1"/>
          <p:cNvSpPr>
            <a:spLocks noChangeArrowheads="1"/>
          </p:cNvSpPr>
          <p:nvPr/>
        </p:nvSpPr>
        <p:spPr bwMode="auto">
          <a:xfrm>
            <a:off x="1376713" y="813906"/>
            <a:ext cx="10366108" cy="5699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r>
              <a:rPr lang="en-US" altLang="zh-CN" sz="1735" dirty="0"/>
              <a:t>public class </a:t>
            </a:r>
            <a:r>
              <a:rPr lang="en-US" altLang="zh-CN" sz="1735" dirty="0" err="1"/>
              <a:t>ToTest</a:t>
            </a:r>
            <a:r>
              <a:rPr lang="en-US" altLang="zh-CN" sz="1735" dirty="0"/>
              <a:t> {</a:t>
            </a:r>
            <a:endParaRPr lang="en-US" altLang="zh-CN" sz="1735" dirty="0"/>
          </a:p>
          <a:p>
            <a:r>
              <a:rPr lang="en-US" altLang="zh-CN" sz="1735" dirty="0"/>
              <a:t>       public static void main(String[] </a:t>
            </a:r>
            <a:r>
              <a:rPr lang="en-US" altLang="zh-CN" sz="1735" dirty="0" err="1"/>
              <a:t>args</a:t>
            </a:r>
            <a:r>
              <a:rPr lang="en-US" altLang="zh-CN" sz="1735" dirty="0"/>
              <a:t>){</a:t>
            </a:r>
            <a:endParaRPr lang="en-US" altLang="zh-CN" sz="1735" dirty="0"/>
          </a:p>
          <a:p>
            <a:r>
              <a:rPr lang="en-US" altLang="zh-CN" sz="1735" dirty="0"/>
              <a:t>              Computer </a:t>
            </a:r>
            <a:r>
              <a:rPr lang="en-US" altLang="zh-CN" sz="1735" dirty="0" err="1"/>
              <a:t>computer</a:t>
            </a:r>
            <a:r>
              <a:rPr lang="en-US" altLang="zh-CN" sz="1735" dirty="0"/>
              <a:t> = new Computer();</a:t>
            </a:r>
            <a:endParaRPr lang="en-US" altLang="zh-CN" sz="1735" dirty="0"/>
          </a:p>
          <a:p>
            <a:r>
              <a:rPr lang="en-US" altLang="zh-CN" sz="1735" dirty="0"/>
              <a:t>              </a:t>
            </a:r>
            <a:r>
              <a:rPr lang="en-US" altLang="zh-CN" sz="1735" dirty="0" err="1"/>
              <a:t>IMobileStorage</a:t>
            </a:r>
            <a:r>
              <a:rPr lang="en-US" altLang="zh-CN" sz="1735" dirty="0"/>
              <a:t> mp3Player = new MP3Player();</a:t>
            </a:r>
            <a:endParaRPr lang="en-US" altLang="zh-CN" sz="1735" dirty="0"/>
          </a:p>
          <a:p>
            <a:r>
              <a:rPr lang="en-US" altLang="zh-CN" sz="1735" dirty="0"/>
              <a:t>              </a:t>
            </a:r>
            <a:r>
              <a:rPr lang="en-US" altLang="zh-CN" sz="1735" dirty="0" err="1"/>
              <a:t>IMobileStorage</a:t>
            </a:r>
            <a:r>
              <a:rPr lang="en-US" altLang="zh-CN" sz="1735" dirty="0"/>
              <a:t> </a:t>
            </a:r>
            <a:r>
              <a:rPr lang="en-US" altLang="zh-CN" sz="1735" dirty="0" err="1"/>
              <a:t>flashDisk</a:t>
            </a:r>
            <a:r>
              <a:rPr lang="en-US" altLang="zh-CN" sz="1735" dirty="0"/>
              <a:t> = new </a:t>
            </a:r>
            <a:r>
              <a:rPr lang="en-US" altLang="zh-CN" sz="1735" dirty="0" err="1"/>
              <a:t>FlashDisk</a:t>
            </a:r>
            <a:r>
              <a:rPr lang="en-US" altLang="zh-CN" sz="1735" dirty="0"/>
              <a:t>();</a:t>
            </a:r>
            <a:endParaRPr lang="en-US" altLang="zh-CN" sz="1735" dirty="0"/>
          </a:p>
          <a:p>
            <a:r>
              <a:rPr lang="en-US" altLang="zh-CN" sz="1735" dirty="0"/>
              <a:t>              </a:t>
            </a:r>
            <a:r>
              <a:rPr lang="en-US" altLang="zh-CN" sz="1735" dirty="0" err="1"/>
              <a:t>IMobileStorage</a:t>
            </a:r>
            <a:r>
              <a:rPr lang="en-US" altLang="zh-CN" sz="1735" dirty="0"/>
              <a:t> </a:t>
            </a:r>
            <a:r>
              <a:rPr lang="en-US" altLang="zh-CN" sz="1735" dirty="0" err="1"/>
              <a:t>moblieHardDisk</a:t>
            </a:r>
            <a:r>
              <a:rPr lang="en-US" altLang="zh-CN" sz="1735" dirty="0"/>
              <a:t> = new </a:t>
            </a:r>
            <a:r>
              <a:rPr lang="en-US" altLang="zh-CN" sz="1735" dirty="0" err="1"/>
              <a:t>MobileHardDisk</a:t>
            </a:r>
            <a:r>
              <a:rPr lang="en-US" altLang="zh-CN" sz="1735" dirty="0"/>
              <a:t>();</a:t>
            </a:r>
            <a:endParaRPr lang="en-US" altLang="zh-CN" sz="1735" dirty="0"/>
          </a:p>
          <a:p>
            <a:r>
              <a:rPr lang="en-US" altLang="zh-CN" sz="1735" dirty="0"/>
              <a:t>              </a:t>
            </a:r>
            <a:r>
              <a:rPr lang="en-US" altLang="zh-CN" sz="1735" dirty="0" err="1"/>
              <a:t>System.out.println</a:t>
            </a:r>
            <a:r>
              <a:rPr lang="en-US" altLang="zh-CN" sz="1735" dirty="0"/>
              <a:t>("I inserted my MP3 Player into my computer and copy some music to it:");</a:t>
            </a:r>
            <a:endParaRPr lang="en-US" altLang="zh-CN" sz="1735" dirty="0"/>
          </a:p>
          <a:p>
            <a:r>
              <a:rPr lang="en-US" altLang="zh-CN" sz="1735" dirty="0"/>
              <a:t>              </a:t>
            </a:r>
            <a:r>
              <a:rPr lang="en-US" altLang="zh-CN" sz="1735" dirty="0" err="1"/>
              <a:t>computer.set_usbDrive</a:t>
            </a:r>
            <a:r>
              <a:rPr lang="en-US" altLang="zh-CN" sz="1735" dirty="0"/>
              <a:t>(mp3Player);</a:t>
            </a:r>
            <a:endParaRPr lang="en-US" altLang="zh-CN" sz="1735" dirty="0"/>
          </a:p>
          <a:p>
            <a:r>
              <a:rPr lang="en-US" altLang="zh-CN" sz="1735" dirty="0"/>
              <a:t>              </a:t>
            </a:r>
            <a:r>
              <a:rPr lang="en-US" altLang="zh-CN" sz="1735" dirty="0" err="1"/>
              <a:t>computer.WriteData</a:t>
            </a:r>
            <a:r>
              <a:rPr lang="en-US" altLang="zh-CN" sz="1735" dirty="0"/>
              <a:t>();</a:t>
            </a:r>
            <a:endParaRPr lang="en-US" altLang="zh-CN" sz="1735" dirty="0"/>
          </a:p>
          <a:p>
            <a:r>
              <a:rPr lang="en-US" altLang="zh-CN" sz="1735" dirty="0"/>
              <a:t>              </a:t>
            </a:r>
            <a:r>
              <a:rPr lang="en-US" altLang="zh-CN" sz="1735" dirty="0" err="1"/>
              <a:t>System.out.println</a:t>
            </a:r>
            <a:r>
              <a:rPr lang="en-US" altLang="zh-CN" sz="1735" dirty="0"/>
              <a:t>("====================");</a:t>
            </a:r>
            <a:endParaRPr lang="en-US" altLang="zh-CN" sz="1735" dirty="0"/>
          </a:p>
          <a:p>
            <a:r>
              <a:rPr lang="en-US" altLang="zh-CN" sz="1735" dirty="0"/>
              <a:t>              </a:t>
            </a:r>
            <a:r>
              <a:rPr lang="en-US" altLang="zh-CN" sz="1735" dirty="0" err="1"/>
              <a:t>System.out.println</a:t>
            </a:r>
            <a:r>
              <a:rPr lang="en-US" altLang="zh-CN" sz="1735" dirty="0"/>
              <a:t>("</a:t>
            </a:r>
            <a:r>
              <a:rPr lang="en-US" altLang="zh-CN" sz="1735" dirty="0" err="1"/>
              <a:t>Well,I</a:t>
            </a:r>
            <a:r>
              <a:rPr lang="en-US" altLang="zh-CN" sz="1735" dirty="0"/>
              <a:t> also want to copy a great movie to my computer from a mobile hard disk:");</a:t>
            </a:r>
            <a:endParaRPr lang="en-US" altLang="zh-CN" sz="1735" dirty="0"/>
          </a:p>
          <a:p>
            <a:r>
              <a:rPr lang="en-US" altLang="zh-CN" sz="1735" dirty="0"/>
              <a:t>              </a:t>
            </a:r>
            <a:r>
              <a:rPr lang="en-US" altLang="zh-CN" sz="1735" dirty="0" err="1"/>
              <a:t>computer.set_usbDrive</a:t>
            </a:r>
            <a:r>
              <a:rPr lang="en-US" altLang="zh-CN" sz="1735" dirty="0"/>
              <a:t>(</a:t>
            </a:r>
            <a:r>
              <a:rPr lang="en-US" altLang="zh-CN" sz="1735" dirty="0" err="1"/>
              <a:t>moblieHardDisk</a:t>
            </a:r>
            <a:r>
              <a:rPr lang="en-US" altLang="zh-CN" sz="1735" dirty="0"/>
              <a:t>);</a:t>
            </a:r>
            <a:endParaRPr lang="en-US" altLang="zh-CN" sz="1735" dirty="0"/>
          </a:p>
          <a:p>
            <a:r>
              <a:rPr lang="en-US" altLang="zh-CN" sz="1735" dirty="0"/>
              <a:t>              </a:t>
            </a:r>
            <a:r>
              <a:rPr lang="en-US" altLang="zh-CN" sz="1735" dirty="0" err="1"/>
              <a:t>computer.ReadData</a:t>
            </a:r>
            <a:r>
              <a:rPr lang="en-US" altLang="zh-CN" sz="1735" dirty="0"/>
              <a:t>();</a:t>
            </a:r>
            <a:endParaRPr lang="en-US" altLang="zh-CN" sz="1735" dirty="0"/>
          </a:p>
          <a:p>
            <a:r>
              <a:rPr lang="en-US" altLang="zh-CN" sz="1735" dirty="0"/>
              <a:t>              </a:t>
            </a:r>
            <a:r>
              <a:rPr lang="en-US" altLang="zh-CN" sz="1735" dirty="0" err="1"/>
              <a:t>System.out.println</a:t>
            </a:r>
            <a:r>
              <a:rPr lang="en-US" altLang="zh-CN" sz="1735" dirty="0"/>
              <a:t>("====================");</a:t>
            </a:r>
            <a:endParaRPr lang="en-US" altLang="zh-CN" sz="1735" dirty="0"/>
          </a:p>
          <a:p>
            <a:r>
              <a:rPr lang="en-US" altLang="zh-CN" sz="1735" dirty="0"/>
              <a:t>              </a:t>
            </a:r>
            <a:r>
              <a:rPr lang="en-US" altLang="zh-CN" sz="1735" dirty="0" err="1"/>
              <a:t>System.out.println</a:t>
            </a:r>
            <a:r>
              <a:rPr lang="en-US" altLang="zh-CN" sz="1735" dirty="0"/>
              <a:t>("OK!I have to read some files from my flash disk and copy another file to it:");</a:t>
            </a:r>
            <a:endParaRPr lang="en-US" altLang="zh-CN" sz="1735" dirty="0"/>
          </a:p>
          <a:p>
            <a:r>
              <a:rPr lang="en-US" altLang="zh-CN" sz="1735" dirty="0"/>
              <a:t>              </a:t>
            </a:r>
            <a:r>
              <a:rPr lang="en-US" altLang="zh-CN" sz="1735" dirty="0" err="1"/>
              <a:t>computer.set_usbDrive</a:t>
            </a:r>
            <a:r>
              <a:rPr lang="en-US" altLang="zh-CN" sz="1735" dirty="0"/>
              <a:t>(</a:t>
            </a:r>
            <a:r>
              <a:rPr lang="en-US" altLang="zh-CN" sz="1735" dirty="0" err="1"/>
              <a:t>flashDisk</a:t>
            </a:r>
            <a:r>
              <a:rPr lang="en-US" altLang="zh-CN" sz="1735" dirty="0"/>
              <a:t>);</a:t>
            </a:r>
            <a:endParaRPr lang="en-US" altLang="zh-CN" sz="1735" dirty="0"/>
          </a:p>
          <a:p>
            <a:r>
              <a:rPr lang="en-US" altLang="zh-CN" sz="1735" dirty="0"/>
              <a:t>              </a:t>
            </a:r>
            <a:r>
              <a:rPr lang="en-US" altLang="zh-CN" sz="1735" dirty="0" err="1"/>
              <a:t>computer.ReadData</a:t>
            </a:r>
            <a:r>
              <a:rPr lang="en-US" altLang="zh-CN" sz="1735" dirty="0"/>
              <a:t>();</a:t>
            </a:r>
            <a:endParaRPr lang="en-US" altLang="zh-CN" sz="1735" dirty="0"/>
          </a:p>
          <a:p>
            <a:r>
              <a:rPr lang="en-US" altLang="zh-CN" sz="1735" dirty="0"/>
              <a:t>              </a:t>
            </a:r>
            <a:r>
              <a:rPr lang="en-US" altLang="zh-CN" sz="1735" dirty="0" err="1"/>
              <a:t>computer.WriteData</a:t>
            </a:r>
            <a:r>
              <a:rPr lang="en-US" altLang="zh-CN" sz="1735" dirty="0"/>
              <a:t>();</a:t>
            </a:r>
            <a:endParaRPr lang="en-US" altLang="zh-CN" sz="1735" dirty="0"/>
          </a:p>
          <a:p>
            <a:r>
              <a:rPr lang="en-US" altLang="zh-CN" sz="1735" dirty="0"/>
              <a:t>              </a:t>
            </a:r>
            <a:r>
              <a:rPr lang="en-US" altLang="zh-CN" sz="1735" dirty="0" err="1"/>
              <a:t>System.out.println</a:t>
            </a:r>
            <a:r>
              <a:rPr lang="en-US" altLang="zh-CN" sz="1735" dirty="0"/>
              <a:t>();</a:t>
            </a:r>
            <a:endParaRPr lang="en-US" altLang="zh-CN" sz="1735" dirty="0"/>
          </a:p>
          <a:p>
            <a:r>
              <a:rPr lang="en-US" altLang="zh-CN" sz="1735" dirty="0"/>
              <a:t>    }</a:t>
            </a:r>
            <a:endParaRPr lang="zh-CN" altLang="en-US" sz="1735" dirty="0"/>
          </a:p>
        </p:txBody>
      </p:sp>
      <p:sp>
        <p:nvSpPr>
          <p:cNvPr id="3" name="矩形 2"/>
          <p:cNvSpPr/>
          <p:nvPr/>
        </p:nvSpPr>
        <p:spPr>
          <a:xfrm>
            <a:off x="132691" y="229131"/>
            <a:ext cx="2236510" cy="584775"/>
          </a:xfrm>
          <a:prstGeom prst="rect">
            <a:avLst/>
          </a:prstGeom>
        </p:spPr>
        <p:txBody>
          <a:bodyPr wrap="none">
            <a:spAutoFit/>
          </a:bodyPr>
          <a:lstStyle/>
          <a:p>
            <a:pPr>
              <a:defRPr/>
            </a:pPr>
            <a:r>
              <a:rPr lang="zh-CN" altLang="en-US" sz="3200" dirty="0">
                <a:solidFill>
                  <a:srgbClr val="FF0000"/>
                </a:solidFill>
                <a:latin typeface="宋体" panose="02010600030101010101" pitchFamily="2" charset="-122"/>
                <a:ea typeface="宋体" panose="02010600030101010101" pitchFamily="2" charset="-122"/>
              </a:rPr>
              <a:t>多态实例：</a:t>
            </a:r>
            <a:endParaRPr lang="en-US" altLang="zh-CN" sz="3200" dirty="0">
              <a:solidFill>
                <a:srgbClr val="FF0000"/>
              </a:solidFill>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450" name="Picture 2" descr="图2.1 各种移动存储设备测试结果"/>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87904" y="1513541"/>
            <a:ext cx="8885792" cy="4243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132691" y="229131"/>
            <a:ext cx="2236510" cy="584775"/>
          </a:xfrm>
          <a:prstGeom prst="rect">
            <a:avLst/>
          </a:prstGeom>
        </p:spPr>
        <p:txBody>
          <a:bodyPr wrap="none">
            <a:spAutoFit/>
          </a:bodyPr>
          <a:lstStyle/>
          <a:p>
            <a:pPr>
              <a:defRPr/>
            </a:pPr>
            <a:r>
              <a:rPr lang="zh-CN" altLang="en-US" sz="3200" dirty="0">
                <a:solidFill>
                  <a:srgbClr val="FF0000"/>
                </a:solidFill>
                <a:latin typeface="宋体" panose="02010600030101010101" pitchFamily="2" charset="-122"/>
                <a:ea typeface="宋体" panose="02010600030101010101" pitchFamily="2" charset="-122"/>
              </a:rPr>
              <a:t>多态实例：</a:t>
            </a:r>
            <a:endParaRPr lang="en-US" altLang="zh-CN" sz="3200" dirty="0">
              <a:solidFill>
                <a:srgbClr val="FF0000"/>
              </a:solidFill>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矩形 1"/>
          <p:cNvSpPr>
            <a:spLocks noChangeArrowheads="1"/>
          </p:cNvSpPr>
          <p:nvPr/>
        </p:nvSpPr>
        <p:spPr bwMode="auto">
          <a:xfrm>
            <a:off x="1105024" y="1227213"/>
            <a:ext cx="8355605"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r>
              <a:rPr lang="zh-CN" altLang="en-US" sz="2800" b="0" dirty="0"/>
              <a:t>改进一：</a:t>
            </a:r>
            <a:endParaRPr lang="en-US" altLang="zh-CN" sz="2800" b="0" dirty="0"/>
          </a:p>
          <a:p>
            <a:r>
              <a:rPr lang="zh-CN" altLang="en-US" sz="2800" b="0" dirty="0"/>
              <a:t>出现新的移动存储设备</a:t>
            </a:r>
            <a:r>
              <a:rPr lang="en-US" altLang="zh-CN" sz="2800" b="0" dirty="0" err="1"/>
              <a:t>NewMobileStorage</a:t>
            </a:r>
            <a:r>
              <a:rPr lang="zh-CN" altLang="en-US" sz="2800" b="0" dirty="0"/>
              <a:t>，根据需求增加新的移动存储设备</a:t>
            </a:r>
            <a:r>
              <a:rPr lang="en-US" altLang="zh-CN" sz="2800" b="0" dirty="0" err="1"/>
              <a:t>NewMobileStorage</a:t>
            </a:r>
            <a:r>
              <a:rPr lang="zh-CN" altLang="en-US" sz="2800" b="0" dirty="0"/>
              <a:t>，定义与前面移动存储设备类似，在测试类中增加下述代码：</a:t>
            </a:r>
            <a:endParaRPr lang="zh-CN" altLang="en-US" sz="2800" dirty="0"/>
          </a:p>
        </p:txBody>
      </p:sp>
      <p:sp>
        <p:nvSpPr>
          <p:cNvPr id="105475" name="矩形 2"/>
          <p:cNvSpPr>
            <a:spLocks noChangeArrowheads="1"/>
          </p:cNvSpPr>
          <p:nvPr/>
        </p:nvSpPr>
        <p:spPr bwMode="auto">
          <a:xfrm>
            <a:off x="963745" y="2860215"/>
            <a:ext cx="9845425"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r>
              <a:rPr lang="en-US" altLang="zh-CN" sz="2400" dirty="0"/>
              <a:t> </a:t>
            </a:r>
            <a:endParaRPr lang="en-US" altLang="zh-CN" sz="2400" dirty="0"/>
          </a:p>
          <a:p>
            <a:r>
              <a:rPr lang="en-US" altLang="zh-CN" sz="2400" dirty="0"/>
              <a:t>        Computer </a:t>
            </a:r>
            <a:r>
              <a:rPr lang="en-US" altLang="zh-CN" sz="2400" dirty="0" err="1"/>
              <a:t>computer</a:t>
            </a:r>
            <a:r>
              <a:rPr lang="en-US" altLang="zh-CN" sz="2400" dirty="0"/>
              <a:t> = new Computer();</a:t>
            </a:r>
            <a:endParaRPr lang="en-US" altLang="zh-CN" sz="2400" dirty="0"/>
          </a:p>
          <a:p>
            <a:r>
              <a:rPr lang="en-US" altLang="zh-CN" sz="2400" dirty="0"/>
              <a:t>        </a:t>
            </a:r>
            <a:r>
              <a:rPr lang="en-US" altLang="zh-CN" sz="2400" dirty="0" err="1"/>
              <a:t>IMobileStorage</a:t>
            </a:r>
            <a:r>
              <a:rPr lang="en-US" altLang="zh-CN" sz="2400" dirty="0"/>
              <a:t> </a:t>
            </a:r>
            <a:r>
              <a:rPr lang="en-US" altLang="zh-CN" sz="2400" dirty="0" err="1"/>
              <a:t>newMobileStorage</a:t>
            </a:r>
            <a:r>
              <a:rPr lang="en-US" altLang="zh-CN" sz="2400" dirty="0"/>
              <a:t> = new </a:t>
            </a:r>
            <a:r>
              <a:rPr lang="en-US" altLang="zh-CN" sz="2400" dirty="0" err="1"/>
              <a:t>NewMoblieStorage</a:t>
            </a:r>
            <a:r>
              <a:rPr lang="en-US" altLang="zh-CN" sz="2400" dirty="0"/>
              <a:t>();</a:t>
            </a:r>
            <a:endParaRPr lang="en-US" altLang="zh-CN" sz="2400" dirty="0"/>
          </a:p>
          <a:p>
            <a:r>
              <a:rPr lang="en-US" altLang="zh-CN" sz="2400" dirty="0"/>
              <a:t>        </a:t>
            </a:r>
            <a:r>
              <a:rPr lang="en-US" altLang="zh-CN" sz="2400" dirty="0" err="1"/>
              <a:t>computer.set_usbDrive</a:t>
            </a:r>
            <a:r>
              <a:rPr lang="en-US" altLang="zh-CN" sz="2400" dirty="0"/>
              <a:t>(</a:t>
            </a:r>
            <a:r>
              <a:rPr lang="en-US" altLang="zh-CN" sz="2400" dirty="0" err="1"/>
              <a:t>newMobileStorage</a:t>
            </a:r>
            <a:r>
              <a:rPr lang="en-US" altLang="zh-CN" sz="2400" dirty="0"/>
              <a:t>);</a:t>
            </a:r>
            <a:endParaRPr lang="en-US" altLang="zh-CN" sz="2400" dirty="0"/>
          </a:p>
          <a:p>
            <a:r>
              <a:rPr lang="en-US" altLang="zh-CN" sz="2400" dirty="0"/>
              <a:t>        </a:t>
            </a:r>
            <a:r>
              <a:rPr lang="en-US" altLang="zh-CN" sz="2400" dirty="0" err="1"/>
              <a:t>newMobileStorage.Write</a:t>
            </a:r>
            <a:r>
              <a:rPr lang="en-US" altLang="zh-CN" sz="2400" dirty="0"/>
              <a:t>();</a:t>
            </a:r>
            <a:endParaRPr lang="en-US" altLang="zh-CN" sz="2400" dirty="0"/>
          </a:p>
          <a:p>
            <a:r>
              <a:rPr lang="en-US" altLang="zh-CN" sz="2400" dirty="0"/>
              <a:t>        </a:t>
            </a:r>
            <a:r>
              <a:rPr lang="en-US" altLang="zh-CN" sz="2400" dirty="0" err="1"/>
              <a:t>newMobileStorage.Read</a:t>
            </a:r>
            <a:r>
              <a:rPr lang="en-US" altLang="zh-CN" sz="2400" dirty="0"/>
              <a:t>();</a:t>
            </a:r>
            <a:endParaRPr lang="en-US" altLang="zh-CN" sz="2400" dirty="0"/>
          </a:p>
        </p:txBody>
      </p:sp>
      <p:sp>
        <p:nvSpPr>
          <p:cNvPr id="4" name="矩形 3"/>
          <p:cNvSpPr/>
          <p:nvPr/>
        </p:nvSpPr>
        <p:spPr>
          <a:xfrm>
            <a:off x="248194" y="556389"/>
            <a:ext cx="2236510" cy="584775"/>
          </a:xfrm>
          <a:prstGeom prst="rect">
            <a:avLst/>
          </a:prstGeom>
        </p:spPr>
        <p:txBody>
          <a:bodyPr wrap="none">
            <a:spAutoFit/>
          </a:bodyPr>
          <a:lstStyle/>
          <a:p>
            <a:pPr>
              <a:defRPr/>
            </a:pPr>
            <a:r>
              <a:rPr lang="zh-CN" altLang="en-US" sz="3200" dirty="0">
                <a:solidFill>
                  <a:srgbClr val="FF0000"/>
                </a:solidFill>
                <a:latin typeface="宋体" panose="02010600030101010101" pitchFamily="2" charset="-122"/>
                <a:ea typeface="宋体" panose="02010600030101010101" pitchFamily="2" charset="-122"/>
              </a:rPr>
              <a:t>多态实例：</a:t>
            </a:r>
            <a:endParaRPr lang="en-US" altLang="zh-CN" sz="3200" dirty="0">
              <a:solidFill>
                <a:srgbClr val="FF0000"/>
              </a:solidFill>
              <a:latin typeface="宋体" panose="02010600030101010101" pitchFamily="2" charset="-122"/>
              <a:ea typeface="宋体" panose="02010600030101010101" pitchFamily="2" charset="-122"/>
            </a:endParaRPr>
          </a:p>
        </p:txBody>
      </p:sp>
      <p:pic>
        <p:nvPicPr>
          <p:cNvPr id="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69657" y="5174433"/>
            <a:ext cx="8572500" cy="1640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12006" y="1268933"/>
            <a:ext cx="10313181" cy="3970318"/>
          </a:xfrm>
          <a:prstGeom prst="rect">
            <a:avLst/>
          </a:prstGeom>
        </p:spPr>
        <p:txBody>
          <a:bodyPr wrap="square">
            <a:spAutoFit/>
          </a:bodyPr>
          <a:lstStyle/>
          <a:p>
            <a:pPr>
              <a:defRPr/>
            </a:pPr>
            <a:r>
              <a:rPr lang="zh-CN" altLang="en-US" sz="2800" dirty="0">
                <a:solidFill>
                  <a:srgbClr val="393939"/>
                </a:solidFill>
                <a:latin typeface="宋体" panose="02010600030101010101" pitchFamily="2" charset="-122"/>
                <a:ea typeface="宋体" panose="02010600030101010101" pitchFamily="2" charset="-122"/>
              </a:rPr>
              <a:t>改进二：</a:t>
            </a:r>
            <a:endParaRPr lang="en-US" altLang="zh-CN" sz="2800" dirty="0">
              <a:solidFill>
                <a:srgbClr val="393939"/>
              </a:solidFill>
              <a:latin typeface="宋体" panose="02010600030101010101" pitchFamily="2" charset="-122"/>
              <a:ea typeface="宋体" panose="02010600030101010101" pitchFamily="2" charset="-122"/>
            </a:endParaRPr>
          </a:p>
          <a:p>
            <a:pPr marL="372110" indent="-372110">
              <a:buFont typeface="Wingdings" panose="05000000000000000000" pitchFamily="2" charset="2"/>
              <a:buChar char="u"/>
              <a:defRPr/>
            </a:pPr>
            <a:r>
              <a:rPr lang="zh-CN" altLang="en-US" sz="2800" dirty="0">
                <a:solidFill>
                  <a:srgbClr val="393939"/>
                </a:solidFill>
                <a:latin typeface="宋体" panose="02010600030101010101" pitchFamily="2" charset="-122"/>
                <a:ea typeface="宋体" panose="02010600030101010101" pitchFamily="2" charset="-122"/>
              </a:rPr>
              <a:t>又出现新的移动设备</a:t>
            </a:r>
            <a:r>
              <a:rPr lang="en-US" altLang="zh-CN" sz="2800" dirty="0" err="1">
                <a:solidFill>
                  <a:srgbClr val="393939"/>
                </a:solidFill>
                <a:latin typeface="宋体" panose="02010600030101010101" pitchFamily="2" charset="-122"/>
                <a:ea typeface="宋体" panose="02010600030101010101" pitchFamily="2" charset="-122"/>
              </a:rPr>
              <a:t>SuperStorage</a:t>
            </a:r>
            <a:r>
              <a:rPr lang="zh-CN" altLang="en-US" sz="2800" dirty="0">
                <a:solidFill>
                  <a:srgbClr val="393939"/>
                </a:solidFill>
                <a:latin typeface="宋体" panose="02010600030101010101" pitchFamily="2" charset="-122"/>
                <a:ea typeface="宋体" panose="02010600030101010101" pitchFamily="2" charset="-122"/>
              </a:rPr>
              <a:t>，并且这个新设备的团队没有按照</a:t>
            </a:r>
            <a:r>
              <a:rPr lang="en-US" altLang="zh-CN" sz="2800" dirty="0" err="1">
                <a:solidFill>
                  <a:srgbClr val="393939"/>
                </a:solidFill>
                <a:latin typeface="宋体" panose="02010600030101010101" pitchFamily="2" charset="-122"/>
                <a:ea typeface="宋体" panose="02010600030101010101" pitchFamily="2" charset="-122"/>
              </a:rPr>
              <a:t>IMobileStorage</a:t>
            </a:r>
            <a:r>
              <a:rPr lang="zh-CN" altLang="en-US" sz="2800" dirty="0">
                <a:solidFill>
                  <a:srgbClr val="393939"/>
                </a:solidFill>
                <a:latin typeface="宋体" panose="02010600030101010101" pitchFamily="2" charset="-122"/>
                <a:ea typeface="宋体" panose="02010600030101010101" pitchFamily="2" charset="-122"/>
              </a:rPr>
              <a:t>接口约定进行开发。这个设备的读、写方法不叫</a:t>
            </a:r>
            <a:r>
              <a:rPr lang="en-US" altLang="zh-CN" sz="2800" dirty="0">
                <a:solidFill>
                  <a:srgbClr val="393939"/>
                </a:solidFill>
                <a:latin typeface="宋体" panose="02010600030101010101" pitchFamily="2" charset="-122"/>
                <a:ea typeface="宋体" panose="02010600030101010101" pitchFamily="2" charset="-122"/>
              </a:rPr>
              <a:t>Read</a:t>
            </a:r>
            <a:r>
              <a:rPr lang="zh-CN" altLang="en-US" sz="2800" dirty="0">
                <a:solidFill>
                  <a:srgbClr val="393939"/>
                </a:solidFill>
                <a:latin typeface="宋体" panose="02010600030101010101" pitchFamily="2" charset="-122"/>
                <a:ea typeface="宋体" panose="02010600030101010101" pitchFamily="2" charset="-122"/>
              </a:rPr>
              <a:t>和</a:t>
            </a:r>
            <a:r>
              <a:rPr lang="en-US" altLang="zh-CN" sz="2800" dirty="0">
                <a:solidFill>
                  <a:srgbClr val="393939"/>
                </a:solidFill>
                <a:latin typeface="宋体" panose="02010600030101010101" pitchFamily="2" charset="-122"/>
                <a:ea typeface="宋体" panose="02010600030101010101" pitchFamily="2" charset="-122"/>
              </a:rPr>
              <a:t>Write</a:t>
            </a:r>
            <a:r>
              <a:rPr lang="zh-CN" altLang="en-US" sz="2800" dirty="0">
                <a:solidFill>
                  <a:srgbClr val="393939"/>
                </a:solidFill>
                <a:latin typeface="宋体" panose="02010600030101010101" pitchFamily="2" charset="-122"/>
                <a:ea typeface="宋体" panose="02010600030101010101" pitchFamily="2" charset="-122"/>
              </a:rPr>
              <a:t>，而是叫</a:t>
            </a:r>
            <a:r>
              <a:rPr lang="en-US" altLang="zh-CN" sz="2800" dirty="0" err="1">
                <a:solidFill>
                  <a:srgbClr val="393939"/>
                </a:solidFill>
                <a:latin typeface="宋体" panose="02010600030101010101" pitchFamily="2" charset="-122"/>
                <a:ea typeface="宋体" panose="02010600030101010101" pitchFamily="2" charset="-122"/>
              </a:rPr>
              <a:t>rd</a:t>
            </a:r>
            <a:r>
              <a:rPr lang="zh-CN" altLang="en-US" sz="2800" dirty="0">
                <a:solidFill>
                  <a:srgbClr val="393939"/>
                </a:solidFill>
                <a:latin typeface="宋体" panose="02010600030101010101" pitchFamily="2" charset="-122"/>
                <a:ea typeface="宋体" panose="02010600030101010101" pitchFamily="2" charset="-122"/>
              </a:rPr>
              <a:t>和</a:t>
            </a:r>
            <a:r>
              <a:rPr lang="en-US" altLang="zh-CN" sz="2800" dirty="0" err="1">
                <a:solidFill>
                  <a:srgbClr val="393939"/>
                </a:solidFill>
                <a:latin typeface="宋体" panose="02010600030101010101" pitchFamily="2" charset="-122"/>
                <a:ea typeface="宋体" panose="02010600030101010101" pitchFamily="2" charset="-122"/>
              </a:rPr>
              <a:t>wt</a:t>
            </a:r>
            <a:r>
              <a:rPr lang="zh-CN" altLang="en-US" sz="2800" dirty="0">
                <a:solidFill>
                  <a:srgbClr val="393939"/>
                </a:solidFill>
                <a:latin typeface="宋体" panose="02010600030101010101" pitchFamily="2" charset="-122"/>
                <a:ea typeface="宋体" panose="02010600030101010101" pitchFamily="2" charset="-122"/>
              </a:rPr>
              <a:t>。</a:t>
            </a:r>
            <a:endParaRPr lang="en-US" altLang="zh-CN" sz="2800" dirty="0">
              <a:solidFill>
                <a:srgbClr val="393939"/>
              </a:solidFill>
              <a:latin typeface="宋体" panose="02010600030101010101" pitchFamily="2" charset="-122"/>
              <a:ea typeface="宋体" panose="02010600030101010101" pitchFamily="2" charset="-122"/>
            </a:endParaRPr>
          </a:p>
          <a:p>
            <a:pPr marL="372110" indent="-372110">
              <a:buFont typeface="Wingdings" panose="05000000000000000000" pitchFamily="2" charset="2"/>
              <a:buChar char="u"/>
              <a:defRPr/>
            </a:pPr>
            <a:r>
              <a:rPr lang="zh-CN" altLang="en-US" sz="2800" dirty="0">
                <a:solidFill>
                  <a:srgbClr val="393939"/>
                </a:solidFill>
                <a:latin typeface="宋体" panose="02010600030101010101" pitchFamily="2" charset="-122"/>
                <a:ea typeface="宋体" panose="02010600030101010101" pitchFamily="2" charset="-122"/>
              </a:rPr>
              <a:t>如果电脑上只有</a:t>
            </a:r>
            <a:r>
              <a:rPr lang="en-US" altLang="zh-CN" sz="2800" dirty="0">
                <a:solidFill>
                  <a:srgbClr val="393939"/>
                </a:solidFill>
                <a:latin typeface="宋体" panose="02010600030101010101" pitchFamily="2" charset="-122"/>
                <a:ea typeface="宋体" panose="02010600030101010101" pitchFamily="2" charset="-122"/>
              </a:rPr>
              <a:t>USB</a:t>
            </a:r>
            <a:r>
              <a:rPr lang="zh-CN" altLang="en-US" sz="2800" dirty="0">
                <a:solidFill>
                  <a:srgbClr val="393939"/>
                </a:solidFill>
                <a:latin typeface="宋体" panose="02010600030101010101" pitchFamily="2" charset="-122"/>
                <a:ea typeface="宋体" panose="02010600030101010101" pitchFamily="2" charset="-122"/>
              </a:rPr>
              <a:t>接口，而有人拿来一个</a:t>
            </a:r>
            <a:r>
              <a:rPr lang="en-US" altLang="zh-CN" sz="2800" dirty="0">
                <a:solidFill>
                  <a:srgbClr val="393939"/>
                </a:solidFill>
                <a:latin typeface="宋体" panose="02010600030101010101" pitchFamily="2" charset="-122"/>
                <a:ea typeface="宋体" panose="02010600030101010101" pitchFamily="2" charset="-122"/>
              </a:rPr>
              <a:t>PS/2</a:t>
            </a:r>
            <a:r>
              <a:rPr lang="zh-CN" altLang="en-US" sz="2800" dirty="0">
                <a:solidFill>
                  <a:srgbClr val="393939"/>
                </a:solidFill>
                <a:latin typeface="宋体" panose="02010600030101010101" pitchFamily="2" charset="-122"/>
                <a:ea typeface="宋体" panose="02010600030101010101" pitchFamily="2" charset="-122"/>
              </a:rPr>
              <a:t>的鼠标要插上用，该怎么办？可以用适配器进行不同接口的转换。</a:t>
            </a:r>
            <a:endParaRPr lang="en-US" altLang="zh-CN" sz="2800" dirty="0">
              <a:solidFill>
                <a:srgbClr val="393939"/>
              </a:solidFill>
              <a:latin typeface="宋体" panose="02010600030101010101" pitchFamily="2" charset="-122"/>
              <a:ea typeface="宋体" panose="02010600030101010101" pitchFamily="2" charset="-122"/>
            </a:endParaRPr>
          </a:p>
          <a:p>
            <a:pPr marL="372110" indent="-372110">
              <a:buFont typeface="Wingdings" panose="05000000000000000000" pitchFamily="2" charset="2"/>
              <a:buChar char="u"/>
              <a:defRPr/>
            </a:pPr>
            <a:r>
              <a:rPr lang="zh-CN" altLang="en-US" sz="2800" dirty="0">
                <a:solidFill>
                  <a:srgbClr val="393939"/>
                </a:solidFill>
                <a:latin typeface="宋体" panose="02010600030101010101" pitchFamily="2" charset="-122"/>
                <a:ea typeface="宋体" panose="02010600030101010101" pitchFamily="2" charset="-122"/>
              </a:rPr>
              <a:t>虽然</a:t>
            </a:r>
            <a:r>
              <a:rPr lang="en-US" altLang="zh-CN" sz="2800" dirty="0" err="1">
                <a:solidFill>
                  <a:srgbClr val="393939"/>
                </a:solidFill>
                <a:latin typeface="宋体" panose="02010600030101010101" pitchFamily="2" charset="-122"/>
                <a:ea typeface="宋体" panose="02010600030101010101" pitchFamily="2" charset="-122"/>
              </a:rPr>
              <a:t>SuperStorage</a:t>
            </a:r>
            <a:r>
              <a:rPr lang="zh-CN" altLang="en-US" sz="2800" dirty="0">
                <a:solidFill>
                  <a:srgbClr val="393939"/>
                </a:solidFill>
                <a:latin typeface="宋体" panose="02010600030101010101" pitchFamily="2" charset="-122"/>
                <a:ea typeface="宋体" panose="02010600030101010101" pitchFamily="2" charset="-122"/>
              </a:rPr>
              <a:t>没有实现</a:t>
            </a:r>
            <a:r>
              <a:rPr lang="en-US" altLang="zh-CN" sz="2800" dirty="0" err="1">
                <a:solidFill>
                  <a:srgbClr val="393939"/>
                </a:solidFill>
                <a:latin typeface="宋体" panose="02010600030101010101" pitchFamily="2" charset="-122"/>
                <a:ea typeface="宋体" panose="02010600030101010101" pitchFamily="2" charset="-122"/>
              </a:rPr>
              <a:t>IMobileStorage</a:t>
            </a:r>
            <a:r>
              <a:rPr lang="zh-CN" altLang="en-US" sz="2800" dirty="0">
                <a:solidFill>
                  <a:srgbClr val="393939"/>
                </a:solidFill>
                <a:latin typeface="宋体" panose="02010600030101010101" pitchFamily="2" charset="-122"/>
                <a:ea typeface="宋体" panose="02010600030101010101" pitchFamily="2" charset="-122"/>
              </a:rPr>
              <a:t>，但定义一个实现</a:t>
            </a:r>
            <a:r>
              <a:rPr lang="en-US" altLang="zh-CN" sz="2800" dirty="0" err="1">
                <a:solidFill>
                  <a:srgbClr val="393939"/>
                </a:solidFill>
                <a:latin typeface="宋体" panose="02010600030101010101" pitchFamily="2" charset="-122"/>
                <a:ea typeface="宋体" panose="02010600030101010101" pitchFamily="2" charset="-122"/>
              </a:rPr>
              <a:t>IMobileStorage</a:t>
            </a:r>
            <a:r>
              <a:rPr lang="zh-CN" altLang="en-US" sz="2800" dirty="0">
                <a:solidFill>
                  <a:srgbClr val="393939"/>
                </a:solidFill>
                <a:latin typeface="宋体" panose="02010600030101010101" pitchFamily="2" charset="-122"/>
                <a:ea typeface="宋体" panose="02010600030101010101" pitchFamily="2" charset="-122"/>
              </a:rPr>
              <a:t>的</a:t>
            </a:r>
            <a:r>
              <a:rPr lang="en-US" altLang="zh-CN" sz="2800" dirty="0" err="1">
                <a:solidFill>
                  <a:srgbClr val="393939"/>
                </a:solidFill>
                <a:latin typeface="宋体" panose="02010600030101010101" pitchFamily="2" charset="-122"/>
                <a:ea typeface="宋体" panose="02010600030101010101" pitchFamily="2" charset="-122"/>
              </a:rPr>
              <a:t>SuperStorageAdapter</a:t>
            </a:r>
            <a:r>
              <a:rPr lang="zh-CN" altLang="en-US" sz="2800" dirty="0">
                <a:solidFill>
                  <a:srgbClr val="393939"/>
                </a:solidFill>
                <a:latin typeface="宋体" panose="02010600030101010101" pitchFamily="2" charset="-122"/>
                <a:ea typeface="宋体" panose="02010600030101010101" pitchFamily="2" charset="-122"/>
              </a:rPr>
              <a:t>，将</a:t>
            </a:r>
            <a:r>
              <a:rPr lang="en-US" altLang="zh-CN" sz="2800" dirty="0" err="1">
                <a:solidFill>
                  <a:srgbClr val="393939"/>
                </a:solidFill>
                <a:latin typeface="宋体" panose="02010600030101010101" pitchFamily="2" charset="-122"/>
                <a:ea typeface="宋体" panose="02010600030101010101" pitchFamily="2" charset="-122"/>
              </a:rPr>
              <a:t>rd</a:t>
            </a:r>
            <a:r>
              <a:rPr lang="zh-CN" altLang="en-US" sz="2800" dirty="0">
                <a:solidFill>
                  <a:srgbClr val="393939"/>
                </a:solidFill>
                <a:latin typeface="宋体" panose="02010600030101010101" pitchFamily="2" charset="-122"/>
                <a:ea typeface="宋体" panose="02010600030101010101" pitchFamily="2" charset="-122"/>
              </a:rPr>
              <a:t>和</a:t>
            </a:r>
            <a:r>
              <a:rPr lang="en-US" altLang="zh-CN" sz="2800" dirty="0" err="1">
                <a:solidFill>
                  <a:srgbClr val="393939"/>
                </a:solidFill>
                <a:latin typeface="宋体" panose="02010600030101010101" pitchFamily="2" charset="-122"/>
                <a:ea typeface="宋体" panose="02010600030101010101" pitchFamily="2" charset="-122"/>
              </a:rPr>
              <a:t>wt</a:t>
            </a:r>
            <a:r>
              <a:rPr lang="zh-CN" altLang="en-US" sz="2800" dirty="0">
                <a:solidFill>
                  <a:srgbClr val="393939"/>
                </a:solidFill>
                <a:latin typeface="宋体" panose="02010600030101010101" pitchFamily="2" charset="-122"/>
                <a:ea typeface="宋体" panose="02010600030101010101" pitchFamily="2" charset="-122"/>
              </a:rPr>
              <a:t>适配为</a:t>
            </a:r>
            <a:r>
              <a:rPr lang="en-US" altLang="zh-CN" sz="2800" dirty="0">
                <a:solidFill>
                  <a:srgbClr val="393939"/>
                </a:solidFill>
                <a:latin typeface="宋体" panose="02010600030101010101" pitchFamily="2" charset="-122"/>
                <a:ea typeface="宋体" panose="02010600030101010101" pitchFamily="2" charset="-122"/>
              </a:rPr>
              <a:t>Read</a:t>
            </a:r>
            <a:r>
              <a:rPr lang="zh-CN" altLang="en-US" sz="2800" dirty="0">
                <a:solidFill>
                  <a:srgbClr val="393939"/>
                </a:solidFill>
                <a:latin typeface="宋体" panose="02010600030101010101" pitchFamily="2" charset="-122"/>
                <a:ea typeface="宋体" panose="02010600030101010101" pitchFamily="2" charset="-122"/>
              </a:rPr>
              <a:t>和</a:t>
            </a:r>
            <a:r>
              <a:rPr lang="en-US" altLang="zh-CN" sz="2800" dirty="0">
                <a:solidFill>
                  <a:srgbClr val="393939"/>
                </a:solidFill>
                <a:latin typeface="宋体" panose="02010600030101010101" pitchFamily="2" charset="-122"/>
                <a:ea typeface="宋体" panose="02010600030101010101" pitchFamily="2" charset="-122"/>
              </a:rPr>
              <a:t>Write</a:t>
            </a:r>
            <a:r>
              <a:rPr lang="zh-CN" altLang="en-US" sz="2800" dirty="0">
                <a:solidFill>
                  <a:srgbClr val="393939"/>
                </a:solidFill>
                <a:latin typeface="宋体" panose="02010600030101010101" pitchFamily="2" charset="-122"/>
                <a:ea typeface="宋体" panose="02010600030101010101" pitchFamily="2" charset="-122"/>
              </a:rPr>
              <a:t>，</a:t>
            </a:r>
            <a:r>
              <a:rPr lang="en-US" altLang="zh-CN" sz="2800" dirty="0" err="1">
                <a:solidFill>
                  <a:srgbClr val="393939"/>
                </a:solidFill>
                <a:latin typeface="宋体" panose="02010600030101010101" pitchFamily="2" charset="-122"/>
                <a:ea typeface="宋体" panose="02010600030101010101" pitchFamily="2" charset="-122"/>
              </a:rPr>
              <a:t>SuperStorageAdapter</a:t>
            </a:r>
            <a:endParaRPr lang="zh-CN" altLang="en-US" sz="2800" dirty="0">
              <a:solidFill>
                <a:srgbClr val="393939"/>
              </a:solidFill>
              <a:latin typeface="宋体" panose="02010600030101010101" pitchFamily="2" charset="-122"/>
              <a:ea typeface="宋体" panose="02010600030101010101" pitchFamily="2" charset="-122"/>
            </a:endParaRPr>
          </a:p>
        </p:txBody>
      </p:sp>
      <p:sp>
        <p:nvSpPr>
          <p:cNvPr id="3" name="矩形 2"/>
          <p:cNvSpPr/>
          <p:nvPr/>
        </p:nvSpPr>
        <p:spPr>
          <a:xfrm>
            <a:off x="248194" y="556389"/>
            <a:ext cx="2236510" cy="584775"/>
          </a:xfrm>
          <a:prstGeom prst="rect">
            <a:avLst/>
          </a:prstGeom>
        </p:spPr>
        <p:txBody>
          <a:bodyPr wrap="none">
            <a:spAutoFit/>
          </a:bodyPr>
          <a:lstStyle/>
          <a:p>
            <a:pPr>
              <a:defRPr/>
            </a:pPr>
            <a:r>
              <a:rPr lang="zh-CN" altLang="en-US" sz="3200" dirty="0">
                <a:solidFill>
                  <a:srgbClr val="FF0000"/>
                </a:solidFill>
                <a:latin typeface="宋体" panose="02010600030101010101" pitchFamily="2" charset="-122"/>
                <a:ea typeface="宋体" panose="02010600030101010101" pitchFamily="2" charset="-122"/>
              </a:rPr>
              <a:t>多态实例：</a:t>
            </a:r>
            <a:endParaRPr lang="en-US" altLang="zh-CN" sz="3200" dirty="0">
              <a:solidFill>
                <a:srgbClr val="FF0000"/>
              </a:solidFill>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85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36471" y="863755"/>
            <a:ext cx="5205470" cy="4028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547" name="矩形 1"/>
          <p:cNvSpPr>
            <a:spLocks noChangeArrowheads="1"/>
          </p:cNvSpPr>
          <p:nvPr/>
        </p:nvSpPr>
        <p:spPr bwMode="auto">
          <a:xfrm>
            <a:off x="3896654" y="5025236"/>
            <a:ext cx="2848857" cy="426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r>
              <a:rPr lang="en-US" altLang="zh-CN" sz="2170"/>
              <a:t>Adapter</a:t>
            </a:r>
            <a:r>
              <a:rPr lang="zh-CN" altLang="en-US" sz="2170"/>
              <a:t>模式应用示意</a:t>
            </a:r>
            <a:endParaRPr lang="zh-CN" altLang="en-US" sz="2170"/>
          </a:p>
        </p:txBody>
      </p:sp>
      <p:sp>
        <p:nvSpPr>
          <p:cNvPr id="4" name="矩形 3"/>
          <p:cNvSpPr/>
          <p:nvPr/>
        </p:nvSpPr>
        <p:spPr>
          <a:xfrm>
            <a:off x="248194" y="556389"/>
            <a:ext cx="2236510" cy="584775"/>
          </a:xfrm>
          <a:prstGeom prst="rect">
            <a:avLst/>
          </a:prstGeom>
        </p:spPr>
        <p:txBody>
          <a:bodyPr wrap="none">
            <a:spAutoFit/>
          </a:bodyPr>
          <a:lstStyle/>
          <a:p>
            <a:pPr>
              <a:defRPr/>
            </a:pPr>
            <a:r>
              <a:rPr lang="zh-CN" altLang="en-US" sz="3200" dirty="0">
                <a:solidFill>
                  <a:srgbClr val="FF0000"/>
                </a:solidFill>
                <a:latin typeface="宋体" panose="02010600030101010101" pitchFamily="2" charset="-122"/>
                <a:ea typeface="宋体" panose="02010600030101010101" pitchFamily="2" charset="-122"/>
              </a:rPr>
              <a:t>多态实例：</a:t>
            </a:r>
            <a:endParaRPr lang="en-US" altLang="zh-CN" sz="3200" dirty="0">
              <a:solidFill>
                <a:srgbClr val="FF0000"/>
              </a:solidFill>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矩形 1"/>
          <p:cNvSpPr>
            <a:spLocks noChangeArrowheads="1"/>
          </p:cNvSpPr>
          <p:nvPr/>
        </p:nvSpPr>
        <p:spPr bwMode="auto">
          <a:xfrm>
            <a:off x="1087316" y="1129812"/>
            <a:ext cx="9135394" cy="4708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r>
              <a:rPr lang="zh-CN" altLang="en-US" dirty="0"/>
              <a:t>public class SuperStorageAdapter implements IMobileStorage {</a:t>
            </a:r>
            <a:endParaRPr lang="zh-CN" altLang="en-US" dirty="0"/>
          </a:p>
          <a:p>
            <a:r>
              <a:rPr lang="zh-CN" altLang="en-US" dirty="0"/>
              <a:t>      private SuperStorage _superStorage;</a:t>
            </a:r>
            <a:endParaRPr lang="zh-CN" altLang="en-US" dirty="0"/>
          </a:p>
          <a:p>
            <a:r>
              <a:rPr lang="zh-CN" altLang="en-US" dirty="0"/>
              <a:t>      public SuperStorage get_superStorage() {</a:t>
            </a:r>
            <a:endParaRPr lang="zh-CN" altLang="en-US" dirty="0"/>
          </a:p>
          <a:p>
            <a:r>
              <a:rPr lang="zh-CN" altLang="en-US" dirty="0"/>
              <a:t>             return _superStorage;</a:t>
            </a:r>
            <a:endParaRPr lang="zh-CN" altLang="en-US" dirty="0"/>
          </a:p>
          <a:p>
            <a:r>
              <a:rPr lang="zh-CN" altLang="en-US" dirty="0"/>
              <a:t>      }</a:t>
            </a:r>
            <a:endParaRPr lang="zh-CN" altLang="en-US" dirty="0"/>
          </a:p>
          <a:p>
            <a:r>
              <a:rPr lang="zh-CN" altLang="en-US" dirty="0"/>
              <a:t>      public void set_superStorage(SuperStorage _superStorage) {</a:t>
            </a:r>
            <a:endParaRPr lang="zh-CN" altLang="en-US" dirty="0"/>
          </a:p>
          <a:p>
            <a:r>
              <a:rPr lang="zh-CN" altLang="en-US" dirty="0"/>
              <a:t>            this._superStorage = _superStorage;</a:t>
            </a:r>
            <a:endParaRPr lang="zh-CN" altLang="en-US" dirty="0"/>
          </a:p>
          <a:p>
            <a:r>
              <a:rPr lang="zh-CN" altLang="en-US" dirty="0"/>
              <a:t>      }</a:t>
            </a:r>
            <a:endParaRPr lang="zh-CN" altLang="en-US" dirty="0"/>
          </a:p>
          <a:p>
            <a:r>
              <a:rPr lang="zh-CN" altLang="en-US" dirty="0"/>
              <a:t>      public void Read(){</a:t>
            </a:r>
            <a:endParaRPr lang="zh-CN" altLang="en-US" dirty="0"/>
          </a:p>
          <a:p>
            <a:r>
              <a:rPr lang="zh-CN" altLang="en-US" dirty="0"/>
              <a:t>              this._superStorage.rd();</a:t>
            </a:r>
            <a:endParaRPr lang="zh-CN" altLang="en-US" dirty="0"/>
          </a:p>
          <a:p>
            <a:r>
              <a:rPr lang="zh-CN" altLang="en-US" dirty="0"/>
              <a:t>      }</a:t>
            </a:r>
            <a:endParaRPr lang="zh-CN" altLang="en-US" dirty="0"/>
          </a:p>
          <a:p>
            <a:r>
              <a:rPr lang="zh-CN" altLang="en-US" dirty="0"/>
              <a:t>      public void Write() {</a:t>
            </a:r>
            <a:endParaRPr lang="zh-CN" altLang="en-US" dirty="0"/>
          </a:p>
          <a:p>
            <a:r>
              <a:rPr lang="zh-CN" altLang="en-US" dirty="0"/>
              <a:t>             this._superStorage.wt();</a:t>
            </a:r>
            <a:endParaRPr lang="zh-CN" altLang="en-US" dirty="0"/>
          </a:p>
          <a:p>
            <a:r>
              <a:rPr lang="zh-CN" altLang="en-US" dirty="0"/>
              <a:t>    }</a:t>
            </a:r>
            <a:endParaRPr lang="zh-CN" altLang="en-US" dirty="0"/>
          </a:p>
          <a:p>
            <a:r>
              <a:rPr lang="zh-CN" altLang="en-US" dirty="0"/>
              <a:t>}</a:t>
            </a:r>
            <a:endParaRPr lang="zh-CN" altLang="en-US" dirty="0"/>
          </a:p>
        </p:txBody>
      </p:sp>
      <p:sp>
        <p:nvSpPr>
          <p:cNvPr id="3" name="矩形 2"/>
          <p:cNvSpPr/>
          <p:nvPr/>
        </p:nvSpPr>
        <p:spPr>
          <a:xfrm>
            <a:off x="132691" y="229131"/>
            <a:ext cx="2236510" cy="584775"/>
          </a:xfrm>
          <a:prstGeom prst="rect">
            <a:avLst/>
          </a:prstGeom>
        </p:spPr>
        <p:txBody>
          <a:bodyPr wrap="none">
            <a:spAutoFit/>
          </a:bodyPr>
          <a:lstStyle/>
          <a:p>
            <a:pPr>
              <a:defRPr/>
            </a:pPr>
            <a:r>
              <a:rPr lang="zh-CN" altLang="en-US" sz="3200" dirty="0">
                <a:solidFill>
                  <a:srgbClr val="FF0000"/>
                </a:solidFill>
                <a:latin typeface="宋体" panose="02010600030101010101" pitchFamily="2" charset="-122"/>
                <a:ea typeface="宋体" panose="02010600030101010101" pitchFamily="2" charset="-122"/>
              </a:rPr>
              <a:t>多态实例：</a:t>
            </a:r>
            <a:endParaRPr lang="en-US" altLang="zh-CN" sz="3200" dirty="0">
              <a:solidFill>
                <a:srgbClr val="FF0000"/>
              </a:solidFill>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矩形 1"/>
          <p:cNvSpPr>
            <a:spLocks noChangeArrowheads="1"/>
          </p:cNvSpPr>
          <p:nvPr/>
        </p:nvSpPr>
        <p:spPr bwMode="auto">
          <a:xfrm>
            <a:off x="801164" y="1606278"/>
            <a:ext cx="11076411"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r>
              <a:rPr lang="zh-CN" altLang="en-US" sz="2400" b="0" dirty="0"/>
              <a:t>在测试类中增加下述代码：</a:t>
            </a:r>
            <a:endParaRPr lang="en-US" altLang="zh-CN" sz="2400" b="0" dirty="0"/>
          </a:p>
          <a:p>
            <a:r>
              <a:rPr lang="zh-CN" altLang="en-US" sz="2400" dirty="0"/>
              <a:t>        Computer computer = new Computer();</a:t>
            </a:r>
            <a:endParaRPr lang="zh-CN" altLang="en-US" sz="2400" dirty="0"/>
          </a:p>
          <a:p>
            <a:r>
              <a:rPr lang="zh-CN" altLang="en-US" sz="2400" dirty="0"/>
              <a:t>        SuperStorageAdapter superStorageAdapter = new SuperStorageAdapter();</a:t>
            </a:r>
            <a:endParaRPr lang="zh-CN" altLang="en-US" sz="2400" dirty="0"/>
          </a:p>
          <a:p>
            <a:r>
              <a:rPr lang="zh-CN" altLang="en-US" sz="2400" dirty="0"/>
              <a:t>        SuperStorage superStorage = new SuperStorage();</a:t>
            </a:r>
            <a:endParaRPr lang="zh-CN" altLang="en-US" sz="2400" dirty="0"/>
          </a:p>
          <a:p>
            <a:r>
              <a:rPr lang="zh-CN" altLang="en-US" sz="2400" dirty="0"/>
              <a:t>        superStorageAdapter.set_superStorage(superStorage);</a:t>
            </a:r>
            <a:endParaRPr lang="zh-CN" altLang="en-US" sz="2400" dirty="0"/>
          </a:p>
          <a:p>
            <a:endParaRPr lang="zh-CN" altLang="en-US" sz="2400" dirty="0"/>
          </a:p>
          <a:p>
            <a:r>
              <a:rPr lang="zh-CN" altLang="en-US" sz="2400" dirty="0"/>
              <a:t>        System.out.println("Now,I am testing the new super storage with adapter:");</a:t>
            </a:r>
            <a:endParaRPr lang="zh-CN" altLang="en-US" sz="2400" dirty="0"/>
          </a:p>
          <a:p>
            <a:r>
              <a:rPr lang="zh-CN" altLang="en-US" sz="2400" dirty="0"/>
              <a:t>        computer.set_usbDrive(superStorageAdapter);</a:t>
            </a:r>
            <a:endParaRPr lang="zh-CN" altLang="en-US" sz="2400" dirty="0"/>
          </a:p>
          <a:p>
            <a:r>
              <a:rPr lang="zh-CN" altLang="en-US" sz="2400" dirty="0"/>
              <a:t>        computer.ReadData();</a:t>
            </a:r>
            <a:endParaRPr lang="zh-CN" altLang="en-US" sz="2400" dirty="0"/>
          </a:p>
          <a:p>
            <a:r>
              <a:rPr lang="zh-CN" altLang="en-US" sz="2400" dirty="0"/>
              <a:t>        computer.WriteData();</a:t>
            </a:r>
            <a:endParaRPr lang="zh-CN" altLang="en-US" sz="2400" dirty="0"/>
          </a:p>
          <a:p>
            <a:r>
              <a:rPr lang="zh-CN" altLang="en-US" sz="2400" dirty="0"/>
              <a:t>        System.out.println();</a:t>
            </a:r>
            <a:endParaRPr lang="zh-CN" altLang="en-US" sz="2400" dirty="0"/>
          </a:p>
          <a:p>
            <a:r>
              <a:rPr lang="zh-CN" altLang="en-US" sz="2400" dirty="0"/>
              <a:t>   </a:t>
            </a:r>
            <a:endParaRPr lang="zh-CN" altLang="en-US" sz="2400" dirty="0"/>
          </a:p>
        </p:txBody>
      </p:sp>
      <p:sp>
        <p:nvSpPr>
          <p:cNvPr id="3" name="矩形 2"/>
          <p:cNvSpPr/>
          <p:nvPr/>
        </p:nvSpPr>
        <p:spPr>
          <a:xfrm>
            <a:off x="257820" y="697813"/>
            <a:ext cx="2236510" cy="584775"/>
          </a:xfrm>
          <a:prstGeom prst="rect">
            <a:avLst/>
          </a:prstGeom>
        </p:spPr>
        <p:txBody>
          <a:bodyPr wrap="none">
            <a:spAutoFit/>
          </a:bodyPr>
          <a:lstStyle/>
          <a:p>
            <a:pPr>
              <a:defRPr/>
            </a:pPr>
            <a:r>
              <a:rPr lang="zh-CN" altLang="en-US" sz="3200" dirty="0">
                <a:solidFill>
                  <a:srgbClr val="FF0000"/>
                </a:solidFill>
                <a:latin typeface="宋体" panose="02010600030101010101" pitchFamily="2" charset="-122"/>
                <a:ea typeface="宋体" panose="02010600030101010101" pitchFamily="2" charset="-122"/>
              </a:rPr>
              <a:t>多态实例：</a:t>
            </a:r>
            <a:endParaRPr lang="en-US" altLang="zh-CN" sz="3200" dirty="0">
              <a:solidFill>
                <a:srgbClr val="FF0000"/>
              </a:solidFill>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idx="1"/>
          </p:nvPr>
        </p:nvSpPr>
        <p:spPr>
          <a:xfrm>
            <a:off x="498171" y="1422940"/>
            <a:ext cx="10753761" cy="2725550"/>
          </a:xfrm>
        </p:spPr>
        <p:txBody>
          <a:bodyPr/>
          <a:lstStyle/>
          <a:p>
            <a:pPr>
              <a:buFont typeface="Monotype Sorts" pitchFamily="2" charset="2"/>
              <a:buNone/>
            </a:pPr>
            <a:r>
              <a:rPr lang="en-US" altLang="zh-CN" dirty="0"/>
              <a:t>1</a:t>
            </a:r>
            <a:r>
              <a:rPr lang="zh-CN" altLang="en-US" dirty="0"/>
              <a:t>、编写一个</a:t>
            </a:r>
            <a:r>
              <a:rPr lang="en-US" altLang="zh-CN" dirty="0"/>
              <a:t>Java</a:t>
            </a:r>
            <a:r>
              <a:rPr lang="zh-CN" altLang="en-US" dirty="0"/>
              <a:t>应用程序，具体要求如下：</a:t>
            </a:r>
            <a:endParaRPr lang="zh-CN" altLang="en-US" dirty="0"/>
          </a:p>
          <a:p>
            <a:pPr>
              <a:buFont typeface="Monotype Sorts" pitchFamily="2" charset="2"/>
              <a:buNone/>
            </a:pPr>
            <a:r>
              <a:rPr lang="en-US" altLang="zh-CN" dirty="0"/>
              <a:t>1</a:t>
            </a:r>
            <a:r>
              <a:rPr lang="zh-CN" altLang="en-US" dirty="0"/>
              <a:t>）接口</a:t>
            </a:r>
            <a:r>
              <a:rPr lang="en-US" altLang="zh-CN" dirty="0"/>
              <a:t>People</a:t>
            </a:r>
            <a:r>
              <a:rPr lang="zh-CN" altLang="en-US" dirty="0"/>
              <a:t>有</a:t>
            </a:r>
            <a:r>
              <a:rPr lang="en-US" altLang="zh-CN" dirty="0"/>
              <a:t>void </a:t>
            </a:r>
            <a:r>
              <a:rPr lang="en-US" altLang="zh-CN" dirty="0" err="1"/>
              <a:t>speakHello</a:t>
            </a:r>
            <a:r>
              <a:rPr lang="en-US" altLang="zh-CN" dirty="0"/>
              <a:t>()</a:t>
            </a:r>
            <a:r>
              <a:rPr lang="zh-CN" altLang="en-US" dirty="0"/>
              <a:t>、</a:t>
            </a:r>
            <a:r>
              <a:rPr lang="en-US" altLang="zh-CN" dirty="0"/>
              <a:t>void </a:t>
            </a:r>
            <a:r>
              <a:rPr lang="en-US" altLang="zh-CN" dirty="0" err="1"/>
              <a:t>averageHeight</a:t>
            </a:r>
            <a:r>
              <a:rPr lang="en-US" altLang="zh-CN" dirty="0"/>
              <a:t>() </a:t>
            </a:r>
            <a:r>
              <a:rPr lang="zh-CN" altLang="en-US" dirty="0"/>
              <a:t>和</a:t>
            </a:r>
            <a:r>
              <a:rPr lang="en-US" altLang="zh-CN" dirty="0"/>
              <a:t>void </a:t>
            </a:r>
            <a:r>
              <a:rPr lang="en-US" altLang="zh-CN" dirty="0" err="1"/>
              <a:t>averageWeight</a:t>
            </a:r>
            <a:r>
              <a:rPr lang="en-US" altLang="zh-CN" dirty="0"/>
              <a:t>()</a:t>
            </a:r>
            <a:r>
              <a:rPr lang="zh-CN" altLang="en-US" dirty="0"/>
              <a:t>方法。</a:t>
            </a:r>
            <a:endParaRPr lang="zh-CN" altLang="en-US" dirty="0"/>
          </a:p>
          <a:p>
            <a:pPr>
              <a:buFont typeface="Monotype Sorts" pitchFamily="2" charset="2"/>
              <a:buNone/>
            </a:pPr>
            <a:r>
              <a:rPr lang="en-US" altLang="zh-CN" dirty="0"/>
              <a:t>2</a:t>
            </a:r>
            <a:r>
              <a:rPr lang="zh-CN" altLang="en-US" dirty="0"/>
              <a:t>）</a:t>
            </a:r>
            <a:r>
              <a:rPr lang="en-US" altLang="zh-CN" dirty="0" err="1"/>
              <a:t>ChinaPeople</a:t>
            </a:r>
            <a:r>
              <a:rPr lang="zh-CN" altLang="en-US" dirty="0"/>
              <a:t>类实现</a:t>
            </a:r>
            <a:r>
              <a:rPr lang="en-US" altLang="zh-CN" dirty="0"/>
              <a:t>People</a:t>
            </a:r>
            <a:r>
              <a:rPr lang="zh-CN" altLang="en-US" dirty="0"/>
              <a:t>接口，并新增了</a:t>
            </a:r>
            <a:r>
              <a:rPr lang="en-US" altLang="zh-CN" dirty="0"/>
              <a:t>public void </a:t>
            </a:r>
            <a:r>
              <a:rPr lang="en-US" altLang="zh-CN" dirty="0" err="1"/>
              <a:t>chinaGongfu</a:t>
            </a:r>
            <a:r>
              <a:rPr lang="en-US" altLang="zh-CN" dirty="0"/>
              <a:t>()</a:t>
            </a:r>
            <a:r>
              <a:rPr lang="zh-CN" altLang="en-US" dirty="0"/>
              <a:t>方法。</a:t>
            </a:r>
            <a:endParaRPr lang="zh-CN" altLang="en-US" dirty="0"/>
          </a:p>
          <a:p>
            <a:pPr>
              <a:buFont typeface="Monotype Sorts" pitchFamily="2" charset="2"/>
              <a:buNone/>
            </a:pPr>
            <a:r>
              <a:rPr lang="en-US" altLang="zh-CN" dirty="0"/>
              <a:t>3</a:t>
            </a:r>
            <a:r>
              <a:rPr lang="zh-CN" altLang="en-US" dirty="0"/>
              <a:t>）</a:t>
            </a:r>
            <a:r>
              <a:rPr lang="en-US" altLang="zh-CN" dirty="0" err="1"/>
              <a:t>AmericanPeople</a:t>
            </a:r>
            <a:r>
              <a:rPr lang="zh-CN" altLang="en-US" dirty="0"/>
              <a:t>类实现</a:t>
            </a:r>
            <a:r>
              <a:rPr lang="en-US" altLang="zh-CN" dirty="0"/>
              <a:t>People</a:t>
            </a:r>
            <a:r>
              <a:rPr lang="zh-CN" altLang="en-US" dirty="0"/>
              <a:t>接口，并新增</a:t>
            </a:r>
            <a:r>
              <a:rPr lang="en-US" altLang="zh-CN" dirty="0"/>
              <a:t>public void </a:t>
            </a:r>
            <a:r>
              <a:rPr lang="en-US" altLang="zh-CN" dirty="0" err="1"/>
              <a:t>americanBoxing</a:t>
            </a:r>
            <a:r>
              <a:rPr lang="en-US" altLang="zh-CN" dirty="0"/>
              <a:t>()</a:t>
            </a:r>
            <a:r>
              <a:rPr lang="zh-CN" altLang="en-US" dirty="0"/>
              <a:t>方法。</a:t>
            </a:r>
            <a:endParaRPr lang="zh-CN" altLang="en-US" dirty="0"/>
          </a:p>
          <a:p>
            <a:pPr>
              <a:buFont typeface="Monotype Sorts" pitchFamily="2" charset="2"/>
              <a:buNone/>
            </a:pPr>
            <a:r>
              <a:rPr lang="en-US" altLang="zh-CN" dirty="0"/>
              <a:t>4</a:t>
            </a:r>
            <a:r>
              <a:rPr lang="zh-CN" altLang="en-US" dirty="0"/>
              <a:t>）参照多态例题，编写</a:t>
            </a:r>
            <a:r>
              <a:rPr lang="en-US" altLang="zh-CN" dirty="0"/>
              <a:t>Test</a:t>
            </a:r>
            <a:r>
              <a:rPr lang="zh-CN" altLang="en-US" dirty="0"/>
              <a:t>类， 输出不同国家对象各自的信息。</a:t>
            </a:r>
            <a:endParaRPr lang="zh-CN" altLang="en-US" dirty="0"/>
          </a:p>
        </p:txBody>
      </p:sp>
      <p:sp>
        <p:nvSpPr>
          <p:cNvPr id="2" name="文本框 1"/>
          <p:cNvSpPr txBox="1"/>
          <p:nvPr/>
        </p:nvSpPr>
        <p:spPr>
          <a:xfrm>
            <a:off x="327259" y="423512"/>
            <a:ext cx="2781701" cy="584775"/>
          </a:xfrm>
          <a:prstGeom prst="rect">
            <a:avLst/>
          </a:prstGeom>
          <a:noFill/>
        </p:spPr>
        <p:txBody>
          <a:bodyPr wrap="square" rtlCol="0">
            <a:spAutoFit/>
          </a:bodyPr>
          <a:lstStyle/>
          <a:p>
            <a:r>
              <a:rPr lang="zh-CN" altLang="en-US" sz="3200" dirty="0">
                <a:solidFill>
                  <a:srgbClr val="FF0000"/>
                </a:solidFill>
                <a:latin typeface="宋体" panose="02010600030101010101" pitchFamily="2" charset="-122"/>
                <a:ea typeface="宋体" panose="02010600030101010101" pitchFamily="2" charset="-122"/>
              </a:rPr>
              <a:t>练习：</a:t>
            </a:r>
            <a:endParaRPr lang="zh-CN" altLang="en-US" sz="3200" dirty="0">
              <a:solidFill>
                <a:srgbClr val="FF0000"/>
              </a:solidFill>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标题 1"/>
          <p:cNvSpPr>
            <a:spLocks noGrp="1"/>
          </p:cNvSpPr>
          <p:nvPr>
            <p:ph type="title" idx="4294967295"/>
          </p:nvPr>
        </p:nvSpPr>
        <p:spPr>
          <a:xfrm>
            <a:off x="456640" y="366655"/>
            <a:ext cx="8147318" cy="914055"/>
          </a:xfrm>
        </p:spPr>
        <p:txBody>
          <a:bodyPr/>
          <a:lstStyle/>
          <a:p>
            <a:r>
              <a:rPr lang="de-DE" altLang="en-US" dirty="0">
                <a:latin typeface="宋体" panose="02010600030101010101" pitchFamily="2" charset="-122"/>
                <a:ea typeface="宋体" panose="02010600030101010101" pitchFamily="2" charset="-122"/>
              </a:rPr>
              <a:t>3.7</a:t>
            </a:r>
            <a:r>
              <a:rPr lang="zh-CN" altLang="en-US" dirty="0">
                <a:latin typeface="宋体" panose="02010600030101010101" pitchFamily="2" charset="-122"/>
                <a:ea typeface="宋体" panose="02010600030101010101" pitchFamily="2" charset="-122"/>
              </a:rPr>
              <a:t>项目实例</a:t>
            </a:r>
            <a:endParaRPr lang="zh-CN" altLang="en-US" dirty="0">
              <a:latin typeface="宋体" panose="02010600030101010101" pitchFamily="2" charset="-122"/>
              <a:ea typeface="宋体" panose="02010600030101010101" pitchFamily="2" charset="-122"/>
            </a:endParaRPr>
          </a:p>
        </p:txBody>
      </p:sp>
      <p:sp>
        <p:nvSpPr>
          <p:cNvPr id="112643" name="内容占位符 2"/>
          <p:cNvSpPr>
            <a:spLocks noGrp="1"/>
          </p:cNvSpPr>
          <p:nvPr>
            <p:ph idx="4294967295"/>
          </p:nvPr>
        </p:nvSpPr>
        <p:spPr>
          <a:xfrm>
            <a:off x="558265" y="1414979"/>
            <a:ext cx="11097929" cy="5136614"/>
          </a:xfrm>
        </p:spPr>
        <p:txBody>
          <a:bodyPr>
            <a:normAutofit/>
          </a:bodyPr>
          <a:lstStyle/>
          <a:p>
            <a:pPr marL="0" indent="353060">
              <a:buNone/>
            </a:pPr>
            <a:r>
              <a:rPr lang="zh-CN" altLang="en-US" sz="2800" b="1" dirty="0">
                <a:latin typeface="宋体" panose="02010600030101010101" pitchFamily="2" charset="-122"/>
                <a:ea typeface="宋体" panose="02010600030101010101" pitchFamily="2" charset="-122"/>
              </a:rPr>
              <a:t>编程实现公司雇员工资支付程序。主要实现以下两部分功能：</a:t>
            </a:r>
            <a:endParaRPr lang="zh-CN" altLang="en-US" sz="2800" b="1" dirty="0">
              <a:latin typeface="宋体" panose="02010600030101010101" pitchFamily="2" charset="-122"/>
              <a:ea typeface="宋体" panose="02010600030101010101" pitchFamily="2" charset="-122"/>
            </a:endParaRPr>
          </a:p>
          <a:p>
            <a:pPr marL="0" indent="353060">
              <a:buNone/>
            </a:pPr>
            <a:r>
              <a:rPr lang="en-US" altLang="zh-CN" sz="2800" b="1" dirty="0">
                <a:latin typeface="宋体" panose="02010600030101010101" pitchFamily="2" charset="-122"/>
                <a:ea typeface="宋体" panose="02010600030101010101" pitchFamily="2" charset="-122"/>
              </a:rPr>
              <a:t>1</a:t>
            </a:r>
            <a:r>
              <a:rPr lang="zh-CN" altLang="en-US" sz="2800" b="1" dirty="0">
                <a:latin typeface="宋体" panose="02010600030101010101" pitchFamily="2" charset="-122"/>
                <a:ea typeface="宋体" panose="02010600030101010101" pitchFamily="2" charset="-122"/>
              </a:rPr>
              <a:t>、假定公司有各种类型的雇员，不同类型的雇员按不同的方式支付工资：经理（</a:t>
            </a:r>
            <a:r>
              <a:rPr lang="en-US" altLang="zh-CN" sz="2800" b="1" dirty="0">
                <a:latin typeface="宋体" panose="02010600030101010101" pitchFamily="2" charset="-122"/>
                <a:ea typeface="宋体" panose="02010600030101010101" pitchFamily="2" charset="-122"/>
              </a:rPr>
              <a:t>Manager</a:t>
            </a:r>
            <a:r>
              <a:rPr lang="zh-CN" altLang="en-US" sz="2800" b="1" dirty="0">
                <a:latin typeface="宋体" panose="02010600030101010101" pitchFamily="2" charset="-122"/>
                <a:ea typeface="宋体" panose="02010600030101010101" pitchFamily="2" charset="-122"/>
              </a:rPr>
              <a:t>）每月获得一份固定的工资；销售人员（</a:t>
            </a:r>
            <a:r>
              <a:rPr lang="en-US" altLang="zh-CN" sz="2800" b="1" dirty="0">
                <a:latin typeface="宋体" panose="02010600030101010101" pitchFamily="2" charset="-122"/>
                <a:ea typeface="宋体" panose="02010600030101010101" pitchFamily="2" charset="-122"/>
              </a:rPr>
              <a:t>Salesman</a:t>
            </a:r>
            <a:r>
              <a:rPr lang="zh-CN" altLang="en-US" sz="2800" b="1" dirty="0">
                <a:latin typeface="宋体" panose="02010600030101010101" pitchFamily="2" charset="-122"/>
                <a:ea typeface="宋体" panose="02010600030101010101" pitchFamily="2" charset="-122"/>
              </a:rPr>
              <a:t>）在基本工资的基础上每月加上销售提成；一般工人（</a:t>
            </a:r>
            <a:r>
              <a:rPr lang="en-US" altLang="zh-CN" sz="2800" b="1" dirty="0">
                <a:latin typeface="宋体" panose="02010600030101010101" pitchFamily="2" charset="-122"/>
                <a:ea typeface="宋体" panose="02010600030101010101" pitchFamily="2" charset="-122"/>
              </a:rPr>
              <a:t>Worker</a:t>
            </a:r>
            <a:r>
              <a:rPr lang="zh-CN" altLang="en-US" sz="2800" b="1" dirty="0">
                <a:latin typeface="宋体" panose="02010600030101010101" pitchFamily="2" charset="-122"/>
                <a:ea typeface="宋体" panose="02010600030101010101" pitchFamily="2" charset="-122"/>
              </a:rPr>
              <a:t>）则按每月工作的天数计算工资。</a:t>
            </a:r>
            <a:endParaRPr lang="zh-CN" altLang="en-US" sz="2800" b="1" dirty="0">
              <a:latin typeface="宋体" panose="02010600030101010101" pitchFamily="2" charset="-122"/>
              <a:ea typeface="宋体" panose="02010600030101010101" pitchFamily="2" charset="-122"/>
            </a:endParaRPr>
          </a:p>
          <a:p>
            <a:pPr marL="0" indent="353060">
              <a:buNone/>
            </a:pPr>
            <a:r>
              <a:rPr lang="en-US" altLang="zh-CN" sz="2800" b="1" dirty="0">
                <a:latin typeface="宋体" panose="02010600030101010101" pitchFamily="2" charset="-122"/>
                <a:ea typeface="宋体" panose="02010600030101010101" pitchFamily="2" charset="-122"/>
              </a:rPr>
              <a:t>2</a:t>
            </a:r>
            <a:r>
              <a:rPr lang="zh-CN" altLang="en-US" sz="2800" b="1" dirty="0">
                <a:latin typeface="宋体" panose="02010600030101010101" pitchFamily="2" charset="-122"/>
                <a:ea typeface="宋体" panose="02010600030101010101" pitchFamily="2" charset="-122"/>
              </a:rPr>
              <a:t>、对程序进行扩充，将一般雇员再细分为计时雇员（</a:t>
            </a:r>
            <a:r>
              <a:rPr lang="en-US" altLang="zh-CN" sz="2800" b="1" dirty="0" err="1">
                <a:latin typeface="宋体" panose="02010600030101010101" pitchFamily="2" charset="-122"/>
                <a:ea typeface="宋体" panose="02010600030101010101" pitchFamily="2" charset="-122"/>
              </a:rPr>
              <a:t>DailyWorker</a:t>
            </a:r>
            <a:r>
              <a:rPr lang="zh-CN" altLang="en-US" sz="2800" b="1" dirty="0">
                <a:latin typeface="宋体" panose="02010600030101010101" pitchFamily="2" charset="-122"/>
                <a:ea typeface="宋体" panose="02010600030101010101" pitchFamily="2" charset="-122"/>
              </a:rPr>
              <a:t>）和计件雇员（</a:t>
            </a:r>
            <a:r>
              <a:rPr lang="en-US" altLang="zh-CN" sz="2800" b="1" dirty="0" err="1">
                <a:latin typeface="宋体" panose="02010600030101010101" pitchFamily="2" charset="-122"/>
                <a:ea typeface="宋体" panose="02010600030101010101" pitchFamily="2" charset="-122"/>
              </a:rPr>
              <a:t>PieceWorker</a:t>
            </a:r>
            <a:r>
              <a:rPr lang="zh-CN" altLang="en-US" sz="2800" b="1" dirty="0">
                <a:latin typeface="宋体" panose="02010600030101010101" pitchFamily="2" charset="-122"/>
                <a:ea typeface="宋体" panose="02010600030101010101" pitchFamily="2" charset="-122"/>
              </a:rPr>
              <a:t>）两类，计时雇员按天计算工资额，而计件雇员按其生产的产品件数计算工资额。</a:t>
            </a:r>
            <a:endParaRPr lang="zh-CN" altLang="en-US" sz="2800" b="1" dirty="0">
              <a:latin typeface="宋体" panose="02010600030101010101" pitchFamily="2" charset="-122"/>
              <a:ea typeface="宋体" panose="02010600030101010101" pitchFamily="2" charset="-122"/>
            </a:endParaRPr>
          </a:p>
          <a:p>
            <a:pPr marL="0" indent="353060">
              <a:buNone/>
            </a:pPr>
            <a:endParaRPr lang="zh-CN" altLang="en-US" sz="2800" b="1" dirty="0">
              <a:latin typeface="宋体" panose="02010600030101010101" pitchFamily="2" charset="-122"/>
              <a:ea typeface="宋体" panose="02010600030101010101" pitchFamily="2" charset="-122"/>
            </a:endParaRPr>
          </a:p>
        </p:txBody>
      </p:sp>
      <p:sp>
        <p:nvSpPr>
          <p:cNvPr id="112644"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F72FF9DC-4965-4D32-B520-5A510589FF41}"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标题 1"/>
          <p:cNvSpPr>
            <a:spLocks noGrp="1"/>
          </p:cNvSpPr>
          <p:nvPr>
            <p:ph type="title" idx="4294967295"/>
          </p:nvPr>
        </p:nvSpPr>
        <p:spPr>
          <a:xfrm>
            <a:off x="1303663" y="304686"/>
            <a:ext cx="8147318" cy="914055"/>
          </a:xfrm>
        </p:spPr>
        <p:txBody>
          <a:bodyPr/>
          <a:lstStyle/>
          <a:p>
            <a:r>
              <a:rPr lang="en-US" altLang="zh-CN"/>
              <a:t>  </a:t>
            </a:r>
            <a:endParaRPr lang="zh-CN" altLang="en-US"/>
          </a:p>
        </p:txBody>
      </p:sp>
      <p:sp>
        <p:nvSpPr>
          <p:cNvPr id="113667" name="内容占位符 2"/>
          <p:cNvSpPr>
            <a:spLocks noGrp="1"/>
          </p:cNvSpPr>
          <p:nvPr>
            <p:ph idx="4294967295"/>
          </p:nvPr>
        </p:nvSpPr>
        <p:spPr>
          <a:xfrm>
            <a:off x="585258" y="1218742"/>
            <a:ext cx="10589672" cy="4854800"/>
          </a:xfrm>
        </p:spPr>
        <p:txBody>
          <a:bodyPr>
            <a:normAutofit/>
          </a:bodyPr>
          <a:lstStyle/>
          <a:p>
            <a:pPr marL="0" indent="353060">
              <a:buNone/>
            </a:pPr>
            <a:r>
              <a:rPr lang="zh-CN" altLang="en-US" sz="2800" b="1" dirty="0">
                <a:latin typeface="宋体" panose="02010600030101010101" pitchFamily="2" charset="-122"/>
                <a:ea typeface="宋体" panose="02010600030101010101" pitchFamily="2" charset="-122"/>
              </a:rPr>
              <a:t>项目整体设计思路是设计一个抽象类</a:t>
            </a:r>
            <a:r>
              <a:rPr lang="en-US" altLang="zh-CN" sz="2800" b="1" dirty="0">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雇员（</a:t>
            </a:r>
            <a:r>
              <a:rPr lang="en-US" altLang="zh-CN" sz="2800" b="1" dirty="0">
                <a:latin typeface="宋体" panose="02010600030101010101" pitchFamily="2" charset="-122"/>
                <a:ea typeface="宋体" panose="02010600030101010101" pitchFamily="2" charset="-122"/>
              </a:rPr>
              <a:t>Employee</a:t>
            </a:r>
            <a:r>
              <a:rPr lang="zh-CN" altLang="en-US" sz="2800" b="1" dirty="0">
                <a:latin typeface="宋体" panose="02010600030101010101" pitchFamily="2" charset="-122"/>
                <a:ea typeface="宋体" panose="02010600030101010101" pitchFamily="2" charset="-122"/>
              </a:rPr>
              <a:t>）类，本类主要描述雇员的共同特性，例如姓名、工号等，同时还应该包含一个计算工资的抽象方法</a:t>
            </a:r>
            <a:r>
              <a:rPr lang="en-US" altLang="zh-CN" sz="2800" b="1" dirty="0" err="1">
                <a:latin typeface="宋体" panose="02010600030101010101" pitchFamily="2" charset="-122"/>
                <a:ea typeface="宋体" panose="02010600030101010101" pitchFamily="2" charset="-122"/>
              </a:rPr>
              <a:t>computeSalary</a:t>
            </a:r>
            <a:r>
              <a:rPr lang="en-US" altLang="zh-CN" sz="2800" b="1" dirty="0">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，使得可以通过这个类计算所有雇员的工资。并在此类的基础上派生出经理（</a:t>
            </a:r>
            <a:r>
              <a:rPr lang="en-US" altLang="zh-CN" sz="2800" b="1" dirty="0">
                <a:latin typeface="宋体" panose="02010600030101010101" pitchFamily="2" charset="-122"/>
                <a:ea typeface="宋体" panose="02010600030101010101" pitchFamily="2" charset="-122"/>
              </a:rPr>
              <a:t>Manager</a:t>
            </a:r>
            <a:r>
              <a:rPr lang="zh-CN" altLang="en-US" sz="2800" b="1" dirty="0">
                <a:latin typeface="宋体" panose="02010600030101010101" pitchFamily="2" charset="-122"/>
                <a:ea typeface="宋体" panose="02010600030101010101" pitchFamily="2" charset="-122"/>
              </a:rPr>
              <a:t>）类、销售人员（</a:t>
            </a:r>
            <a:r>
              <a:rPr lang="en-US" altLang="zh-CN" sz="2800" b="1" dirty="0">
                <a:latin typeface="宋体" panose="02010600030101010101" pitchFamily="2" charset="-122"/>
                <a:ea typeface="宋体" panose="02010600030101010101" pitchFamily="2" charset="-122"/>
              </a:rPr>
              <a:t>Salesman</a:t>
            </a:r>
            <a:r>
              <a:rPr lang="zh-CN" altLang="en-US" sz="2800" b="1" dirty="0">
                <a:latin typeface="宋体" panose="02010600030101010101" pitchFamily="2" charset="-122"/>
                <a:ea typeface="宋体" panose="02010600030101010101" pitchFamily="2" charset="-122"/>
              </a:rPr>
              <a:t>）类、一般工人（</a:t>
            </a:r>
            <a:r>
              <a:rPr lang="en-US" altLang="zh-CN" sz="2800" b="1" dirty="0">
                <a:latin typeface="宋体" panose="02010600030101010101" pitchFamily="2" charset="-122"/>
                <a:ea typeface="宋体" panose="02010600030101010101" pitchFamily="2" charset="-122"/>
              </a:rPr>
              <a:t>Worker</a:t>
            </a:r>
            <a:r>
              <a:rPr lang="zh-CN" altLang="en-US" sz="2800" b="1" dirty="0">
                <a:latin typeface="宋体" panose="02010600030101010101" pitchFamily="2" charset="-122"/>
                <a:ea typeface="宋体" panose="02010600030101010101" pitchFamily="2" charset="-122"/>
              </a:rPr>
              <a:t>）类，最后设计一个测试类来测试整个程序。</a:t>
            </a:r>
            <a:endParaRPr lang="zh-CN" altLang="en-US" sz="2800" b="1" dirty="0">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本项目案例练习了</a:t>
            </a:r>
            <a:r>
              <a:rPr lang="en-US" altLang="zh-CN" sz="2800" b="1" dirty="0">
                <a:latin typeface="宋体" panose="02010600030101010101" pitchFamily="2" charset="-122"/>
                <a:ea typeface="宋体" panose="02010600030101010101" pitchFamily="2" charset="-122"/>
              </a:rPr>
              <a:t>Java</a:t>
            </a:r>
            <a:r>
              <a:rPr lang="zh-CN" altLang="en-US" sz="2800" b="1" dirty="0">
                <a:latin typeface="宋体" panose="02010600030101010101" pitchFamily="2" charset="-122"/>
                <a:ea typeface="宋体" panose="02010600030101010101" pitchFamily="2" charset="-122"/>
              </a:rPr>
              <a:t>程序设计中继承和多态的用法，先建立一个抽象类，然后再建立其他雇员类继承这个抽象类。</a:t>
            </a:r>
            <a:endParaRPr lang="zh-CN" altLang="en-US" sz="2800" b="1" dirty="0">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再对雇员工资计算程序进行扩充，继承前面的一般工人类，再以一般工人类的说明新建计时雇员和计件雇员两个类，从而调用相应的方法实现面向对象的多态性。</a:t>
            </a:r>
            <a:endParaRPr lang="zh-CN" altLang="en-US" sz="2800" b="1" dirty="0">
              <a:latin typeface="宋体" panose="02010600030101010101" pitchFamily="2" charset="-122"/>
              <a:ea typeface="宋体" panose="02010600030101010101" pitchFamily="2" charset="-122"/>
            </a:endParaRPr>
          </a:p>
        </p:txBody>
      </p:sp>
      <p:sp>
        <p:nvSpPr>
          <p:cNvPr id="113668"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 typeface="Arial" panose="020B0604020202020204" pitchFamily="34" charset="0"/>
              <a:buNone/>
            </a:pPr>
            <a:fld id="{E189248C-17BD-4BCF-93C0-544924246488}"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5" name="标题 1"/>
          <p:cNvSpPr txBox="1"/>
          <p:nvPr/>
        </p:nvSpPr>
        <p:spPr>
          <a:xfrm>
            <a:off x="456640" y="366655"/>
            <a:ext cx="8147318" cy="9140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de-DE" altLang="en-US">
                <a:latin typeface="宋体" panose="02010600030101010101" pitchFamily="2" charset="-122"/>
                <a:ea typeface="宋体" panose="02010600030101010101" pitchFamily="2" charset="-122"/>
              </a:rPr>
              <a:t>3.7</a:t>
            </a:r>
            <a:r>
              <a:rPr lang="zh-CN" altLang="en-US">
                <a:latin typeface="宋体" panose="02010600030101010101" pitchFamily="2" charset="-122"/>
                <a:ea typeface="宋体" panose="02010600030101010101" pitchFamily="2" charset="-122"/>
              </a:rPr>
              <a:t>项目实例</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菱形网格 16x9">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菱形网格业务演示文稿（宽屏）</Template>
  <TotalTime>0</TotalTime>
  <Words>29358</Words>
  <Application>WPS 演示</Application>
  <PresentationFormat>宽屏</PresentationFormat>
  <Paragraphs>1720</Paragraphs>
  <Slides>115</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115</vt:i4>
      </vt:variant>
    </vt:vector>
  </HeadingPairs>
  <TitlesOfParts>
    <vt:vector size="128" baseType="lpstr">
      <vt:lpstr>Arial</vt:lpstr>
      <vt:lpstr>宋体</vt:lpstr>
      <vt:lpstr>Wingdings</vt:lpstr>
      <vt:lpstr>微软雅黑</vt:lpstr>
      <vt:lpstr>Times New Roman</vt:lpstr>
      <vt:lpstr>Arial Unicode MS</vt:lpstr>
      <vt:lpstr>Tahoma</vt:lpstr>
      <vt:lpstr>Tahoma</vt:lpstr>
      <vt:lpstr>Monotype Sorts</vt:lpstr>
      <vt:lpstr>Wingdings</vt:lpstr>
      <vt:lpstr>Calibri</vt:lpstr>
      <vt:lpstr>幼圆</vt:lpstr>
      <vt:lpstr>菱形网格 16x9</vt:lpstr>
      <vt:lpstr>PowerPoint 演示文稿</vt:lpstr>
      <vt:lpstr>3.1 面向对象程序设计概述</vt:lpstr>
      <vt:lpstr>  </vt:lpstr>
      <vt:lpstr>2、面向对象语言的基本特点</vt:lpstr>
      <vt:lpstr>PowerPoint 演示文稿</vt:lpstr>
      <vt:lpstr>3.2 类与对象</vt:lpstr>
      <vt:lpstr>3.2 类与对象</vt:lpstr>
      <vt:lpstr>1、类的声明——类的声明格式</vt:lpstr>
      <vt:lpstr> </vt:lpstr>
      <vt:lpstr>  </vt:lpstr>
      <vt:lpstr>PowerPoint 演示文稿</vt:lpstr>
      <vt:lpstr>  </vt:lpstr>
      <vt:lpstr>  </vt:lpstr>
      <vt:lpstr>  </vt:lpstr>
      <vt:lpstr>  </vt:lpstr>
      <vt:lpstr>  </vt:lpstr>
      <vt:lpstr>  </vt:lpstr>
      <vt:lpstr>PowerPoint 演示文稿</vt:lpstr>
      <vt:lpstr>PowerPoint 演示文稿</vt:lpstr>
      <vt:lpstr>  </vt:lpstr>
      <vt:lpstr>  </vt:lpstr>
      <vt:lpstr>   </vt:lpstr>
      <vt:lpstr>   </vt:lpstr>
      <vt:lpstr>PowerPoint 演示文稿</vt:lpstr>
      <vt:lpstr>   </vt:lpstr>
      <vt:lpstr>练习：</vt:lpstr>
      <vt:lpstr>PowerPoint 演示文稿</vt:lpstr>
      <vt:lpstr>PowerPoint 演示文稿</vt:lpstr>
      <vt:lpstr>  </vt:lpstr>
      <vt:lpstr>  </vt:lpstr>
      <vt:lpstr>PowerPoint 演示文稿</vt:lpstr>
      <vt:lpstr>  </vt:lpstr>
      <vt:lpstr> </vt:lpstr>
      <vt:lpstr>  </vt:lpstr>
      <vt:lpstr>  </vt:lpstr>
      <vt:lpstr>  </vt:lpstr>
      <vt:lpstr>  </vt:lpstr>
      <vt:lpstr>练习：</vt:lpstr>
      <vt:lpstr>练习：</vt:lpstr>
      <vt:lpstr>练习：</vt:lpstr>
      <vt:lpstr>练习：</vt:lpstr>
      <vt:lpstr>PowerPoint 演示文稿</vt:lpstr>
      <vt:lpstr>   </vt:lpstr>
      <vt:lpstr>  </vt:lpstr>
      <vt:lpstr>  </vt:lpstr>
      <vt:lpstr>  </vt:lpstr>
      <vt:lpstr>练习：</vt:lpstr>
      <vt:lpstr>3.3 包的创建与使用</vt:lpstr>
      <vt:lpstr>PowerPoint 演示文稿</vt:lpstr>
      <vt:lpstr>  </vt:lpstr>
      <vt:lpstr>  </vt:lpstr>
      <vt:lpstr>练习：</vt:lpstr>
      <vt:lpstr>3.4 类的继承</vt:lpstr>
      <vt:lpstr>1、继承的实现</vt:lpstr>
      <vt:lpstr>  </vt:lpstr>
      <vt:lpstr>  </vt:lpstr>
      <vt:lpstr>PowerPoint 演示文稿</vt:lpstr>
      <vt:lpstr>  </vt:lpstr>
      <vt:lpstr>  </vt:lpstr>
      <vt:lpstr>  </vt:lpstr>
      <vt:lpstr>  </vt:lpstr>
      <vt:lpstr>  </vt:lpstr>
      <vt:lpstr>  </vt:lpstr>
      <vt:lpstr>  </vt:lpstr>
      <vt:lpstr>  </vt:lpstr>
      <vt:lpstr>  </vt:lpstr>
      <vt:lpstr>练习：</vt:lpstr>
      <vt:lpstr>练习：</vt:lpstr>
      <vt:lpstr>练习：</vt:lpstr>
      <vt:lpstr>练习：</vt:lpstr>
      <vt:lpstr>3.5抽象类与接口 1、抽象类</vt:lpstr>
      <vt:lpstr>PowerPoint 演示文稿</vt:lpstr>
      <vt:lpstr>  </vt:lpstr>
      <vt:lpstr>  </vt:lpstr>
      <vt:lpstr>  </vt:lpstr>
      <vt:lpstr>  </vt:lpstr>
      <vt:lpstr>PowerPoint 演示文稿</vt:lpstr>
      <vt:lpstr>  </vt:lpstr>
      <vt:lpstr>PowerPoint 演示文稿</vt:lpstr>
      <vt:lpstr>  </vt:lpstr>
      <vt:lpstr>  </vt:lpstr>
      <vt:lpstr>  </vt:lpstr>
      <vt:lpstr>PowerPoint 演示文稿</vt:lpstr>
      <vt:lpstr>练习：</vt:lpstr>
      <vt:lpstr>练习：</vt:lpstr>
      <vt:lpstr> </vt:lpstr>
      <vt:lpstr>1、方法的重载</vt:lpstr>
      <vt:lpstr>练习：</vt:lpstr>
      <vt:lpstr>2、方法的覆盖</vt:lpstr>
      <vt:lpstr>  </vt:lpstr>
      <vt:lpstr>PowerPoint 演示文稿</vt:lpstr>
      <vt:lpstr>练习：</vt:lpstr>
      <vt:lpstr>PowerPoint 演示文稿</vt:lpstr>
      <vt:lpstr>  </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3.7项目实例</vt:lpstr>
      <vt:lpstr>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lxj_job@126.com</dc:creator>
  <cp:lastModifiedBy>mabel</cp:lastModifiedBy>
  <cp:revision>76</cp:revision>
  <dcterms:created xsi:type="dcterms:W3CDTF">2019-09-16T08:02:00Z</dcterms:created>
  <dcterms:modified xsi:type="dcterms:W3CDTF">2021-03-24T03:12:22Z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y fmtid="{D5CDD505-2E9C-101B-9397-08002B2CF9AE}" pid="8" name="KSOProductBuildVer">
    <vt:lpwstr>2052-11.1.0.10228</vt:lpwstr>
  </property>
</Properties>
</file>